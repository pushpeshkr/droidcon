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_rels/slideMaster1.xml.rels" ContentType="application/vnd.openxmlformats-package.relationships+xml"/>
  <Override PartName="/ppt/notesMasters/notesMaster1.xml" ContentType="application/vnd.openxmlformats-officedocument.presentationml.notesMaster+xml"/>
  <Override PartName="/ppt/notesMasters/_rels/notesMaster1.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_rels/notesSlide1.xml.rels" ContentType="application/vnd.openxmlformats-package.relationships+xml"/>
  <Override PartName="/ppt/notesSlides/_rels/notesSlide2.xml.rels" ContentType="application/vnd.openxmlformats-package.relationships+xml"/>
  <Override PartName="/ppt/notesSlides/_rels/notesSlide3.xml.rels" ContentType="application/vnd.openxmlformats-package.relationships+xml"/>
  <Override PartName="/ppt/notesSlides/_rels/notesSlide4.xml.rels" ContentType="application/vnd.openxmlformats-package.relationships+xml"/>
  <Override PartName="/ppt/notesSlides/_rels/notesSlide5.xml.rels" ContentType="application/vnd.openxmlformats-package.relationships+xml"/>
  <Override PartName="/ppt/notesSlides/_rels/notesSlide6.xml.rels" ContentType="application/vnd.openxmlformats-package.relationships+xml"/>
  <Override PartName="/ppt/notesSlides/_rels/notesSlide7.xml.rels" ContentType="application/vnd.openxmlformats-package.relationships+xml"/>
  <Override PartName="/ppt/notesSlides/_rels/notesSlide8.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11.xml.rels" ContentType="application/vnd.openxmlformats-package.relationships+xml"/>
  <Override PartName="/ppt/notesSlides/_rels/notesSlide12.xml.rels" ContentType="application/vnd.openxmlformats-package.relationships+xml"/>
  <Override PartName="/ppt/notesSlides/_rels/notesSlide13.xml.rels" ContentType="application/vnd.openxmlformats-package.relationships+xml"/>
  <Override PartName="/ppt/notesSlides/_rels/notesSlide14.xml.rels" ContentType="application/vnd.openxmlformats-package.relationships+xml"/>
  <Override PartName="/ppt/notesSlides/_rels/notesSlide15.xml.rels" ContentType="application/vnd.openxmlformats-package.relationships+xml"/>
  <Override PartName="/ppt/slideLayouts/slideLayout1.xml" ContentType="application/vnd.openxmlformats-officedocument.presentationml.slideLayout+xml"/>
  <Override PartName="/ppt/slideLayouts/_rels/slideLayout1.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6.png" ContentType="image/png"/>
  <Override PartName="/ppt/media/image7.png" ContentType="image/png"/>
  <Override PartName="/ppt/media/image8.png" ContentType="image/png"/>
  <Override PartName="/ppt/media/image9.png" ContentType="image/png"/>
  <Override PartName="/ppt/media/image10.png" ContentType="image/png"/>
  <Override PartName="/ppt/media/image11.png" ContentType="image/png"/>
  <Override PartName="/ppt/media/image12.png" ContentType="image/png"/>
  <Override PartName="/ppt/media/image13.png" ContentType="image/png"/>
  <Override PartName="/ppt/media/image14.png" ContentType="image/png"/>
  <Override PartName="/ppt/media/image15.png" ContentType="image/png"/>
  <Override PartName="/ppt/media/image16.png" ContentType="image/png"/>
  <Override PartName="/ppt/media/image17.png" ContentType="image/png"/>
  <Override PartName="/ppt/media/image18.png" ContentType="image/png"/>
  <Override PartName="/ppt/media/image19.png" ContentType="image/png"/>
  <Override PartName="/ppt/presProps.xml" ContentType="application/vnd.openxmlformats-officedocument.presentationml.presProps+xml"/>
  <Override PartName="/ppt/_rels/presentation.xml.rels" ContentType="application/vnd.openxmlformats-package.relationshi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Lst>
  <p:sldSz cx="12192000" cy="6858000"/>
  <p:notesSz cx="6858000" cy="12192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 name="PlaceHolder 1"/>
          <p:cNvSpPr>
            <a:spLocks noGrp="1"/>
          </p:cNvSpPr>
          <p:nvPr>
            <p:ph type="sldImg"/>
          </p:nvPr>
        </p:nvSpPr>
        <p:spPr>
          <a:xfrm>
            <a:off x="533520" y="764280"/>
            <a:ext cx="6704640" cy="3771360"/>
          </a:xfrm>
          <a:prstGeom prst="rect">
            <a:avLst/>
          </a:prstGeom>
          <a:noFill/>
          <a:ln w="0">
            <a:noFill/>
          </a:ln>
        </p:spPr>
        <p:txBody>
          <a:bodyPr lIns="0" rIns="0" tIns="0" bIns="0" anchor="ctr">
            <a:noAutofit/>
          </a:bodyPr>
          <a:p>
            <a:r>
              <a:rPr b="0" lang="en-US" sz="1800" spc="-1" strike="noStrike">
                <a:solidFill>
                  <a:schemeClr val="dk1"/>
                </a:solidFill>
                <a:latin typeface="Calibri"/>
              </a:rPr>
              <a:t>Click to move the slide</a:t>
            </a:r>
            <a:endParaRPr b="0" lang="en-US" sz="1800" spc="-1" strike="noStrike">
              <a:solidFill>
                <a:schemeClr val="dk1"/>
              </a:solidFill>
              <a:latin typeface="Calibri"/>
            </a:endParaRPr>
          </a:p>
        </p:txBody>
      </p:sp>
      <p:sp>
        <p:nvSpPr>
          <p:cNvPr id="3"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4"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5" name="PlaceHolder 4"/>
          <p:cNvSpPr>
            <a:spLocks noGrp="1"/>
          </p:cNvSpPr>
          <p:nvPr>
            <p:ph type="dt" idx="1"/>
          </p:nvPr>
        </p:nvSpPr>
        <p:spPr>
          <a:xfrm>
            <a:off x="4399200" y="0"/>
            <a:ext cx="3372840" cy="50256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6" name="PlaceHolder 5"/>
          <p:cNvSpPr>
            <a:spLocks noGrp="1"/>
          </p:cNvSpPr>
          <p:nvPr>
            <p:ph type="ftr" idx="2"/>
          </p:nvPr>
        </p:nvSpPr>
        <p:spPr>
          <a:xfrm>
            <a:off x="0" y="9555480"/>
            <a:ext cx="3372840" cy="50256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7" name="PlaceHolder 6"/>
          <p:cNvSpPr>
            <a:spLocks noGrp="1"/>
          </p:cNvSpPr>
          <p:nvPr>
            <p:ph type="sldNum" idx="3"/>
          </p:nvPr>
        </p:nvSpPr>
        <p:spPr>
          <a:xfrm>
            <a:off x="4399200" y="9555480"/>
            <a:ext cx="3372840" cy="50256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C25C3673-1434-41D2-B59D-9DB370619408}"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7" name="PlaceHolder 1"/>
          <p:cNvSpPr>
            <a:spLocks noGrp="1"/>
          </p:cNvSpPr>
          <p:nvPr>
            <p:ph type="sldImg"/>
          </p:nvPr>
        </p:nvSpPr>
        <p:spPr>
          <a:xfrm>
            <a:off x="685800" y="1143000"/>
            <a:ext cx="5486040" cy="3085920"/>
          </a:xfrm>
          <a:prstGeom prst="rect">
            <a:avLst/>
          </a:prstGeom>
          <a:ln w="0">
            <a:noFill/>
          </a:ln>
        </p:spPr>
      </p:sp>
      <p:sp>
        <p:nvSpPr>
          <p:cNvPr id="48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r>
              <a:rPr b="0" lang="en-US" sz="2000" spc="-1" strike="noStrike">
                <a:solidFill>
                  <a:srgbClr val="000000"/>
                </a:solidFill>
                <a:latin typeface="Arial"/>
              </a:rPr>
              <a:t>[0:00–0:30]</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Hi everyone. Quick show of hands: who has turned on TalkBack on their own app? Keep that in mind.</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This talk is adapted from "A Deep Dive into Compose Semantics" from droidcon. In 10 minutes we'll go from the most common accessibility bug to a tricky one — streaming AI-style text — and then I'll show it live.</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The phone on the right shows what TalkBack says for a well-labeled custom button. By the end you'll know exactly which line of code produces each part of that sentence.</a:t>
            </a:r>
            <a:endParaRPr b="0" lang="en-US" sz="2000" spc="-1" strike="noStrike">
              <a:solidFill>
                <a:srgbClr val="000000"/>
              </a:solidFill>
              <a:latin typeface="Arial"/>
            </a:endParaRPr>
          </a:p>
        </p:txBody>
      </p:sp>
      <p:sp>
        <p:nvSpPr>
          <p:cNvPr id="489" name="PlaceHolder 3"/>
          <p:cNvSpPr>
            <a:spLocks noGrp="1"/>
          </p:cNvSpPr>
          <p:nvPr>
            <p:ph type="sldNum" idx="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E68E317F-5C25-430F-B39D-C27AD6720508}" type="slidenum">
              <a:rPr b="0" lang="en-US" sz="1200" spc="-1" strike="noStrike">
                <a:solidFill>
                  <a:schemeClr val="dk1"/>
                </a:solidFill>
                <a:latin typeface="+mn-lt"/>
                <a:ea typeface="+mn-ea"/>
              </a:rPr>
              <a:t>7</a:t>
            </a:fld>
            <a:endParaRPr b="0" lang="en-US"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0" name="PlaceHolder 1"/>
          <p:cNvSpPr>
            <a:spLocks noGrp="1"/>
          </p:cNvSpPr>
          <p:nvPr>
            <p:ph type="sldImg"/>
          </p:nvPr>
        </p:nvSpPr>
        <p:spPr>
          <a:xfrm>
            <a:off x="685800" y="1143000"/>
            <a:ext cx="5486040" cy="3085920"/>
          </a:xfrm>
          <a:prstGeom prst="rect">
            <a:avLst/>
          </a:prstGeom>
          <a:ln w="0">
            <a:noFill/>
          </a:ln>
        </p:spPr>
      </p:sp>
      <p:sp>
        <p:nvSpPr>
          <p:cNvPr id="49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r>
              <a:rPr b="0" lang="en-US" sz="2000" spc="-1" strike="noStrike">
                <a:solidFill>
                  <a:srgbClr val="000000"/>
                </a:solidFill>
                <a:latin typeface="Arial"/>
              </a:rPr>
              <a:t>[0:30–1:15]</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Accessibility means everyone can use our software with a similar experience and level of ease.</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Semantics are how Compose describes your UI to assistive technologies: TalkBack, Voice Access, keyboards and switches. I'll focus on TalkBack — it's the hardest to get right.</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The original speaker made a bold claim: give her any app and within 60 seconds she'll find an unlabeled button. Let's start there, then build up: announcing state, grouping content, and finally streaming text.</a:t>
            </a:r>
            <a:endParaRPr b="0" lang="en-US" sz="2000" spc="-1" strike="noStrike">
              <a:solidFill>
                <a:srgbClr val="000000"/>
              </a:solidFill>
              <a:latin typeface="Arial"/>
            </a:endParaRPr>
          </a:p>
        </p:txBody>
      </p:sp>
      <p:sp>
        <p:nvSpPr>
          <p:cNvPr id="492" name="PlaceHolder 3"/>
          <p:cNvSpPr>
            <a:spLocks noGrp="1"/>
          </p:cNvSpPr>
          <p:nvPr>
            <p:ph type="sldNum" idx="5"/>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8C06FD82-05C0-4947-85E2-7E3FEE02B3FA}" type="slidenum">
              <a:rPr b="0" lang="en-US" sz="1200" spc="-1" strike="noStrike">
                <a:solidFill>
                  <a:schemeClr val="dk1"/>
                </a:solidFill>
                <a:latin typeface="+mn-lt"/>
                <a:ea typeface="+mn-ea"/>
              </a:rPr>
              <a:t>7</a:t>
            </a:fld>
            <a:endParaRPr b="0" lang="en-US"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3" name="PlaceHolder 1"/>
          <p:cNvSpPr>
            <a:spLocks noGrp="1"/>
          </p:cNvSpPr>
          <p:nvPr>
            <p:ph type="sldImg"/>
          </p:nvPr>
        </p:nvSpPr>
        <p:spPr>
          <a:xfrm>
            <a:off x="685800" y="1143000"/>
            <a:ext cx="5486040" cy="3085920"/>
          </a:xfrm>
          <a:prstGeom prst="rect">
            <a:avLst/>
          </a:prstGeom>
          <a:ln w="0">
            <a:noFill/>
          </a:ln>
        </p:spPr>
      </p:sp>
      <p:sp>
        <p:nvSpPr>
          <p:cNvPr id="49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r>
              <a:rPr b="0" lang="en-US" sz="2000" spc="-1" strike="noStrike">
                <a:solidFill>
                  <a:srgbClr val="000000"/>
                </a:solidFill>
                <a:latin typeface="Arial"/>
              </a:rPr>
              <a:t>[1:15–2:00]</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"In the beginning there were unlabeled buttons, and nobody could use them."</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An unlabeled button has no text and a null contentDescription. TalkBack just says "Button, double tap to activate" — if you can't see the screen, which button? What does it do? For custom clickables it can even be skipped entirely.</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The fix is one string. Material's IconButton already supplies the role; you only add what it is.</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Tip: Layout Inspector shows merged and declared semantics, so you can confirm the contentDescription is there.</a:t>
            </a:r>
            <a:endParaRPr b="0" lang="en-US" sz="2000" spc="-1" strike="noStrike">
              <a:solidFill>
                <a:srgbClr val="000000"/>
              </a:solidFill>
              <a:latin typeface="Arial"/>
            </a:endParaRPr>
          </a:p>
        </p:txBody>
      </p:sp>
      <p:sp>
        <p:nvSpPr>
          <p:cNvPr id="495" name="PlaceHolder 3"/>
          <p:cNvSpPr>
            <a:spLocks noGrp="1"/>
          </p:cNvSpPr>
          <p:nvPr>
            <p:ph type="sldNum" idx="6"/>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0B7E84F7-E2E5-48EF-8340-7D5B4C04D321}" type="slidenum">
              <a:rPr b="0" lang="en-US" sz="1200" spc="-1" strike="noStrike">
                <a:solidFill>
                  <a:schemeClr val="dk1"/>
                </a:solidFill>
                <a:latin typeface="+mn-lt"/>
                <a:ea typeface="+mn-ea"/>
              </a:rPr>
              <a:t>7</a:t>
            </a:fld>
            <a:endParaRPr b="0" lang="en-US"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6" name="PlaceHolder 1"/>
          <p:cNvSpPr>
            <a:spLocks noGrp="1"/>
          </p:cNvSpPr>
          <p:nvPr>
            <p:ph type="sldImg"/>
          </p:nvPr>
        </p:nvSpPr>
        <p:spPr>
          <a:xfrm>
            <a:off x="685800" y="1143000"/>
            <a:ext cx="5486040" cy="3085920"/>
          </a:xfrm>
          <a:prstGeom prst="rect">
            <a:avLst/>
          </a:prstGeom>
          <a:ln w="0">
            <a:noFill/>
          </a:ln>
        </p:spPr>
      </p:sp>
      <p:sp>
        <p:nvSpPr>
          <p:cNvPr id="49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r>
              <a:rPr b="0" lang="en-US" sz="2000" spc="-1" strike="noStrike">
                <a:solidFill>
                  <a:srgbClr val="000000"/>
                </a:solidFill>
                <a:latin typeface="Arial"/>
              </a:rPr>
              <a:t>[2:00–2:45]</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People often confuse contentDescription and onClickLabel. They're different parts of one sentence.</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TalkBack reads: contentDescription — what this thing is; Role — button, switch, checkbox, so users know how to interact; the action, which is system-defined (double-tap); and onClickLabel — what will happen. If you don't set it, TalkBack says "activate".</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Native components fill in the Role. Custom clickables — a Box with Modifier.clickable — need it set explicitly.</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Note: clickable(onClickLabel = …) and semantics { onClick(label = …) } map to the same thing under the hood.</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Half-done semantics is like a flight of stairs leading to a wheelchair-accessible door: a label without an action hint, or an action hint without a label, is still broken.</a:t>
            </a:r>
            <a:endParaRPr b="0" lang="en-US" sz="2000" spc="-1" strike="noStrike">
              <a:solidFill>
                <a:srgbClr val="000000"/>
              </a:solidFill>
              <a:latin typeface="Arial"/>
            </a:endParaRPr>
          </a:p>
        </p:txBody>
      </p:sp>
      <p:sp>
        <p:nvSpPr>
          <p:cNvPr id="498" name="PlaceHolder 3"/>
          <p:cNvSpPr>
            <a:spLocks noGrp="1"/>
          </p:cNvSpPr>
          <p:nvPr>
            <p:ph type="sldNum" idx="7"/>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BC8A3AC8-1F62-44EB-A346-E1E8784F9A7F}" type="slidenum">
              <a:rPr b="0" lang="en-US" sz="1200" spc="-1" strike="noStrike">
                <a:solidFill>
                  <a:schemeClr val="dk1"/>
                </a:solidFill>
                <a:latin typeface="+mn-lt"/>
                <a:ea typeface="+mn-ea"/>
              </a:rPr>
              <a:t>7</a:t>
            </a:fld>
            <a:endParaRPr b="0" lang="en-US"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9" name="PlaceHolder 1"/>
          <p:cNvSpPr>
            <a:spLocks noGrp="1"/>
          </p:cNvSpPr>
          <p:nvPr>
            <p:ph type="sldImg"/>
          </p:nvPr>
        </p:nvSpPr>
        <p:spPr>
          <a:xfrm>
            <a:off x="685800" y="1143000"/>
            <a:ext cx="5486040" cy="3085920"/>
          </a:xfrm>
          <a:prstGeom prst="rect">
            <a:avLst/>
          </a:prstGeom>
          <a:ln w="0">
            <a:noFill/>
          </a:ln>
        </p:spPr>
      </p:sp>
      <p:sp>
        <p:nvSpPr>
          <p:cNvPr id="50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r>
              <a:rPr b="0" lang="en-US" sz="2000" spc="-1" strike="noStrike">
                <a:solidFill>
                  <a:srgbClr val="000000"/>
                </a:solidFill>
                <a:latin typeface="Arial"/>
              </a:rPr>
              <a:t>[2:45–3:45]</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What happens when your UI goes through changes? Screen readers don't notice automatically — we have to tell them.</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Two tools. stateDescription is like contentDescription but for the current state — you've seen it on toggles. Here we map it straight from our UI state: Not downloaded → Downloading → Downloaded.</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liveRegion controls HOW a change is announced. Assertive interrupts — reserve it for critical things like a failed payment. Polite queues the announcement until TalkBack is idle.</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So I can tap download, go read something else, and TalkBack politely tells me when it's done. That's exactly what we'll hear in the demo.</a:t>
            </a:r>
            <a:endParaRPr b="0" lang="en-US" sz="2000" spc="-1" strike="noStrike">
              <a:solidFill>
                <a:srgbClr val="000000"/>
              </a:solidFill>
              <a:latin typeface="Arial"/>
            </a:endParaRPr>
          </a:p>
        </p:txBody>
      </p:sp>
      <p:sp>
        <p:nvSpPr>
          <p:cNvPr id="501" name="PlaceHolder 3"/>
          <p:cNvSpPr>
            <a:spLocks noGrp="1"/>
          </p:cNvSpPr>
          <p:nvPr>
            <p:ph type="sldNum" idx="8"/>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D8767892-739E-4473-B554-A9C89A0213E9}" type="slidenum">
              <a:rPr b="0" lang="en-US" sz="1200" spc="-1" strike="noStrike">
                <a:solidFill>
                  <a:schemeClr val="dk1"/>
                </a:solidFill>
                <a:latin typeface="+mn-lt"/>
                <a:ea typeface="+mn-ea"/>
              </a:rPr>
              <a:t>7</a:t>
            </a:fld>
            <a:endParaRPr b="0" lang="en-US"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2" name="PlaceHolder 1"/>
          <p:cNvSpPr>
            <a:spLocks noGrp="1"/>
          </p:cNvSpPr>
          <p:nvPr>
            <p:ph type="sldImg"/>
          </p:nvPr>
        </p:nvSpPr>
        <p:spPr>
          <a:xfrm>
            <a:off x="685800" y="1143000"/>
            <a:ext cx="5486040" cy="3085920"/>
          </a:xfrm>
          <a:prstGeom prst="rect">
            <a:avLst/>
          </a:prstGeom>
          <a:ln w="0">
            <a:noFill/>
          </a:ln>
        </p:spPr>
      </p:sp>
      <p:sp>
        <p:nvSpPr>
          <p:cNvPr id="50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r>
              <a:rPr b="0" lang="en-US" sz="2000" spc="-1" strike="noStrike">
                <a:solidFill>
                  <a:srgbClr val="000000"/>
                </a:solidFill>
                <a:latin typeface="Arial"/>
              </a:rPr>
              <a:t>[3:45–4:35]</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Here's an inbox row: star button, name, date, subject, delete button. Without grouping, that's five swipes for what a sighted user sees as one item.</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mergeDescendants = true on the text column concatenates name, date and subject. Better — three stops. But it only concatenates, and it does NOT merge children that also merge their descendants. Every Button does, so the buttons stay separate. You can't just move it up to the Row.</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It also isn't smart: a merged table or chart just reads numbers without the column headers.</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So for complex content we take full control with clearAndSetSemantics — one stop per row.</a:t>
            </a:r>
            <a:endParaRPr b="0" lang="en-US" sz="2000" spc="-1" strike="noStrike">
              <a:solidFill>
                <a:srgbClr val="000000"/>
              </a:solidFill>
              <a:latin typeface="Arial"/>
            </a:endParaRPr>
          </a:p>
        </p:txBody>
      </p:sp>
      <p:sp>
        <p:nvSpPr>
          <p:cNvPr id="504" name="PlaceHolder 3"/>
          <p:cNvSpPr>
            <a:spLocks noGrp="1"/>
          </p:cNvSpPr>
          <p:nvPr>
            <p:ph type="sldNum" idx="9"/>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1944E0D4-1A93-4B04-8834-05D4AF08240C}" type="slidenum">
              <a:rPr b="0" lang="en-US" sz="1200" spc="-1" strike="noStrike">
                <a:solidFill>
                  <a:schemeClr val="dk1"/>
                </a:solidFill>
                <a:latin typeface="+mn-lt"/>
                <a:ea typeface="+mn-ea"/>
              </a:rPr>
              <a:t>7</a:t>
            </a:fld>
            <a:endParaRPr b="0" lang="en-US" sz="12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5" name="PlaceHolder 1"/>
          <p:cNvSpPr>
            <a:spLocks noGrp="1"/>
          </p:cNvSpPr>
          <p:nvPr>
            <p:ph type="sldImg"/>
          </p:nvPr>
        </p:nvSpPr>
        <p:spPr>
          <a:xfrm>
            <a:off x="685800" y="1143000"/>
            <a:ext cx="5486040" cy="3085920"/>
          </a:xfrm>
          <a:prstGeom prst="rect">
            <a:avLst/>
          </a:prstGeom>
          <a:ln w="0">
            <a:noFill/>
          </a:ln>
        </p:spPr>
      </p:sp>
      <p:sp>
        <p:nvSpPr>
          <p:cNvPr id="50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r>
              <a:rPr b="0" lang="en-US" sz="2000" spc="-1" strike="noStrike">
                <a:solidFill>
                  <a:srgbClr val="000000"/>
                </a:solidFill>
                <a:latin typeface="Arial"/>
              </a:rPr>
              <a:t>[4:35–5:25]</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clearAndSetSemantics says: ignore all my children's semantics — I'll describe this node myself.</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We give it a human sentence as contentDescription, the star state as stateDescription, and move the star and delete buttons into customActions. TalkBack says "Actions available, use tap with three fingers to view" and shows them in a menu.</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Now each message is one stop. Users hear what it is and choose whether to act — they don't have to hear "star, delete" on every single row.</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Reddit's TalkBack users told them they prefer exactly this for feed cards: one item, with a predictable set of actions. Make the labels specific — "Delete message from Avery" — so the menu makes sense on its own.</a:t>
            </a:r>
            <a:endParaRPr b="0" lang="en-US" sz="2000" spc="-1" strike="noStrike">
              <a:solidFill>
                <a:srgbClr val="000000"/>
              </a:solidFill>
              <a:latin typeface="Arial"/>
            </a:endParaRPr>
          </a:p>
        </p:txBody>
      </p:sp>
      <p:sp>
        <p:nvSpPr>
          <p:cNvPr id="507" name="PlaceHolder 3"/>
          <p:cNvSpPr>
            <a:spLocks noGrp="1"/>
          </p:cNvSpPr>
          <p:nvPr>
            <p:ph type="sldNum" idx="10"/>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D3E8D38E-F4FA-4F09-91E4-CA36BB374F7C}" type="slidenum">
              <a:rPr b="0" lang="en-US" sz="1200" spc="-1" strike="noStrike">
                <a:solidFill>
                  <a:schemeClr val="dk1"/>
                </a:solidFill>
                <a:latin typeface="+mn-lt"/>
                <a:ea typeface="+mn-ea"/>
              </a:rPr>
              <a:t>7</a:t>
            </a:fld>
            <a:endParaRPr b="0" lang="en-US" sz="12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8" name="PlaceHolder 1"/>
          <p:cNvSpPr>
            <a:spLocks noGrp="1"/>
          </p:cNvSpPr>
          <p:nvPr>
            <p:ph type="sldImg"/>
          </p:nvPr>
        </p:nvSpPr>
        <p:spPr>
          <a:xfrm>
            <a:off x="685800" y="1143000"/>
            <a:ext cx="5486040" cy="3085920"/>
          </a:xfrm>
          <a:prstGeom prst="rect">
            <a:avLst/>
          </a:prstGeom>
          <a:ln w="0">
            <a:noFill/>
          </a:ln>
        </p:spPr>
      </p:sp>
      <p:sp>
        <p:nvSpPr>
          <p:cNvPr id="50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r>
              <a:rPr b="0" lang="en-US" sz="2000" spc="-1" strike="noStrike">
                <a:solidFill>
                  <a:srgbClr val="000000"/>
                </a:solidFill>
                <a:latin typeface="Arial"/>
              </a:rPr>
              <a:t>[5:25–6:05]</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Now the fun one. If you've used any AI agent you've seen this: the answer streams in, one word at a time, with a lovely fade. I've slowed it down here.</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In Compose we'd draw each paragraph with a FlowRow, and to animate word by word, each word becomes its own composable.</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Guess how TalkBack reads it with no semantics? One word at a time. "The." Swipe. "Americans." Swipe.</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Would you ever listen to an audiobook where you had to press next for every word? Nobody using TalkBack wants that either. Let's try the tools we've learned.</a:t>
            </a:r>
            <a:endParaRPr b="0" lang="en-US" sz="2000" spc="-1" strike="noStrike">
              <a:solidFill>
                <a:srgbClr val="000000"/>
              </a:solidFill>
              <a:latin typeface="Arial"/>
            </a:endParaRPr>
          </a:p>
        </p:txBody>
      </p:sp>
      <p:sp>
        <p:nvSpPr>
          <p:cNvPr id="510" name="PlaceHolder 3"/>
          <p:cNvSpPr>
            <a:spLocks noGrp="1"/>
          </p:cNvSpPr>
          <p:nvPr>
            <p:ph type="sldNum" idx="11"/>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440C3738-48BC-46AD-9E54-3C03A319BF28}" type="slidenum">
              <a:rPr b="0" lang="en-US" sz="1200" spc="-1" strike="noStrike">
                <a:solidFill>
                  <a:schemeClr val="dk1"/>
                </a:solidFill>
                <a:latin typeface="+mn-lt"/>
                <a:ea typeface="+mn-ea"/>
              </a:rPr>
              <a:t>7</a:t>
            </a:fld>
            <a:endParaRPr b="0" lang="en-US" sz="12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1" name="PlaceHolder 1"/>
          <p:cNvSpPr>
            <a:spLocks noGrp="1"/>
          </p:cNvSpPr>
          <p:nvPr>
            <p:ph type="sldImg"/>
          </p:nvPr>
        </p:nvSpPr>
        <p:spPr>
          <a:xfrm>
            <a:off x="685800" y="1143000"/>
            <a:ext cx="5486040" cy="3085920"/>
          </a:xfrm>
          <a:prstGeom prst="rect">
            <a:avLst/>
          </a:prstGeom>
          <a:ln w="0">
            <a:noFill/>
          </a:ln>
        </p:spPr>
      </p:sp>
      <p:sp>
        <p:nvSpPr>
          <p:cNvPr id="51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r>
              <a:rPr b="0" lang="en-US" sz="2000" spc="-1" strike="noStrike">
                <a:solidFill>
                  <a:srgbClr val="000000"/>
                </a:solidFill>
                <a:latin typeface="Arial"/>
              </a:rPr>
              <a:t>[6:05–7:15]</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Attempt 2: mergeDescendants on the paragraph. Not bad — it concatenates. But if I focus before the paragraph finishes, I only hear the words that exist at that moment.</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Attempt 3: liveRegion, because that's what we use for changing UI, right? [Play the clip / do it live — it's painful.] Every appended word is a content change, so TalkBack re-reads the paragraph from the beginning. Over and over.</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Attempt 4: stateDescription "Loading" and set contentDescription when complete. Closer — but with mergeDescendants the children's text is still there, so it reads "Loading" plus whatever partial text existed.</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Attempt 5: clearAndSetSemantics. The children are hidden from TalkBack; I say "Loading", then the full paragraph. That's the best experience we found.</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Realistically streaming is fast and power users run TalkBack at very high speech rates — but on a slow network this matters.</a:t>
            </a:r>
            <a:endParaRPr b="0" lang="en-US" sz="2000" spc="-1" strike="noStrike">
              <a:solidFill>
                <a:srgbClr val="000000"/>
              </a:solidFill>
              <a:latin typeface="Arial"/>
            </a:endParaRPr>
          </a:p>
        </p:txBody>
      </p:sp>
      <p:sp>
        <p:nvSpPr>
          <p:cNvPr id="513" name="PlaceHolder 3"/>
          <p:cNvSpPr>
            <a:spLocks noGrp="1"/>
          </p:cNvSpPr>
          <p:nvPr>
            <p:ph type="sldNum" idx="12"/>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9EFE9A15-0A1A-462F-A725-BB7F68944B7A}" type="slidenum">
              <a:rPr b="0" lang="en-US" sz="1200" spc="-1" strike="noStrike">
                <a:solidFill>
                  <a:schemeClr val="dk1"/>
                </a:solidFill>
                <a:latin typeface="+mn-lt"/>
                <a:ea typeface="+mn-ea"/>
              </a:rPr>
              <a:t>7</a:t>
            </a:fld>
            <a:endParaRPr b="0" lang="en-US" sz="12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4" name="PlaceHolder 1"/>
          <p:cNvSpPr>
            <a:spLocks noGrp="1"/>
          </p:cNvSpPr>
          <p:nvPr>
            <p:ph type="sldImg"/>
          </p:nvPr>
        </p:nvSpPr>
        <p:spPr>
          <a:xfrm>
            <a:off x="685800" y="1143000"/>
            <a:ext cx="5486040" cy="3085920"/>
          </a:xfrm>
          <a:prstGeom prst="rect">
            <a:avLst/>
          </a:prstGeom>
          <a:ln w="0">
            <a:noFill/>
          </a:ln>
        </p:spPr>
      </p:sp>
      <p:sp>
        <p:nvSpPr>
          <p:cNvPr id="51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r>
              <a:rPr b="0" lang="en-US" sz="2000" spc="-1" strike="noStrike">
                <a:solidFill>
                  <a:srgbClr val="000000"/>
                </a:solidFill>
                <a:latin typeface="Arial"/>
              </a:rPr>
              <a:t>[7:15–8:00]</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Here's the final version. The only change from the broken code is the modifier on the FlowRow.</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clearAndSetSemantics hides every per-word node. While streaming we expose only a stateDescription of "Loading". When the paragraph is complete we set the full text as contentDescription. Sighted users still get the animation; TalkBack users get "Loading", then the whole paragraph.</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The general lesson: when the visual structure fights the spoken experience, build the spoken experience explicitly. Sometimes that means thinking about accessibility architecture early, not bolting it on.</a:t>
            </a:r>
            <a:endParaRPr b="0" lang="en-US" sz="2000" spc="-1" strike="noStrike">
              <a:solidFill>
                <a:srgbClr val="000000"/>
              </a:solidFill>
              <a:latin typeface="Arial"/>
            </a:endParaRPr>
          </a:p>
        </p:txBody>
      </p:sp>
      <p:sp>
        <p:nvSpPr>
          <p:cNvPr id="516" name="PlaceHolder 3"/>
          <p:cNvSpPr>
            <a:spLocks noGrp="1"/>
          </p:cNvSpPr>
          <p:nvPr>
            <p:ph type="sldNum" idx="13"/>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A88E4FB3-47FA-448E-A958-2205726C1D21}" type="slidenum">
              <a:rPr b="0" lang="en-US" sz="1200" spc="-1" strike="noStrike">
                <a:solidFill>
                  <a:schemeClr val="dk1"/>
                </a:solidFill>
                <a:latin typeface="+mn-lt"/>
                <a:ea typeface="+mn-ea"/>
              </a:rPr>
              <a:t>7</a:t>
            </a:fld>
            <a:endParaRPr b="0" lang="en-US" sz="1200" spc="-1" strike="noStrike">
              <a:solidFill>
                <a:srgbClr val="000000"/>
              </a:solidFill>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7" name="PlaceHolder 1"/>
          <p:cNvSpPr>
            <a:spLocks noGrp="1"/>
          </p:cNvSpPr>
          <p:nvPr>
            <p:ph type="sldImg"/>
          </p:nvPr>
        </p:nvSpPr>
        <p:spPr>
          <a:xfrm>
            <a:off x="685800" y="1143000"/>
            <a:ext cx="5486040" cy="3085920"/>
          </a:xfrm>
          <a:prstGeom prst="rect">
            <a:avLst/>
          </a:prstGeom>
          <a:ln w="0">
            <a:noFill/>
          </a:ln>
        </p:spPr>
      </p:sp>
      <p:sp>
        <p:nvSpPr>
          <p:cNvPr id="51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r>
              <a:rPr b="0" lang="en-US" sz="2000" spc="-1" strike="noStrike">
                <a:solidFill>
                  <a:srgbClr val="000000"/>
                </a:solidFill>
                <a:latin typeface="Arial"/>
              </a:rPr>
              <a:t>[8:00–8:40]</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One more real-world bug. You double-tap "See more"; it changes to "Loading", then disappears as new items load. If you remove the node TalkBack is focused on, focus jumps somewhere unpredictable — and a blind user never learns the content arrived or where it is. Keyboard users hit the same bug.</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Fix: remember the id of the first new item. In a LaunchedEffect, reset and then set the semantics "focused" property on it. withFrameNanos waits a frame, because with fade animations the new node may not be in the tree yet.</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Don't confuse the two focus systems: semantics focused is TalkBack focus; FocusRequester is keyboard / D-pad focus. FocusRequester alone isn't enough to guarantee TalkBack focus.</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(Speaker check: verify this on your TalkBack version before presenting.)</a:t>
            </a:r>
            <a:endParaRPr b="0" lang="en-US" sz="2000" spc="-1" strike="noStrike">
              <a:solidFill>
                <a:srgbClr val="000000"/>
              </a:solidFill>
              <a:latin typeface="Arial"/>
            </a:endParaRPr>
          </a:p>
        </p:txBody>
      </p:sp>
      <p:sp>
        <p:nvSpPr>
          <p:cNvPr id="519" name="PlaceHolder 3"/>
          <p:cNvSpPr>
            <a:spLocks noGrp="1"/>
          </p:cNvSpPr>
          <p:nvPr>
            <p:ph type="sldNum" idx="1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3596BB28-9244-416A-BDCD-E6DD07396FC5}" type="slidenum">
              <a:rPr b="0" lang="en-US" sz="1200" spc="-1" strike="noStrike">
                <a:solidFill>
                  <a:schemeClr val="dk1"/>
                </a:solidFill>
                <a:latin typeface="+mn-lt"/>
                <a:ea typeface="+mn-ea"/>
              </a:rPr>
              <a:t>7</a:t>
            </a:fld>
            <a:endParaRPr b="0" lang="en-US" sz="1200" spc="-1" strike="noStrike">
              <a:solidFill>
                <a:srgbClr val="000000"/>
              </a:solidFill>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0" name="PlaceHolder 1"/>
          <p:cNvSpPr>
            <a:spLocks noGrp="1"/>
          </p:cNvSpPr>
          <p:nvPr>
            <p:ph type="sldImg"/>
          </p:nvPr>
        </p:nvSpPr>
        <p:spPr>
          <a:xfrm>
            <a:off x="685800" y="1143000"/>
            <a:ext cx="5486040" cy="3085920"/>
          </a:xfrm>
          <a:prstGeom prst="rect">
            <a:avLst/>
          </a:prstGeom>
          <a:ln w="0">
            <a:noFill/>
          </a:ln>
        </p:spPr>
      </p:sp>
      <p:sp>
        <p:nvSpPr>
          <p:cNvPr id="52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r>
              <a:rPr b="0" lang="en-US" sz="2000" spc="-1" strike="noStrike">
                <a:solidFill>
                  <a:srgbClr val="000000"/>
                </a:solidFill>
                <a:latin typeface="Arial"/>
              </a:rPr>
              <a:t>[8:40–9:10]</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Three quick ways to keep this from regressing. Layout Inspector shows the merged and declared semantics. TalkBack's "Display speech output" developer setting puts captions on screen — that's how the screenshots in this talk were made, and it's what I'll use in the demo. Accessibility Scanner catches the basics.</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And since Compose tests are built on the semantics tree, you can assert accessibility directly: no clickable without a label, rows expose stateDescription and custom actions. These tests are in the demo kit.</a:t>
            </a:r>
            <a:endParaRPr b="0" lang="en-US" sz="2000" spc="-1" strike="noStrike">
              <a:solidFill>
                <a:srgbClr val="000000"/>
              </a:solidFill>
              <a:latin typeface="Arial"/>
            </a:endParaRPr>
          </a:p>
        </p:txBody>
      </p:sp>
      <p:sp>
        <p:nvSpPr>
          <p:cNvPr id="522" name="PlaceHolder 3"/>
          <p:cNvSpPr>
            <a:spLocks noGrp="1"/>
          </p:cNvSpPr>
          <p:nvPr>
            <p:ph type="sldNum" idx="15"/>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91F3A8D6-724B-4FE5-A729-A7F1E5FB0481}" type="slidenum">
              <a:rPr b="0" lang="en-US" sz="1200" spc="-1" strike="noStrike">
                <a:solidFill>
                  <a:schemeClr val="dk1"/>
                </a:solidFill>
                <a:latin typeface="+mn-lt"/>
                <a:ea typeface="+mn-ea"/>
              </a:rPr>
              <a:t>7</a:t>
            </a:fld>
            <a:endParaRPr b="0" lang="en-US" sz="1200" spc="-1" strike="noStrike">
              <a:solidFill>
                <a:srgbClr val="000000"/>
              </a:solidFill>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3" name="PlaceHolder 1"/>
          <p:cNvSpPr>
            <a:spLocks noGrp="1"/>
          </p:cNvSpPr>
          <p:nvPr>
            <p:ph type="sldImg"/>
          </p:nvPr>
        </p:nvSpPr>
        <p:spPr>
          <a:xfrm>
            <a:off x="685800" y="1143000"/>
            <a:ext cx="5486040" cy="3085920"/>
          </a:xfrm>
          <a:prstGeom prst="rect">
            <a:avLst/>
          </a:prstGeom>
          <a:ln w="0">
            <a:noFill/>
          </a:ln>
        </p:spPr>
      </p:sp>
      <p:sp>
        <p:nvSpPr>
          <p:cNvPr id="52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r>
              <a:rPr b="0" lang="en-US" sz="2000" spc="-1" strike="noStrike">
                <a:solidFill>
                  <a:srgbClr val="000000"/>
                </a:solidFill>
                <a:latin typeface="Arial"/>
              </a:rPr>
              <a:t>[9:10–9:40]</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To recap: label every clickable with contentDescription; custom clickables also need role and onClickLabel. stateDescription for changing UI, with liveRegion — polite by default, assertive only for critical messages. mergeDescendants for simple text, clearAndSetSemantics with customActions for complex grouped content. For streaming or replaced content, expose a loading state and restore focus.</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And sometimes the answer is design: the talk ended with an infinite auto-scrolling list. TalkBack ticks on every scroll, targets keep moving, reduced-motion users suffer. There's no modifier for that — remove or redesign it.</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Now let's see — and hear — it live.</a:t>
            </a:r>
            <a:endParaRPr b="0" lang="en-US" sz="2000" spc="-1" strike="noStrike">
              <a:solidFill>
                <a:srgbClr val="000000"/>
              </a:solidFill>
              <a:latin typeface="Arial"/>
            </a:endParaRPr>
          </a:p>
        </p:txBody>
      </p:sp>
      <p:sp>
        <p:nvSpPr>
          <p:cNvPr id="525" name="PlaceHolder 3"/>
          <p:cNvSpPr>
            <a:spLocks noGrp="1"/>
          </p:cNvSpPr>
          <p:nvPr>
            <p:ph type="sldNum" idx="16"/>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0FAABC58-2452-49FA-8FF0-C8D6C08770C4}" type="slidenum">
              <a:rPr b="0" lang="en-US" sz="1200" spc="-1" strike="noStrike">
                <a:solidFill>
                  <a:schemeClr val="dk1"/>
                </a:solidFill>
                <a:latin typeface="+mn-lt"/>
                <a:ea typeface="+mn-ea"/>
              </a:rPr>
              <a:t>7</a:t>
            </a:fld>
            <a:endParaRPr b="0" lang="en-US" sz="1200" spc="-1" strike="noStrike">
              <a:solidFill>
                <a:srgbClr val="000000"/>
              </a:solidFill>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6" name="PlaceHolder 1"/>
          <p:cNvSpPr>
            <a:spLocks noGrp="1"/>
          </p:cNvSpPr>
          <p:nvPr>
            <p:ph type="sldImg"/>
          </p:nvPr>
        </p:nvSpPr>
        <p:spPr>
          <a:xfrm>
            <a:off x="685800" y="1143000"/>
            <a:ext cx="5486040" cy="3085920"/>
          </a:xfrm>
          <a:prstGeom prst="rect">
            <a:avLst/>
          </a:prstGeom>
          <a:ln w="0">
            <a:noFill/>
          </a:ln>
        </p:spPr>
      </p:sp>
      <p:sp>
        <p:nvSpPr>
          <p:cNvPr id="52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r>
              <a:rPr b="0" lang="en-US" sz="2000" spc="-1" strike="noStrike">
                <a:solidFill>
                  <a:srgbClr val="000000"/>
                </a:solidFill>
                <a:latin typeface="Arial"/>
              </a:rPr>
              <a:t>[DEMO — 3 to 4 minutes; full script in README.md]</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Before: TalkBack ON, "Display speech output" ON, phone mirrored, volume up, app on the Labels tab with BROKEN selected.</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1 Labels: swipe to the heart → "Button, double tap to activate". Flip to FIXED → "Like, Button". Swipe to the circle → "Hello, droidcon!, Button… Double-tap to learn more about semantics".</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2 State: FIXED. Double-tap download, swipe to Reset, wait ~4 s → polite "Downloaded". Optional: Simulate failure → assertive interruption.</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3 Grouping: count swipes per row in each of the three modes; three-finger tap on a row in mode 3 to open Actions.</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4 Streaming: mode 1 (word by word), mode 3 (re-reading — let it be painful for a few seconds), mode 5 ("Loading" then the full paragraph). Tap Restart after switching modes.</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5 Focus (only if time): BROKEN — double-tap See more, focus is lost. FIXED + Reset — focus lands on "Handrails".</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Fallback if the device misbehaves: go back to slides 9–10 — they show the expected output.</a:t>
            </a:r>
            <a:endParaRPr b="0" lang="en-US" sz="2000" spc="-1" strike="noStrike">
              <a:solidFill>
                <a:srgbClr val="000000"/>
              </a:solidFill>
              <a:latin typeface="Arial"/>
            </a:endParaRPr>
          </a:p>
        </p:txBody>
      </p:sp>
      <p:sp>
        <p:nvSpPr>
          <p:cNvPr id="528" name="PlaceHolder 3"/>
          <p:cNvSpPr>
            <a:spLocks noGrp="1"/>
          </p:cNvSpPr>
          <p:nvPr>
            <p:ph type="sldNum" idx="17"/>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28DA74C4-C550-431E-AEAD-B0C06C521A0F}" type="slidenum">
              <a:rPr b="0" lang="en-US" sz="1200" spc="-1" strike="noStrike">
                <a:solidFill>
                  <a:schemeClr val="dk1"/>
                </a:solidFill>
                <a:latin typeface="+mn-lt"/>
                <a:ea typeface="+mn-ea"/>
              </a:rPr>
              <a:t>7</a:t>
            </a:fld>
            <a:endParaRPr b="0" lang="en-US" sz="1200" spc="-1" strike="noStrike">
              <a:solidFill>
                <a:srgbClr val="000000"/>
              </a:solidFill>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9" name="PlaceHolder 1"/>
          <p:cNvSpPr>
            <a:spLocks noGrp="1"/>
          </p:cNvSpPr>
          <p:nvPr>
            <p:ph type="sldImg"/>
          </p:nvPr>
        </p:nvSpPr>
        <p:spPr>
          <a:xfrm>
            <a:off x="685800" y="1143000"/>
            <a:ext cx="5486040" cy="3085920"/>
          </a:xfrm>
          <a:prstGeom prst="rect">
            <a:avLst/>
          </a:prstGeom>
          <a:ln w="0">
            <a:noFill/>
          </a:ln>
        </p:spPr>
      </p:sp>
      <p:sp>
        <p:nvSpPr>
          <p:cNvPr id="53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r>
              <a:rPr b="0" lang="en-US" sz="2000" spc="-1" strike="noStrike">
                <a:solidFill>
                  <a:srgbClr val="000000"/>
                </a:solidFill>
                <a:latin typeface="Arial"/>
              </a:rPr>
              <a:t>[Close]</a:t>
            </a:r>
            <a:endParaRPr b="0" lang="en-US" sz="2000" spc="-1" strike="noStrike">
              <a:solidFill>
                <a:srgbClr val="000000"/>
              </a:solidFill>
              <a:latin typeface="Arial"/>
            </a:endParaRPr>
          </a:p>
          <a:p>
            <a:pPr marL="216000" indent="-216000">
              <a:buNone/>
            </a:pPr>
            <a:r>
              <a:rPr b="0" lang="en-US" sz="2000" spc="-1" strike="noStrike">
                <a:solidFill>
                  <a:srgbClr val="000000"/>
                </a:solidFill>
                <a:latin typeface="Arial"/>
              </a:rPr>
              <a:t>Thank you! One small ask: this week, turn on TalkBack, open your own app, and see how long it takes to find an unlabeled button. Then add one semantics test so it never comes back.</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Credit to the original droidcon speaker; the demo code is shared with this deck. Happy to take questions.</a:t>
            </a:r>
            <a:endParaRPr b="0" lang="en-US" sz="2000" spc="-1" strike="noStrike">
              <a:solidFill>
                <a:srgbClr val="000000"/>
              </a:solidFill>
              <a:latin typeface="Arial"/>
            </a:endParaRPr>
          </a:p>
        </p:txBody>
      </p:sp>
      <p:sp>
        <p:nvSpPr>
          <p:cNvPr id="531" name="PlaceHolder 3"/>
          <p:cNvSpPr>
            <a:spLocks noGrp="1"/>
          </p:cNvSpPr>
          <p:nvPr>
            <p:ph type="sldNum" idx="18"/>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EBC3A7BD-B667-4B65-AB5D-E518AEC32408}"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r>
              <a:rPr b="0" lang="en-US" sz="1800" spc="-1" strike="noStrike">
                <a:solidFill>
                  <a:schemeClr val="dk1"/>
                </a:solidFill>
                <a:latin typeface="Calibri"/>
              </a:rPr>
              <a:t>Click to edit the title text format</a:t>
            </a:r>
            <a:endParaRPr b="0" lang="en-US" sz="1800" spc="-1" strike="noStrike">
              <a:solidFill>
                <a:schemeClr val="dk1"/>
              </a:solidFill>
              <a:latin typeface="Calibri"/>
            </a:endParaRPr>
          </a:p>
        </p:txBody>
      </p:sp>
      <p:sp>
        <p:nvSpPr>
          <p:cNvPr id="1"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Second Outline Level</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Third Outline Level</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Fourth Outline Level</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1.xml"/><Relationship Id="rId5"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slideLayout" Target="../slideLayouts/slideLayout1.xml"/><Relationship Id="rId6"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png"/><Relationship Id="rId3" Type="http://schemas.openxmlformats.org/officeDocument/2006/relationships/image" Target="../media/image7.png"/><Relationship Id="rId4" Type="http://schemas.openxmlformats.org/officeDocument/2006/relationships/image" Target="../media/image9.png"/><Relationship Id="rId5" Type="http://schemas.openxmlformats.org/officeDocument/2006/relationships/image" Target="../media/image7.png"/><Relationship Id="rId6" Type="http://schemas.openxmlformats.org/officeDocument/2006/relationships/image" Target="../media/image10.png"/><Relationship Id="rId7" Type="http://schemas.openxmlformats.org/officeDocument/2006/relationships/slideLayout" Target="../slideLayouts/slideLayout1.xml"/><Relationship Id="rId8"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slideLayout" Target="../slideLayouts/slideLayout1.xml"/><Relationship Id="rId8"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slideLayout" Target="../slideLayouts/slideLayout1.xml"/><Relationship Id="rId7"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14.png"/><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slideLayout" Target="../slideLayouts/slideLayout1.xml"/><Relationship Id="rId7"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slideLayout" Target="../slideLayouts/slideLayout1.xml"/><Relationship Id="rId5"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e1a2b"/>
        </a:solidFill>
      </p:bgPr>
    </p:bg>
    <p:spTree>
      <p:nvGrpSpPr>
        <p:cNvPr id="1" name=""/>
        <p:cNvGrpSpPr/>
        <p:nvPr/>
      </p:nvGrpSpPr>
      <p:grpSpPr>
        <a:xfrm>
          <a:off x="0" y="0"/>
          <a:ext cx="0" cy="0"/>
          <a:chOff x="0" y="0"/>
          <a:chExt cx="0" cy="0"/>
        </a:xfrm>
      </p:grpSpPr>
      <p:sp>
        <p:nvSpPr>
          <p:cNvPr id="8" name="Text 0"/>
          <p:cNvSpPr/>
          <p:nvPr/>
        </p:nvSpPr>
        <p:spPr>
          <a:xfrm>
            <a:off x="731520" y="1234440"/>
            <a:ext cx="6857640" cy="3196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300" spc="299" strike="noStrike">
                <a:solidFill>
                  <a:srgbClr val="3ddc84"/>
                </a:solidFill>
                <a:latin typeface="Calibri"/>
                <a:ea typeface="Calibri"/>
              </a:rPr>
              <a:t>ANDROID ACCESSIBILITY  ·  JETPACK COMPOSE</a:t>
            </a:r>
            <a:endParaRPr b="0" lang="en-US" sz="1300" spc="-1" strike="noStrike">
              <a:solidFill>
                <a:srgbClr val="ffffff"/>
              </a:solidFill>
              <a:latin typeface="Arial"/>
            </a:endParaRPr>
          </a:p>
        </p:txBody>
      </p:sp>
      <p:sp>
        <p:nvSpPr>
          <p:cNvPr id="9" name="Text 1"/>
          <p:cNvSpPr/>
          <p:nvPr/>
        </p:nvSpPr>
        <p:spPr>
          <a:xfrm>
            <a:off x="731520" y="1691640"/>
            <a:ext cx="6949080" cy="16912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5000" spc="-1" strike="noStrike">
                <a:solidFill>
                  <a:srgbClr val="ffffff"/>
                </a:solidFill>
                <a:latin typeface="Arial"/>
                <a:ea typeface="Arial"/>
              </a:rPr>
              <a:t>Make Compose</a:t>
            </a:r>
            <a:endParaRPr b="0" lang="en-US" sz="5000" spc="-1" strike="noStrike">
              <a:solidFill>
                <a:srgbClr val="ffffff"/>
              </a:solidFill>
              <a:latin typeface="Arial"/>
            </a:endParaRPr>
          </a:p>
          <a:p>
            <a:pPr defTabSz="914400">
              <a:lnSpc>
                <a:spcPct val="100000"/>
              </a:lnSpc>
              <a:tabLst>
                <a:tab algn="l" pos="0"/>
              </a:tabLst>
            </a:pPr>
            <a:r>
              <a:rPr b="1" lang="en-US" sz="5000" spc="-1" strike="noStrike">
                <a:solidFill>
                  <a:srgbClr val="ffffff"/>
                </a:solidFill>
                <a:latin typeface="Arial"/>
                <a:ea typeface="Arial"/>
              </a:rPr>
              <a:t>UI Speak</a:t>
            </a:r>
            <a:endParaRPr b="0" lang="en-US" sz="5000" spc="-1" strike="noStrike">
              <a:solidFill>
                <a:srgbClr val="ffffff"/>
              </a:solidFill>
              <a:latin typeface="Arial"/>
            </a:endParaRPr>
          </a:p>
        </p:txBody>
      </p:sp>
      <p:sp>
        <p:nvSpPr>
          <p:cNvPr id="10" name="Text 2"/>
          <p:cNvSpPr/>
          <p:nvPr/>
        </p:nvSpPr>
        <p:spPr>
          <a:xfrm>
            <a:off x="731520" y="3611880"/>
            <a:ext cx="6400440" cy="9140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2000" spc="-1" strike="noStrike">
                <a:solidFill>
                  <a:srgbClr val="c9d3e3"/>
                </a:solidFill>
                <a:latin typeface="Calibri"/>
                <a:ea typeface="Calibri"/>
              </a:rPr>
              <a:t>Semantics for labels, state, grouping and streaming text — so TalkBack users get the same app you do.</a:t>
            </a:r>
            <a:endParaRPr b="0" lang="en-US" sz="2000" spc="-1" strike="noStrike">
              <a:solidFill>
                <a:srgbClr val="ffffff"/>
              </a:solidFill>
              <a:latin typeface="Arial"/>
            </a:endParaRPr>
          </a:p>
        </p:txBody>
      </p:sp>
      <p:sp>
        <p:nvSpPr>
          <p:cNvPr id="11" name="Text 3"/>
          <p:cNvSpPr/>
          <p:nvPr/>
        </p:nvSpPr>
        <p:spPr>
          <a:xfrm>
            <a:off x="731520" y="4892040"/>
            <a:ext cx="5486040" cy="3654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endParaRPr b="0" lang="en-US" sz="1800" spc="-1" strike="noStrike">
              <a:solidFill>
                <a:srgbClr val="ffffff"/>
              </a:solidFill>
              <a:latin typeface="Arial"/>
            </a:endParaRPr>
          </a:p>
        </p:txBody>
      </p:sp>
      <p:sp>
        <p:nvSpPr>
          <p:cNvPr id="12" name="Text 4"/>
          <p:cNvSpPr/>
          <p:nvPr/>
        </p:nvSpPr>
        <p:spPr>
          <a:xfrm>
            <a:off x="731520" y="5303520"/>
            <a:ext cx="6400440" cy="3196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endParaRPr b="0" lang="en-US" sz="1800" spc="-1" strike="noStrike">
              <a:solidFill>
                <a:srgbClr val="ffffff"/>
              </a:solidFill>
              <a:latin typeface="Arial"/>
            </a:endParaRPr>
          </a:p>
        </p:txBody>
      </p:sp>
      <p:sp>
        <p:nvSpPr>
          <p:cNvPr id="13" name="Shape 5"/>
          <p:cNvSpPr/>
          <p:nvPr/>
        </p:nvSpPr>
        <p:spPr>
          <a:xfrm>
            <a:off x="8229600" y="685800"/>
            <a:ext cx="2971440" cy="5486040"/>
          </a:xfrm>
          <a:prstGeom prst="roundRect">
            <a:avLst>
              <a:gd name="adj" fmla="val 9846"/>
            </a:avLst>
          </a:prstGeom>
          <a:solidFill>
            <a:srgbClr val="15161a"/>
          </a:solidFill>
          <a:ln w="12700">
            <a:solidFill>
              <a:srgbClr val="15161a"/>
            </a:solidFill>
            <a:round/>
          </a:ln>
          <a:effectLst>
            <a:outerShdw algn="bl" blurRad="101520" dir="5400000" dist="38160" kx="0" ky="0" rotWithShape="0" sx="100000" sy="100000">
              <a:srgbClr val="000000">
                <a:alpha val="22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4" name="Shape 6"/>
          <p:cNvSpPr/>
          <p:nvPr/>
        </p:nvSpPr>
        <p:spPr>
          <a:xfrm>
            <a:off x="8330040" y="786240"/>
            <a:ext cx="2770200" cy="5284800"/>
          </a:xfrm>
          <a:prstGeom prst="roundRect">
            <a:avLst>
              <a:gd name="adj" fmla="val 7921"/>
            </a:avLst>
          </a:prstGeom>
          <a:solidFill>
            <a:srgbClr val="f7f2fa"/>
          </a:solidFill>
          <a:ln w="12700">
            <a:solidFill>
              <a:srgbClr val="f7f2fa"/>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5" name="Shape 7"/>
          <p:cNvSpPr/>
          <p:nvPr/>
        </p:nvSpPr>
        <p:spPr>
          <a:xfrm>
            <a:off x="8330040" y="951120"/>
            <a:ext cx="2770200" cy="456840"/>
          </a:xfrm>
          <a:prstGeom prst="rect">
            <a:avLst/>
          </a:prstGeom>
          <a:solidFill>
            <a:srgbClr val="5b3fd6"/>
          </a:solidFill>
          <a:ln w="12700">
            <a:solidFill>
              <a:srgbClr val="5b3fd6"/>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6" name="Text 8"/>
          <p:cNvSpPr/>
          <p:nvPr/>
        </p:nvSpPr>
        <p:spPr>
          <a:xfrm>
            <a:off x="8512920" y="951120"/>
            <a:ext cx="249588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ffffff"/>
                </a:solidFill>
                <a:latin typeface="Calibri"/>
                <a:ea typeface="Calibri"/>
              </a:rPr>
              <a:t>My App</a:t>
            </a:r>
            <a:endParaRPr b="0" lang="en-US" sz="1300" spc="-1" strike="noStrike">
              <a:solidFill>
                <a:srgbClr val="ffffff"/>
              </a:solidFill>
              <a:latin typeface="Arial"/>
            </a:endParaRPr>
          </a:p>
        </p:txBody>
      </p:sp>
      <p:sp>
        <p:nvSpPr>
          <p:cNvPr id="17" name="Shape 9"/>
          <p:cNvSpPr/>
          <p:nvPr/>
        </p:nvSpPr>
        <p:spPr>
          <a:xfrm>
            <a:off x="8847000" y="2020680"/>
            <a:ext cx="1737000" cy="1737000"/>
          </a:xfrm>
          <a:prstGeom prst="ellipse">
            <a:avLst/>
          </a:prstGeom>
          <a:solidFill>
            <a:srgbClr val="ffffff"/>
          </a:solidFill>
          <a:ln w="25400">
            <a:solidFill>
              <a:srgbClr val="5b3fd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18" name="Image 0" descr="preencoded.png"/>
          <p:cNvPicPr/>
          <p:nvPr/>
        </p:nvPicPr>
        <p:blipFill>
          <a:blip r:embed="rId1"/>
          <a:stretch/>
        </p:blipFill>
        <p:spPr>
          <a:xfrm>
            <a:off x="9212760" y="2386440"/>
            <a:ext cx="1005480" cy="1005480"/>
          </a:xfrm>
          <a:prstGeom prst="rect">
            <a:avLst/>
          </a:prstGeom>
          <a:ln w="0">
            <a:noFill/>
          </a:ln>
        </p:spPr>
      </p:pic>
      <p:sp>
        <p:nvSpPr>
          <p:cNvPr id="19" name="Shape 10"/>
          <p:cNvSpPr/>
          <p:nvPr/>
        </p:nvSpPr>
        <p:spPr>
          <a:xfrm>
            <a:off x="8755560" y="1929240"/>
            <a:ext cx="1919880" cy="1919880"/>
          </a:xfrm>
          <a:prstGeom prst="rect">
            <a:avLst/>
          </a:prstGeom>
          <a:noFill/>
          <a:ln w="34925">
            <a:solidFill>
              <a:srgbClr val="1a73e8"/>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0" name="Shape 11"/>
          <p:cNvSpPr/>
          <p:nvPr/>
        </p:nvSpPr>
        <p:spPr>
          <a:xfrm>
            <a:off x="8558640" y="4672440"/>
            <a:ext cx="2313000" cy="383760"/>
          </a:xfrm>
          <a:prstGeom prst="rect">
            <a:avLst/>
          </a:prstGeom>
          <a:solidFill>
            <a:srgbClr val="2e2e2e"/>
          </a:solidFill>
          <a:ln w="12700">
            <a:solidFill>
              <a:srgbClr val="2e2e2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 name="Text 12"/>
          <p:cNvSpPr/>
          <p:nvPr/>
        </p:nvSpPr>
        <p:spPr>
          <a:xfrm>
            <a:off x="8632080" y="4672440"/>
            <a:ext cx="2166840" cy="383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200" spc="-1" strike="noStrike">
                <a:solidFill>
                  <a:srgbClr val="ffffff"/>
                </a:solidFill>
                <a:latin typeface="Calibri"/>
                <a:ea typeface="Calibri"/>
              </a:rPr>
              <a:t>Hello, droidcon!, Button</a:t>
            </a:r>
            <a:endParaRPr b="0" lang="en-US" sz="1200" spc="-1" strike="noStrike">
              <a:solidFill>
                <a:srgbClr val="ffffff"/>
              </a:solidFill>
              <a:latin typeface="Arial"/>
            </a:endParaRPr>
          </a:p>
        </p:txBody>
      </p:sp>
      <p:sp>
        <p:nvSpPr>
          <p:cNvPr id="22" name="Shape 13"/>
          <p:cNvSpPr/>
          <p:nvPr/>
        </p:nvSpPr>
        <p:spPr>
          <a:xfrm>
            <a:off x="8439840" y="5102280"/>
            <a:ext cx="2550960" cy="383760"/>
          </a:xfrm>
          <a:prstGeom prst="rect">
            <a:avLst/>
          </a:prstGeom>
          <a:solidFill>
            <a:srgbClr val="2e2e2e"/>
          </a:solidFill>
          <a:ln w="12700">
            <a:solidFill>
              <a:srgbClr val="2e2e2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3" name="Text 14"/>
          <p:cNvSpPr/>
          <p:nvPr/>
        </p:nvSpPr>
        <p:spPr>
          <a:xfrm>
            <a:off x="8512920" y="5102280"/>
            <a:ext cx="2404440" cy="383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050" spc="-1" strike="noStrike">
                <a:solidFill>
                  <a:srgbClr val="ffffff"/>
                </a:solidFill>
                <a:latin typeface="Calibri"/>
                <a:ea typeface="Calibri"/>
              </a:rPr>
              <a:t>Double-tap to learn more about semantics</a:t>
            </a:r>
            <a:endParaRPr b="0" lang="en-US" sz="105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4" name="Text 0"/>
          <p:cNvSpPr/>
          <p:nvPr/>
        </p:nvSpPr>
        <p:spPr>
          <a:xfrm>
            <a:off x="548640" y="502920"/>
            <a:ext cx="11063880" cy="7311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3200" spc="-1" strike="noStrike">
                <a:solidFill>
                  <a:srgbClr val="1b2330"/>
                </a:solidFill>
                <a:latin typeface="Arial"/>
                <a:ea typeface="Arial"/>
              </a:rPr>
              <a:t>Semantics = what assistive tech “sees”</a:t>
            </a:r>
            <a:endParaRPr b="0" lang="en-US" sz="3200" spc="-1" strike="noStrike">
              <a:solidFill>
                <a:srgbClr val="000000"/>
              </a:solidFill>
              <a:latin typeface="Arial"/>
            </a:endParaRPr>
          </a:p>
        </p:txBody>
      </p:sp>
      <p:sp>
        <p:nvSpPr>
          <p:cNvPr id="25" name="Text 1"/>
          <p:cNvSpPr/>
          <p:nvPr/>
        </p:nvSpPr>
        <p:spPr>
          <a:xfrm>
            <a:off x="548640" y="1371600"/>
            <a:ext cx="6034680" cy="8226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700" spc="-1" strike="noStrike">
                <a:solidFill>
                  <a:srgbClr val="333b48"/>
                </a:solidFill>
                <a:latin typeface="Calibri"/>
                <a:ea typeface="Calibri"/>
              </a:rPr>
              <a:t>Non-visual properties that describe your composables to accessibility technologies (ATs). If it isn't in the semantics tree, it doesn't exist for them.</a:t>
            </a:r>
            <a:endParaRPr b="0" lang="en-US" sz="1700" spc="-1" strike="noStrike">
              <a:solidFill>
                <a:srgbClr val="000000"/>
              </a:solidFill>
              <a:latin typeface="Arial"/>
            </a:endParaRPr>
          </a:p>
        </p:txBody>
      </p:sp>
      <p:sp>
        <p:nvSpPr>
          <p:cNvPr id="26" name="Shape 2"/>
          <p:cNvSpPr/>
          <p:nvPr/>
        </p:nvSpPr>
        <p:spPr>
          <a:xfrm>
            <a:off x="548640" y="2423160"/>
            <a:ext cx="658080" cy="658080"/>
          </a:xfrm>
          <a:prstGeom prst="ellipse">
            <a:avLst/>
          </a:prstGeom>
          <a:solidFill>
            <a:srgbClr val="eeeafb"/>
          </a:solidFill>
          <a:ln w="12700">
            <a:solidFill>
              <a:srgbClr val="eeeaf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27" name="Image 0" descr="preencoded.png"/>
          <p:cNvPicPr/>
          <p:nvPr/>
        </p:nvPicPr>
        <p:blipFill>
          <a:blip r:embed="rId1"/>
          <a:stretch/>
        </p:blipFill>
        <p:spPr>
          <a:xfrm>
            <a:off x="693360" y="2567880"/>
            <a:ext cx="368280" cy="368280"/>
          </a:xfrm>
          <a:prstGeom prst="rect">
            <a:avLst/>
          </a:prstGeom>
          <a:ln w="0">
            <a:noFill/>
          </a:ln>
        </p:spPr>
      </p:pic>
      <p:sp>
        <p:nvSpPr>
          <p:cNvPr id="28" name="Text 3"/>
          <p:cNvSpPr/>
          <p:nvPr/>
        </p:nvSpPr>
        <p:spPr>
          <a:xfrm>
            <a:off x="1417320" y="2404800"/>
            <a:ext cx="5120280" cy="3286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700" spc="-1" strike="noStrike">
                <a:solidFill>
                  <a:srgbClr val="1b2330"/>
                </a:solidFill>
                <a:latin typeface="Calibri"/>
                <a:ea typeface="Calibri"/>
              </a:rPr>
              <a:t>TalkBack (screen reader)</a:t>
            </a:r>
            <a:endParaRPr b="0" lang="en-US" sz="1700" spc="-1" strike="noStrike">
              <a:solidFill>
                <a:srgbClr val="000000"/>
              </a:solidFill>
              <a:latin typeface="Arial"/>
            </a:endParaRPr>
          </a:p>
        </p:txBody>
      </p:sp>
      <p:sp>
        <p:nvSpPr>
          <p:cNvPr id="29" name="Text 4"/>
          <p:cNvSpPr/>
          <p:nvPr/>
        </p:nvSpPr>
        <p:spPr>
          <a:xfrm>
            <a:off x="1417320" y="2752200"/>
            <a:ext cx="5120280" cy="5482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400" spc="-1" strike="noStrike">
                <a:solidFill>
                  <a:srgbClr val="5b6472"/>
                </a:solidFill>
                <a:latin typeface="Calibri"/>
                <a:ea typeface="Calibri"/>
              </a:rPr>
              <a:t>Reads the screen aloud; users swipe element by element. Hardest to get right — today's focus.</a:t>
            </a:r>
            <a:endParaRPr b="0" lang="en-US" sz="1400" spc="-1" strike="noStrike">
              <a:solidFill>
                <a:srgbClr val="000000"/>
              </a:solidFill>
              <a:latin typeface="Arial"/>
            </a:endParaRPr>
          </a:p>
        </p:txBody>
      </p:sp>
      <p:sp>
        <p:nvSpPr>
          <p:cNvPr id="30" name="Shape 5"/>
          <p:cNvSpPr/>
          <p:nvPr/>
        </p:nvSpPr>
        <p:spPr>
          <a:xfrm>
            <a:off x="548640" y="3447360"/>
            <a:ext cx="658080" cy="658080"/>
          </a:xfrm>
          <a:prstGeom prst="ellipse">
            <a:avLst/>
          </a:prstGeom>
          <a:solidFill>
            <a:srgbClr val="eeeafb"/>
          </a:solidFill>
          <a:ln w="12700">
            <a:solidFill>
              <a:srgbClr val="eeeaf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31" name="Image 1" descr="preencoded.png"/>
          <p:cNvPicPr/>
          <p:nvPr/>
        </p:nvPicPr>
        <p:blipFill>
          <a:blip r:embed="rId2"/>
          <a:stretch/>
        </p:blipFill>
        <p:spPr>
          <a:xfrm>
            <a:off x="693360" y="3592080"/>
            <a:ext cx="368280" cy="368280"/>
          </a:xfrm>
          <a:prstGeom prst="rect">
            <a:avLst/>
          </a:prstGeom>
          <a:ln w="0">
            <a:noFill/>
          </a:ln>
        </p:spPr>
      </p:pic>
      <p:sp>
        <p:nvSpPr>
          <p:cNvPr id="32" name="Text 6"/>
          <p:cNvSpPr/>
          <p:nvPr/>
        </p:nvSpPr>
        <p:spPr>
          <a:xfrm>
            <a:off x="1417320" y="3429000"/>
            <a:ext cx="5120280" cy="3286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700" spc="-1" strike="noStrike">
                <a:solidFill>
                  <a:srgbClr val="1b2330"/>
                </a:solidFill>
                <a:latin typeface="Calibri"/>
                <a:ea typeface="Calibri"/>
              </a:rPr>
              <a:t>Voice Access</a:t>
            </a:r>
            <a:endParaRPr b="0" lang="en-US" sz="1700" spc="-1" strike="noStrike">
              <a:solidFill>
                <a:srgbClr val="000000"/>
              </a:solidFill>
              <a:latin typeface="Arial"/>
            </a:endParaRPr>
          </a:p>
        </p:txBody>
      </p:sp>
      <p:sp>
        <p:nvSpPr>
          <p:cNvPr id="33" name="Text 7"/>
          <p:cNvSpPr/>
          <p:nvPr/>
        </p:nvSpPr>
        <p:spPr>
          <a:xfrm>
            <a:off x="1417320" y="3776400"/>
            <a:ext cx="5120280" cy="5482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400" spc="-1" strike="noStrike">
                <a:solidFill>
                  <a:srgbClr val="5b6472"/>
                </a:solidFill>
                <a:latin typeface="Calibri"/>
                <a:ea typeface="Calibri"/>
              </a:rPr>
              <a:t>Users speak a control's label to tap it — no label, no command.</a:t>
            </a:r>
            <a:endParaRPr b="0" lang="en-US" sz="1400" spc="-1" strike="noStrike">
              <a:solidFill>
                <a:srgbClr val="000000"/>
              </a:solidFill>
              <a:latin typeface="Arial"/>
            </a:endParaRPr>
          </a:p>
        </p:txBody>
      </p:sp>
      <p:sp>
        <p:nvSpPr>
          <p:cNvPr id="34" name="Shape 8"/>
          <p:cNvSpPr/>
          <p:nvPr/>
        </p:nvSpPr>
        <p:spPr>
          <a:xfrm>
            <a:off x="548640" y="4471560"/>
            <a:ext cx="658080" cy="658080"/>
          </a:xfrm>
          <a:prstGeom prst="ellipse">
            <a:avLst/>
          </a:prstGeom>
          <a:solidFill>
            <a:srgbClr val="eeeafb"/>
          </a:solidFill>
          <a:ln w="12700">
            <a:solidFill>
              <a:srgbClr val="eeeaf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35" name="Image 2" descr="preencoded.png"/>
          <p:cNvPicPr/>
          <p:nvPr/>
        </p:nvPicPr>
        <p:blipFill>
          <a:blip r:embed="rId3"/>
          <a:stretch/>
        </p:blipFill>
        <p:spPr>
          <a:xfrm>
            <a:off x="693360" y="4616280"/>
            <a:ext cx="368280" cy="368280"/>
          </a:xfrm>
          <a:prstGeom prst="rect">
            <a:avLst/>
          </a:prstGeom>
          <a:ln w="0">
            <a:noFill/>
          </a:ln>
        </p:spPr>
      </p:pic>
      <p:sp>
        <p:nvSpPr>
          <p:cNvPr id="36" name="Text 9"/>
          <p:cNvSpPr/>
          <p:nvPr/>
        </p:nvSpPr>
        <p:spPr>
          <a:xfrm>
            <a:off x="1417320" y="4453200"/>
            <a:ext cx="5120280" cy="3286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700" spc="-1" strike="noStrike">
                <a:solidFill>
                  <a:srgbClr val="1b2330"/>
                </a:solidFill>
                <a:latin typeface="Calibri"/>
                <a:ea typeface="Calibri"/>
              </a:rPr>
              <a:t>Keyboard, switch, D-pad</a:t>
            </a:r>
            <a:endParaRPr b="0" lang="en-US" sz="1700" spc="-1" strike="noStrike">
              <a:solidFill>
                <a:srgbClr val="000000"/>
              </a:solidFill>
              <a:latin typeface="Arial"/>
            </a:endParaRPr>
          </a:p>
        </p:txBody>
      </p:sp>
      <p:sp>
        <p:nvSpPr>
          <p:cNvPr id="37" name="Text 10"/>
          <p:cNvSpPr/>
          <p:nvPr/>
        </p:nvSpPr>
        <p:spPr>
          <a:xfrm>
            <a:off x="1417320" y="4800600"/>
            <a:ext cx="5120280" cy="5482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400" spc="-1" strike="noStrike">
                <a:solidFill>
                  <a:srgbClr val="5b6472"/>
                </a:solidFill>
                <a:latin typeface="Calibri"/>
                <a:ea typeface="Calibri"/>
              </a:rPr>
              <a:t>Move focus without touch. Lost focus = lost user.</a:t>
            </a:r>
            <a:endParaRPr b="0" lang="en-US" sz="1400" spc="-1" strike="noStrike">
              <a:solidFill>
                <a:srgbClr val="000000"/>
              </a:solidFill>
              <a:latin typeface="Arial"/>
            </a:endParaRPr>
          </a:p>
        </p:txBody>
      </p:sp>
      <p:sp>
        <p:nvSpPr>
          <p:cNvPr id="38" name="Text 15"/>
          <p:cNvSpPr/>
          <p:nvPr/>
        </p:nvSpPr>
        <p:spPr>
          <a:xfrm>
            <a:off x="548640" y="5715000"/>
            <a:ext cx="91404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99" strike="noStrike">
                <a:solidFill>
                  <a:srgbClr val="5b6472"/>
                </a:solidFill>
                <a:latin typeface="Calibri"/>
                <a:ea typeface="Calibri"/>
              </a:rPr>
              <a:t>TODAY</a:t>
            </a:r>
            <a:endParaRPr b="0" lang="en-US" sz="1200" spc="-1" strike="noStrike">
              <a:solidFill>
                <a:srgbClr val="000000"/>
              </a:solidFill>
              <a:latin typeface="Arial"/>
            </a:endParaRPr>
          </a:p>
        </p:txBody>
      </p:sp>
      <p:sp>
        <p:nvSpPr>
          <p:cNvPr id="39" name="Shape 16"/>
          <p:cNvSpPr/>
          <p:nvPr/>
        </p:nvSpPr>
        <p:spPr>
          <a:xfrm>
            <a:off x="1463040" y="5715000"/>
            <a:ext cx="1211400" cy="383760"/>
          </a:xfrm>
          <a:prstGeom prst="roundRect">
            <a:avLst>
              <a:gd name="adj" fmla="val 50000"/>
            </a:avLst>
          </a:prstGeom>
          <a:solidFill>
            <a:srgbClr val="f3f5f8"/>
          </a:solidFill>
          <a:ln w="12700">
            <a:solidFill>
              <a:srgbClr val="f3f5f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0" name="Text 17"/>
          <p:cNvSpPr/>
          <p:nvPr/>
        </p:nvSpPr>
        <p:spPr>
          <a:xfrm>
            <a:off x="1463040" y="5715000"/>
            <a:ext cx="1211400" cy="383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pc="-1" strike="noStrike">
                <a:solidFill>
                  <a:srgbClr val="5b3fd6"/>
                </a:solidFill>
                <a:latin typeface="Calibri"/>
                <a:ea typeface="Calibri"/>
              </a:rPr>
              <a:t>1  </a:t>
            </a:r>
            <a:r>
              <a:rPr b="0" lang="en-US" sz="1300" spc="-1" strike="noStrike">
                <a:solidFill>
                  <a:srgbClr val="1b2330"/>
                </a:solidFill>
                <a:latin typeface="Calibri"/>
                <a:ea typeface="Calibri"/>
              </a:rPr>
              <a:t>Label</a:t>
            </a:r>
            <a:endParaRPr b="0" lang="en-US" sz="1300" spc="-1" strike="noStrike">
              <a:solidFill>
                <a:srgbClr val="000000"/>
              </a:solidFill>
              <a:latin typeface="Arial"/>
            </a:endParaRPr>
          </a:p>
        </p:txBody>
      </p:sp>
      <p:sp>
        <p:nvSpPr>
          <p:cNvPr id="41" name="Shape 18"/>
          <p:cNvSpPr/>
          <p:nvPr/>
        </p:nvSpPr>
        <p:spPr>
          <a:xfrm>
            <a:off x="2903400" y="5715000"/>
            <a:ext cx="2157480" cy="383760"/>
          </a:xfrm>
          <a:prstGeom prst="roundRect">
            <a:avLst>
              <a:gd name="adj" fmla="val 50000"/>
            </a:avLst>
          </a:prstGeom>
          <a:solidFill>
            <a:srgbClr val="f3f5f8"/>
          </a:solidFill>
          <a:ln w="12700">
            <a:solidFill>
              <a:srgbClr val="f3f5f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2" name="Text 19"/>
          <p:cNvSpPr/>
          <p:nvPr/>
        </p:nvSpPr>
        <p:spPr>
          <a:xfrm>
            <a:off x="2903400" y="5715000"/>
            <a:ext cx="2157480" cy="383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pc="-1" strike="noStrike">
                <a:solidFill>
                  <a:srgbClr val="5b3fd6"/>
                </a:solidFill>
                <a:latin typeface="Calibri"/>
                <a:ea typeface="Calibri"/>
              </a:rPr>
              <a:t>2  </a:t>
            </a:r>
            <a:r>
              <a:rPr b="0" lang="en-US" sz="1300" spc="-1" strike="noStrike">
                <a:solidFill>
                  <a:srgbClr val="1b2330"/>
                </a:solidFill>
                <a:latin typeface="Calibri"/>
                <a:ea typeface="Calibri"/>
              </a:rPr>
              <a:t>Announce state</a:t>
            </a:r>
            <a:endParaRPr b="0" lang="en-US" sz="1300" spc="-1" strike="noStrike">
              <a:solidFill>
                <a:srgbClr val="000000"/>
              </a:solidFill>
              <a:latin typeface="Arial"/>
            </a:endParaRPr>
          </a:p>
        </p:txBody>
      </p:sp>
      <p:sp>
        <p:nvSpPr>
          <p:cNvPr id="43" name="Shape 20"/>
          <p:cNvSpPr/>
          <p:nvPr/>
        </p:nvSpPr>
        <p:spPr>
          <a:xfrm>
            <a:off x="5289840" y="5715000"/>
            <a:ext cx="1211400" cy="383760"/>
          </a:xfrm>
          <a:prstGeom prst="roundRect">
            <a:avLst>
              <a:gd name="adj" fmla="val 50000"/>
            </a:avLst>
          </a:prstGeom>
          <a:solidFill>
            <a:srgbClr val="f3f5f8"/>
          </a:solidFill>
          <a:ln w="12700">
            <a:solidFill>
              <a:srgbClr val="f3f5f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4" name="Text 21"/>
          <p:cNvSpPr/>
          <p:nvPr/>
        </p:nvSpPr>
        <p:spPr>
          <a:xfrm>
            <a:off x="5289840" y="5715000"/>
            <a:ext cx="1211400" cy="383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pc="-1" strike="noStrike">
                <a:solidFill>
                  <a:srgbClr val="5b3fd6"/>
                </a:solidFill>
                <a:latin typeface="Calibri"/>
                <a:ea typeface="Calibri"/>
              </a:rPr>
              <a:t>3  </a:t>
            </a:r>
            <a:r>
              <a:rPr b="0" lang="en-US" sz="1300" spc="-1" strike="noStrike">
                <a:solidFill>
                  <a:srgbClr val="1b2330"/>
                </a:solidFill>
                <a:latin typeface="Calibri"/>
                <a:ea typeface="Calibri"/>
              </a:rPr>
              <a:t>Group</a:t>
            </a:r>
            <a:endParaRPr b="0" lang="en-US" sz="1300" spc="-1" strike="noStrike">
              <a:solidFill>
                <a:srgbClr val="000000"/>
              </a:solidFill>
              <a:latin typeface="Arial"/>
            </a:endParaRPr>
          </a:p>
        </p:txBody>
      </p:sp>
      <p:sp>
        <p:nvSpPr>
          <p:cNvPr id="45" name="Shape 22"/>
          <p:cNvSpPr/>
          <p:nvPr/>
        </p:nvSpPr>
        <p:spPr>
          <a:xfrm>
            <a:off x="6729840" y="5715000"/>
            <a:ext cx="1316520" cy="383760"/>
          </a:xfrm>
          <a:prstGeom prst="roundRect">
            <a:avLst>
              <a:gd name="adj" fmla="val 50000"/>
            </a:avLst>
          </a:prstGeom>
          <a:solidFill>
            <a:srgbClr val="f3f5f8"/>
          </a:solidFill>
          <a:ln w="12700">
            <a:solidFill>
              <a:srgbClr val="f3f5f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6" name="Text 23"/>
          <p:cNvSpPr/>
          <p:nvPr/>
        </p:nvSpPr>
        <p:spPr>
          <a:xfrm>
            <a:off x="6729840" y="5715000"/>
            <a:ext cx="1316520" cy="383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pc="-1" strike="noStrike">
                <a:solidFill>
                  <a:srgbClr val="5b3fd6"/>
                </a:solidFill>
                <a:latin typeface="Calibri"/>
                <a:ea typeface="Calibri"/>
              </a:rPr>
              <a:t>4  </a:t>
            </a:r>
            <a:r>
              <a:rPr b="0" lang="en-US" sz="1300" spc="-1" strike="noStrike">
                <a:solidFill>
                  <a:srgbClr val="1b2330"/>
                </a:solidFill>
                <a:latin typeface="Calibri"/>
                <a:ea typeface="Calibri"/>
              </a:rPr>
              <a:t>Stream</a:t>
            </a:r>
            <a:endParaRPr b="0" lang="en-US" sz="1300" spc="-1" strike="noStrike">
              <a:solidFill>
                <a:srgbClr val="000000"/>
              </a:solidFill>
              <a:latin typeface="Arial"/>
            </a:endParaRPr>
          </a:p>
        </p:txBody>
      </p:sp>
      <p:sp>
        <p:nvSpPr>
          <p:cNvPr id="47" name="Shape 24"/>
          <p:cNvSpPr/>
          <p:nvPr/>
        </p:nvSpPr>
        <p:spPr>
          <a:xfrm>
            <a:off x="8275320" y="5715000"/>
            <a:ext cx="1105920" cy="383760"/>
          </a:xfrm>
          <a:prstGeom prst="roundRect">
            <a:avLst>
              <a:gd name="adj" fmla="val 50000"/>
            </a:avLst>
          </a:prstGeom>
          <a:solidFill>
            <a:srgbClr val="e6f8ee"/>
          </a:solidFill>
          <a:ln w="12700">
            <a:solidFill>
              <a:srgbClr val="e6f8ee"/>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8" name="Text 25"/>
          <p:cNvSpPr/>
          <p:nvPr/>
        </p:nvSpPr>
        <p:spPr>
          <a:xfrm>
            <a:off x="8275320" y="5715000"/>
            <a:ext cx="1105920" cy="383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pc="-1" strike="noStrike">
                <a:solidFill>
                  <a:srgbClr val="0a7d43"/>
                </a:solidFill>
                <a:latin typeface="Calibri"/>
                <a:ea typeface="Calibri"/>
              </a:rPr>
              <a:t>▶  </a:t>
            </a:r>
            <a:r>
              <a:rPr b="0" lang="en-US" sz="1300" spc="-1" strike="noStrike">
                <a:solidFill>
                  <a:srgbClr val="1b2330"/>
                </a:solidFill>
                <a:latin typeface="Calibri"/>
                <a:ea typeface="Calibri"/>
              </a:rPr>
              <a:t>Demo</a:t>
            </a:r>
            <a:endParaRPr b="0" lang="en-US" sz="13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9" name="Shape 0"/>
          <p:cNvSpPr/>
          <p:nvPr/>
        </p:nvSpPr>
        <p:spPr>
          <a:xfrm>
            <a:off x="548640" y="384120"/>
            <a:ext cx="1257120" cy="328680"/>
          </a:xfrm>
          <a:prstGeom prst="roundRect">
            <a:avLst>
              <a:gd name="adj" fmla="val 50000"/>
            </a:avLst>
          </a:prstGeom>
          <a:solidFill>
            <a:srgbClr val="eeeafb"/>
          </a:solidFill>
          <a:ln w="12700">
            <a:solidFill>
              <a:srgbClr val="eeeaf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0" name="Text 1"/>
          <p:cNvSpPr/>
          <p:nvPr/>
        </p:nvSpPr>
        <p:spPr>
          <a:xfrm>
            <a:off x="548640" y="384120"/>
            <a:ext cx="125712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99" strike="noStrike">
                <a:solidFill>
                  <a:srgbClr val="5b3fd6"/>
                </a:solidFill>
                <a:latin typeface="Calibri"/>
                <a:ea typeface="Calibri"/>
              </a:rPr>
              <a:t>01 · LABELS</a:t>
            </a:r>
            <a:endParaRPr b="0" lang="en-US" sz="1100" spc="-1" strike="noStrike">
              <a:solidFill>
                <a:srgbClr val="000000"/>
              </a:solidFill>
              <a:latin typeface="Arial"/>
            </a:endParaRPr>
          </a:p>
        </p:txBody>
      </p:sp>
      <p:sp>
        <p:nvSpPr>
          <p:cNvPr id="51" name="Text 2"/>
          <p:cNvSpPr/>
          <p:nvPr/>
        </p:nvSpPr>
        <p:spPr>
          <a:xfrm>
            <a:off x="548640" y="868680"/>
            <a:ext cx="11063880" cy="7311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3200" spc="-1" strike="noStrike">
                <a:solidFill>
                  <a:srgbClr val="1b2330"/>
                </a:solidFill>
                <a:latin typeface="Arial"/>
                <a:ea typeface="Arial"/>
              </a:rPr>
              <a:t>Label every clickable</a:t>
            </a:r>
            <a:endParaRPr b="0" lang="en-US" sz="3200" spc="-1" strike="noStrike">
              <a:solidFill>
                <a:srgbClr val="000000"/>
              </a:solidFill>
              <a:latin typeface="Arial"/>
            </a:endParaRPr>
          </a:p>
        </p:txBody>
      </p:sp>
      <p:sp>
        <p:nvSpPr>
          <p:cNvPr id="52" name="Shape 3"/>
          <p:cNvSpPr/>
          <p:nvPr/>
        </p:nvSpPr>
        <p:spPr>
          <a:xfrm>
            <a:off x="548640" y="1783080"/>
            <a:ext cx="959760" cy="292320"/>
          </a:xfrm>
          <a:prstGeom prst="roundRect">
            <a:avLst>
              <a:gd name="adj" fmla="val 50000"/>
            </a:avLst>
          </a:prstGeom>
          <a:solidFill>
            <a:srgbClr val="fdecec"/>
          </a:solidFill>
          <a:ln w="12700">
            <a:solidFill>
              <a:srgbClr val="fdecec"/>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3" name="Text 4"/>
          <p:cNvSpPr/>
          <p:nvPr/>
        </p:nvSpPr>
        <p:spPr>
          <a:xfrm>
            <a:off x="548640" y="1783080"/>
            <a:ext cx="959760" cy="292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c62828"/>
                </a:solidFill>
                <a:latin typeface="Calibri"/>
                <a:ea typeface="Calibri"/>
              </a:rPr>
              <a:t>BEFORE</a:t>
            </a:r>
            <a:endParaRPr b="0" lang="en-US" sz="1100" spc="-1" strike="noStrike">
              <a:solidFill>
                <a:srgbClr val="000000"/>
              </a:solidFill>
              <a:latin typeface="Arial"/>
            </a:endParaRPr>
          </a:p>
        </p:txBody>
      </p:sp>
      <p:sp>
        <p:nvSpPr>
          <p:cNvPr id="54" name="Shape 5"/>
          <p:cNvSpPr/>
          <p:nvPr/>
        </p:nvSpPr>
        <p:spPr>
          <a:xfrm>
            <a:off x="548640" y="2176200"/>
            <a:ext cx="5668920" cy="1599840"/>
          </a:xfrm>
          <a:prstGeom prst="roundRect">
            <a:avLst>
              <a:gd name="adj" fmla="val 6857"/>
            </a:avLst>
          </a:prstGeom>
          <a:solidFill>
            <a:srgbClr val="182235"/>
          </a:solidFill>
          <a:ln w="12700">
            <a:solidFill>
              <a:srgbClr val="18223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5" name="Text 6"/>
          <p:cNvSpPr/>
          <p:nvPr/>
        </p:nvSpPr>
        <p:spPr>
          <a:xfrm>
            <a:off x="777240" y="2377440"/>
            <a:ext cx="5303160" cy="1279800"/>
          </a:xfrm>
          <a:prstGeom prst="rect">
            <a:avLst/>
          </a:prstGeom>
          <a:noFill/>
          <a:ln w="0">
            <a:noFill/>
          </a:ln>
        </p:spPr>
        <p:style>
          <a:lnRef idx="0"/>
          <a:fillRef idx="0"/>
          <a:effectRef idx="0"/>
          <a:fontRef idx="minor"/>
        </p:style>
        <p:txBody>
          <a:bodyPr lIns="0" rIns="0" tIns="0" bIns="0" anchor="t">
            <a:noAutofit/>
          </a:bodyPr>
          <a:p>
            <a:pPr defTabSz="914400">
              <a:lnSpc>
                <a:spcPct val="105000"/>
              </a:lnSpc>
              <a:tabLst>
                <a:tab algn="l" pos="0"/>
              </a:tabLst>
            </a:pPr>
            <a:r>
              <a:rPr b="0" lang="en-US" sz="1300" spc="-1" strike="noStrike">
                <a:solidFill>
                  <a:srgbClr val="8ab4f8"/>
                </a:solidFill>
                <a:latin typeface="Consolas"/>
                <a:ea typeface="Consolas"/>
              </a:rPr>
              <a:t>IconButton</a:t>
            </a:r>
            <a:r>
              <a:rPr b="0" lang="en-US" sz="1300" spc="-1" strike="noStrike">
                <a:solidFill>
                  <a:srgbClr val="dce3ec"/>
                </a:solidFill>
                <a:latin typeface="Consolas"/>
                <a:ea typeface="Consolas"/>
              </a:rPr>
              <a:t>(onClick = { like() }) {</a:t>
            </a:r>
            <a:endParaRPr b="0" lang="en-US" sz="1300" spc="-1" strike="noStrike">
              <a:solidFill>
                <a:srgbClr val="000000"/>
              </a:solidFill>
              <a:latin typeface="Arial"/>
            </a:endParaRPr>
          </a:p>
          <a:p>
            <a:pPr defTabSz="914400">
              <a:lnSpc>
                <a:spcPct val="105000"/>
              </a:lnSpc>
              <a:tabLst>
                <a:tab algn="l" pos="0"/>
              </a:tabLst>
            </a:pPr>
            <a:r>
              <a:rPr b="0" lang="en-US" sz="1300" spc="-1" strike="noStrike">
                <a:solidFill>
                  <a:srgbClr val="dce3ec"/>
                </a:solidFill>
                <a:latin typeface="Consolas"/>
                <a:ea typeface="Consolas"/>
              </a:rPr>
              <a:t>    </a:t>
            </a:r>
            <a:r>
              <a:rPr b="0" lang="en-US" sz="1300" spc="-1" strike="noStrike">
                <a:solidFill>
                  <a:srgbClr val="8ab4f8"/>
                </a:solidFill>
                <a:latin typeface="Consolas"/>
                <a:ea typeface="Consolas"/>
              </a:rPr>
              <a:t>Icon</a:t>
            </a:r>
            <a:r>
              <a:rPr b="0" lang="en-US" sz="1300" spc="-1" strike="noStrike">
                <a:solidFill>
                  <a:srgbClr val="dce3ec"/>
                </a:solidFill>
                <a:latin typeface="Consolas"/>
                <a:ea typeface="Consolas"/>
              </a:rPr>
              <a:t>(</a:t>
            </a:r>
            <a:endParaRPr b="0" lang="en-US" sz="1300" spc="-1" strike="noStrike">
              <a:solidFill>
                <a:srgbClr val="000000"/>
              </a:solidFill>
              <a:latin typeface="Arial"/>
            </a:endParaRPr>
          </a:p>
          <a:p>
            <a:pPr defTabSz="914400">
              <a:lnSpc>
                <a:spcPct val="105000"/>
              </a:lnSpc>
              <a:tabLst>
                <a:tab algn="l" pos="0"/>
              </a:tabLst>
            </a:pPr>
            <a:r>
              <a:rPr b="0" lang="en-US" sz="1300" spc="-1" strike="noStrike">
                <a:solidFill>
                  <a:srgbClr val="dce3ec"/>
                </a:solidFill>
                <a:latin typeface="Consolas"/>
                <a:ea typeface="Consolas"/>
              </a:rPr>
              <a:t>        </a:t>
            </a:r>
            <a:r>
              <a:rPr b="0" lang="en-US" sz="1300" spc="-1" strike="noStrike">
                <a:solidFill>
                  <a:srgbClr val="8ab4f8"/>
                </a:solidFill>
                <a:latin typeface="Consolas"/>
                <a:ea typeface="Consolas"/>
              </a:rPr>
              <a:t>Icons</a:t>
            </a:r>
            <a:r>
              <a:rPr b="0" lang="en-US" sz="1300" spc="-1" strike="noStrike">
                <a:solidFill>
                  <a:srgbClr val="dce3ec"/>
                </a:solidFill>
                <a:latin typeface="Consolas"/>
                <a:ea typeface="Consolas"/>
              </a:rPr>
              <a:t>.</a:t>
            </a:r>
            <a:r>
              <a:rPr b="0" lang="en-US" sz="1300" spc="-1" strike="noStrike">
                <a:solidFill>
                  <a:srgbClr val="8ab4f8"/>
                </a:solidFill>
                <a:latin typeface="Consolas"/>
                <a:ea typeface="Consolas"/>
              </a:rPr>
              <a:t>Filled</a:t>
            </a:r>
            <a:r>
              <a:rPr b="0" lang="en-US" sz="1300" spc="-1" strike="noStrike">
                <a:solidFill>
                  <a:srgbClr val="dce3ec"/>
                </a:solidFill>
                <a:latin typeface="Consolas"/>
                <a:ea typeface="Consolas"/>
              </a:rPr>
              <a:t>.</a:t>
            </a:r>
            <a:r>
              <a:rPr b="0" lang="en-US" sz="1300" spc="-1" strike="noStrike">
                <a:solidFill>
                  <a:srgbClr val="8ab4f8"/>
                </a:solidFill>
                <a:latin typeface="Consolas"/>
                <a:ea typeface="Consolas"/>
              </a:rPr>
              <a:t>Favorite</a:t>
            </a:r>
            <a:r>
              <a:rPr b="0" lang="en-US" sz="1300" spc="-1" strike="noStrike">
                <a:solidFill>
                  <a:srgbClr val="dce3ec"/>
                </a:solidFill>
                <a:latin typeface="Consolas"/>
                <a:ea typeface="Consolas"/>
              </a:rPr>
              <a:t>,</a:t>
            </a:r>
            <a:endParaRPr b="0" lang="en-US" sz="1300" spc="-1" strike="noStrike">
              <a:solidFill>
                <a:srgbClr val="000000"/>
              </a:solidFill>
              <a:latin typeface="Arial"/>
            </a:endParaRPr>
          </a:p>
          <a:p>
            <a:pPr defTabSz="914400">
              <a:lnSpc>
                <a:spcPct val="105000"/>
              </a:lnSpc>
              <a:tabLst>
                <a:tab algn="l" pos="0"/>
              </a:tabLst>
            </a:pPr>
            <a:r>
              <a:rPr b="0" lang="en-US" sz="1300" spc="-1" strike="noStrike">
                <a:solidFill>
                  <a:srgbClr val="dce3ec"/>
                </a:solidFill>
                <a:latin typeface="Consolas"/>
                <a:ea typeface="Consolas"/>
              </a:rPr>
              <a:t>        </a:t>
            </a:r>
            <a:r>
              <a:rPr b="1" lang="en-US" sz="1300" spc="-1" strike="noStrike">
                <a:solidFill>
                  <a:srgbClr val="3ddc84"/>
                </a:solidFill>
                <a:latin typeface="Consolas"/>
                <a:ea typeface="Consolas"/>
              </a:rPr>
              <a:t>contentDescription</a:t>
            </a:r>
            <a:r>
              <a:rPr b="0" lang="en-US" sz="1300" spc="-1" strike="noStrike">
                <a:solidFill>
                  <a:srgbClr val="dce3ec"/>
                </a:solidFill>
                <a:latin typeface="Consolas"/>
                <a:ea typeface="Consolas"/>
              </a:rPr>
              <a:t> = </a:t>
            </a:r>
            <a:r>
              <a:rPr b="0" lang="en-US" sz="1300" spc="-1" strike="noStrike">
                <a:solidFill>
                  <a:srgbClr val="ff8fc7"/>
                </a:solidFill>
                <a:latin typeface="Consolas"/>
                <a:ea typeface="Consolas"/>
              </a:rPr>
              <a:t>null</a:t>
            </a:r>
            <a:r>
              <a:rPr b="0" lang="en-US" sz="1300" spc="-1" strike="noStrike">
                <a:solidFill>
                  <a:srgbClr val="dce3ec"/>
                </a:solidFill>
                <a:latin typeface="Consolas"/>
                <a:ea typeface="Consolas"/>
              </a:rPr>
              <a:t>  </a:t>
            </a:r>
            <a:r>
              <a:rPr b="0" i="1" lang="en-US" sz="1300" spc="-1" strike="noStrike">
                <a:solidFill>
                  <a:srgbClr val="8b98ad"/>
                </a:solidFill>
                <a:latin typeface="Consolas"/>
                <a:ea typeface="Consolas"/>
              </a:rPr>
              <a:t>// silent</a:t>
            </a:r>
            <a:endParaRPr b="0" lang="en-US" sz="1300" spc="-1" strike="noStrike">
              <a:solidFill>
                <a:srgbClr val="000000"/>
              </a:solidFill>
              <a:latin typeface="Arial"/>
            </a:endParaRPr>
          </a:p>
          <a:p>
            <a:pPr defTabSz="914400">
              <a:lnSpc>
                <a:spcPct val="105000"/>
              </a:lnSpc>
              <a:tabLst>
                <a:tab algn="l" pos="0"/>
              </a:tabLst>
            </a:pPr>
            <a:r>
              <a:rPr b="0" lang="en-US" sz="1300" spc="-1" strike="noStrike">
                <a:solidFill>
                  <a:srgbClr val="dce3ec"/>
                </a:solidFill>
                <a:latin typeface="Consolas"/>
                <a:ea typeface="Consolas"/>
              </a:rPr>
              <a:t>    </a:t>
            </a:r>
            <a:r>
              <a:rPr b="0" lang="en-US" sz="1300" spc="-1" strike="noStrike">
                <a:solidFill>
                  <a:srgbClr val="dce3ec"/>
                </a:solidFill>
                <a:latin typeface="Consolas"/>
                <a:ea typeface="Consolas"/>
              </a:rPr>
              <a:t>)</a:t>
            </a:r>
            <a:endParaRPr b="0" lang="en-US" sz="1300" spc="-1" strike="noStrike">
              <a:solidFill>
                <a:srgbClr val="000000"/>
              </a:solidFill>
              <a:latin typeface="Arial"/>
            </a:endParaRPr>
          </a:p>
          <a:p>
            <a:pPr defTabSz="914400">
              <a:lnSpc>
                <a:spcPct val="105000"/>
              </a:lnSpc>
              <a:tabLst>
                <a:tab algn="l" pos="0"/>
              </a:tabLst>
            </a:pPr>
            <a:r>
              <a:rPr b="0" lang="en-US" sz="1300" spc="-1" strike="noStrike">
                <a:solidFill>
                  <a:srgbClr val="dce3ec"/>
                </a:solidFill>
                <a:latin typeface="Consolas"/>
                <a:ea typeface="Consolas"/>
              </a:rPr>
              <a:t>}</a:t>
            </a:r>
            <a:endParaRPr b="0" lang="en-US" sz="1300" spc="-1" strike="noStrike">
              <a:solidFill>
                <a:srgbClr val="000000"/>
              </a:solidFill>
              <a:latin typeface="Arial"/>
            </a:endParaRPr>
          </a:p>
        </p:txBody>
      </p:sp>
      <p:sp>
        <p:nvSpPr>
          <p:cNvPr id="56" name="Text 7"/>
          <p:cNvSpPr/>
          <p:nvPr/>
        </p:nvSpPr>
        <p:spPr>
          <a:xfrm>
            <a:off x="5212080" y="2249280"/>
            <a:ext cx="868320" cy="200880"/>
          </a:xfrm>
          <a:prstGeom prst="rect">
            <a:avLst/>
          </a:prstGeom>
          <a:noFill/>
          <a:ln w="0">
            <a:noFill/>
          </a:ln>
        </p:spPr>
        <p:style>
          <a:lnRef idx="0"/>
          <a:fillRef idx="0"/>
          <a:effectRef idx="0"/>
          <a:fontRef idx="minor"/>
        </p:style>
        <p:txBody>
          <a:bodyPr lIns="0" rIns="0" tIns="0" bIns="0" anchor="t">
            <a:noAutofit/>
          </a:bodyPr>
          <a:p>
            <a:pPr algn="r" defTabSz="914400">
              <a:lnSpc>
                <a:spcPct val="100000"/>
              </a:lnSpc>
              <a:tabLst>
                <a:tab algn="l" pos="0"/>
              </a:tabLst>
            </a:pPr>
            <a:r>
              <a:rPr b="0" lang="en-US" sz="900" spc="-1" strike="noStrike">
                <a:solidFill>
                  <a:srgbClr val="6f7d93"/>
                </a:solidFill>
                <a:latin typeface="Calibri"/>
                <a:ea typeface="Calibri"/>
              </a:rPr>
              <a:t>Kotlin</a:t>
            </a:r>
            <a:endParaRPr b="0" lang="en-US" sz="900" spc="-1" strike="noStrike">
              <a:solidFill>
                <a:srgbClr val="000000"/>
              </a:solidFill>
              <a:latin typeface="Arial"/>
            </a:endParaRPr>
          </a:p>
        </p:txBody>
      </p:sp>
      <p:sp>
        <p:nvSpPr>
          <p:cNvPr id="57" name="Shape 8"/>
          <p:cNvSpPr/>
          <p:nvPr/>
        </p:nvSpPr>
        <p:spPr>
          <a:xfrm>
            <a:off x="548640" y="3959280"/>
            <a:ext cx="914040" cy="292320"/>
          </a:xfrm>
          <a:prstGeom prst="roundRect">
            <a:avLst>
              <a:gd name="adj" fmla="val 50000"/>
            </a:avLst>
          </a:prstGeom>
          <a:solidFill>
            <a:srgbClr val="e6f8ee"/>
          </a:solidFill>
          <a:ln w="12700">
            <a:solidFill>
              <a:srgbClr val="e6f8ee"/>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8" name="Text 9"/>
          <p:cNvSpPr/>
          <p:nvPr/>
        </p:nvSpPr>
        <p:spPr>
          <a:xfrm>
            <a:off x="548640" y="3959280"/>
            <a:ext cx="914040" cy="292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0a7d43"/>
                </a:solidFill>
                <a:latin typeface="Calibri"/>
                <a:ea typeface="Calibri"/>
              </a:rPr>
              <a:t>AFTER</a:t>
            </a:r>
            <a:endParaRPr b="0" lang="en-US" sz="1100" spc="-1" strike="noStrike">
              <a:solidFill>
                <a:srgbClr val="000000"/>
              </a:solidFill>
              <a:latin typeface="Arial"/>
            </a:endParaRPr>
          </a:p>
        </p:txBody>
      </p:sp>
      <p:sp>
        <p:nvSpPr>
          <p:cNvPr id="59" name="Shape 10"/>
          <p:cNvSpPr/>
          <p:nvPr/>
        </p:nvSpPr>
        <p:spPr>
          <a:xfrm>
            <a:off x="548640" y="4352400"/>
            <a:ext cx="5668920" cy="1599840"/>
          </a:xfrm>
          <a:prstGeom prst="roundRect">
            <a:avLst>
              <a:gd name="adj" fmla="val 6857"/>
            </a:avLst>
          </a:prstGeom>
          <a:solidFill>
            <a:srgbClr val="182235"/>
          </a:solidFill>
          <a:ln w="12700">
            <a:solidFill>
              <a:srgbClr val="18223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0" name="Text 11"/>
          <p:cNvSpPr/>
          <p:nvPr/>
        </p:nvSpPr>
        <p:spPr>
          <a:xfrm>
            <a:off x="777240" y="4553640"/>
            <a:ext cx="5303160" cy="1279800"/>
          </a:xfrm>
          <a:prstGeom prst="rect">
            <a:avLst/>
          </a:prstGeom>
          <a:noFill/>
          <a:ln w="0">
            <a:noFill/>
          </a:ln>
        </p:spPr>
        <p:style>
          <a:lnRef idx="0"/>
          <a:fillRef idx="0"/>
          <a:effectRef idx="0"/>
          <a:fontRef idx="minor"/>
        </p:style>
        <p:txBody>
          <a:bodyPr lIns="0" rIns="0" tIns="0" bIns="0" anchor="t">
            <a:noAutofit/>
          </a:bodyPr>
          <a:p>
            <a:pPr defTabSz="914400">
              <a:lnSpc>
                <a:spcPct val="105000"/>
              </a:lnSpc>
              <a:tabLst>
                <a:tab algn="l" pos="0"/>
              </a:tabLst>
            </a:pPr>
            <a:r>
              <a:rPr b="0" lang="en-US" sz="1300" spc="-1" strike="noStrike">
                <a:solidFill>
                  <a:srgbClr val="8ab4f8"/>
                </a:solidFill>
                <a:latin typeface="Consolas"/>
                <a:ea typeface="Consolas"/>
              </a:rPr>
              <a:t>IconButton</a:t>
            </a:r>
            <a:r>
              <a:rPr b="0" lang="en-US" sz="1300" spc="-1" strike="noStrike">
                <a:solidFill>
                  <a:srgbClr val="dce3ec"/>
                </a:solidFill>
                <a:latin typeface="Consolas"/>
                <a:ea typeface="Consolas"/>
              </a:rPr>
              <a:t>(onClick = { like() }) {</a:t>
            </a:r>
            <a:endParaRPr b="0" lang="en-US" sz="1300" spc="-1" strike="noStrike">
              <a:solidFill>
                <a:srgbClr val="000000"/>
              </a:solidFill>
              <a:latin typeface="Arial"/>
            </a:endParaRPr>
          </a:p>
          <a:p>
            <a:pPr defTabSz="914400">
              <a:lnSpc>
                <a:spcPct val="105000"/>
              </a:lnSpc>
              <a:tabLst>
                <a:tab algn="l" pos="0"/>
              </a:tabLst>
            </a:pPr>
            <a:r>
              <a:rPr b="0" lang="en-US" sz="1300" spc="-1" strike="noStrike">
                <a:solidFill>
                  <a:srgbClr val="dce3ec"/>
                </a:solidFill>
                <a:latin typeface="Consolas"/>
                <a:ea typeface="Consolas"/>
              </a:rPr>
              <a:t>    </a:t>
            </a:r>
            <a:r>
              <a:rPr b="0" lang="en-US" sz="1300" spc="-1" strike="noStrike">
                <a:solidFill>
                  <a:srgbClr val="8ab4f8"/>
                </a:solidFill>
                <a:latin typeface="Consolas"/>
                <a:ea typeface="Consolas"/>
              </a:rPr>
              <a:t>Icon</a:t>
            </a:r>
            <a:r>
              <a:rPr b="0" lang="en-US" sz="1300" spc="-1" strike="noStrike">
                <a:solidFill>
                  <a:srgbClr val="dce3ec"/>
                </a:solidFill>
                <a:latin typeface="Consolas"/>
                <a:ea typeface="Consolas"/>
              </a:rPr>
              <a:t>(</a:t>
            </a:r>
            <a:endParaRPr b="0" lang="en-US" sz="1300" spc="-1" strike="noStrike">
              <a:solidFill>
                <a:srgbClr val="000000"/>
              </a:solidFill>
              <a:latin typeface="Arial"/>
            </a:endParaRPr>
          </a:p>
          <a:p>
            <a:pPr defTabSz="914400">
              <a:lnSpc>
                <a:spcPct val="105000"/>
              </a:lnSpc>
              <a:tabLst>
                <a:tab algn="l" pos="0"/>
              </a:tabLst>
            </a:pPr>
            <a:r>
              <a:rPr b="0" lang="en-US" sz="1300" spc="-1" strike="noStrike">
                <a:solidFill>
                  <a:srgbClr val="dce3ec"/>
                </a:solidFill>
                <a:latin typeface="Consolas"/>
                <a:ea typeface="Consolas"/>
              </a:rPr>
              <a:t>        </a:t>
            </a:r>
            <a:r>
              <a:rPr b="0" lang="en-US" sz="1300" spc="-1" strike="noStrike">
                <a:solidFill>
                  <a:srgbClr val="8ab4f8"/>
                </a:solidFill>
                <a:latin typeface="Consolas"/>
                <a:ea typeface="Consolas"/>
              </a:rPr>
              <a:t>Icons</a:t>
            </a:r>
            <a:r>
              <a:rPr b="0" lang="en-US" sz="1300" spc="-1" strike="noStrike">
                <a:solidFill>
                  <a:srgbClr val="dce3ec"/>
                </a:solidFill>
                <a:latin typeface="Consolas"/>
                <a:ea typeface="Consolas"/>
              </a:rPr>
              <a:t>.</a:t>
            </a:r>
            <a:r>
              <a:rPr b="0" lang="en-US" sz="1300" spc="-1" strike="noStrike">
                <a:solidFill>
                  <a:srgbClr val="8ab4f8"/>
                </a:solidFill>
                <a:latin typeface="Consolas"/>
                <a:ea typeface="Consolas"/>
              </a:rPr>
              <a:t>Filled</a:t>
            </a:r>
            <a:r>
              <a:rPr b="0" lang="en-US" sz="1300" spc="-1" strike="noStrike">
                <a:solidFill>
                  <a:srgbClr val="dce3ec"/>
                </a:solidFill>
                <a:latin typeface="Consolas"/>
                <a:ea typeface="Consolas"/>
              </a:rPr>
              <a:t>.</a:t>
            </a:r>
            <a:r>
              <a:rPr b="0" lang="en-US" sz="1300" spc="-1" strike="noStrike">
                <a:solidFill>
                  <a:srgbClr val="8ab4f8"/>
                </a:solidFill>
                <a:latin typeface="Consolas"/>
                <a:ea typeface="Consolas"/>
              </a:rPr>
              <a:t>Favorite</a:t>
            </a:r>
            <a:r>
              <a:rPr b="0" lang="en-US" sz="1300" spc="-1" strike="noStrike">
                <a:solidFill>
                  <a:srgbClr val="dce3ec"/>
                </a:solidFill>
                <a:latin typeface="Consolas"/>
                <a:ea typeface="Consolas"/>
              </a:rPr>
              <a:t>,</a:t>
            </a:r>
            <a:endParaRPr b="0" lang="en-US" sz="1300" spc="-1" strike="noStrike">
              <a:solidFill>
                <a:srgbClr val="000000"/>
              </a:solidFill>
              <a:latin typeface="Arial"/>
            </a:endParaRPr>
          </a:p>
          <a:p>
            <a:pPr defTabSz="914400">
              <a:lnSpc>
                <a:spcPct val="105000"/>
              </a:lnSpc>
              <a:tabLst>
                <a:tab algn="l" pos="0"/>
              </a:tabLst>
            </a:pPr>
            <a:r>
              <a:rPr b="0" lang="en-US" sz="1300" spc="-1" strike="noStrike">
                <a:solidFill>
                  <a:srgbClr val="dce3ec"/>
                </a:solidFill>
                <a:latin typeface="Consolas"/>
                <a:ea typeface="Consolas"/>
              </a:rPr>
              <a:t>        </a:t>
            </a:r>
            <a:r>
              <a:rPr b="1" lang="en-US" sz="1300" spc="-1" strike="noStrike">
                <a:solidFill>
                  <a:srgbClr val="3ddc84"/>
                </a:solidFill>
                <a:latin typeface="Consolas"/>
                <a:ea typeface="Consolas"/>
              </a:rPr>
              <a:t>contentDescription</a:t>
            </a:r>
            <a:r>
              <a:rPr b="0" lang="en-US" sz="1300" spc="-1" strike="noStrike">
                <a:solidFill>
                  <a:srgbClr val="dce3ec"/>
                </a:solidFill>
                <a:latin typeface="Consolas"/>
                <a:ea typeface="Consolas"/>
              </a:rPr>
              <a:t> = </a:t>
            </a:r>
            <a:r>
              <a:rPr b="0" lang="en-US" sz="1300" spc="-1" strike="noStrike">
                <a:solidFill>
                  <a:srgbClr val="b5e48c"/>
                </a:solidFill>
                <a:latin typeface="Consolas"/>
                <a:ea typeface="Consolas"/>
              </a:rPr>
              <a:t>"Like"</a:t>
            </a:r>
            <a:endParaRPr b="0" lang="en-US" sz="1300" spc="-1" strike="noStrike">
              <a:solidFill>
                <a:srgbClr val="000000"/>
              </a:solidFill>
              <a:latin typeface="Arial"/>
            </a:endParaRPr>
          </a:p>
          <a:p>
            <a:pPr defTabSz="914400">
              <a:lnSpc>
                <a:spcPct val="105000"/>
              </a:lnSpc>
              <a:tabLst>
                <a:tab algn="l" pos="0"/>
              </a:tabLst>
            </a:pPr>
            <a:r>
              <a:rPr b="0" lang="en-US" sz="1300" spc="-1" strike="noStrike">
                <a:solidFill>
                  <a:srgbClr val="dce3ec"/>
                </a:solidFill>
                <a:latin typeface="Consolas"/>
                <a:ea typeface="Consolas"/>
              </a:rPr>
              <a:t>    </a:t>
            </a:r>
            <a:r>
              <a:rPr b="0" lang="en-US" sz="1300" spc="-1" strike="noStrike">
                <a:solidFill>
                  <a:srgbClr val="dce3ec"/>
                </a:solidFill>
                <a:latin typeface="Consolas"/>
                <a:ea typeface="Consolas"/>
              </a:rPr>
              <a:t>)</a:t>
            </a:r>
            <a:endParaRPr b="0" lang="en-US" sz="1300" spc="-1" strike="noStrike">
              <a:solidFill>
                <a:srgbClr val="000000"/>
              </a:solidFill>
              <a:latin typeface="Arial"/>
            </a:endParaRPr>
          </a:p>
          <a:p>
            <a:pPr defTabSz="914400">
              <a:lnSpc>
                <a:spcPct val="105000"/>
              </a:lnSpc>
              <a:tabLst>
                <a:tab algn="l" pos="0"/>
              </a:tabLst>
            </a:pPr>
            <a:r>
              <a:rPr b="0" lang="en-US" sz="1300" spc="-1" strike="noStrike">
                <a:solidFill>
                  <a:srgbClr val="dce3ec"/>
                </a:solidFill>
                <a:latin typeface="Consolas"/>
                <a:ea typeface="Consolas"/>
              </a:rPr>
              <a:t>}</a:t>
            </a:r>
            <a:endParaRPr b="0" lang="en-US" sz="1300" spc="-1" strike="noStrike">
              <a:solidFill>
                <a:srgbClr val="000000"/>
              </a:solidFill>
              <a:latin typeface="Arial"/>
            </a:endParaRPr>
          </a:p>
        </p:txBody>
      </p:sp>
      <p:sp>
        <p:nvSpPr>
          <p:cNvPr id="61" name="Text 12"/>
          <p:cNvSpPr/>
          <p:nvPr/>
        </p:nvSpPr>
        <p:spPr>
          <a:xfrm>
            <a:off x="5212080" y="4425840"/>
            <a:ext cx="868320" cy="200880"/>
          </a:xfrm>
          <a:prstGeom prst="rect">
            <a:avLst/>
          </a:prstGeom>
          <a:noFill/>
          <a:ln w="0">
            <a:noFill/>
          </a:ln>
        </p:spPr>
        <p:style>
          <a:lnRef idx="0"/>
          <a:fillRef idx="0"/>
          <a:effectRef idx="0"/>
          <a:fontRef idx="minor"/>
        </p:style>
        <p:txBody>
          <a:bodyPr lIns="0" rIns="0" tIns="0" bIns="0" anchor="t">
            <a:noAutofit/>
          </a:bodyPr>
          <a:p>
            <a:pPr algn="r" defTabSz="914400">
              <a:lnSpc>
                <a:spcPct val="100000"/>
              </a:lnSpc>
              <a:tabLst>
                <a:tab algn="l" pos="0"/>
              </a:tabLst>
            </a:pPr>
            <a:r>
              <a:rPr b="0" lang="en-US" sz="900" spc="-1" strike="noStrike">
                <a:solidFill>
                  <a:srgbClr val="6f7d93"/>
                </a:solidFill>
                <a:latin typeface="Calibri"/>
                <a:ea typeface="Calibri"/>
              </a:rPr>
              <a:t>Kotlin</a:t>
            </a:r>
            <a:endParaRPr b="0" lang="en-US" sz="900" spc="-1" strike="noStrike">
              <a:solidFill>
                <a:srgbClr val="000000"/>
              </a:solidFill>
              <a:latin typeface="Arial"/>
            </a:endParaRPr>
          </a:p>
        </p:txBody>
      </p:sp>
      <p:sp>
        <p:nvSpPr>
          <p:cNvPr id="62" name="Shape 13"/>
          <p:cNvSpPr/>
          <p:nvPr/>
        </p:nvSpPr>
        <p:spPr>
          <a:xfrm>
            <a:off x="6675120" y="1691640"/>
            <a:ext cx="2514240" cy="4343040"/>
          </a:xfrm>
          <a:prstGeom prst="roundRect">
            <a:avLst>
              <a:gd name="adj" fmla="val 11636"/>
            </a:avLst>
          </a:prstGeom>
          <a:solidFill>
            <a:srgbClr val="15161a"/>
          </a:solidFill>
          <a:ln w="12700">
            <a:solidFill>
              <a:srgbClr val="15161a"/>
            </a:solidFill>
            <a:round/>
          </a:ln>
          <a:effectLst>
            <a:outerShdw algn="bl" blurRad="101520" dir="5400000" dist="38160" kx="0" ky="0" rotWithShape="0" sx="100000" sy="100000">
              <a:srgbClr val="000000">
                <a:alpha val="22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3" name="Shape 14"/>
          <p:cNvSpPr/>
          <p:nvPr/>
        </p:nvSpPr>
        <p:spPr>
          <a:xfrm>
            <a:off x="6775560" y="1792080"/>
            <a:ext cx="2313000" cy="4141800"/>
          </a:xfrm>
          <a:prstGeom prst="roundRect">
            <a:avLst>
              <a:gd name="adj" fmla="val 9486"/>
            </a:avLst>
          </a:prstGeom>
          <a:solidFill>
            <a:srgbClr val="f7f2fa"/>
          </a:solidFill>
          <a:ln w="12700">
            <a:solidFill>
              <a:srgbClr val="f7f2fa"/>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64" name="Shape 15"/>
          <p:cNvSpPr/>
          <p:nvPr/>
        </p:nvSpPr>
        <p:spPr>
          <a:xfrm>
            <a:off x="6775560" y="1956960"/>
            <a:ext cx="2313000" cy="456840"/>
          </a:xfrm>
          <a:prstGeom prst="rect">
            <a:avLst/>
          </a:prstGeom>
          <a:solidFill>
            <a:srgbClr val="5b3fd6"/>
          </a:solidFill>
          <a:ln w="12700">
            <a:solidFill>
              <a:srgbClr val="5b3fd6"/>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5" name="Text 16"/>
          <p:cNvSpPr/>
          <p:nvPr/>
        </p:nvSpPr>
        <p:spPr>
          <a:xfrm>
            <a:off x="6958440" y="1956960"/>
            <a:ext cx="203868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ffffff"/>
                </a:solidFill>
                <a:latin typeface="Calibri"/>
                <a:ea typeface="Calibri"/>
              </a:rPr>
              <a:t>My Feed</a:t>
            </a:r>
            <a:endParaRPr b="0" lang="en-US" sz="1300" spc="-1" strike="noStrike">
              <a:solidFill>
                <a:srgbClr val="000000"/>
              </a:solidFill>
              <a:latin typeface="Arial"/>
            </a:endParaRPr>
          </a:p>
        </p:txBody>
      </p:sp>
      <p:sp>
        <p:nvSpPr>
          <p:cNvPr id="66" name="Shape 17"/>
          <p:cNvSpPr/>
          <p:nvPr/>
        </p:nvSpPr>
        <p:spPr>
          <a:xfrm>
            <a:off x="6912720" y="2615040"/>
            <a:ext cx="2038680" cy="1096920"/>
          </a:xfrm>
          <a:prstGeom prst="roundRect">
            <a:avLst>
              <a:gd name="adj" fmla="val 6667"/>
            </a:avLst>
          </a:prstGeom>
          <a:solidFill>
            <a:srgbClr val="e4dcf5"/>
          </a:solidFill>
          <a:ln w="12700">
            <a:solidFill>
              <a:srgbClr val="e4dcf5"/>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67" name="Text 18"/>
          <p:cNvSpPr/>
          <p:nvPr/>
        </p:nvSpPr>
        <p:spPr>
          <a:xfrm>
            <a:off x="6912720" y="3803760"/>
            <a:ext cx="2038680" cy="2739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200" spc="-1" strike="noStrike">
                <a:solidFill>
                  <a:srgbClr val="1b2330"/>
                </a:solidFill>
                <a:latin typeface="Calibri"/>
                <a:ea typeface="Calibri"/>
              </a:rPr>
              <a:t>Weekend ride photos</a:t>
            </a:r>
            <a:endParaRPr b="0" lang="en-US" sz="1200" spc="-1" strike="noStrike">
              <a:solidFill>
                <a:srgbClr val="000000"/>
              </a:solidFill>
              <a:latin typeface="Arial"/>
            </a:endParaRPr>
          </a:p>
        </p:txBody>
      </p:sp>
      <p:pic>
        <p:nvPicPr>
          <p:cNvPr id="68" name="Image 0" descr="preencoded.png"/>
          <p:cNvPicPr/>
          <p:nvPr/>
        </p:nvPicPr>
        <p:blipFill>
          <a:blip r:embed="rId1"/>
          <a:stretch/>
        </p:blipFill>
        <p:spPr>
          <a:xfrm>
            <a:off x="7004160" y="4169520"/>
            <a:ext cx="328680" cy="328680"/>
          </a:xfrm>
          <a:prstGeom prst="rect">
            <a:avLst/>
          </a:prstGeom>
          <a:ln w="0">
            <a:noFill/>
          </a:ln>
        </p:spPr>
      </p:pic>
      <p:sp>
        <p:nvSpPr>
          <p:cNvPr id="69" name="Text 19"/>
          <p:cNvSpPr/>
          <p:nvPr/>
        </p:nvSpPr>
        <p:spPr>
          <a:xfrm>
            <a:off x="7507080" y="4169520"/>
            <a:ext cx="365400" cy="328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5b6472"/>
                </a:solidFill>
                <a:latin typeface="Calibri"/>
                <a:ea typeface="Calibri"/>
              </a:rPr>
              <a:t>12</a:t>
            </a:r>
            <a:endParaRPr b="0" lang="en-US" sz="1200" spc="-1" strike="noStrike">
              <a:solidFill>
                <a:srgbClr val="000000"/>
              </a:solidFill>
              <a:latin typeface="Arial"/>
            </a:endParaRPr>
          </a:p>
        </p:txBody>
      </p:sp>
      <p:pic>
        <p:nvPicPr>
          <p:cNvPr id="70" name="Image 1" descr="preencoded.png"/>
          <p:cNvPicPr/>
          <p:nvPr/>
        </p:nvPicPr>
        <p:blipFill>
          <a:blip r:embed="rId2"/>
          <a:stretch/>
        </p:blipFill>
        <p:spPr>
          <a:xfrm>
            <a:off x="7918560" y="4169520"/>
            <a:ext cx="310680" cy="310680"/>
          </a:xfrm>
          <a:prstGeom prst="rect">
            <a:avLst/>
          </a:prstGeom>
          <a:ln w="0">
            <a:noFill/>
          </a:ln>
        </p:spPr>
      </p:pic>
      <p:sp>
        <p:nvSpPr>
          <p:cNvPr id="71" name="Shape 20"/>
          <p:cNvSpPr/>
          <p:nvPr/>
        </p:nvSpPr>
        <p:spPr>
          <a:xfrm>
            <a:off x="6912720" y="4078080"/>
            <a:ext cx="511560" cy="511560"/>
          </a:xfrm>
          <a:prstGeom prst="rect">
            <a:avLst/>
          </a:prstGeom>
          <a:noFill/>
          <a:ln w="34925">
            <a:solidFill>
              <a:srgbClr val="1a73e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72" name="Shape 21"/>
          <p:cNvSpPr/>
          <p:nvPr/>
        </p:nvSpPr>
        <p:spPr>
          <a:xfrm>
            <a:off x="6867000" y="5065920"/>
            <a:ext cx="2130120" cy="639720"/>
          </a:xfrm>
          <a:prstGeom prst="rect">
            <a:avLst/>
          </a:prstGeom>
          <a:solidFill>
            <a:srgbClr val="2e2e2e"/>
          </a:solidFill>
          <a:ln w="12700">
            <a:solidFill>
              <a:srgbClr val="2e2e2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3" name="Text 22"/>
          <p:cNvSpPr/>
          <p:nvPr/>
        </p:nvSpPr>
        <p:spPr>
          <a:xfrm>
            <a:off x="6940440" y="5065920"/>
            <a:ext cx="1983960" cy="6397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100" spc="-1" strike="noStrike">
                <a:solidFill>
                  <a:srgbClr val="ffffff"/>
                </a:solidFill>
                <a:latin typeface="Calibri"/>
                <a:ea typeface="Calibri"/>
              </a:rPr>
              <a:t>Button, double tap to activate</a:t>
            </a:r>
            <a:endParaRPr b="0" lang="en-US" sz="1100" spc="-1" strike="noStrike">
              <a:solidFill>
                <a:srgbClr val="000000"/>
              </a:solidFill>
              <a:latin typeface="Arial"/>
            </a:endParaRPr>
          </a:p>
        </p:txBody>
      </p:sp>
      <p:sp>
        <p:nvSpPr>
          <p:cNvPr id="74" name="Shape 23"/>
          <p:cNvSpPr/>
          <p:nvPr/>
        </p:nvSpPr>
        <p:spPr>
          <a:xfrm>
            <a:off x="7562160" y="1298520"/>
            <a:ext cx="740160" cy="292320"/>
          </a:xfrm>
          <a:prstGeom prst="roundRect">
            <a:avLst>
              <a:gd name="adj" fmla="val 50000"/>
            </a:avLst>
          </a:prstGeom>
          <a:solidFill>
            <a:srgbClr val="fdecec"/>
          </a:solidFill>
          <a:ln w="12700">
            <a:solidFill>
              <a:srgbClr val="fdecec"/>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75" name="Text 24"/>
          <p:cNvSpPr/>
          <p:nvPr/>
        </p:nvSpPr>
        <p:spPr>
          <a:xfrm>
            <a:off x="7562160" y="1298520"/>
            <a:ext cx="740160" cy="292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c62828"/>
                </a:solidFill>
                <a:latin typeface="Calibri"/>
                <a:ea typeface="Calibri"/>
              </a:rPr>
              <a:t>BEFORE</a:t>
            </a:r>
            <a:endParaRPr b="0" lang="en-US" sz="1100" spc="-1" strike="noStrike">
              <a:solidFill>
                <a:srgbClr val="000000"/>
              </a:solidFill>
              <a:latin typeface="Arial"/>
            </a:endParaRPr>
          </a:p>
        </p:txBody>
      </p:sp>
      <p:sp>
        <p:nvSpPr>
          <p:cNvPr id="76" name="Shape 25"/>
          <p:cNvSpPr/>
          <p:nvPr/>
        </p:nvSpPr>
        <p:spPr>
          <a:xfrm>
            <a:off x="9326880" y="1691640"/>
            <a:ext cx="2514240" cy="4343040"/>
          </a:xfrm>
          <a:prstGeom prst="roundRect">
            <a:avLst>
              <a:gd name="adj" fmla="val 11636"/>
            </a:avLst>
          </a:prstGeom>
          <a:solidFill>
            <a:srgbClr val="15161a"/>
          </a:solidFill>
          <a:ln w="12700">
            <a:solidFill>
              <a:srgbClr val="15161a"/>
            </a:solidFill>
            <a:round/>
          </a:ln>
          <a:effectLst>
            <a:outerShdw algn="bl" blurRad="101520" dir="5400000" dist="38160" kx="0" ky="0" rotWithShape="0" sx="100000" sy="100000">
              <a:srgbClr val="000000">
                <a:alpha val="22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7" name="Shape 26"/>
          <p:cNvSpPr/>
          <p:nvPr/>
        </p:nvSpPr>
        <p:spPr>
          <a:xfrm>
            <a:off x="9427320" y="1792080"/>
            <a:ext cx="2313000" cy="4141800"/>
          </a:xfrm>
          <a:prstGeom prst="roundRect">
            <a:avLst>
              <a:gd name="adj" fmla="val 9486"/>
            </a:avLst>
          </a:prstGeom>
          <a:solidFill>
            <a:srgbClr val="f7f2fa"/>
          </a:solidFill>
          <a:ln w="12700">
            <a:solidFill>
              <a:srgbClr val="f7f2fa"/>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78" name="Shape 27"/>
          <p:cNvSpPr/>
          <p:nvPr/>
        </p:nvSpPr>
        <p:spPr>
          <a:xfrm>
            <a:off x="9427320" y="1956960"/>
            <a:ext cx="2313000" cy="456840"/>
          </a:xfrm>
          <a:prstGeom prst="rect">
            <a:avLst/>
          </a:prstGeom>
          <a:solidFill>
            <a:srgbClr val="5b3fd6"/>
          </a:solidFill>
          <a:ln w="12700">
            <a:solidFill>
              <a:srgbClr val="5b3fd6"/>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9" name="Text 28"/>
          <p:cNvSpPr/>
          <p:nvPr/>
        </p:nvSpPr>
        <p:spPr>
          <a:xfrm>
            <a:off x="9610200" y="1956960"/>
            <a:ext cx="203868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ffffff"/>
                </a:solidFill>
                <a:latin typeface="Calibri"/>
                <a:ea typeface="Calibri"/>
              </a:rPr>
              <a:t>My Feed</a:t>
            </a:r>
            <a:endParaRPr b="0" lang="en-US" sz="1300" spc="-1" strike="noStrike">
              <a:solidFill>
                <a:srgbClr val="000000"/>
              </a:solidFill>
              <a:latin typeface="Arial"/>
            </a:endParaRPr>
          </a:p>
        </p:txBody>
      </p:sp>
      <p:sp>
        <p:nvSpPr>
          <p:cNvPr id="80" name="Shape 29"/>
          <p:cNvSpPr/>
          <p:nvPr/>
        </p:nvSpPr>
        <p:spPr>
          <a:xfrm>
            <a:off x="9564480" y="2615040"/>
            <a:ext cx="2038680" cy="1096920"/>
          </a:xfrm>
          <a:prstGeom prst="roundRect">
            <a:avLst>
              <a:gd name="adj" fmla="val 6667"/>
            </a:avLst>
          </a:prstGeom>
          <a:solidFill>
            <a:srgbClr val="e4dcf5"/>
          </a:solidFill>
          <a:ln w="12700">
            <a:solidFill>
              <a:srgbClr val="e4dcf5"/>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81" name="Text 30"/>
          <p:cNvSpPr/>
          <p:nvPr/>
        </p:nvSpPr>
        <p:spPr>
          <a:xfrm>
            <a:off x="9564480" y="3803760"/>
            <a:ext cx="2038680" cy="2739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200" spc="-1" strike="noStrike">
                <a:solidFill>
                  <a:srgbClr val="1b2330"/>
                </a:solidFill>
                <a:latin typeface="Calibri"/>
                <a:ea typeface="Calibri"/>
              </a:rPr>
              <a:t>Weekend ride photos</a:t>
            </a:r>
            <a:endParaRPr b="0" lang="en-US" sz="1200" spc="-1" strike="noStrike">
              <a:solidFill>
                <a:srgbClr val="000000"/>
              </a:solidFill>
              <a:latin typeface="Arial"/>
            </a:endParaRPr>
          </a:p>
        </p:txBody>
      </p:sp>
      <p:pic>
        <p:nvPicPr>
          <p:cNvPr id="82" name="Image 2" descr="preencoded.png"/>
          <p:cNvPicPr/>
          <p:nvPr/>
        </p:nvPicPr>
        <p:blipFill>
          <a:blip r:embed="rId3"/>
          <a:stretch/>
        </p:blipFill>
        <p:spPr>
          <a:xfrm>
            <a:off x="9655920" y="4169520"/>
            <a:ext cx="328680" cy="328680"/>
          </a:xfrm>
          <a:prstGeom prst="rect">
            <a:avLst/>
          </a:prstGeom>
          <a:ln w="0">
            <a:noFill/>
          </a:ln>
        </p:spPr>
      </p:pic>
      <p:sp>
        <p:nvSpPr>
          <p:cNvPr id="83" name="Text 31"/>
          <p:cNvSpPr/>
          <p:nvPr/>
        </p:nvSpPr>
        <p:spPr>
          <a:xfrm>
            <a:off x="10158840" y="4169520"/>
            <a:ext cx="365400" cy="328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5b6472"/>
                </a:solidFill>
                <a:latin typeface="Calibri"/>
                <a:ea typeface="Calibri"/>
              </a:rPr>
              <a:t>12</a:t>
            </a:r>
            <a:endParaRPr b="0" lang="en-US" sz="1200" spc="-1" strike="noStrike">
              <a:solidFill>
                <a:srgbClr val="000000"/>
              </a:solidFill>
              <a:latin typeface="Arial"/>
            </a:endParaRPr>
          </a:p>
        </p:txBody>
      </p:sp>
      <p:pic>
        <p:nvPicPr>
          <p:cNvPr id="84" name="Image 3" descr="preencoded.png"/>
          <p:cNvPicPr/>
          <p:nvPr/>
        </p:nvPicPr>
        <p:blipFill>
          <a:blip r:embed="rId4"/>
          <a:stretch/>
        </p:blipFill>
        <p:spPr>
          <a:xfrm>
            <a:off x="10570320" y="4169520"/>
            <a:ext cx="310680" cy="310680"/>
          </a:xfrm>
          <a:prstGeom prst="rect">
            <a:avLst/>
          </a:prstGeom>
          <a:ln w="0">
            <a:noFill/>
          </a:ln>
        </p:spPr>
      </p:pic>
      <p:sp>
        <p:nvSpPr>
          <p:cNvPr id="85" name="Shape 32"/>
          <p:cNvSpPr/>
          <p:nvPr/>
        </p:nvSpPr>
        <p:spPr>
          <a:xfrm>
            <a:off x="9564480" y="4078080"/>
            <a:ext cx="511560" cy="511560"/>
          </a:xfrm>
          <a:prstGeom prst="rect">
            <a:avLst/>
          </a:prstGeom>
          <a:noFill/>
          <a:ln w="34925">
            <a:solidFill>
              <a:srgbClr val="1a73e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86" name="Shape 33"/>
          <p:cNvSpPr/>
          <p:nvPr/>
        </p:nvSpPr>
        <p:spPr>
          <a:xfrm>
            <a:off x="9518760" y="5065920"/>
            <a:ext cx="2130120" cy="639720"/>
          </a:xfrm>
          <a:prstGeom prst="rect">
            <a:avLst/>
          </a:prstGeom>
          <a:solidFill>
            <a:srgbClr val="2e2e2e"/>
          </a:solidFill>
          <a:ln w="12700">
            <a:solidFill>
              <a:srgbClr val="2e2e2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87" name="Text 34"/>
          <p:cNvSpPr/>
          <p:nvPr/>
        </p:nvSpPr>
        <p:spPr>
          <a:xfrm>
            <a:off x="9592200" y="5065920"/>
            <a:ext cx="1983960" cy="6397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100" spc="-1" strike="noStrike">
                <a:solidFill>
                  <a:srgbClr val="ffffff"/>
                </a:solidFill>
                <a:latin typeface="Calibri"/>
                <a:ea typeface="Calibri"/>
              </a:rPr>
              <a:t>Like, Button, double tap to activate</a:t>
            </a:r>
            <a:endParaRPr b="0" lang="en-US" sz="1100" spc="-1" strike="noStrike">
              <a:solidFill>
                <a:srgbClr val="000000"/>
              </a:solidFill>
              <a:latin typeface="Arial"/>
            </a:endParaRPr>
          </a:p>
        </p:txBody>
      </p:sp>
      <p:sp>
        <p:nvSpPr>
          <p:cNvPr id="88" name="Shape 35"/>
          <p:cNvSpPr/>
          <p:nvPr/>
        </p:nvSpPr>
        <p:spPr>
          <a:xfrm>
            <a:off x="10252800" y="1298520"/>
            <a:ext cx="662760" cy="292320"/>
          </a:xfrm>
          <a:prstGeom prst="roundRect">
            <a:avLst>
              <a:gd name="adj" fmla="val 50000"/>
            </a:avLst>
          </a:prstGeom>
          <a:solidFill>
            <a:srgbClr val="e6f8ee"/>
          </a:solidFill>
          <a:ln w="12700">
            <a:solidFill>
              <a:srgbClr val="e6f8ee"/>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89" name="Text 36"/>
          <p:cNvSpPr/>
          <p:nvPr/>
        </p:nvSpPr>
        <p:spPr>
          <a:xfrm>
            <a:off x="10252800" y="1298520"/>
            <a:ext cx="662760" cy="292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 strike="noStrike">
                <a:solidFill>
                  <a:srgbClr val="0a7d43"/>
                </a:solidFill>
                <a:latin typeface="Calibri"/>
                <a:ea typeface="Calibri"/>
              </a:rPr>
              <a:t>AFTER</a:t>
            </a:r>
            <a:endParaRPr b="0" lang="en-US" sz="1100" spc="-1" strike="noStrike">
              <a:solidFill>
                <a:srgbClr val="000000"/>
              </a:solidFill>
              <a:latin typeface="Arial"/>
            </a:endParaRPr>
          </a:p>
        </p:txBody>
      </p:sp>
      <p:sp>
        <p:nvSpPr>
          <p:cNvPr id="90" name="Text 37"/>
          <p:cNvSpPr/>
          <p:nvPr/>
        </p:nvSpPr>
        <p:spPr>
          <a:xfrm>
            <a:off x="6675120" y="6144840"/>
            <a:ext cx="5166000" cy="4111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300" spc="-1" strike="noStrike">
                <a:solidFill>
                  <a:srgbClr val="5b3fd6"/>
                </a:solidFill>
                <a:latin typeface="Calibri"/>
                <a:ea typeface="Calibri"/>
              </a:rPr>
              <a:t>Every clickable without visible text needs a contentDescription. No exceptions.</a:t>
            </a:r>
            <a:endParaRPr b="0" lang="en-US" sz="13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1" name="Shape 0"/>
          <p:cNvSpPr/>
          <p:nvPr/>
        </p:nvSpPr>
        <p:spPr>
          <a:xfrm>
            <a:off x="548640" y="384120"/>
            <a:ext cx="1257120" cy="328680"/>
          </a:xfrm>
          <a:prstGeom prst="roundRect">
            <a:avLst>
              <a:gd name="adj" fmla="val 50000"/>
            </a:avLst>
          </a:prstGeom>
          <a:solidFill>
            <a:srgbClr val="eeeafb"/>
          </a:solidFill>
          <a:ln w="12700">
            <a:solidFill>
              <a:srgbClr val="eeeaf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92" name="Text 1"/>
          <p:cNvSpPr/>
          <p:nvPr/>
        </p:nvSpPr>
        <p:spPr>
          <a:xfrm>
            <a:off x="548640" y="384120"/>
            <a:ext cx="125712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99" strike="noStrike">
                <a:solidFill>
                  <a:srgbClr val="5b3fd6"/>
                </a:solidFill>
                <a:latin typeface="Calibri"/>
                <a:ea typeface="Calibri"/>
              </a:rPr>
              <a:t>01 · LABELS</a:t>
            </a:r>
            <a:endParaRPr b="0" lang="en-US" sz="1100" spc="-1" strike="noStrike">
              <a:solidFill>
                <a:srgbClr val="000000"/>
              </a:solidFill>
              <a:latin typeface="Arial"/>
            </a:endParaRPr>
          </a:p>
        </p:txBody>
      </p:sp>
      <p:sp>
        <p:nvSpPr>
          <p:cNvPr id="93" name="Text 2"/>
          <p:cNvSpPr/>
          <p:nvPr/>
        </p:nvSpPr>
        <p:spPr>
          <a:xfrm>
            <a:off x="548640" y="868680"/>
            <a:ext cx="11063880" cy="7311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3200" spc="-1" strike="noStrike">
                <a:solidFill>
                  <a:srgbClr val="1b2330"/>
                </a:solidFill>
                <a:latin typeface="Arial"/>
                <a:ea typeface="Arial"/>
              </a:rPr>
              <a:t>Anatomy of a TalkBack announcement</a:t>
            </a:r>
            <a:endParaRPr b="0" lang="en-US" sz="3200" spc="-1" strike="noStrike">
              <a:solidFill>
                <a:srgbClr val="000000"/>
              </a:solidFill>
              <a:latin typeface="Arial"/>
            </a:endParaRPr>
          </a:p>
        </p:txBody>
      </p:sp>
      <p:sp>
        <p:nvSpPr>
          <p:cNvPr id="94" name="Shape 3"/>
          <p:cNvSpPr/>
          <p:nvPr/>
        </p:nvSpPr>
        <p:spPr>
          <a:xfrm>
            <a:off x="548640" y="1783080"/>
            <a:ext cx="2331360" cy="548280"/>
          </a:xfrm>
          <a:prstGeom prst="roundRect">
            <a:avLst>
              <a:gd name="adj" fmla="val 20000"/>
            </a:avLst>
          </a:prstGeom>
          <a:solidFill>
            <a:srgbClr val="eeeafb"/>
          </a:solidFill>
          <a:ln w="12700">
            <a:solidFill>
              <a:srgbClr val="eeeaf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95" name="Text 4"/>
          <p:cNvSpPr/>
          <p:nvPr/>
        </p:nvSpPr>
        <p:spPr>
          <a:xfrm>
            <a:off x="548640" y="1783080"/>
            <a:ext cx="2331360" cy="5482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600" spc="-1" strike="noStrike">
                <a:solidFill>
                  <a:srgbClr val="5b3fd6"/>
                </a:solidFill>
                <a:latin typeface="Consolas"/>
                <a:ea typeface="Consolas"/>
              </a:rPr>
              <a:t>contentDescription</a:t>
            </a:r>
            <a:endParaRPr b="0" lang="en-US" sz="1600" spc="-1" strike="noStrike">
              <a:solidFill>
                <a:srgbClr val="000000"/>
              </a:solidFill>
              <a:latin typeface="Arial"/>
            </a:endParaRPr>
          </a:p>
        </p:txBody>
      </p:sp>
      <p:sp>
        <p:nvSpPr>
          <p:cNvPr id="96" name="Text 5"/>
          <p:cNvSpPr/>
          <p:nvPr/>
        </p:nvSpPr>
        <p:spPr>
          <a:xfrm>
            <a:off x="365760" y="2395800"/>
            <a:ext cx="2697120" cy="45684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0" lang="en-US" sz="1150" spc="-1" strike="noStrike">
                <a:solidFill>
                  <a:srgbClr val="5b6472"/>
                </a:solidFill>
                <a:latin typeface="Calibri"/>
                <a:ea typeface="Calibri"/>
              </a:rPr>
              <a:t>what it is</a:t>
            </a:r>
            <a:endParaRPr b="0" lang="en-US" sz="1150" spc="-1" strike="noStrike">
              <a:solidFill>
                <a:srgbClr val="000000"/>
              </a:solidFill>
              <a:latin typeface="Arial"/>
            </a:endParaRPr>
          </a:p>
        </p:txBody>
      </p:sp>
      <p:sp>
        <p:nvSpPr>
          <p:cNvPr id="97" name="Text 6"/>
          <p:cNvSpPr/>
          <p:nvPr/>
        </p:nvSpPr>
        <p:spPr>
          <a:xfrm>
            <a:off x="2880360" y="1783080"/>
            <a:ext cx="273960" cy="5482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200" spc="-1" strike="noStrike">
                <a:solidFill>
                  <a:srgbClr val="5b6472"/>
                </a:solidFill>
                <a:latin typeface="Calibri"/>
                <a:ea typeface="Calibri"/>
              </a:rPr>
              <a:t>,</a:t>
            </a:r>
            <a:endParaRPr b="0" lang="en-US" sz="2200" spc="-1" strike="noStrike">
              <a:solidFill>
                <a:srgbClr val="000000"/>
              </a:solidFill>
              <a:latin typeface="Arial"/>
            </a:endParaRPr>
          </a:p>
        </p:txBody>
      </p:sp>
      <p:sp>
        <p:nvSpPr>
          <p:cNvPr id="98" name="Shape 7"/>
          <p:cNvSpPr/>
          <p:nvPr/>
        </p:nvSpPr>
        <p:spPr>
          <a:xfrm>
            <a:off x="3154680" y="1783080"/>
            <a:ext cx="959760" cy="548280"/>
          </a:xfrm>
          <a:prstGeom prst="roundRect">
            <a:avLst>
              <a:gd name="adj" fmla="val 20000"/>
            </a:avLst>
          </a:prstGeom>
          <a:solidFill>
            <a:srgbClr val="fff4dd"/>
          </a:solidFill>
          <a:ln w="12700">
            <a:solidFill>
              <a:srgbClr val="fff4dd"/>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99" name="Text 8"/>
          <p:cNvSpPr/>
          <p:nvPr/>
        </p:nvSpPr>
        <p:spPr>
          <a:xfrm>
            <a:off x="3154680" y="1783080"/>
            <a:ext cx="959760" cy="5482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600" spc="-1" strike="noStrike">
                <a:solidFill>
                  <a:srgbClr val="b26a00"/>
                </a:solidFill>
                <a:latin typeface="Consolas"/>
                <a:ea typeface="Consolas"/>
              </a:rPr>
              <a:t>Role</a:t>
            </a:r>
            <a:endParaRPr b="0" lang="en-US" sz="1600" spc="-1" strike="noStrike">
              <a:solidFill>
                <a:srgbClr val="000000"/>
              </a:solidFill>
              <a:latin typeface="Arial"/>
            </a:endParaRPr>
          </a:p>
        </p:txBody>
      </p:sp>
      <p:sp>
        <p:nvSpPr>
          <p:cNvPr id="100" name="Text 9"/>
          <p:cNvSpPr/>
          <p:nvPr/>
        </p:nvSpPr>
        <p:spPr>
          <a:xfrm>
            <a:off x="2971800" y="2395800"/>
            <a:ext cx="1325520" cy="45684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0" lang="en-US" sz="1150" spc="-1" strike="noStrike">
                <a:solidFill>
                  <a:srgbClr val="5b6472"/>
                </a:solidFill>
                <a:latin typeface="Calibri"/>
                <a:ea typeface="Calibri"/>
              </a:rPr>
              <a:t>how to interact</a:t>
            </a:r>
            <a:endParaRPr b="0" lang="en-US" sz="1150" spc="-1" strike="noStrike">
              <a:solidFill>
                <a:srgbClr val="000000"/>
              </a:solidFill>
              <a:latin typeface="Arial"/>
            </a:endParaRPr>
          </a:p>
        </p:txBody>
      </p:sp>
      <p:sp>
        <p:nvSpPr>
          <p:cNvPr id="101" name="Text 10"/>
          <p:cNvSpPr/>
          <p:nvPr/>
        </p:nvSpPr>
        <p:spPr>
          <a:xfrm>
            <a:off x="4114800" y="1783080"/>
            <a:ext cx="273960" cy="5482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200" spc="-1" strike="noStrike">
                <a:solidFill>
                  <a:srgbClr val="5b6472"/>
                </a:solidFill>
                <a:latin typeface="Calibri"/>
                <a:ea typeface="Calibri"/>
              </a:rPr>
              <a:t>,</a:t>
            </a:r>
            <a:endParaRPr b="0" lang="en-US" sz="2200" spc="-1" strike="noStrike">
              <a:solidFill>
                <a:srgbClr val="000000"/>
              </a:solidFill>
              <a:latin typeface="Arial"/>
            </a:endParaRPr>
          </a:p>
        </p:txBody>
      </p:sp>
      <p:sp>
        <p:nvSpPr>
          <p:cNvPr id="102" name="Shape 11"/>
          <p:cNvSpPr/>
          <p:nvPr/>
        </p:nvSpPr>
        <p:spPr>
          <a:xfrm>
            <a:off x="4389120" y="1783080"/>
            <a:ext cx="1371240" cy="548280"/>
          </a:xfrm>
          <a:prstGeom prst="roundRect">
            <a:avLst>
              <a:gd name="adj" fmla="val 20000"/>
            </a:avLst>
          </a:prstGeom>
          <a:solidFill>
            <a:srgbClr val="f3f5f8"/>
          </a:solidFill>
          <a:ln w="12700">
            <a:solidFill>
              <a:srgbClr val="f3f5f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3" name="Text 12"/>
          <p:cNvSpPr/>
          <p:nvPr/>
        </p:nvSpPr>
        <p:spPr>
          <a:xfrm>
            <a:off x="4389120" y="1783080"/>
            <a:ext cx="1371240" cy="5482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600" spc="-1" strike="noStrike">
                <a:solidFill>
                  <a:srgbClr val="5b6472"/>
                </a:solidFill>
                <a:latin typeface="Consolas"/>
                <a:ea typeface="Consolas"/>
              </a:rPr>
              <a:t>Double-tap</a:t>
            </a:r>
            <a:endParaRPr b="0" lang="en-US" sz="1600" spc="-1" strike="noStrike">
              <a:solidFill>
                <a:srgbClr val="000000"/>
              </a:solidFill>
              <a:latin typeface="Arial"/>
            </a:endParaRPr>
          </a:p>
        </p:txBody>
      </p:sp>
      <p:sp>
        <p:nvSpPr>
          <p:cNvPr id="104" name="Text 13"/>
          <p:cNvSpPr/>
          <p:nvPr/>
        </p:nvSpPr>
        <p:spPr>
          <a:xfrm>
            <a:off x="4206240" y="2395800"/>
            <a:ext cx="1737000" cy="45684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0" lang="en-US" sz="1150" spc="-1" strike="noStrike">
                <a:solidFill>
                  <a:srgbClr val="5b6472"/>
                </a:solidFill>
                <a:latin typeface="Calibri"/>
                <a:ea typeface="Calibri"/>
              </a:rPr>
              <a:t>system default</a:t>
            </a:r>
            <a:endParaRPr b="0" lang="en-US" sz="1150" spc="-1" strike="noStrike">
              <a:solidFill>
                <a:srgbClr val="000000"/>
              </a:solidFill>
              <a:latin typeface="Arial"/>
            </a:endParaRPr>
          </a:p>
        </p:txBody>
      </p:sp>
      <p:sp>
        <p:nvSpPr>
          <p:cNvPr id="105" name="Text 14"/>
          <p:cNvSpPr/>
          <p:nvPr/>
        </p:nvSpPr>
        <p:spPr>
          <a:xfrm>
            <a:off x="5760720" y="1783080"/>
            <a:ext cx="456840" cy="5482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200" spc="-1" strike="noStrike">
                <a:solidFill>
                  <a:srgbClr val="5b6472"/>
                </a:solidFill>
                <a:latin typeface="Calibri"/>
                <a:ea typeface="Calibri"/>
              </a:rPr>
              <a:t>to</a:t>
            </a:r>
            <a:endParaRPr b="0" lang="en-US" sz="2200" spc="-1" strike="noStrike">
              <a:solidFill>
                <a:srgbClr val="000000"/>
              </a:solidFill>
              <a:latin typeface="Arial"/>
            </a:endParaRPr>
          </a:p>
        </p:txBody>
      </p:sp>
      <p:sp>
        <p:nvSpPr>
          <p:cNvPr id="106" name="Shape 15"/>
          <p:cNvSpPr/>
          <p:nvPr/>
        </p:nvSpPr>
        <p:spPr>
          <a:xfrm>
            <a:off x="6217920" y="1783080"/>
            <a:ext cx="1782720" cy="548280"/>
          </a:xfrm>
          <a:prstGeom prst="roundRect">
            <a:avLst>
              <a:gd name="adj" fmla="val 20000"/>
            </a:avLst>
          </a:prstGeom>
          <a:solidFill>
            <a:srgbClr val="e6f8ee"/>
          </a:solidFill>
          <a:ln w="12700">
            <a:solidFill>
              <a:srgbClr val="e6f8ee"/>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7" name="Text 16"/>
          <p:cNvSpPr/>
          <p:nvPr/>
        </p:nvSpPr>
        <p:spPr>
          <a:xfrm>
            <a:off x="6217920" y="1783080"/>
            <a:ext cx="1782720" cy="5482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600" spc="-1" strike="noStrike">
                <a:solidFill>
                  <a:srgbClr val="0a7d43"/>
                </a:solidFill>
                <a:latin typeface="Consolas"/>
                <a:ea typeface="Consolas"/>
              </a:rPr>
              <a:t>onClickLabel</a:t>
            </a:r>
            <a:endParaRPr b="0" lang="en-US" sz="1600" spc="-1" strike="noStrike">
              <a:solidFill>
                <a:srgbClr val="000000"/>
              </a:solidFill>
              <a:latin typeface="Arial"/>
            </a:endParaRPr>
          </a:p>
        </p:txBody>
      </p:sp>
      <p:sp>
        <p:nvSpPr>
          <p:cNvPr id="108" name="Text 17"/>
          <p:cNvSpPr/>
          <p:nvPr/>
        </p:nvSpPr>
        <p:spPr>
          <a:xfrm>
            <a:off x="6035040" y="2395800"/>
            <a:ext cx="2148480" cy="45684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0" lang="en-US" sz="1150" spc="-1" strike="noStrike">
                <a:solidFill>
                  <a:srgbClr val="5b6472"/>
                </a:solidFill>
                <a:latin typeface="Calibri"/>
                <a:ea typeface="Calibri"/>
              </a:rPr>
              <a:t>what happens</a:t>
            </a:r>
            <a:endParaRPr b="0" lang="en-US" sz="1150" spc="-1" strike="noStrike">
              <a:solidFill>
                <a:srgbClr val="000000"/>
              </a:solidFill>
              <a:latin typeface="Arial"/>
            </a:endParaRPr>
          </a:p>
          <a:p>
            <a:pPr algn="ctr" defTabSz="914400">
              <a:lnSpc>
                <a:spcPct val="100000"/>
              </a:lnSpc>
              <a:tabLst>
                <a:tab algn="l" pos="0"/>
              </a:tabLst>
            </a:pPr>
            <a:r>
              <a:rPr b="0" lang="en-US" sz="1150" spc="-1" strike="noStrike">
                <a:solidFill>
                  <a:srgbClr val="5b6472"/>
                </a:solidFill>
                <a:latin typeface="Calibri"/>
                <a:ea typeface="Calibri"/>
              </a:rPr>
              <a:t>(default: “activate”)</a:t>
            </a:r>
            <a:endParaRPr b="0" lang="en-US" sz="1150" spc="-1" strike="noStrike">
              <a:solidFill>
                <a:srgbClr val="000000"/>
              </a:solidFill>
              <a:latin typeface="Arial"/>
            </a:endParaRPr>
          </a:p>
        </p:txBody>
      </p:sp>
      <p:sp>
        <p:nvSpPr>
          <p:cNvPr id="109" name="Shape 18"/>
          <p:cNvSpPr/>
          <p:nvPr/>
        </p:nvSpPr>
        <p:spPr>
          <a:xfrm>
            <a:off x="548640" y="2971800"/>
            <a:ext cx="6309000" cy="3291480"/>
          </a:xfrm>
          <a:prstGeom prst="roundRect">
            <a:avLst>
              <a:gd name="adj" fmla="val 3333"/>
            </a:avLst>
          </a:prstGeom>
          <a:solidFill>
            <a:srgbClr val="182235"/>
          </a:solidFill>
          <a:ln w="12700">
            <a:solidFill>
              <a:srgbClr val="18223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10" name="Text 19"/>
          <p:cNvSpPr/>
          <p:nvPr/>
        </p:nvSpPr>
        <p:spPr>
          <a:xfrm>
            <a:off x="777240" y="3173040"/>
            <a:ext cx="5943240" cy="2971440"/>
          </a:xfrm>
          <a:prstGeom prst="rect">
            <a:avLst/>
          </a:prstGeom>
          <a:noFill/>
          <a:ln w="0">
            <a:noFill/>
          </a:ln>
        </p:spPr>
        <p:style>
          <a:lnRef idx="0"/>
          <a:fillRef idx="0"/>
          <a:effectRef idx="0"/>
          <a:fontRef idx="minor"/>
        </p:style>
        <p:txBody>
          <a:bodyPr lIns="0" rIns="0" tIns="0" bIns="0" anchor="t">
            <a:noAutofit/>
          </a:bodyPr>
          <a:p>
            <a:pPr defTabSz="914400">
              <a:lnSpc>
                <a:spcPct val="105000"/>
              </a:lnSpc>
              <a:tabLst>
                <a:tab algn="l" pos="0"/>
              </a:tabLst>
            </a:pPr>
            <a:r>
              <a:rPr b="0" lang="en-US" sz="1350" spc="-1" strike="noStrike">
                <a:solidFill>
                  <a:srgbClr val="8ab4f8"/>
                </a:solidFill>
                <a:latin typeface="Consolas"/>
                <a:ea typeface="Consolas"/>
              </a:rPr>
              <a:t>Box</a:t>
            </a:r>
            <a:r>
              <a:rPr b="0" lang="en-US" sz="1350" spc="-1" strike="noStrike">
                <a:solidFill>
                  <a:srgbClr val="dce3ec"/>
                </a:solidFill>
                <a:latin typeface="Consolas"/>
                <a:ea typeface="Consolas"/>
              </a:rPr>
              <a:t>(</a:t>
            </a:r>
            <a:endParaRPr b="0" lang="en-US" sz="1350" spc="-1" strike="noStrike">
              <a:solidFill>
                <a:srgbClr val="000000"/>
              </a:solidFill>
              <a:latin typeface="Arial"/>
            </a:endParaRPr>
          </a:p>
          <a:p>
            <a:pPr defTabSz="914400">
              <a:lnSpc>
                <a:spcPct val="105000"/>
              </a:lnSpc>
              <a:tabLst>
                <a:tab algn="l" pos="0"/>
              </a:tabLst>
            </a:pPr>
            <a:r>
              <a:rPr b="0" lang="en-US" sz="1350" spc="-1" strike="noStrike">
                <a:solidFill>
                  <a:srgbClr val="dce3ec"/>
                </a:solidFill>
                <a:latin typeface="Consolas"/>
                <a:ea typeface="Consolas"/>
              </a:rPr>
              <a:t>    </a:t>
            </a:r>
            <a:r>
              <a:rPr b="0" lang="en-US" sz="1350" spc="-1" strike="noStrike">
                <a:solidFill>
                  <a:srgbClr val="8ab4f8"/>
                </a:solidFill>
                <a:latin typeface="Consolas"/>
                <a:ea typeface="Consolas"/>
              </a:rPr>
              <a:t>Modifier</a:t>
            </a:r>
            <a:endParaRPr b="0" lang="en-US" sz="1350" spc="-1" strike="noStrike">
              <a:solidFill>
                <a:srgbClr val="000000"/>
              </a:solidFill>
              <a:latin typeface="Arial"/>
            </a:endParaRPr>
          </a:p>
          <a:p>
            <a:pPr defTabSz="914400">
              <a:lnSpc>
                <a:spcPct val="105000"/>
              </a:lnSpc>
              <a:tabLst>
                <a:tab algn="l" pos="0"/>
              </a:tabLst>
            </a:pPr>
            <a:r>
              <a:rPr b="0" lang="en-US" sz="1350" spc="-1" strike="noStrike">
                <a:solidFill>
                  <a:srgbClr val="dce3ec"/>
                </a:solidFill>
                <a:latin typeface="Consolas"/>
                <a:ea typeface="Consolas"/>
              </a:rPr>
              <a:t>        </a:t>
            </a:r>
            <a:r>
              <a:rPr b="0" lang="en-US" sz="1350" spc="-1" strike="noStrike">
                <a:solidFill>
                  <a:srgbClr val="dce3ec"/>
                </a:solidFill>
                <a:latin typeface="Consolas"/>
                <a:ea typeface="Consolas"/>
              </a:rPr>
              <a:t>.</a:t>
            </a:r>
            <a:r>
              <a:rPr b="1" lang="en-US" sz="1350" spc="-1" strike="noStrike">
                <a:solidFill>
                  <a:srgbClr val="3ddc84"/>
                </a:solidFill>
                <a:latin typeface="Consolas"/>
                <a:ea typeface="Consolas"/>
              </a:rPr>
              <a:t>semantics</a:t>
            </a:r>
            <a:r>
              <a:rPr b="0" lang="en-US" sz="1350" spc="-1" strike="noStrike">
                <a:solidFill>
                  <a:srgbClr val="dce3ec"/>
                </a:solidFill>
                <a:latin typeface="Consolas"/>
                <a:ea typeface="Consolas"/>
              </a:rPr>
              <a:t> {</a:t>
            </a:r>
            <a:endParaRPr b="0" lang="en-US" sz="1350" spc="-1" strike="noStrike">
              <a:solidFill>
                <a:srgbClr val="000000"/>
              </a:solidFill>
              <a:latin typeface="Arial"/>
            </a:endParaRPr>
          </a:p>
          <a:p>
            <a:pPr defTabSz="914400">
              <a:lnSpc>
                <a:spcPct val="105000"/>
              </a:lnSpc>
              <a:tabLst>
                <a:tab algn="l" pos="0"/>
              </a:tabLst>
            </a:pPr>
            <a:r>
              <a:rPr b="0" lang="en-US" sz="1350" spc="-1" strike="noStrike">
                <a:solidFill>
                  <a:srgbClr val="dce3ec"/>
                </a:solidFill>
                <a:latin typeface="Consolas"/>
                <a:ea typeface="Consolas"/>
              </a:rPr>
              <a:t>            </a:t>
            </a:r>
            <a:r>
              <a:rPr b="1" lang="en-US" sz="1350" spc="-1" strike="noStrike">
                <a:solidFill>
                  <a:srgbClr val="3ddc84"/>
                </a:solidFill>
                <a:latin typeface="Consolas"/>
                <a:ea typeface="Consolas"/>
              </a:rPr>
              <a:t>contentDescription</a:t>
            </a:r>
            <a:r>
              <a:rPr b="0" lang="en-US" sz="1350" spc="-1" strike="noStrike">
                <a:solidFill>
                  <a:srgbClr val="dce3ec"/>
                </a:solidFill>
                <a:latin typeface="Consolas"/>
                <a:ea typeface="Consolas"/>
              </a:rPr>
              <a:t> = </a:t>
            </a:r>
            <a:r>
              <a:rPr b="0" lang="en-US" sz="1350" spc="-1" strike="noStrike">
                <a:solidFill>
                  <a:srgbClr val="b5e48c"/>
                </a:solidFill>
                <a:latin typeface="Consolas"/>
                <a:ea typeface="Consolas"/>
              </a:rPr>
              <a:t>"Hello, droidcon!"</a:t>
            </a:r>
            <a:endParaRPr b="0" lang="en-US" sz="1350" spc="-1" strike="noStrike">
              <a:solidFill>
                <a:srgbClr val="000000"/>
              </a:solidFill>
              <a:latin typeface="Arial"/>
            </a:endParaRPr>
          </a:p>
          <a:p>
            <a:pPr defTabSz="914400">
              <a:lnSpc>
                <a:spcPct val="105000"/>
              </a:lnSpc>
              <a:tabLst>
                <a:tab algn="l" pos="0"/>
              </a:tabLst>
            </a:pPr>
            <a:r>
              <a:rPr b="0" lang="en-US" sz="1350" spc="-1" strike="noStrike">
                <a:solidFill>
                  <a:srgbClr val="dce3ec"/>
                </a:solidFill>
                <a:latin typeface="Consolas"/>
                <a:ea typeface="Consolas"/>
              </a:rPr>
              <a:t>        </a:t>
            </a:r>
            <a:r>
              <a:rPr b="0" lang="en-US" sz="1350" spc="-1" strike="noStrike">
                <a:solidFill>
                  <a:srgbClr val="dce3ec"/>
                </a:solidFill>
                <a:latin typeface="Consolas"/>
                <a:ea typeface="Consolas"/>
              </a:rPr>
              <a:t>}</a:t>
            </a:r>
            <a:endParaRPr b="0" lang="en-US" sz="1350" spc="-1" strike="noStrike">
              <a:solidFill>
                <a:srgbClr val="000000"/>
              </a:solidFill>
              <a:latin typeface="Arial"/>
            </a:endParaRPr>
          </a:p>
          <a:p>
            <a:pPr defTabSz="914400">
              <a:lnSpc>
                <a:spcPct val="105000"/>
              </a:lnSpc>
              <a:tabLst>
                <a:tab algn="l" pos="0"/>
              </a:tabLst>
            </a:pPr>
            <a:r>
              <a:rPr b="0" lang="en-US" sz="1350" spc="-1" strike="noStrike">
                <a:solidFill>
                  <a:srgbClr val="dce3ec"/>
                </a:solidFill>
                <a:latin typeface="Consolas"/>
                <a:ea typeface="Consolas"/>
              </a:rPr>
              <a:t>        </a:t>
            </a:r>
            <a:r>
              <a:rPr b="0" lang="en-US" sz="1350" spc="-1" strike="noStrike">
                <a:solidFill>
                  <a:srgbClr val="dce3ec"/>
                </a:solidFill>
                <a:latin typeface="Consolas"/>
                <a:ea typeface="Consolas"/>
              </a:rPr>
              <a:t>.clickable(</a:t>
            </a:r>
            <a:endParaRPr b="0" lang="en-US" sz="1350" spc="-1" strike="noStrike">
              <a:solidFill>
                <a:srgbClr val="000000"/>
              </a:solidFill>
              <a:latin typeface="Arial"/>
            </a:endParaRPr>
          </a:p>
          <a:p>
            <a:pPr defTabSz="914400">
              <a:lnSpc>
                <a:spcPct val="105000"/>
              </a:lnSpc>
              <a:tabLst>
                <a:tab algn="l" pos="0"/>
              </a:tabLst>
            </a:pPr>
            <a:r>
              <a:rPr b="0" lang="en-US" sz="1350" spc="-1" strike="noStrike">
                <a:solidFill>
                  <a:srgbClr val="dce3ec"/>
                </a:solidFill>
                <a:latin typeface="Consolas"/>
                <a:ea typeface="Consolas"/>
              </a:rPr>
              <a:t>            </a:t>
            </a:r>
            <a:r>
              <a:rPr b="1" lang="en-US" sz="1350" spc="-1" strike="noStrike">
                <a:solidFill>
                  <a:srgbClr val="3ddc84"/>
                </a:solidFill>
                <a:latin typeface="Consolas"/>
                <a:ea typeface="Consolas"/>
              </a:rPr>
              <a:t>onClickLabel</a:t>
            </a:r>
            <a:r>
              <a:rPr b="0" lang="en-US" sz="1350" spc="-1" strike="noStrike">
                <a:solidFill>
                  <a:srgbClr val="dce3ec"/>
                </a:solidFill>
                <a:latin typeface="Consolas"/>
                <a:ea typeface="Consolas"/>
              </a:rPr>
              <a:t> = </a:t>
            </a:r>
            <a:r>
              <a:rPr b="0" lang="en-US" sz="1350" spc="-1" strike="noStrike">
                <a:solidFill>
                  <a:srgbClr val="b5e48c"/>
                </a:solidFill>
                <a:latin typeface="Consolas"/>
                <a:ea typeface="Consolas"/>
              </a:rPr>
              <a:t>"learn more about semantics"</a:t>
            </a:r>
            <a:r>
              <a:rPr b="0" lang="en-US" sz="1350" spc="-1" strike="noStrike">
                <a:solidFill>
                  <a:srgbClr val="dce3ec"/>
                </a:solidFill>
                <a:latin typeface="Consolas"/>
                <a:ea typeface="Consolas"/>
              </a:rPr>
              <a:t>,</a:t>
            </a:r>
            <a:endParaRPr b="0" lang="en-US" sz="1350" spc="-1" strike="noStrike">
              <a:solidFill>
                <a:srgbClr val="000000"/>
              </a:solidFill>
              <a:latin typeface="Arial"/>
            </a:endParaRPr>
          </a:p>
          <a:p>
            <a:pPr defTabSz="914400">
              <a:lnSpc>
                <a:spcPct val="105000"/>
              </a:lnSpc>
              <a:tabLst>
                <a:tab algn="l" pos="0"/>
              </a:tabLst>
            </a:pPr>
            <a:r>
              <a:rPr b="0" lang="en-US" sz="1350" spc="-1" strike="noStrike">
                <a:solidFill>
                  <a:srgbClr val="dce3ec"/>
                </a:solidFill>
                <a:latin typeface="Consolas"/>
                <a:ea typeface="Consolas"/>
              </a:rPr>
              <a:t>            </a:t>
            </a:r>
            <a:r>
              <a:rPr b="1" lang="en-US" sz="1350" spc="-1" strike="noStrike">
                <a:solidFill>
                  <a:srgbClr val="3ddc84"/>
                </a:solidFill>
                <a:latin typeface="Consolas"/>
                <a:ea typeface="Consolas"/>
              </a:rPr>
              <a:t>role</a:t>
            </a:r>
            <a:r>
              <a:rPr b="0" lang="en-US" sz="1350" spc="-1" strike="noStrike">
                <a:solidFill>
                  <a:srgbClr val="dce3ec"/>
                </a:solidFill>
                <a:latin typeface="Consolas"/>
                <a:ea typeface="Consolas"/>
              </a:rPr>
              <a:t> = </a:t>
            </a:r>
            <a:r>
              <a:rPr b="0" lang="en-US" sz="1350" spc="-1" strike="noStrike">
                <a:solidFill>
                  <a:srgbClr val="8ab4f8"/>
                </a:solidFill>
                <a:latin typeface="Consolas"/>
                <a:ea typeface="Consolas"/>
              </a:rPr>
              <a:t>Role</a:t>
            </a:r>
            <a:r>
              <a:rPr b="0" lang="en-US" sz="1350" spc="-1" strike="noStrike">
                <a:solidFill>
                  <a:srgbClr val="dce3ec"/>
                </a:solidFill>
                <a:latin typeface="Consolas"/>
                <a:ea typeface="Consolas"/>
              </a:rPr>
              <a:t>.</a:t>
            </a:r>
            <a:r>
              <a:rPr b="0" lang="en-US" sz="1350" spc="-1" strike="noStrike">
                <a:solidFill>
                  <a:srgbClr val="8ab4f8"/>
                </a:solidFill>
                <a:latin typeface="Consolas"/>
                <a:ea typeface="Consolas"/>
              </a:rPr>
              <a:t>Button</a:t>
            </a:r>
            <a:r>
              <a:rPr b="0" lang="en-US" sz="1350" spc="-1" strike="noStrike">
                <a:solidFill>
                  <a:srgbClr val="dce3ec"/>
                </a:solidFill>
                <a:latin typeface="Consolas"/>
                <a:ea typeface="Consolas"/>
              </a:rPr>
              <a:t>,</a:t>
            </a:r>
            <a:endParaRPr b="0" lang="en-US" sz="1350" spc="-1" strike="noStrike">
              <a:solidFill>
                <a:srgbClr val="000000"/>
              </a:solidFill>
              <a:latin typeface="Arial"/>
            </a:endParaRPr>
          </a:p>
          <a:p>
            <a:pPr defTabSz="914400">
              <a:lnSpc>
                <a:spcPct val="105000"/>
              </a:lnSpc>
              <a:tabLst>
                <a:tab algn="l" pos="0"/>
              </a:tabLst>
            </a:pPr>
            <a:r>
              <a:rPr b="0" lang="en-US" sz="1350" spc="-1" strike="noStrike">
                <a:solidFill>
                  <a:srgbClr val="dce3ec"/>
                </a:solidFill>
                <a:latin typeface="Consolas"/>
                <a:ea typeface="Consolas"/>
              </a:rPr>
              <a:t>        </a:t>
            </a:r>
            <a:r>
              <a:rPr b="0" lang="en-US" sz="1350" spc="-1" strike="noStrike">
                <a:solidFill>
                  <a:srgbClr val="dce3ec"/>
                </a:solidFill>
                <a:latin typeface="Consolas"/>
                <a:ea typeface="Consolas"/>
              </a:rPr>
              <a:t>) { openSemanticsInfo() }</a:t>
            </a:r>
            <a:endParaRPr b="0" lang="en-US" sz="1350" spc="-1" strike="noStrike">
              <a:solidFill>
                <a:srgbClr val="000000"/>
              </a:solidFill>
              <a:latin typeface="Arial"/>
            </a:endParaRPr>
          </a:p>
          <a:p>
            <a:pPr defTabSz="914400">
              <a:lnSpc>
                <a:spcPct val="105000"/>
              </a:lnSpc>
              <a:tabLst>
                <a:tab algn="l" pos="0"/>
              </a:tabLst>
            </a:pPr>
            <a:r>
              <a:rPr b="0" lang="en-US" sz="1350" spc="-1" strike="noStrike">
                <a:solidFill>
                  <a:srgbClr val="dce3ec"/>
                </a:solidFill>
                <a:latin typeface="Consolas"/>
                <a:ea typeface="Consolas"/>
              </a:rPr>
              <a:t>) {</a:t>
            </a:r>
            <a:endParaRPr b="0" lang="en-US" sz="1350" spc="-1" strike="noStrike">
              <a:solidFill>
                <a:srgbClr val="000000"/>
              </a:solidFill>
              <a:latin typeface="Arial"/>
            </a:endParaRPr>
          </a:p>
          <a:p>
            <a:pPr defTabSz="914400">
              <a:lnSpc>
                <a:spcPct val="105000"/>
              </a:lnSpc>
              <a:tabLst>
                <a:tab algn="l" pos="0"/>
              </a:tabLst>
            </a:pPr>
            <a:r>
              <a:rPr b="0" lang="en-US" sz="1350" spc="-1" strike="noStrike">
                <a:solidFill>
                  <a:srgbClr val="dce3ec"/>
                </a:solidFill>
                <a:latin typeface="Consolas"/>
                <a:ea typeface="Consolas"/>
              </a:rPr>
              <a:t>    </a:t>
            </a:r>
            <a:r>
              <a:rPr b="0" lang="en-US" sz="1350" spc="-1" strike="noStrike">
                <a:solidFill>
                  <a:srgbClr val="8ab4f8"/>
                </a:solidFill>
                <a:latin typeface="Consolas"/>
                <a:ea typeface="Consolas"/>
              </a:rPr>
              <a:t>Icon</a:t>
            </a:r>
            <a:r>
              <a:rPr b="0" lang="en-US" sz="1350" spc="-1" strike="noStrike">
                <a:solidFill>
                  <a:srgbClr val="dce3ec"/>
                </a:solidFill>
                <a:latin typeface="Consolas"/>
                <a:ea typeface="Consolas"/>
              </a:rPr>
              <a:t>(</a:t>
            </a:r>
            <a:r>
              <a:rPr b="0" lang="en-US" sz="1350" spc="-1" strike="noStrike">
                <a:solidFill>
                  <a:srgbClr val="8ab4f8"/>
                </a:solidFill>
                <a:latin typeface="Consolas"/>
                <a:ea typeface="Consolas"/>
              </a:rPr>
              <a:t>Icons</a:t>
            </a:r>
            <a:r>
              <a:rPr b="0" lang="en-US" sz="1350" spc="-1" strike="noStrike">
                <a:solidFill>
                  <a:srgbClr val="dce3ec"/>
                </a:solidFill>
                <a:latin typeface="Consolas"/>
                <a:ea typeface="Consolas"/>
              </a:rPr>
              <a:t>.</a:t>
            </a:r>
            <a:r>
              <a:rPr b="0" lang="en-US" sz="1350" spc="-1" strike="noStrike">
                <a:solidFill>
                  <a:srgbClr val="8ab4f8"/>
                </a:solidFill>
                <a:latin typeface="Consolas"/>
                <a:ea typeface="Consolas"/>
              </a:rPr>
              <a:t>Filled</a:t>
            </a:r>
            <a:r>
              <a:rPr b="0" lang="en-US" sz="1350" spc="-1" strike="noStrike">
                <a:solidFill>
                  <a:srgbClr val="dce3ec"/>
                </a:solidFill>
                <a:latin typeface="Consolas"/>
                <a:ea typeface="Consolas"/>
              </a:rPr>
              <a:t>.</a:t>
            </a:r>
            <a:r>
              <a:rPr b="0" lang="en-US" sz="1350" spc="-1" strike="noStrike">
                <a:solidFill>
                  <a:srgbClr val="8ab4f8"/>
                </a:solidFill>
                <a:latin typeface="Consolas"/>
                <a:ea typeface="Consolas"/>
              </a:rPr>
              <a:t>Face</a:t>
            </a:r>
            <a:r>
              <a:rPr b="0" lang="en-US" sz="1350" spc="-1" strike="noStrike">
                <a:solidFill>
                  <a:srgbClr val="dce3ec"/>
                </a:solidFill>
                <a:latin typeface="Consolas"/>
                <a:ea typeface="Consolas"/>
              </a:rPr>
              <a:t>, </a:t>
            </a:r>
            <a:r>
              <a:rPr b="1" lang="en-US" sz="1350" spc="-1" strike="noStrike">
                <a:solidFill>
                  <a:srgbClr val="3ddc84"/>
                </a:solidFill>
                <a:latin typeface="Consolas"/>
                <a:ea typeface="Consolas"/>
              </a:rPr>
              <a:t>contentDescription</a:t>
            </a:r>
            <a:r>
              <a:rPr b="0" lang="en-US" sz="1350" spc="-1" strike="noStrike">
                <a:solidFill>
                  <a:srgbClr val="dce3ec"/>
                </a:solidFill>
                <a:latin typeface="Consolas"/>
                <a:ea typeface="Consolas"/>
              </a:rPr>
              <a:t> = </a:t>
            </a:r>
            <a:r>
              <a:rPr b="0" lang="en-US" sz="1350" spc="-1" strike="noStrike">
                <a:solidFill>
                  <a:srgbClr val="ff8fc7"/>
                </a:solidFill>
                <a:latin typeface="Consolas"/>
                <a:ea typeface="Consolas"/>
              </a:rPr>
              <a:t>null</a:t>
            </a:r>
            <a:r>
              <a:rPr b="0" lang="en-US" sz="1350" spc="-1" strike="noStrike">
                <a:solidFill>
                  <a:srgbClr val="dce3ec"/>
                </a:solidFill>
                <a:latin typeface="Consolas"/>
                <a:ea typeface="Consolas"/>
              </a:rPr>
              <a:t>)</a:t>
            </a:r>
            <a:endParaRPr b="0" lang="en-US" sz="1350" spc="-1" strike="noStrike">
              <a:solidFill>
                <a:srgbClr val="000000"/>
              </a:solidFill>
              <a:latin typeface="Arial"/>
            </a:endParaRPr>
          </a:p>
          <a:p>
            <a:pPr defTabSz="914400">
              <a:lnSpc>
                <a:spcPct val="105000"/>
              </a:lnSpc>
              <a:tabLst>
                <a:tab algn="l" pos="0"/>
              </a:tabLst>
            </a:pPr>
            <a:r>
              <a:rPr b="0" lang="en-US" sz="1350" spc="-1" strike="noStrike">
                <a:solidFill>
                  <a:srgbClr val="dce3ec"/>
                </a:solidFill>
                <a:latin typeface="Consolas"/>
                <a:ea typeface="Consolas"/>
              </a:rPr>
              <a:t>}</a:t>
            </a:r>
            <a:endParaRPr b="0" lang="en-US" sz="1350" spc="-1" strike="noStrike">
              <a:solidFill>
                <a:srgbClr val="000000"/>
              </a:solidFill>
              <a:latin typeface="Arial"/>
            </a:endParaRPr>
          </a:p>
        </p:txBody>
      </p:sp>
      <p:sp>
        <p:nvSpPr>
          <p:cNvPr id="111" name="Text 20"/>
          <p:cNvSpPr/>
          <p:nvPr/>
        </p:nvSpPr>
        <p:spPr>
          <a:xfrm>
            <a:off x="5852160" y="3044880"/>
            <a:ext cx="868320" cy="200880"/>
          </a:xfrm>
          <a:prstGeom prst="rect">
            <a:avLst/>
          </a:prstGeom>
          <a:noFill/>
          <a:ln w="0">
            <a:noFill/>
          </a:ln>
        </p:spPr>
        <p:style>
          <a:lnRef idx="0"/>
          <a:fillRef idx="0"/>
          <a:effectRef idx="0"/>
          <a:fontRef idx="minor"/>
        </p:style>
        <p:txBody>
          <a:bodyPr lIns="0" rIns="0" tIns="0" bIns="0" anchor="t">
            <a:noAutofit/>
          </a:bodyPr>
          <a:p>
            <a:pPr algn="r" defTabSz="914400">
              <a:lnSpc>
                <a:spcPct val="100000"/>
              </a:lnSpc>
              <a:tabLst>
                <a:tab algn="l" pos="0"/>
              </a:tabLst>
            </a:pPr>
            <a:r>
              <a:rPr b="0" lang="en-US" sz="900" spc="-1" strike="noStrike">
                <a:solidFill>
                  <a:srgbClr val="6f7d93"/>
                </a:solidFill>
                <a:latin typeface="Calibri"/>
                <a:ea typeface="Calibri"/>
              </a:rPr>
              <a:t>Kotlin</a:t>
            </a:r>
            <a:endParaRPr b="0" lang="en-US" sz="900" spc="-1" strike="noStrike">
              <a:solidFill>
                <a:srgbClr val="000000"/>
              </a:solidFill>
              <a:latin typeface="Arial"/>
            </a:endParaRPr>
          </a:p>
        </p:txBody>
      </p:sp>
      <p:sp>
        <p:nvSpPr>
          <p:cNvPr id="112" name="Shape 21"/>
          <p:cNvSpPr/>
          <p:nvPr/>
        </p:nvSpPr>
        <p:spPr>
          <a:xfrm>
            <a:off x="8458200" y="1188720"/>
            <a:ext cx="3062880" cy="5257440"/>
          </a:xfrm>
          <a:prstGeom prst="roundRect">
            <a:avLst>
              <a:gd name="adj" fmla="val 9552"/>
            </a:avLst>
          </a:prstGeom>
          <a:solidFill>
            <a:srgbClr val="15161a"/>
          </a:solidFill>
          <a:ln w="12700">
            <a:solidFill>
              <a:srgbClr val="15161a"/>
            </a:solidFill>
            <a:round/>
          </a:ln>
          <a:effectLst>
            <a:outerShdw algn="bl" blurRad="101520" dir="5400000" dist="38160" kx="0" ky="0" rotWithShape="0" sx="100000" sy="100000">
              <a:srgbClr val="000000">
                <a:alpha val="22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13" name="Shape 22"/>
          <p:cNvSpPr/>
          <p:nvPr/>
        </p:nvSpPr>
        <p:spPr>
          <a:xfrm>
            <a:off x="8558640" y="1289160"/>
            <a:ext cx="2861640" cy="5056200"/>
          </a:xfrm>
          <a:prstGeom prst="roundRect">
            <a:avLst>
              <a:gd name="adj" fmla="val 7668"/>
            </a:avLst>
          </a:prstGeom>
          <a:solidFill>
            <a:srgbClr val="ffffff"/>
          </a:solidFill>
          <a:ln w="12700">
            <a:solidFill>
              <a:srgbClr val="ffffff"/>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4" name="Shape 23"/>
          <p:cNvSpPr/>
          <p:nvPr/>
        </p:nvSpPr>
        <p:spPr>
          <a:xfrm>
            <a:off x="8558640" y="1454040"/>
            <a:ext cx="2861640" cy="456840"/>
          </a:xfrm>
          <a:prstGeom prst="rect">
            <a:avLst/>
          </a:prstGeom>
          <a:solidFill>
            <a:srgbClr val="5b3fd6"/>
          </a:solidFill>
          <a:ln w="12700">
            <a:solidFill>
              <a:srgbClr val="5b3fd6"/>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15" name="Text 24"/>
          <p:cNvSpPr/>
          <p:nvPr/>
        </p:nvSpPr>
        <p:spPr>
          <a:xfrm>
            <a:off x="8741520" y="1454040"/>
            <a:ext cx="258732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pc="-1" strike="noStrike">
                <a:solidFill>
                  <a:srgbClr val="ffffff"/>
                </a:solidFill>
                <a:latin typeface="Calibri"/>
                <a:ea typeface="Calibri"/>
              </a:rPr>
              <a:t>My Cool App</a:t>
            </a:r>
            <a:endParaRPr b="0" lang="en-US" sz="1300" spc="-1" strike="noStrike">
              <a:solidFill>
                <a:srgbClr val="000000"/>
              </a:solidFill>
              <a:latin typeface="Arial"/>
            </a:endParaRPr>
          </a:p>
        </p:txBody>
      </p:sp>
      <p:sp>
        <p:nvSpPr>
          <p:cNvPr id="116" name="Shape 25"/>
          <p:cNvSpPr/>
          <p:nvPr/>
        </p:nvSpPr>
        <p:spPr>
          <a:xfrm>
            <a:off x="9212760" y="2386440"/>
            <a:ext cx="1554120" cy="1554120"/>
          </a:xfrm>
          <a:prstGeom prst="ellipse">
            <a:avLst/>
          </a:prstGeom>
          <a:solidFill>
            <a:srgbClr val="ffffff"/>
          </a:solidFill>
          <a:ln w="25400">
            <a:solidFill>
              <a:srgbClr val="5b3fd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117" name="Image 0" descr="preencoded.png"/>
          <p:cNvPicPr/>
          <p:nvPr/>
        </p:nvPicPr>
        <p:blipFill>
          <a:blip r:embed="rId1"/>
          <a:stretch/>
        </p:blipFill>
        <p:spPr>
          <a:xfrm>
            <a:off x="9532800" y="2706480"/>
            <a:ext cx="914040" cy="914040"/>
          </a:xfrm>
          <a:prstGeom prst="rect">
            <a:avLst/>
          </a:prstGeom>
          <a:ln w="0">
            <a:noFill/>
          </a:ln>
        </p:spPr>
      </p:pic>
      <p:sp>
        <p:nvSpPr>
          <p:cNvPr id="118" name="Shape 26"/>
          <p:cNvSpPr/>
          <p:nvPr/>
        </p:nvSpPr>
        <p:spPr>
          <a:xfrm>
            <a:off x="9121320" y="2295000"/>
            <a:ext cx="1737000" cy="1737000"/>
          </a:xfrm>
          <a:prstGeom prst="rect">
            <a:avLst/>
          </a:prstGeom>
          <a:noFill/>
          <a:ln w="34925">
            <a:solidFill>
              <a:srgbClr val="1a73e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9" name="Shape 27"/>
          <p:cNvSpPr/>
          <p:nvPr/>
        </p:nvSpPr>
        <p:spPr>
          <a:xfrm>
            <a:off x="8832960" y="4535280"/>
            <a:ext cx="2313000" cy="383760"/>
          </a:xfrm>
          <a:prstGeom prst="rect">
            <a:avLst/>
          </a:prstGeom>
          <a:solidFill>
            <a:srgbClr val="2e2e2e"/>
          </a:solidFill>
          <a:ln w="12700">
            <a:solidFill>
              <a:srgbClr val="2e2e2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0" name="Text 28"/>
          <p:cNvSpPr/>
          <p:nvPr/>
        </p:nvSpPr>
        <p:spPr>
          <a:xfrm>
            <a:off x="8906400" y="4535280"/>
            <a:ext cx="2166840" cy="383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200" spc="-1" strike="noStrike">
                <a:solidFill>
                  <a:srgbClr val="ffffff"/>
                </a:solidFill>
                <a:latin typeface="Calibri"/>
                <a:ea typeface="Calibri"/>
              </a:rPr>
              <a:t>Hello, droidcon!, Button</a:t>
            </a:r>
            <a:endParaRPr b="0" lang="en-US" sz="1200" spc="-1" strike="noStrike">
              <a:solidFill>
                <a:srgbClr val="000000"/>
              </a:solidFill>
              <a:latin typeface="Arial"/>
            </a:endParaRPr>
          </a:p>
        </p:txBody>
      </p:sp>
      <p:sp>
        <p:nvSpPr>
          <p:cNvPr id="121" name="Shape 29"/>
          <p:cNvSpPr/>
          <p:nvPr/>
        </p:nvSpPr>
        <p:spPr>
          <a:xfrm>
            <a:off x="8650080" y="4965120"/>
            <a:ext cx="2678760" cy="383760"/>
          </a:xfrm>
          <a:prstGeom prst="rect">
            <a:avLst/>
          </a:prstGeom>
          <a:solidFill>
            <a:srgbClr val="2e2e2e"/>
          </a:solidFill>
          <a:ln w="12700">
            <a:solidFill>
              <a:srgbClr val="2e2e2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2" name="Text 30"/>
          <p:cNvSpPr/>
          <p:nvPr/>
        </p:nvSpPr>
        <p:spPr>
          <a:xfrm>
            <a:off x="8723520" y="4965120"/>
            <a:ext cx="2532600" cy="383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050" spc="-1" strike="noStrike">
                <a:solidFill>
                  <a:srgbClr val="ffffff"/>
                </a:solidFill>
                <a:latin typeface="Calibri"/>
                <a:ea typeface="Calibri"/>
              </a:rPr>
              <a:t>Double-tap to learn more about semantics</a:t>
            </a:r>
            <a:endParaRPr b="0" lang="en-US" sz="1050" spc="-1" strike="noStrike">
              <a:solidFill>
                <a:srgbClr val="000000"/>
              </a:solidFill>
              <a:latin typeface="Arial"/>
            </a:endParaRPr>
          </a:p>
        </p:txBody>
      </p:sp>
      <p:sp>
        <p:nvSpPr>
          <p:cNvPr id="123" name="Text 31"/>
          <p:cNvSpPr/>
          <p:nvPr/>
        </p:nvSpPr>
        <p:spPr>
          <a:xfrm>
            <a:off x="548640" y="6355080"/>
            <a:ext cx="6309000" cy="3196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i="1" lang="en-US" sz="1150" spc="-1" strike="noStrike">
                <a:solidFill>
                  <a:srgbClr val="5b6472"/>
                </a:solidFill>
                <a:latin typeface="Calibri"/>
                <a:ea typeface="Calibri"/>
              </a:rPr>
              <a:t>Material Button / IconButton add the Role for you. Custom clickables: set it yourself.</a:t>
            </a:r>
            <a:endParaRPr b="0" lang="en-US" sz="11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4" name="Shape 0"/>
          <p:cNvSpPr/>
          <p:nvPr/>
        </p:nvSpPr>
        <p:spPr>
          <a:xfrm>
            <a:off x="548640" y="384120"/>
            <a:ext cx="1161000" cy="328680"/>
          </a:xfrm>
          <a:prstGeom prst="roundRect">
            <a:avLst>
              <a:gd name="adj" fmla="val 50000"/>
            </a:avLst>
          </a:prstGeom>
          <a:solidFill>
            <a:srgbClr val="eeeafb"/>
          </a:solidFill>
          <a:ln w="12700">
            <a:solidFill>
              <a:srgbClr val="eeeaf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25" name="Text 1"/>
          <p:cNvSpPr/>
          <p:nvPr/>
        </p:nvSpPr>
        <p:spPr>
          <a:xfrm>
            <a:off x="548640" y="384120"/>
            <a:ext cx="116100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99" strike="noStrike">
                <a:solidFill>
                  <a:srgbClr val="5b3fd6"/>
                </a:solidFill>
                <a:latin typeface="Calibri"/>
                <a:ea typeface="Calibri"/>
              </a:rPr>
              <a:t>02 · STATE</a:t>
            </a:r>
            <a:endParaRPr b="0" lang="en-US" sz="1100" spc="-1" strike="noStrike">
              <a:solidFill>
                <a:srgbClr val="000000"/>
              </a:solidFill>
              <a:latin typeface="Arial"/>
            </a:endParaRPr>
          </a:p>
        </p:txBody>
      </p:sp>
      <p:sp>
        <p:nvSpPr>
          <p:cNvPr id="126" name="Text 2"/>
          <p:cNvSpPr/>
          <p:nvPr/>
        </p:nvSpPr>
        <p:spPr>
          <a:xfrm>
            <a:off x="548640" y="868680"/>
            <a:ext cx="11063880" cy="7311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3200" spc="-1" strike="noStrike">
                <a:solidFill>
                  <a:srgbClr val="1b2330"/>
                </a:solidFill>
                <a:latin typeface="Arial"/>
                <a:ea typeface="Arial"/>
              </a:rPr>
              <a:t>UI changed? TalkBack doesn’t know — tell it</a:t>
            </a:r>
            <a:endParaRPr b="0" lang="en-US" sz="3200" spc="-1" strike="noStrike">
              <a:solidFill>
                <a:srgbClr val="000000"/>
              </a:solidFill>
              <a:latin typeface="Arial"/>
            </a:endParaRPr>
          </a:p>
        </p:txBody>
      </p:sp>
      <p:sp>
        <p:nvSpPr>
          <p:cNvPr id="127" name="Shape 3"/>
          <p:cNvSpPr/>
          <p:nvPr/>
        </p:nvSpPr>
        <p:spPr>
          <a:xfrm>
            <a:off x="548640" y="1783080"/>
            <a:ext cx="4937400" cy="987120"/>
          </a:xfrm>
          <a:prstGeom prst="roundRect">
            <a:avLst>
              <a:gd name="adj" fmla="val 9259"/>
            </a:avLst>
          </a:prstGeom>
          <a:solidFill>
            <a:srgbClr val="f7f2fa"/>
          </a:solidFill>
          <a:ln w="9525">
            <a:solidFill>
              <a:srgbClr val="e2ddea"/>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28" name="Shape 4"/>
          <p:cNvSpPr/>
          <p:nvPr/>
        </p:nvSpPr>
        <p:spPr>
          <a:xfrm>
            <a:off x="713160" y="2002680"/>
            <a:ext cx="548280" cy="548280"/>
          </a:xfrm>
          <a:prstGeom prst="ellipse">
            <a:avLst/>
          </a:prstGeom>
          <a:solidFill>
            <a:srgbClr val="e4dcf5"/>
          </a:solidFill>
          <a:ln w="12700">
            <a:solidFill>
              <a:srgbClr val="e4dcf5"/>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129" name="Image 0" descr="preencoded.png"/>
          <p:cNvPicPr/>
          <p:nvPr/>
        </p:nvPicPr>
        <p:blipFill>
          <a:blip r:embed="rId1"/>
          <a:stretch/>
        </p:blipFill>
        <p:spPr>
          <a:xfrm>
            <a:off x="833760" y="2123280"/>
            <a:ext cx="306720" cy="306720"/>
          </a:xfrm>
          <a:prstGeom prst="rect">
            <a:avLst/>
          </a:prstGeom>
          <a:ln w="0">
            <a:noFill/>
          </a:ln>
        </p:spPr>
      </p:pic>
      <p:sp>
        <p:nvSpPr>
          <p:cNvPr id="130" name="Text 5"/>
          <p:cNvSpPr/>
          <p:nvPr/>
        </p:nvSpPr>
        <p:spPr>
          <a:xfrm>
            <a:off x="1417320" y="1965960"/>
            <a:ext cx="2651400" cy="2923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300" spc="-1" strike="noStrike">
                <a:solidFill>
                  <a:srgbClr val="1b2330"/>
                </a:solidFill>
                <a:latin typeface="Calibri"/>
                <a:ea typeface="Calibri"/>
              </a:rPr>
              <a:t>Haben: The Deafblind Woman Who…</a:t>
            </a:r>
            <a:endParaRPr b="0" lang="en-US" sz="1300" spc="-1" strike="noStrike">
              <a:solidFill>
                <a:srgbClr val="000000"/>
              </a:solidFill>
              <a:latin typeface="Arial"/>
            </a:endParaRPr>
          </a:p>
        </p:txBody>
      </p:sp>
      <p:sp>
        <p:nvSpPr>
          <p:cNvPr id="131" name="Text 6"/>
          <p:cNvSpPr/>
          <p:nvPr/>
        </p:nvSpPr>
        <p:spPr>
          <a:xfrm>
            <a:off x="1417320" y="2286000"/>
            <a:ext cx="2651400" cy="2739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150" spc="-1" strike="noStrike">
                <a:solidFill>
                  <a:srgbClr val="5b6472"/>
                </a:solidFill>
                <a:latin typeface="Calibri"/>
                <a:ea typeface="Calibri"/>
              </a:rPr>
              <a:t>Haben Girma · M4B, 7h 47m</a:t>
            </a:r>
            <a:endParaRPr b="0" lang="en-US" sz="1150" spc="-1" strike="noStrike">
              <a:solidFill>
                <a:srgbClr val="000000"/>
              </a:solidFill>
              <a:latin typeface="Arial"/>
            </a:endParaRPr>
          </a:p>
        </p:txBody>
      </p:sp>
      <p:pic>
        <p:nvPicPr>
          <p:cNvPr id="132" name="Image 1" descr="preencoded.png"/>
          <p:cNvPicPr/>
          <p:nvPr/>
        </p:nvPicPr>
        <p:blipFill>
          <a:blip r:embed="rId2"/>
          <a:stretch/>
        </p:blipFill>
        <p:spPr>
          <a:xfrm>
            <a:off x="4160520" y="2075760"/>
            <a:ext cx="383760" cy="383760"/>
          </a:xfrm>
          <a:prstGeom prst="rect">
            <a:avLst/>
          </a:prstGeom>
          <a:ln w="0">
            <a:noFill/>
          </a:ln>
        </p:spPr>
      </p:pic>
      <p:sp>
        <p:nvSpPr>
          <p:cNvPr id="133" name="Text 7"/>
          <p:cNvSpPr/>
          <p:nvPr/>
        </p:nvSpPr>
        <p:spPr>
          <a:xfrm>
            <a:off x="4572000" y="1856160"/>
            <a:ext cx="868320" cy="840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50" spc="-1" strike="noStrike">
                <a:solidFill>
                  <a:srgbClr val="5b3fd6"/>
                </a:solidFill>
                <a:latin typeface="Calibri"/>
                <a:ea typeface="Calibri"/>
              </a:rPr>
              <a:t>Not downloaded</a:t>
            </a:r>
            <a:endParaRPr b="0" lang="en-US" sz="1050" spc="-1" strike="noStrike">
              <a:solidFill>
                <a:srgbClr val="000000"/>
              </a:solidFill>
              <a:latin typeface="Arial"/>
            </a:endParaRPr>
          </a:p>
        </p:txBody>
      </p:sp>
      <p:sp>
        <p:nvSpPr>
          <p:cNvPr id="134" name="Shape 8"/>
          <p:cNvSpPr/>
          <p:nvPr/>
        </p:nvSpPr>
        <p:spPr>
          <a:xfrm>
            <a:off x="548640" y="2990160"/>
            <a:ext cx="4937400" cy="987120"/>
          </a:xfrm>
          <a:prstGeom prst="roundRect">
            <a:avLst>
              <a:gd name="adj" fmla="val 9259"/>
            </a:avLst>
          </a:prstGeom>
          <a:solidFill>
            <a:srgbClr val="f7f2fa"/>
          </a:solidFill>
          <a:ln w="9525">
            <a:solidFill>
              <a:srgbClr val="e2ddea"/>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35" name="Shape 9"/>
          <p:cNvSpPr/>
          <p:nvPr/>
        </p:nvSpPr>
        <p:spPr>
          <a:xfrm>
            <a:off x="713160" y="3209400"/>
            <a:ext cx="548280" cy="548280"/>
          </a:xfrm>
          <a:prstGeom prst="ellipse">
            <a:avLst/>
          </a:prstGeom>
          <a:solidFill>
            <a:srgbClr val="e4dcf5"/>
          </a:solidFill>
          <a:ln w="12700">
            <a:solidFill>
              <a:srgbClr val="e4dcf5"/>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136" name="Image 2" descr="preencoded.png"/>
          <p:cNvPicPr/>
          <p:nvPr/>
        </p:nvPicPr>
        <p:blipFill>
          <a:blip r:embed="rId3"/>
          <a:stretch/>
        </p:blipFill>
        <p:spPr>
          <a:xfrm>
            <a:off x="833760" y="3330360"/>
            <a:ext cx="306720" cy="306720"/>
          </a:xfrm>
          <a:prstGeom prst="rect">
            <a:avLst/>
          </a:prstGeom>
          <a:ln w="0">
            <a:noFill/>
          </a:ln>
        </p:spPr>
      </p:pic>
      <p:sp>
        <p:nvSpPr>
          <p:cNvPr id="137" name="Text 10"/>
          <p:cNvSpPr/>
          <p:nvPr/>
        </p:nvSpPr>
        <p:spPr>
          <a:xfrm>
            <a:off x="1417320" y="3173040"/>
            <a:ext cx="2651400" cy="2923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300" spc="-1" strike="noStrike">
                <a:solidFill>
                  <a:srgbClr val="1b2330"/>
                </a:solidFill>
                <a:latin typeface="Calibri"/>
                <a:ea typeface="Calibri"/>
              </a:rPr>
              <a:t>Haben: The Deafblind Woman Who…</a:t>
            </a:r>
            <a:endParaRPr b="0" lang="en-US" sz="1300" spc="-1" strike="noStrike">
              <a:solidFill>
                <a:srgbClr val="000000"/>
              </a:solidFill>
              <a:latin typeface="Arial"/>
            </a:endParaRPr>
          </a:p>
        </p:txBody>
      </p:sp>
      <p:sp>
        <p:nvSpPr>
          <p:cNvPr id="138" name="Text 11"/>
          <p:cNvSpPr/>
          <p:nvPr/>
        </p:nvSpPr>
        <p:spPr>
          <a:xfrm>
            <a:off x="1417320" y="3493080"/>
            <a:ext cx="2651400" cy="2739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150" spc="-1" strike="noStrike">
                <a:solidFill>
                  <a:srgbClr val="5b6472"/>
                </a:solidFill>
                <a:latin typeface="Calibri"/>
                <a:ea typeface="Calibri"/>
              </a:rPr>
              <a:t>Haben Girma · M4B, 7h 47m</a:t>
            </a:r>
            <a:endParaRPr b="0" lang="en-US" sz="1150" spc="-1" strike="noStrike">
              <a:solidFill>
                <a:srgbClr val="000000"/>
              </a:solidFill>
              <a:latin typeface="Arial"/>
            </a:endParaRPr>
          </a:p>
        </p:txBody>
      </p:sp>
      <p:pic>
        <p:nvPicPr>
          <p:cNvPr id="139" name="Image 3" descr="preencoded.png"/>
          <p:cNvPicPr/>
          <p:nvPr/>
        </p:nvPicPr>
        <p:blipFill>
          <a:blip r:embed="rId4"/>
          <a:stretch/>
        </p:blipFill>
        <p:spPr>
          <a:xfrm>
            <a:off x="4160520" y="3282840"/>
            <a:ext cx="383760" cy="383760"/>
          </a:xfrm>
          <a:prstGeom prst="rect">
            <a:avLst/>
          </a:prstGeom>
          <a:ln w="0">
            <a:noFill/>
          </a:ln>
        </p:spPr>
      </p:pic>
      <p:sp>
        <p:nvSpPr>
          <p:cNvPr id="140" name="Text 12"/>
          <p:cNvSpPr/>
          <p:nvPr/>
        </p:nvSpPr>
        <p:spPr>
          <a:xfrm>
            <a:off x="4572000" y="3063240"/>
            <a:ext cx="868320" cy="840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50" spc="-1" strike="noStrike">
                <a:solidFill>
                  <a:srgbClr val="5b3fd6"/>
                </a:solidFill>
                <a:latin typeface="Calibri"/>
                <a:ea typeface="Calibri"/>
              </a:rPr>
              <a:t>Downloading</a:t>
            </a:r>
            <a:endParaRPr b="0" lang="en-US" sz="1050" spc="-1" strike="noStrike">
              <a:solidFill>
                <a:srgbClr val="000000"/>
              </a:solidFill>
              <a:latin typeface="Arial"/>
            </a:endParaRPr>
          </a:p>
        </p:txBody>
      </p:sp>
      <p:sp>
        <p:nvSpPr>
          <p:cNvPr id="141" name="Shape 13"/>
          <p:cNvSpPr/>
          <p:nvPr/>
        </p:nvSpPr>
        <p:spPr>
          <a:xfrm>
            <a:off x="548640" y="4197240"/>
            <a:ext cx="4937400" cy="987120"/>
          </a:xfrm>
          <a:prstGeom prst="roundRect">
            <a:avLst>
              <a:gd name="adj" fmla="val 9259"/>
            </a:avLst>
          </a:prstGeom>
          <a:solidFill>
            <a:srgbClr val="f7f2fa"/>
          </a:solidFill>
          <a:ln w="9525">
            <a:solidFill>
              <a:srgbClr val="e2ddea"/>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42" name="Shape 14"/>
          <p:cNvSpPr/>
          <p:nvPr/>
        </p:nvSpPr>
        <p:spPr>
          <a:xfrm>
            <a:off x="713160" y="4416480"/>
            <a:ext cx="548280" cy="548280"/>
          </a:xfrm>
          <a:prstGeom prst="ellipse">
            <a:avLst/>
          </a:prstGeom>
          <a:solidFill>
            <a:srgbClr val="e4dcf5"/>
          </a:solidFill>
          <a:ln w="12700">
            <a:solidFill>
              <a:srgbClr val="e4dcf5"/>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143" name="Image 4" descr="preencoded.png"/>
          <p:cNvPicPr/>
          <p:nvPr/>
        </p:nvPicPr>
        <p:blipFill>
          <a:blip r:embed="rId5"/>
          <a:stretch/>
        </p:blipFill>
        <p:spPr>
          <a:xfrm>
            <a:off x="833760" y="4537080"/>
            <a:ext cx="306720" cy="306720"/>
          </a:xfrm>
          <a:prstGeom prst="rect">
            <a:avLst/>
          </a:prstGeom>
          <a:ln w="0">
            <a:noFill/>
          </a:ln>
        </p:spPr>
      </p:pic>
      <p:sp>
        <p:nvSpPr>
          <p:cNvPr id="144" name="Text 15"/>
          <p:cNvSpPr/>
          <p:nvPr/>
        </p:nvSpPr>
        <p:spPr>
          <a:xfrm>
            <a:off x="1417320" y="4380120"/>
            <a:ext cx="2651400" cy="2923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300" spc="-1" strike="noStrike">
                <a:solidFill>
                  <a:srgbClr val="1b2330"/>
                </a:solidFill>
                <a:latin typeface="Calibri"/>
                <a:ea typeface="Calibri"/>
              </a:rPr>
              <a:t>Haben: The Deafblind Woman Who…</a:t>
            </a:r>
            <a:endParaRPr b="0" lang="en-US" sz="1300" spc="-1" strike="noStrike">
              <a:solidFill>
                <a:srgbClr val="000000"/>
              </a:solidFill>
              <a:latin typeface="Arial"/>
            </a:endParaRPr>
          </a:p>
        </p:txBody>
      </p:sp>
      <p:sp>
        <p:nvSpPr>
          <p:cNvPr id="145" name="Text 16"/>
          <p:cNvSpPr/>
          <p:nvPr/>
        </p:nvSpPr>
        <p:spPr>
          <a:xfrm>
            <a:off x="1417320" y="4700160"/>
            <a:ext cx="2651400" cy="2739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150" spc="-1" strike="noStrike">
                <a:solidFill>
                  <a:srgbClr val="5b6472"/>
                </a:solidFill>
                <a:latin typeface="Calibri"/>
                <a:ea typeface="Calibri"/>
              </a:rPr>
              <a:t>Haben Girma · M4B, 7h 47m</a:t>
            </a:r>
            <a:endParaRPr b="0" lang="en-US" sz="1150" spc="-1" strike="noStrike">
              <a:solidFill>
                <a:srgbClr val="000000"/>
              </a:solidFill>
              <a:latin typeface="Arial"/>
            </a:endParaRPr>
          </a:p>
        </p:txBody>
      </p:sp>
      <p:pic>
        <p:nvPicPr>
          <p:cNvPr id="146" name="Image 5" descr="preencoded.png"/>
          <p:cNvPicPr/>
          <p:nvPr/>
        </p:nvPicPr>
        <p:blipFill>
          <a:blip r:embed="rId6"/>
          <a:stretch/>
        </p:blipFill>
        <p:spPr>
          <a:xfrm>
            <a:off x="4160520" y="4489560"/>
            <a:ext cx="383760" cy="383760"/>
          </a:xfrm>
          <a:prstGeom prst="rect">
            <a:avLst/>
          </a:prstGeom>
          <a:ln w="0">
            <a:noFill/>
          </a:ln>
        </p:spPr>
      </p:pic>
      <p:sp>
        <p:nvSpPr>
          <p:cNvPr id="147" name="Text 17"/>
          <p:cNvSpPr/>
          <p:nvPr/>
        </p:nvSpPr>
        <p:spPr>
          <a:xfrm>
            <a:off x="4572000" y="4270320"/>
            <a:ext cx="868320" cy="840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50" spc="-1" strike="noStrike">
                <a:solidFill>
                  <a:srgbClr val="5b3fd6"/>
                </a:solidFill>
                <a:latin typeface="Calibri"/>
                <a:ea typeface="Calibri"/>
              </a:rPr>
              <a:t>Downloaded</a:t>
            </a:r>
            <a:endParaRPr b="0" lang="en-US" sz="1050" spc="-1" strike="noStrike">
              <a:solidFill>
                <a:srgbClr val="000000"/>
              </a:solidFill>
              <a:latin typeface="Arial"/>
            </a:endParaRPr>
          </a:p>
        </p:txBody>
      </p:sp>
      <p:sp>
        <p:nvSpPr>
          <p:cNvPr id="148" name="Shape 18"/>
          <p:cNvSpPr/>
          <p:nvPr/>
        </p:nvSpPr>
        <p:spPr>
          <a:xfrm>
            <a:off x="548640" y="5468040"/>
            <a:ext cx="4937400" cy="566640"/>
          </a:xfrm>
          <a:prstGeom prst="rect">
            <a:avLst/>
          </a:prstGeom>
          <a:solidFill>
            <a:srgbClr val="2e2e2e"/>
          </a:solidFill>
          <a:ln w="12700">
            <a:solidFill>
              <a:srgbClr val="2e2e2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49" name="Text 19"/>
          <p:cNvSpPr/>
          <p:nvPr/>
        </p:nvSpPr>
        <p:spPr>
          <a:xfrm>
            <a:off x="621720" y="5468040"/>
            <a:ext cx="4791240" cy="5666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150" spc="-1" strike="noStrike">
                <a:solidFill>
                  <a:srgbClr val="ffffff"/>
                </a:solidFill>
                <a:latin typeface="Calibri"/>
                <a:ea typeface="Calibri"/>
              </a:rPr>
              <a:t>…</a:t>
            </a:r>
            <a:r>
              <a:rPr b="0" lang="en-US" sz="1150" spc="-1" strike="noStrike">
                <a:solidFill>
                  <a:srgbClr val="ffffff"/>
                </a:solidFill>
                <a:latin typeface="Calibri"/>
                <a:ea typeface="Calibri"/>
              </a:rPr>
              <a:t>later, politely:  “Download Haben: The Deafblind Woman…, Downloaded”</a:t>
            </a:r>
            <a:endParaRPr b="0" lang="en-US" sz="1150" spc="-1" strike="noStrike">
              <a:solidFill>
                <a:srgbClr val="000000"/>
              </a:solidFill>
              <a:latin typeface="Arial"/>
            </a:endParaRPr>
          </a:p>
        </p:txBody>
      </p:sp>
      <p:sp>
        <p:nvSpPr>
          <p:cNvPr id="150" name="Shape 20"/>
          <p:cNvSpPr/>
          <p:nvPr/>
        </p:nvSpPr>
        <p:spPr>
          <a:xfrm>
            <a:off x="5897880" y="1783080"/>
            <a:ext cx="5760360" cy="2742840"/>
          </a:xfrm>
          <a:prstGeom prst="roundRect">
            <a:avLst>
              <a:gd name="adj" fmla="val 4000"/>
            </a:avLst>
          </a:prstGeom>
          <a:solidFill>
            <a:srgbClr val="182235"/>
          </a:solidFill>
          <a:ln w="12700">
            <a:solidFill>
              <a:srgbClr val="18223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51" name="Text 21"/>
          <p:cNvSpPr/>
          <p:nvPr/>
        </p:nvSpPr>
        <p:spPr>
          <a:xfrm>
            <a:off x="6126480" y="1984320"/>
            <a:ext cx="5394600" cy="2422800"/>
          </a:xfrm>
          <a:prstGeom prst="rect">
            <a:avLst/>
          </a:prstGeom>
          <a:noFill/>
          <a:ln w="0">
            <a:noFill/>
          </a:ln>
        </p:spPr>
        <p:style>
          <a:lnRef idx="0"/>
          <a:fillRef idx="0"/>
          <a:effectRef idx="0"/>
          <a:fontRef idx="minor"/>
        </p:style>
        <p:txBody>
          <a:bodyPr lIns="0" rIns="0" tIns="0" bIns="0" anchor="t">
            <a:noAutofit/>
          </a:bodyPr>
          <a:p>
            <a:pPr defTabSz="914400">
              <a:lnSpc>
                <a:spcPct val="105000"/>
              </a:lnSpc>
              <a:tabLst>
                <a:tab algn="l" pos="0"/>
              </a:tabLst>
            </a:pPr>
            <a:r>
              <a:rPr b="0" lang="en-US" sz="1300" spc="-1" strike="noStrike">
                <a:solidFill>
                  <a:srgbClr val="8ab4f8"/>
                </a:solidFill>
                <a:latin typeface="Consolas"/>
                <a:ea typeface="Consolas"/>
              </a:rPr>
              <a:t>IconButton</a:t>
            </a:r>
            <a:r>
              <a:rPr b="0" lang="en-US" sz="1300" spc="-1" strike="noStrike">
                <a:solidFill>
                  <a:srgbClr val="dce3ec"/>
                </a:solidFill>
                <a:latin typeface="Consolas"/>
                <a:ea typeface="Consolas"/>
              </a:rPr>
              <a:t>(</a:t>
            </a:r>
            <a:endParaRPr b="0" lang="en-US" sz="1300" spc="-1" strike="noStrike">
              <a:solidFill>
                <a:srgbClr val="000000"/>
              </a:solidFill>
              <a:latin typeface="Arial"/>
            </a:endParaRPr>
          </a:p>
          <a:p>
            <a:pPr defTabSz="914400">
              <a:lnSpc>
                <a:spcPct val="105000"/>
              </a:lnSpc>
              <a:tabLst>
                <a:tab algn="l" pos="0"/>
              </a:tabLst>
            </a:pPr>
            <a:r>
              <a:rPr b="0" lang="en-US" sz="1300" spc="-1" strike="noStrike">
                <a:solidFill>
                  <a:srgbClr val="dce3ec"/>
                </a:solidFill>
                <a:latin typeface="Consolas"/>
                <a:ea typeface="Consolas"/>
              </a:rPr>
              <a:t>    </a:t>
            </a:r>
            <a:r>
              <a:rPr b="0" lang="en-US" sz="1300" spc="-1" strike="noStrike">
                <a:solidFill>
                  <a:srgbClr val="dce3ec"/>
                </a:solidFill>
                <a:latin typeface="Consolas"/>
                <a:ea typeface="Consolas"/>
              </a:rPr>
              <a:t>onClick = onDownloadClick,</a:t>
            </a:r>
            <a:endParaRPr b="0" lang="en-US" sz="1300" spc="-1" strike="noStrike">
              <a:solidFill>
                <a:srgbClr val="000000"/>
              </a:solidFill>
              <a:latin typeface="Arial"/>
            </a:endParaRPr>
          </a:p>
          <a:p>
            <a:pPr defTabSz="914400">
              <a:lnSpc>
                <a:spcPct val="105000"/>
              </a:lnSpc>
              <a:tabLst>
                <a:tab algn="l" pos="0"/>
              </a:tabLst>
            </a:pPr>
            <a:r>
              <a:rPr b="0" lang="en-US" sz="1300" spc="-1" strike="noStrike">
                <a:solidFill>
                  <a:srgbClr val="dce3ec"/>
                </a:solidFill>
                <a:latin typeface="Consolas"/>
                <a:ea typeface="Consolas"/>
              </a:rPr>
              <a:t>    </a:t>
            </a:r>
            <a:r>
              <a:rPr b="0" lang="en-US" sz="1300" spc="-1" strike="noStrike">
                <a:solidFill>
                  <a:srgbClr val="dce3ec"/>
                </a:solidFill>
                <a:latin typeface="Consolas"/>
                <a:ea typeface="Consolas"/>
              </a:rPr>
              <a:t>enabled = state == </a:t>
            </a:r>
            <a:r>
              <a:rPr b="0" lang="en-US" sz="1300" spc="-1" strike="noStrike">
                <a:solidFill>
                  <a:srgbClr val="8ab4f8"/>
                </a:solidFill>
                <a:latin typeface="Consolas"/>
                <a:ea typeface="Consolas"/>
              </a:rPr>
              <a:t>Available</a:t>
            </a:r>
            <a:r>
              <a:rPr b="0" lang="en-US" sz="1300" spc="-1" strike="noStrike">
                <a:solidFill>
                  <a:srgbClr val="dce3ec"/>
                </a:solidFill>
                <a:latin typeface="Consolas"/>
                <a:ea typeface="Consolas"/>
              </a:rPr>
              <a:t>,</a:t>
            </a:r>
            <a:endParaRPr b="0" lang="en-US" sz="1300" spc="-1" strike="noStrike">
              <a:solidFill>
                <a:srgbClr val="000000"/>
              </a:solidFill>
              <a:latin typeface="Arial"/>
            </a:endParaRPr>
          </a:p>
          <a:p>
            <a:pPr defTabSz="914400">
              <a:lnSpc>
                <a:spcPct val="105000"/>
              </a:lnSpc>
              <a:tabLst>
                <a:tab algn="l" pos="0"/>
              </a:tabLst>
            </a:pPr>
            <a:r>
              <a:rPr b="0" lang="en-US" sz="1300" spc="-1" strike="noStrike">
                <a:solidFill>
                  <a:srgbClr val="dce3ec"/>
                </a:solidFill>
                <a:latin typeface="Consolas"/>
                <a:ea typeface="Consolas"/>
              </a:rPr>
              <a:t>    </a:t>
            </a:r>
            <a:r>
              <a:rPr b="0" lang="en-US" sz="1300" spc="-1" strike="noStrike">
                <a:solidFill>
                  <a:srgbClr val="dce3ec"/>
                </a:solidFill>
                <a:latin typeface="Consolas"/>
                <a:ea typeface="Consolas"/>
              </a:rPr>
              <a:t>modifier = </a:t>
            </a:r>
            <a:r>
              <a:rPr b="0" lang="en-US" sz="1300" spc="-1" strike="noStrike">
                <a:solidFill>
                  <a:srgbClr val="8ab4f8"/>
                </a:solidFill>
                <a:latin typeface="Consolas"/>
                <a:ea typeface="Consolas"/>
              </a:rPr>
              <a:t>Modifier</a:t>
            </a:r>
            <a:r>
              <a:rPr b="0" lang="en-US" sz="1300" spc="-1" strike="noStrike">
                <a:solidFill>
                  <a:srgbClr val="dce3ec"/>
                </a:solidFill>
                <a:latin typeface="Consolas"/>
                <a:ea typeface="Consolas"/>
              </a:rPr>
              <a:t>.</a:t>
            </a:r>
            <a:r>
              <a:rPr b="1" lang="en-US" sz="1300" spc="-1" strike="noStrike">
                <a:solidFill>
                  <a:srgbClr val="3ddc84"/>
                </a:solidFill>
                <a:latin typeface="Consolas"/>
                <a:ea typeface="Consolas"/>
              </a:rPr>
              <a:t>semantics</a:t>
            </a:r>
            <a:r>
              <a:rPr b="0" lang="en-US" sz="1300" spc="-1" strike="noStrike">
                <a:solidFill>
                  <a:srgbClr val="dce3ec"/>
                </a:solidFill>
                <a:latin typeface="Consolas"/>
                <a:ea typeface="Consolas"/>
              </a:rPr>
              <a:t> {</a:t>
            </a:r>
            <a:endParaRPr b="0" lang="en-US" sz="1300" spc="-1" strike="noStrike">
              <a:solidFill>
                <a:srgbClr val="000000"/>
              </a:solidFill>
              <a:latin typeface="Arial"/>
            </a:endParaRPr>
          </a:p>
          <a:p>
            <a:pPr defTabSz="914400">
              <a:lnSpc>
                <a:spcPct val="105000"/>
              </a:lnSpc>
              <a:tabLst>
                <a:tab algn="l" pos="0"/>
              </a:tabLst>
            </a:pPr>
            <a:r>
              <a:rPr b="0" lang="en-US" sz="1300" spc="-1" strike="noStrike">
                <a:solidFill>
                  <a:srgbClr val="dce3ec"/>
                </a:solidFill>
                <a:latin typeface="Consolas"/>
                <a:ea typeface="Consolas"/>
              </a:rPr>
              <a:t>        </a:t>
            </a:r>
            <a:r>
              <a:rPr b="1" lang="en-US" sz="1300" spc="-1" strike="noStrike">
                <a:solidFill>
                  <a:srgbClr val="3ddc84"/>
                </a:solidFill>
                <a:latin typeface="Consolas"/>
                <a:ea typeface="Consolas"/>
              </a:rPr>
              <a:t>contentDescription</a:t>
            </a:r>
            <a:r>
              <a:rPr b="0" lang="en-US" sz="1300" spc="-1" strike="noStrike">
                <a:solidFill>
                  <a:srgbClr val="dce3ec"/>
                </a:solidFill>
                <a:latin typeface="Consolas"/>
                <a:ea typeface="Consolas"/>
              </a:rPr>
              <a:t> = </a:t>
            </a:r>
            <a:r>
              <a:rPr b="0" lang="en-US" sz="1300" spc="-1" strike="noStrike">
                <a:solidFill>
                  <a:srgbClr val="b5e48c"/>
                </a:solidFill>
                <a:latin typeface="Consolas"/>
                <a:ea typeface="Consolas"/>
              </a:rPr>
              <a:t>"Download ${book.title}"</a:t>
            </a:r>
            <a:endParaRPr b="0" lang="en-US" sz="1300" spc="-1" strike="noStrike">
              <a:solidFill>
                <a:srgbClr val="000000"/>
              </a:solidFill>
              <a:latin typeface="Arial"/>
            </a:endParaRPr>
          </a:p>
          <a:p>
            <a:pPr defTabSz="914400">
              <a:lnSpc>
                <a:spcPct val="105000"/>
              </a:lnSpc>
              <a:tabLst>
                <a:tab algn="l" pos="0"/>
              </a:tabLst>
            </a:pPr>
            <a:r>
              <a:rPr b="0" lang="en-US" sz="1300" spc="-1" strike="noStrike">
                <a:solidFill>
                  <a:srgbClr val="dce3ec"/>
                </a:solidFill>
                <a:latin typeface="Consolas"/>
                <a:ea typeface="Consolas"/>
              </a:rPr>
              <a:t>        </a:t>
            </a:r>
            <a:r>
              <a:rPr b="1" lang="en-US" sz="1300" spc="-1" strike="noStrike">
                <a:solidFill>
                  <a:srgbClr val="3ddc84"/>
                </a:solidFill>
                <a:latin typeface="Consolas"/>
                <a:ea typeface="Consolas"/>
              </a:rPr>
              <a:t>stateDescription</a:t>
            </a:r>
            <a:r>
              <a:rPr b="0" lang="en-US" sz="1300" spc="-1" strike="noStrike">
                <a:solidFill>
                  <a:srgbClr val="dce3ec"/>
                </a:solidFill>
                <a:latin typeface="Consolas"/>
                <a:ea typeface="Consolas"/>
              </a:rPr>
              <a:t> = state.label</a:t>
            </a:r>
            <a:endParaRPr b="0" lang="en-US" sz="1300" spc="-1" strike="noStrike">
              <a:solidFill>
                <a:srgbClr val="000000"/>
              </a:solidFill>
              <a:latin typeface="Arial"/>
            </a:endParaRPr>
          </a:p>
          <a:p>
            <a:pPr defTabSz="914400">
              <a:lnSpc>
                <a:spcPct val="105000"/>
              </a:lnSpc>
              <a:tabLst>
                <a:tab algn="l" pos="0"/>
              </a:tabLst>
            </a:pPr>
            <a:r>
              <a:rPr b="0" lang="en-US" sz="1300" spc="-1" strike="noStrike">
                <a:solidFill>
                  <a:srgbClr val="dce3ec"/>
                </a:solidFill>
                <a:latin typeface="Consolas"/>
                <a:ea typeface="Consolas"/>
              </a:rPr>
              <a:t>        </a:t>
            </a:r>
            <a:r>
              <a:rPr b="1" lang="en-US" sz="1300" spc="-1" strike="noStrike">
                <a:solidFill>
                  <a:srgbClr val="3ddc84"/>
                </a:solidFill>
                <a:latin typeface="Consolas"/>
                <a:ea typeface="Consolas"/>
              </a:rPr>
              <a:t>liveRegion</a:t>
            </a:r>
            <a:r>
              <a:rPr b="0" lang="en-US" sz="1300" spc="-1" strike="noStrike">
                <a:solidFill>
                  <a:srgbClr val="dce3ec"/>
                </a:solidFill>
                <a:latin typeface="Consolas"/>
                <a:ea typeface="Consolas"/>
              </a:rPr>
              <a:t> = </a:t>
            </a:r>
            <a:r>
              <a:rPr b="1" lang="en-US" sz="1300" spc="-1" strike="noStrike">
                <a:solidFill>
                  <a:srgbClr val="3ddc84"/>
                </a:solidFill>
                <a:latin typeface="Consolas"/>
                <a:ea typeface="Consolas"/>
              </a:rPr>
              <a:t>LiveRegionMode</a:t>
            </a:r>
            <a:r>
              <a:rPr b="0" lang="en-US" sz="1300" spc="-1" strike="noStrike">
                <a:solidFill>
                  <a:srgbClr val="dce3ec"/>
                </a:solidFill>
                <a:latin typeface="Consolas"/>
                <a:ea typeface="Consolas"/>
              </a:rPr>
              <a:t>.</a:t>
            </a:r>
            <a:r>
              <a:rPr b="1" lang="en-US" sz="1300" spc="-1" strike="noStrike">
                <a:solidFill>
                  <a:srgbClr val="3ddc84"/>
                </a:solidFill>
                <a:latin typeface="Consolas"/>
                <a:ea typeface="Consolas"/>
              </a:rPr>
              <a:t>Polite</a:t>
            </a:r>
            <a:endParaRPr b="0" lang="en-US" sz="1300" spc="-1" strike="noStrike">
              <a:solidFill>
                <a:srgbClr val="000000"/>
              </a:solidFill>
              <a:latin typeface="Arial"/>
            </a:endParaRPr>
          </a:p>
          <a:p>
            <a:pPr defTabSz="914400">
              <a:lnSpc>
                <a:spcPct val="105000"/>
              </a:lnSpc>
              <a:tabLst>
                <a:tab algn="l" pos="0"/>
              </a:tabLst>
            </a:pPr>
            <a:r>
              <a:rPr b="0" lang="en-US" sz="1300" spc="-1" strike="noStrike">
                <a:solidFill>
                  <a:srgbClr val="dce3ec"/>
                </a:solidFill>
                <a:latin typeface="Consolas"/>
                <a:ea typeface="Consolas"/>
              </a:rPr>
              <a:t>    </a:t>
            </a:r>
            <a:r>
              <a:rPr b="0" lang="en-US" sz="1300" spc="-1" strike="noStrike">
                <a:solidFill>
                  <a:srgbClr val="dce3ec"/>
                </a:solidFill>
                <a:latin typeface="Consolas"/>
                <a:ea typeface="Consolas"/>
              </a:rPr>
              <a:t>},</a:t>
            </a:r>
            <a:endParaRPr b="0" lang="en-US" sz="1300" spc="-1" strike="noStrike">
              <a:solidFill>
                <a:srgbClr val="000000"/>
              </a:solidFill>
              <a:latin typeface="Arial"/>
            </a:endParaRPr>
          </a:p>
          <a:p>
            <a:pPr defTabSz="914400">
              <a:lnSpc>
                <a:spcPct val="105000"/>
              </a:lnSpc>
              <a:tabLst>
                <a:tab algn="l" pos="0"/>
              </a:tabLst>
            </a:pPr>
            <a:r>
              <a:rPr b="0" lang="en-US" sz="1300" spc="-1" strike="noStrike">
                <a:solidFill>
                  <a:srgbClr val="dce3ec"/>
                </a:solidFill>
                <a:latin typeface="Consolas"/>
                <a:ea typeface="Consolas"/>
              </a:rPr>
              <a:t>) { </a:t>
            </a:r>
            <a:r>
              <a:rPr b="0" lang="en-US" sz="1300" spc="-1" strike="noStrike">
                <a:solidFill>
                  <a:srgbClr val="8ab4f8"/>
                </a:solidFill>
                <a:latin typeface="Consolas"/>
                <a:ea typeface="Consolas"/>
              </a:rPr>
              <a:t>DownloadIcon</a:t>
            </a:r>
            <a:r>
              <a:rPr b="0" lang="en-US" sz="1300" spc="-1" strike="noStrike">
                <a:solidFill>
                  <a:srgbClr val="dce3ec"/>
                </a:solidFill>
                <a:latin typeface="Consolas"/>
                <a:ea typeface="Consolas"/>
              </a:rPr>
              <a:t>(state) }</a:t>
            </a:r>
            <a:endParaRPr b="0" lang="en-US" sz="1300" spc="-1" strike="noStrike">
              <a:solidFill>
                <a:srgbClr val="000000"/>
              </a:solidFill>
              <a:latin typeface="Arial"/>
            </a:endParaRPr>
          </a:p>
        </p:txBody>
      </p:sp>
      <p:sp>
        <p:nvSpPr>
          <p:cNvPr id="152" name="Text 22"/>
          <p:cNvSpPr/>
          <p:nvPr/>
        </p:nvSpPr>
        <p:spPr>
          <a:xfrm>
            <a:off x="10652760" y="1856160"/>
            <a:ext cx="868320" cy="200880"/>
          </a:xfrm>
          <a:prstGeom prst="rect">
            <a:avLst/>
          </a:prstGeom>
          <a:noFill/>
          <a:ln w="0">
            <a:noFill/>
          </a:ln>
        </p:spPr>
        <p:style>
          <a:lnRef idx="0"/>
          <a:fillRef idx="0"/>
          <a:effectRef idx="0"/>
          <a:fontRef idx="minor"/>
        </p:style>
        <p:txBody>
          <a:bodyPr lIns="0" rIns="0" tIns="0" bIns="0" anchor="t">
            <a:noAutofit/>
          </a:bodyPr>
          <a:p>
            <a:pPr algn="r" defTabSz="914400">
              <a:lnSpc>
                <a:spcPct val="100000"/>
              </a:lnSpc>
              <a:tabLst>
                <a:tab algn="l" pos="0"/>
              </a:tabLst>
            </a:pPr>
            <a:r>
              <a:rPr b="0" lang="en-US" sz="900" spc="-1" strike="noStrike">
                <a:solidFill>
                  <a:srgbClr val="6f7d93"/>
                </a:solidFill>
                <a:latin typeface="Calibri"/>
                <a:ea typeface="Calibri"/>
              </a:rPr>
              <a:t>Kotlin</a:t>
            </a:r>
            <a:endParaRPr b="0" lang="en-US" sz="900" spc="-1" strike="noStrike">
              <a:solidFill>
                <a:srgbClr val="000000"/>
              </a:solidFill>
              <a:latin typeface="Arial"/>
            </a:endParaRPr>
          </a:p>
        </p:txBody>
      </p:sp>
      <p:sp>
        <p:nvSpPr>
          <p:cNvPr id="153" name="Shape 23"/>
          <p:cNvSpPr/>
          <p:nvPr/>
        </p:nvSpPr>
        <p:spPr>
          <a:xfrm>
            <a:off x="5897880" y="4709160"/>
            <a:ext cx="2834280" cy="1325520"/>
          </a:xfrm>
          <a:prstGeom prst="roundRect">
            <a:avLst>
              <a:gd name="adj" fmla="val 6897"/>
            </a:avLst>
          </a:prstGeom>
          <a:solidFill>
            <a:srgbClr val="e6f8ee"/>
          </a:solidFill>
          <a:ln w="12700">
            <a:solidFill>
              <a:srgbClr val="e6f8ee"/>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54" name="Text 24"/>
          <p:cNvSpPr/>
          <p:nvPr/>
        </p:nvSpPr>
        <p:spPr>
          <a:xfrm>
            <a:off x="6062400" y="4818960"/>
            <a:ext cx="2559960" cy="2923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250" spc="-1" strike="noStrike">
                <a:solidFill>
                  <a:srgbClr val="0a7d43"/>
                </a:solidFill>
                <a:latin typeface="Consolas"/>
                <a:ea typeface="Consolas"/>
              </a:rPr>
              <a:t>LiveRegionMode.Polite</a:t>
            </a:r>
            <a:endParaRPr b="0" lang="en-US" sz="1250" spc="-1" strike="noStrike">
              <a:solidFill>
                <a:srgbClr val="000000"/>
              </a:solidFill>
              <a:latin typeface="Arial"/>
            </a:endParaRPr>
          </a:p>
        </p:txBody>
      </p:sp>
      <p:sp>
        <p:nvSpPr>
          <p:cNvPr id="155" name="Text 25"/>
          <p:cNvSpPr/>
          <p:nvPr/>
        </p:nvSpPr>
        <p:spPr>
          <a:xfrm>
            <a:off x="6062400" y="5139000"/>
            <a:ext cx="2559960" cy="3837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200" spc="-1" strike="noStrike">
                <a:solidFill>
                  <a:srgbClr val="1b2330"/>
                </a:solidFill>
                <a:latin typeface="Calibri"/>
                <a:ea typeface="Calibri"/>
              </a:rPr>
              <a:t>Waits until TalkBack is idle, then announces.</a:t>
            </a:r>
            <a:endParaRPr b="0" lang="en-US" sz="1200" spc="-1" strike="noStrike">
              <a:solidFill>
                <a:srgbClr val="000000"/>
              </a:solidFill>
              <a:latin typeface="Arial"/>
            </a:endParaRPr>
          </a:p>
        </p:txBody>
      </p:sp>
      <p:sp>
        <p:nvSpPr>
          <p:cNvPr id="156" name="Text 26"/>
          <p:cNvSpPr/>
          <p:nvPr/>
        </p:nvSpPr>
        <p:spPr>
          <a:xfrm>
            <a:off x="6062400" y="5559480"/>
            <a:ext cx="2559960" cy="3654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i="1" lang="en-US" sz="1150" spc="-1" strike="noStrike">
                <a:solidFill>
                  <a:srgbClr val="5b6472"/>
                </a:solidFill>
                <a:latin typeface="Calibri"/>
                <a:ea typeface="Calibri"/>
              </a:rPr>
              <a:t>e.g. Download finished, item added</a:t>
            </a:r>
            <a:endParaRPr b="0" lang="en-US" sz="1150" spc="-1" strike="noStrike">
              <a:solidFill>
                <a:srgbClr val="000000"/>
              </a:solidFill>
              <a:latin typeface="Arial"/>
            </a:endParaRPr>
          </a:p>
        </p:txBody>
      </p:sp>
      <p:sp>
        <p:nvSpPr>
          <p:cNvPr id="157" name="Shape 27"/>
          <p:cNvSpPr/>
          <p:nvPr/>
        </p:nvSpPr>
        <p:spPr>
          <a:xfrm>
            <a:off x="8823960" y="4709160"/>
            <a:ext cx="2834280" cy="1325520"/>
          </a:xfrm>
          <a:prstGeom prst="roundRect">
            <a:avLst>
              <a:gd name="adj" fmla="val 6897"/>
            </a:avLst>
          </a:prstGeom>
          <a:solidFill>
            <a:srgbClr val="fdecec"/>
          </a:solidFill>
          <a:ln w="12700">
            <a:solidFill>
              <a:srgbClr val="fdecec"/>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58" name="Text 28"/>
          <p:cNvSpPr/>
          <p:nvPr/>
        </p:nvSpPr>
        <p:spPr>
          <a:xfrm>
            <a:off x="8988480" y="4818960"/>
            <a:ext cx="2559960" cy="2923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250" spc="-1" strike="noStrike">
                <a:solidFill>
                  <a:srgbClr val="c62828"/>
                </a:solidFill>
                <a:latin typeface="Consolas"/>
                <a:ea typeface="Consolas"/>
              </a:rPr>
              <a:t>LiveRegionMode.Assertive</a:t>
            </a:r>
            <a:endParaRPr b="0" lang="en-US" sz="1250" spc="-1" strike="noStrike">
              <a:solidFill>
                <a:srgbClr val="000000"/>
              </a:solidFill>
              <a:latin typeface="Arial"/>
            </a:endParaRPr>
          </a:p>
        </p:txBody>
      </p:sp>
      <p:sp>
        <p:nvSpPr>
          <p:cNvPr id="159" name="Text 29"/>
          <p:cNvSpPr/>
          <p:nvPr/>
        </p:nvSpPr>
        <p:spPr>
          <a:xfrm>
            <a:off x="8988480" y="5139000"/>
            <a:ext cx="2559960" cy="3837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200" spc="-1" strike="noStrike">
                <a:solidFill>
                  <a:srgbClr val="1b2330"/>
                </a:solidFill>
                <a:latin typeface="Calibri"/>
                <a:ea typeface="Calibri"/>
              </a:rPr>
              <a:t>Interrupts whatever is being read.</a:t>
            </a:r>
            <a:endParaRPr b="0" lang="en-US" sz="1200" spc="-1" strike="noStrike">
              <a:solidFill>
                <a:srgbClr val="000000"/>
              </a:solidFill>
              <a:latin typeface="Arial"/>
            </a:endParaRPr>
          </a:p>
        </p:txBody>
      </p:sp>
      <p:sp>
        <p:nvSpPr>
          <p:cNvPr id="160" name="Text 30"/>
          <p:cNvSpPr/>
          <p:nvPr/>
        </p:nvSpPr>
        <p:spPr>
          <a:xfrm>
            <a:off x="8988480" y="5559480"/>
            <a:ext cx="2559960" cy="3654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i="1" lang="en-US" sz="1150" spc="-1" strike="noStrike">
                <a:solidFill>
                  <a:srgbClr val="5b6472"/>
                </a:solidFill>
                <a:latin typeface="Calibri"/>
                <a:ea typeface="Calibri"/>
              </a:rPr>
              <a:t>e.g. Payment failed, login failed</a:t>
            </a:r>
            <a:endParaRPr b="0" lang="en-US" sz="11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1" name="Shape 0"/>
          <p:cNvSpPr/>
          <p:nvPr/>
        </p:nvSpPr>
        <p:spPr>
          <a:xfrm>
            <a:off x="548640" y="384120"/>
            <a:ext cx="1449000" cy="328680"/>
          </a:xfrm>
          <a:prstGeom prst="roundRect">
            <a:avLst>
              <a:gd name="adj" fmla="val 50000"/>
            </a:avLst>
          </a:prstGeom>
          <a:solidFill>
            <a:srgbClr val="eeeafb"/>
          </a:solidFill>
          <a:ln w="12700">
            <a:solidFill>
              <a:srgbClr val="eeeaf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62" name="Text 1"/>
          <p:cNvSpPr/>
          <p:nvPr/>
        </p:nvSpPr>
        <p:spPr>
          <a:xfrm>
            <a:off x="548640" y="384120"/>
            <a:ext cx="144900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99" strike="noStrike">
                <a:solidFill>
                  <a:srgbClr val="5b3fd6"/>
                </a:solidFill>
                <a:latin typeface="Calibri"/>
                <a:ea typeface="Calibri"/>
              </a:rPr>
              <a:t>03 · GROUPING</a:t>
            </a:r>
            <a:endParaRPr b="0" lang="en-US" sz="1100" spc="-1" strike="noStrike">
              <a:solidFill>
                <a:srgbClr val="000000"/>
              </a:solidFill>
              <a:latin typeface="Arial"/>
            </a:endParaRPr>
          </a:p>
        </p:txBody>
      </p:sp>
      <p:sp>
        <p:nvSpPr>
          <p:cNvPr id="163" name="Text 2"/>
          <p:cNvSpPr/>
          <p:nvPr/>
        </p:nvSpPr>
        <p:spPr>
          <a:xfrm>
            <a:off x="548640" y="868680"/>
            <a:ext cx="11063880" cy="7311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3200" spc="-1" strike="noStrike">
                <a:solidFill>
                  <a:srgbClr val="1b2330"/>
                </a:solidFill>
                <a:latin typeface="Arial"/>
                <a:ea typeface="Arial"/>
              </a:rPr>
              <a:t>One list item should be one stop, not five</a:t>
            </a:r>
            <a:endParaRPr b="0" lang="en-US" sz="3200" spc="-1" strike="noStrike">
              <a:solidFill>
                <a:srgbClr val="000000"/>
              </a:solidFill>
              <a:latin typeface="Arial"/>
            </a:endParaRPr>
          </a:p>
        </p:txBody>
      </p:sp>
      <p:sp>
        <p:nvSpPr>
          <p:cNvPr id="164" name="Shape 3"/>
          <p:cNvSpPr/>
          <p:nvPr/>
        </p:nvSpPr>
        <p:spPr>
          <a:xfrm>
            <a:off x="548640" y="1737360"/>
            <a:ext cx="3520080" cy="4525920"/>
          </a:xfrm>
          <a:prstGeom prst="roundRect">
            <a:avLst>
              <a:gd name="adj" fmla="val 3636"/>
            </a:avLst>
          </a:prstGeom>
          <a:solidFill>
            <a:srgbClr val="f3f5f8"/>
          </a:solidFill>
          <a:ln w="12700">
            <a:solidFill>
              <a:srgbClr val="f3f5f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65" name="Text 4"/>
          <p:cNvSpPr/>
          <p:nvPr/>
        </p:nvSpPr>
        <p:spPr>
          <a:xfrm>
            <a:off x="731520" y="1874520"/>
            <a:ext cx="3154320" cy="3286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500" spc="-1" strike="noStrike">
                <a:solidFill>
                  <a:srgbClr val="c62828"/>
                </a:solidFill>
                <a:latin typeface="Calibri"/>
                <a:ea typeface="Calibri"/>
              </a:rPr>
              <a:t>No grouping</a:t>
            </a:r>
            <a:endParaRPr b="0" lang="en-US" sz="1500" spc="-1" strike="noStrike">
              <a:solidFill>
                <a:srgbClr val="000000"/>
              </a:solidFill>
              <a:latin typeface="Arial"/>
            </a:endParaRPr>
          </a:p>
        </p:txBody>
      </p:sp>
      <p:sp>
        <p:nvSpPr>
          <p:cNvPr id="166" name="Shape 5"/>
          <p:cNvSpPr/>
          <p:nvPr/>
        </p:nvSpPr>
        <p:spPr>
          <a:xfrm>
            <a:off x="731520" y="2377440"/>
            <a:ext cx="3154320" cy="776880"/>
          </a:xfrm>
          <a:prstGeom prst="rect">
            <a:avLst/>
          </a:prstGeom>
          <a:solidFill>
            <a:srgbClr val="ffffff"/>
          </a:solidFill>
          <a:ln w="9525">
            <a:solidFill>
              <a:srgbClr val="e2ddea"/>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167" name="Image 0" descr="preencoded.png"/>
          <p:cNvPicPr/>
          <p:nvPr/>
        </p:nvPicPr>
        <p:blipFill>
          <a:blip r:embed="rId1"/>
          <a:stretch/>
        </p:blipFill>
        <p:spPr>
          <a:xfrm>
            <a:off x="841320" y="2619720"/>
            <a:ext cx="292320" cy="292320"/>
          </a:xfrm>
          <a:prstGeom prst="rect">
            <a:avLst/>
          </a:prstGeom>
          <a:ln w="0">
            <a:noFill/>
          </a:ln>
        </p:spPr>
      </p:pic>
      <p:pic>
        <p:nvPicPr>
          <p:cNvPr id="168" name="Image 1" descr="preencoded.png"/>
          <p:cNvPicPr/>
          <p:nvPr/>
        </p:nvPicPr>
        <p:blipFill>
          <a:blip r:embed="rId2"/>
          <a:stretch/>
        </p:blipFill>
        <p:spPr>
          <a:xfrm>
            <a:off x="3483720" y="2619720"/>
            <a:ext cx="292320" cy="292320"/>
          </a:xfrm>
          <a:prstGeom prst="rect">
            <a:avLst/>
          </a:prstGeom>
          <a:ln w="0">
            <a:noFill/>
          </a:ln>
        </p:spPr>
      </p:pic>
      <p:sp>
        <p:nvSpPr>
          <p:cNvPr id="169" name="Text 6"/>
          <p:cNvSpPr/>
          <p:nvPr/>
        </p:nvSpPr>
        <p:spPr>
          <a:xfrm>
            <a:off x="1225440" y="2501640"/>
            <a:ext cx="1256400" cy="26388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1" lang="en-US" sz="1150" spc="-1" strike="noStrike">
                <a:solidFill>
                  <a:srgbClr val="1b2330"/>
                </a:solidFill>
                <a:latin typeface="Calibri"/>
                <a:ea typeface="Calibri"/>
              </a:rPr>
              <a:t>Avery Johnson</a:t>
            </a:r>
            <a:endParaRPr b="0" lang="en-US" sz="1150" spc="-1" strike="noStrike">
              <a:solidFill>
                <a:srgbClr val="000000"/>
              </a:solidFill>
              <a:latin typeface="Arial"/>
            </a:endParaRPr>
          </a:p>
        </p:txBody>
      </p:sp>
      <p:sp>
        <p:nvSpPr>
          <p:cNvPr id="170" name="Text 7"/>
          <p:cNvSpPr/>
          <p:nvPr/>
        </p:nvSpPr>
        <p:spPr>
          <a:xfrm>
            <a:off x="2482200" y="2501640"/>
            <a:ext cx="909720" cy="263880"/>
          </a:xfrm>
          <a:prstGeom prst="rect">
            <a:avLst/>
          </a:prstGeom>
          <a:noFill/>
          <a:ln w="0">
            <a:noFill/>
          </a:ln>
        </p:spPr>
        <p:style>
          <a:lnRef idx="0"/>
          <a:fillRef idx="0"/>
          <a:effectRef idx="0"/>
          <a:fontRef idx="minor"/>
        </p:style>
        <p:txBody>
          <a:bodyPr lIns="0" rIns="0" tIns="0" bIns="0" anchor="t">
            <a:noAutofit/>
          </a:bodyPr>
          <a:p>
            <a:pPr algn="r" defTabSz="914400">
              <a:lnSpc>
                <a:spcPct val="100000"/>
              </a:lnSpc>
              <a:tabLst>
                <a:tab algn="l" pos="0"/>
              </a:tabLst>
            </a:pPr>
            <a:r>
              <a:rPr b="0" lang="en-US" sz="950" spc="-1" strike="noStrike">
                <a:solidFill>
                  <a:srgbClr val="5b6472"/>
                </a:solidFill>
                <a:latin typeface="Calibri"/>
                <a:ea typeface="Calibri"/>
              </a:rPr>
              <a:t>Jun 17</a:t>
            </a:r>
            <a:endParaRPr b="0" lang="en-US" sz="950" spc="-1" strike="noStrike">
              <a:solidFill>
                <a:srgbClr val="000000"/>
              </a:solidFill>
              <a:latin typeface="Arial"/>
            </a:endParaRPr>
          </a:p>
        </p:txBody>
      </p:sp>
      <p:sp>
        <p:nvSpPr>
          <p:cNvPr id="171" name="Text 8"/>
          <p:cNvSpPr/>
          <p:nvPr/>
        </p:nvSpPr>
        <p:spPr>
          <a:xfrm>
            <a:off x="1225440" y="2781720"/>
            <a:ext cx="2166840" cy="263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050" spc="-1" strike="noStrike">
                <a:solidFill>
                  <a:srgbClr val="3b3f4a"/>
                </a:solidFill>
                <a:latin typeface="Calibri"/>
                <a:ea typeface="Calibri"/>
              </a:rPr>
              <a:t>Please add contentDescriptions</a:t>
            </a:r>
            <a:endParaRPr b="0" lang="en-US" sz="1050" spc="-1" strike="noStrike">
              <a:solidFill>
                <a:srgbClr val="000000"/>
              </a:solidFill>
              <a:latin typeface="Arial"/>
            </a:endParaRPr>
          </a:p>
        </p:txBody>
      </p:sp>
      <p:sp>
        <p:nvSpPr>
          <p:cNvPr id="172" name="Shape 9"/>
          <p:cNvSpPr/>
          <p:nvPr/>
        </p:nvSpPr>
        <p:spPr>
          <a:xfrm>
            <a:off x="786240" y="2565000"/>
            <a:ext cx="402120" cy="402120"/>
          </a:xfrm>
          <a:prstGeom prst="rect">
            <a:avLst/>
          </a:prstGeom>
          <a:noFill/>
          <a:ln w="34925">
            <a:solidFill>
              <a:srgbClr val="1a73e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73" name="Shape 10"/>
          <p:cNvSpPr/>
          <p:nvPr/>
        </p:nvSpPr>
        <p:spPr>
          <a:xfrm>
            <a:off x="1197720" y="2468880"/>
            <a:ext cx="1256400" cy="292320"/>
          </a:xfrm>
          <a:prstGeom prst="rect">
            <a:avLst/>
          </a:prstGeom>
          <a:noFill/>
          <a:ln w="34925">
            <a:solidFill>
              <a:srgbClr val="1a73e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74" name="Shape 11"/>
          <p:cNvSpPr/>
          <p:nvPr/>
        </p:nvSpPr>
        <p:spPr>
          <a:xfrm>
            <a:off x="2525400" y="2468880"/>
            <a:ext cx="909720" cy="292320"/>
          </a:xfrm>
          <a:prstGeom prst="rect">
            <a:avLst/>
          </a:prstGeom>
          <a:noFill/>
          <a:ln w="34925">
            <a:solidFill>
              <a:srgbClr val="1a73e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75" name="Shape 12"/>
          <p:cNvSpPr/>
          <p:nvPr/>
        </p:nvSpPr>
        <p:spPr>
          <a:xfrm>
            <a:off x="1197720" y="2770560"/>
            <a:ext cx="2221560" cy="301320"/>
          </a:xfrm>
          <a:prstGeom prst="rect">
            <a:avLst/>
          </a:prstGeom>
          <a:noFill/>
          <a:ln w="34925">
            <a:solidFill>
              <a:srgbClr val="1a73e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76" name="Shape 13"/>
          <p:cNvSpPr/>
          <p:nvPr/>
        </p:nvSpPr>
        <p:spPr>
          <a:xfrm>
            <a:off x="3429000" y="2565000"/>
            <a:ext cx="402120" cy="402120"/>
          </a:xfrm>
          <a:prstGeom prst="rect">
            <a:avLst/>
          </a:prstGeom>
          <a:noFill/>
          <a:ln w="34925">
            <a:solidFill>
              <a:srgbClr val="1a73e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77" name="Text 14"/>
          <p:cNvSpPr/>
          <p:nvPr/>
        </p:nvSpPr>
        <p:spPr>
          <a:xfrm>
            <a:off x="731520" y="3337560"/>
            <a:ext cx="822600" cy="8683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5400" spc="-1" strike="noStrike">
                <a:solidFill>
                  <a:srgbClr val="c62828"/>
                </a:solidFill>
                <a:latin typeface="Arial"/>
                <a:ea typeface="Arial"/>
              </a:rPr>
              <a:t>5</a:t>
            </a:r>
            <a:endParaRPr b="0" lang="en-US" sz="5400" spc="-1" strike="noStrike">
              <a:solidFill>
                <a:srgbClr val="000000"/>
              </a:solidFill>
              <a:latin typeface="Arial"/>
            </a:endParaRPr>
          </a:p>
        </p:txBody>
      </p:sp>
      <p:sp>
        <p:nvSpPr>
          <p:cNvPr id="178" name="Text 15"/>
          <p:cNvSpPr/>
          <p:nvPr/>
        </p:nvSpPr>
        <p:spPr>
          <a:xfrm>
            <a:off x="1508760" y="3611880"/>
            <a:ext cx="2422800" cy="4568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400" spc="-1" strike="noStrike">
                <a:solidFill>
                  <a:srgbClr val="1b2330"/>
                </a:solidFill>
                <a:latin typeface="Calibri"/>
                <a:ea typeface="Calibri"/>
              </a:rPr>
              <a:t>swipes per row</a:t>
            </a:r>
            <a:endParaRPr b="0" lang="en-US" sz="1400" spc="-1" strike="noStrike">
              <a:solidFill>
                <a:srgbClr val="000000"/>
              </a:solidFill>
              <a:latin typeface="Arial"/>
            </a:endParaRPr>
          </a:p>
        </p:txBody>
      </p:sp>
      <p:sp>
        <p:nvSpPr>
          <p:cNvPr id="179" name="Text 16"/>
          <p:cNvSpPr/>
          <p:nvPr/>
        </p:nvSpPr>
        <p:spPr>
          <a:xfrm>
            <a:off x="731520" y="4251960"/>
            <a:ext cx="3154320" cy="776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250" spc="-1" strike="noStrike">
                <a:solidFill>
                  <a:srgbClr val="333b48"/>
                </a:solidFill>
                <a:latin typeface="Calibri"/>
                <a:ea typeface="Calibri"/>
              </a:rPr>
              <a:t>Star, name, date, subject, delete — tedious in a long list.</a:t>
            </a:r>
            <a:endParaRPr b="0" lang="en-US" sz="1250" spc="-1" strike="noStrike">
              <a:solidFill>
                <a:srgbClr val="000000"/>
              </a:solidFill>
              <a:latin typeface="Arial"/>
            </a:endParaRPr>
          </a:p>
        </p:txBody>
      </p:sp>
      <p:sp>
        <p:nvSpPr>
          <p:cNvPr id="180" name="Shape 17"/>
          <p:cNvSpPr/>
          <p:nvPr/>
        </p:nvSpPr>
        <p:spPr>
          <a:xfrm>
            <a:off x="731520" y="5120640"/>
            <a:ext cx="3154320" cy="959760"/>
          </a:xfrm>
          <a:prstGeom prst="roundRect">
            <a:avLst>
              <a:gd name="adj" fmla="val 7619"/>
            </a:avLst>
          </a:prstGeom>
          <a:solidFill>
            <a:srgbClr val="182235"/>
          </a:solidFill>
          <a:ln w="12700">
            <a:solidFill>
              <a:srgbClr val="18223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81" name="Text 18"/>
          <p:cNvSpPr/>
          <p:nvPr/>
        </p:nvSpPr>
        <p:spPr>
          <a:xfrm>
            <a:off x="841320" y="5193720"/>
            <a:ext cx="2971440" cy="822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pc="-1" strike="noStrike">
                <a:solidFill>
                  <a:srgbClr val="8ab4f8"/>
                </a:solidFill>
                <a:latin typeface="Consolas"/>
                <a:ea typeface="Consolas"/>
              </a:rPr>
              <a:t>Row</a:t>
            </a:r>
            <a:r>
              <a:rPr b="0" lang="en-US" sz="1050" spc="-1" strike="noStrike">
                <a:solidFill>
                  <a:srgbClr val="dce3ec"/>
                </a:solidFill>
                <a:latin typeface="Consolas"/>
                <a:ea typeface="Consolas"/>
              </a:rPr>
              <a:t> { </a:t>
            </a:r>
            <a:r>
              <a:rPr b="0" lang="en-US" sz="1050" spc="-1" strike="noStrike">
                <a:solidFill>
                  <a:srgbClr val="8ab4f8"/>
                </a:solidFill>
                <a:latin typeface="Consolas"/>
                <a:ea typeface="Consolas"/>
              </a:rPr>
              <a:t>Star</a:t>
            </a:r>
            <a:r>
              <a:rPr b="0" lang="en-US" sz="1050" spc="-1" strike="noStrike">
                <a:solidFill>
                  <a:srgbClr val="dce3ec"/>
                </a:solidFill>
                <a:latin typeface="Consolas"/>
                <a:ea typeface="Consolas"/>
              </a:rPr>
              <a:t>(); </a:t>
            </a:r>
            <a:r>
              <a:rPr b="0" lang="en-US" sz="1050" spc="-1" strike="noStrike">
                <a:solidFill>
                  <a:srgbClr val="8ab4f8"/>
                </a:solidFill>
                <a:latin typeface="Consolas"/>
                <a:ea typeface="Consolas"/>
              </a:rPr>
              <a:t>Texts</a:t>
            </a:r>
            <a:r>
              <a:rPr b="0" lang="en-US" sz="1050" spc="-1" strike="noStrike">
                <a:solidFill>
                  <a:srgbClr val="dce3ec"/>
                </a:solidFill>
                <a:latin typeface="Consolas"/>
                <a:ea typeface="Consolas"/>
              </a:rPr>
              <a:t>(); </a:t>
            </a:r>
            <a:r>
              <a:rPr b="0" lang="en-US" sz="1050" spc="-1" strike="noStrike">
                <a:solidFill>
                  <a:srgbClr val="8ab4f8"/>
                </a:solidFill>
                <a:latin typeface="Consolas"/>
                <a:ea typeface="Consolas"/>
              </a:rPr>
              <a:t>Delete</a:t>
            </a:r>
            <a:r>
              <a:rPr b="0" lang="en-US" sz="1050" spc="-1" strike="noStrike">
                <a:solidFill>
                  <a:srgbClr val="dce3ec"/>
                </a:solidFill>
                <a:latin typeface="Consolas"/>
                <a:ea typeface="Consolas"/>
              </a:rPr>
              <a:t>() }</a:t>
            </a:r>
            <a:endParaRPr b="0" lang="en-US" sz="1050" spc="-1" strike="noStrike">
              <a:solidFill>
                <a:srgbClr val="000000"/>
              </a:solidFill>
              <a:latin typeface="Arial"/>
            </a:endParaRPr>
          </a:p>
        </p:txBody>
      </p:sp>
      <p:sp>
        <p:nvSpPr>
          <p:cNvPr id="182" name="Shape 19"/>
          <p:cNvSpPr/>
          <p:nvPr/>
        </p:nvSpPr>
        <p:spPr>
          <a:xfrm>
            <a:off x="4297680" y="1737360"/>
            <a:ext cx="3520080" cy="4525920"/>
          </a:xfrm>
          <a:prstGeom prst="roundRect">
            <a:avLst>
              <a:gd name="adj" fmla="val 3636"/>
            </a:avLst>
          </a:prstGeom>
          <a:solidFill>
            <a:srgbClr val="f3f5f8"/>
          </a:solidFill>
          <a:ln w="12700">
            <a:solidFill>
              <a:srgbClr val="f3f5f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83" name="Text 20"/>
          <p:cNvSpPr/>
          <p:nvPr/>
        </p:nvSpPr>
        <p:spPr>
          <a:xfrm>
            <a:off x="4480560" y="1874520"/>
            <a:ext cx="3154320" cy="3286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350" spc="-1" strike="noStrike">
                <a:solidFill>
                  <a:srgbClr val="b26a00"/>
                </a:solidFill>
                <a:latin typeface="Consolas"/>
                <a:ea typeface="Consolas"/>
              </a:rPr>
              <a:t>mergeDescendants = true</a:t>
            </a:r>
            <a:endParaRPr b="0" lang="en-US" sz="1350" spc="-1" strike="noStrike">
              <a:solidFill>
                <a:srgbClr val="000000"/>
              </a:solidFill>
              <a:latin typeface="Arial"/>
            </a:endParaRPr>
          </a:p>
        </p:txBody>
      </p:sp>
      <p:sp>
        <p:nvSpPr>
          <p:cNvPr id="184" name="Shape 21"/>
          <p:cNvSpPr/>
          <p:nvPr/>
        </p:nvSpPr>
        <p:spPr>
          <a:xfrm>
            <a:off x="4480560" y="2377440"/>
            <a:ext cx="3154320" cy="776880"/>
          </a:xfrm>
          <a:prstGeom prst="rect">
            <a:avLst/>
          </a:prstGeom>
          <a:solidFill>
            <a:srgbClr val="ffffff"/>
          </a:solidFill>
          <a:ln w="9525">
            <a:solidFill>
              <a:srgbClr val="e2ddea"/>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185" name="Image 2" descr="preencoded.png"/>
          <p:cNvPicPr/>
          <p:nvPr/>
        </p:nvPicPr>
        <p:blipFill>
          <a:blip r:embed="rId3"/>
          <a:stretch/>
        </p:blipFill>
        <p:spPr>
          <a:xfrm>
            <a:off x="4590360" y="2619720"/>
            <a:ext cx="292320" cy="292320"/>
          </a:xfrm>
          <a:prstGeom prst="rect">
            <a:avLst/>
          </a:prstGeom>
          <a:ln w="0">
            <a:noFill/>
          </a:ln>
        </p:spPr>
      </p:pic>
      <p:pic>
        <p:nvPicPr>
          <p:cNvPr id="186" name="Image 3" descr="preencoded.png"/>
          <p:cNvPicPr/>
          <p:nvPr/>
        </p:nvPicPr>
        <p:blipFill>
          <a:blip r:embed="rId4"/>
          <a:stretch/>
        </p:blipFill>
        <p:spPr>
          <a:xfrm>
            <a:off x="7232760" y="2619720"/>
            <a:ext cx="292320" cy="292320"/>
          </a:xfrm>
          <a:prstGeom prst="rect">
            <a:avLst/>
          </a:prstGeom>
          <a:ln w="0">
            <a:noFill/>
          </a:ln>
        </p:spPr>
      </p:pic>
      <p:sp>
        <p:nvSpPr>
          <p:cNvPr id="187" name="Text 22"/>
          <p:cNvSpPr/>
          <p:nvPr/>
        </p:nvSpPr>
        <p:spPr>
          <a:xfrm>
            <a:off x="4974480" y="2501640"/>
            <a:ext cx="1256400" cy="26388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1" lang="en-US" sz="1150" spc="-1" strike="noStrike">
                <a:solidFill>
                  <a:srgbClr val="1b2330"/>
                </a:solidFill>
                <a:latin typeface="Calibri"/>
                <a:ea typeface="Calibri"/>
              </a:rPr>
              <a:t>Avery Johnson</a:t>
            </a:r>
            <a:endParaRPr b="0" lang="en-US" sz="1150" spc="-1" strike="noStrike">
              <a:solidFill>
                <a:srgbClr val="000000"/>
              </a:solidFill>
              <a:latin typeface="Arial"/>
            </a:endParaRPr>
          </a:p>
        </p:txBody>
      </p:sp>
      <p:sp>
        <p:nvSpPr>
          <p:cNvPr id="188" name="Text 23"/>
          <p:cNvSpPr/>
          <p:nvPr/>
        </p:nvSpPr>
        <p:spPr>
          <a:xfrm>
            <a:off x="6231240" y="2501640"/>
            <a:ext cx="909720" cy="263880"/>
          </a:xfrm>
          <a:prstGeom prst="rect">
            <a:avLst/>
          </a:prstGeom>
          <a:noFill/>
          <a:ln w="0">
            <a:noFill/>
          </a:ln>
        </p:spPr>
        <p:style>
          <a:lnRef idx="0"/>
          <a:fillRef idx="0"/>
          <a:effectRef idx="0"/>
          <a:fontRef idx="minor"/>
        </p:style>
        <p:txBody>
          <a:bodyPr lIns="0" rIns="0" tIns="0" bIns="0" anchor="t">
            <a:noAutofit/>
          </a:bodyPr>
          <a:p>
            <a:pPr algn="r" defTabSz="914400">
              <a:lnSpc>
                <a:spcPct val="100000"/>
              </a:lnSpc>
              <a:tabLst>
                <a:tab algn="l" pos="0"/>
              </a:tabLst>
            </a:pPr>
            <a:r>
              <a:rPr b="0" lang="en-US" sz="950" spc="-1" strike="noStrike">
                <a:solidFill>
                  <a:srgbClr val="5b6472"/>
                </a:solidFill>
                <a:latin typeface="Calibri"/>
                <a:ea typeface="Calibri"/>
              </a:rPr>
              <a:t>Jun 17</a:t>
            </a:r>
            <a:endParaRPr b="0" lang="en-US" sz="950" spc="-1" strike="noStrike">
              <a:solidFill>
                <a:srgbClr val="000000"/>
              </a:solidFill>
              <a:latin typeface="Arial"/>
            </a:endParaRPr>
          </a:p>
        </p:txBody>
      </p:sp>
      <p:sp>
        <p:nvSpPr>
          <p:cNvPr id="189" name="Text 24"/>
          <p:cNvSpPr/>
          <p:nvPr/>
        </p:nvSpPr>
        <p:spPr>
          <a:xfrm>
            <a:off x="4974480" y="2781720"/>
            <a:ext cx="2166840" cy="263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050" spc="-1" strike="noStrike">
                <a:solidFill>
                  <a:srgbClr val="3b3f4a"/>
                </a:solidFill>
                <a:latin typeface="Calibri"/>
                <a:ea typeface="Calibri"/>
              </a:rPr>
              <a:t>Please add contentDescriptions</a:t>
            </a:r>
            <a:endParaRPr b="0" lang="en-US" sz="1050" spc="-1" strike="noStrike">
              <a:solidFill>
                <a:srgbClr val="000000"/>
              </a:solidFill>
              <a:latin typeface="Arial"/>
            </a:endParaRPr>
          </a:p>
        </p:txBody>
      </p:sp>
      <p:sp>
        <p:nvSpPr>
          <p:cNvPr id="190" name="Shape 25"/>
          <p:cNvSpPr/>
          <p:nvPr/>
        </p:nvSpPr>
        <p:spPr>
          <a:xfrm>
            <a:off x="4535280" y="2565000"/>
            <a:ext cx="402120" cy="402120"/>
          </a:xfrm>
          <a:prstGeom prst="rect">
            <a:avLst/>
          </a:prstGeom>
          <a:noFill/>
          <a:ln w="34925">
            <a:solidFill>
              <a:srgbClr val="1a73e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91" name="Shape 26"/>
          <p:cNvSpPr/>
          <p:nvPr/>
        </p:nvSpPr>
        <p:spPr>
          <a:xfrm>
            <a:off x="4928760" y="2441520"/>
            <a:ext cx="2258280" cy="648720"/>
          </a:xfrm>
          <a:prstGeom prst="rect">
            <a:avLst/>
          </a:prstGeom>
          <a:noFill/>
          <a:ln w="34925">
            <a:solidFill>
              <a:srgbClr val="1a73e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92" name="Shape 27"/>
          <p:cNvSpPr/>
          <p:nvPr/>
        </p:nvSpPr>
        <p:spPr>
          <a:xfrm>
            <a:off x="7178040" y="2565000"/>
            <a:ext cx="402120" cy="402120"/>
          </a:xfrm>
          <a:prstGeom prst="rect">
            <a:avLst/>
          </a:prstGeom>
          <a:noFill/>
          <a:ln w="34925">
            <a:solidFill>
              <a:srgbClr val="1a73e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93" name="Text 28"/>
          <p:cNvSpPr/>
          <p:nvPr/>
        </p:nvSpPr>
        <p:spPr>
          <a:xfrm>
            <a:off x="4480560" y="3337560"/>
            <a:ext cx="822600" cy="8683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5400" spc="-1" strike="noStrike">
                <a:solidFill>
                  <a:srgbClr val="b26a00"/>
                </a:solidFill>
                <a:latin typeface="Arial"/>
                <a:ea typeface="Arial"/>
              </a:rPr>
              <a:t>3</a:t>
            </a:r>
            <a:endParaRPr b="0" lang="en-US" sz="5400" spc="-1" strike="noStrike">
              <a:solidFill>
                <a:srgbClr val="000000"/>
              </a:solidFill>
              <a:latin typeface="Arial"/>
            </a:endParaRPr>
          </a:p>
        </p:txBody>
      </p:sp>
      <p:sp>
        <p:nvSpPr>
          <p:cNvPr id="194" name="Text 29"/>
          <p:cNvSpPr/>
          <p:nvPr/>
        </p:nvSpPr>
        <p:spPr>
          <a:xfrm>
            <a:off x="5257800" y="3611880"/>
            <a:ext cx="2422800" cy="4568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400" spc="-1" strike="noStrike">
                <a:solidFill>
                  <a:srgbClr val="1b2330"/>
                </a:solidFill>
                <a:latin typeface="Calibri"/>
                <a:ea typeface="Calibri"/>
              </a:rPr>
              <a:t>swipes per row</a:t>
            </a:r>
            <a:endParaRPr b="0" lang="en-US" sz="1400" spc="-1" strike="noStrike">
              <a:solidFill>
                <a:srgbClr val="000000"/>
              </a:solidFill>
              <a:latin typeface="Arial"/>
            </a:endParaRPr>
          </a:p>
        </p:txBody>
      </p:sp>
      <p:sp>
        <p:nvSpPr>
          <p:cNvPr id="195" name="Text 30"/>
          <p:cNvSpPr/>
          <p:nvPr/>
        </p:nvSpPr>
        <p:spPr>
          <a:xfrm>
            <a:off x="4480560" y="4251960"/>
            <a:ext cx="3154320" cy="776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250" spc="-1" strike="noStrike">
                <a:solidFill>
                  <a:srgbClr val="333b48"/>
                </a:solidFill>
                <a:latin typeface="Calibri"/>
                <a:ea typeface="Calibri"/>
              </a:rPr>
              <a:t>Text is concatenated. Buttons still separate: it won’t merge children that merge themselves.</a:t>
            </a:r>
            <a:endParaRPr b="0" lang="en-US" sz="1250" spc="-1" strike="noStrike">
              <a:solidFill>
                <a:srgbClr val="000000"/>
              </a:solidFill>
              <a:latin typeface="Arial"/>
            </a:endParaRPr>
          </a:p>
        </p:txBody>
      </p:sp>
      <p:sp>
        <p:nvSpPr>
          <p:cNvPr id="196" name="Shape 31"/>
          <p:cNvSpPr/>
          <p:nvPr/>
        </p:nvSpPr>
        <p:spPr>
          <a:xfrm>
            <a:off x="4480560" y="5120640"/>
            <a:ext cx="3154320" cy="959760"/>
          </a:xfrm>
          <a:prstGeom prst="roundRect">
            <a:avLst>
              <a:gd name="adj" fmla="val 7619"/>
            </a:avLst>
          </a:prstGeom>
          <a:solidFill>
            <a:srgbClr val="182235"/>
          </a:solidFill>
          <a:ln w="12700">
            <a:solidFill>
              <a:srgbClr val="18223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97" name="Text 32"/>
          <p:cNvSpPr/>
          <p:nvPr/>
        </p:nvSpPr>
        <p:spPr>
          <a:xfrm>
            <a:off x="4590360" y="5193720"/>
            <a:ext cx="2971440" cy="822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pc="-1" strike="noStrike">
                <a:solidFill>
                  <a:srgbClr val="8ab4f8"/>
                </a:solidFill>
                <a:latin typeface="Consolas"/>
                <a:ea typeface="Consolas"/>
              </a:rPr>
              <a:t>Column</a:t>
            </a:r>
            <a:r>
              <a:rPr b="0" lang="en-US" sz="1050" spc="-1" strike="noStrike">
                <a:solidFill>
                  <a:srgbClr val="dce3ec"/>
                </a:solidFill>
                <a:latin typeface="Consolas"/>
                <a:ea typeface="Consolas"/>
              </a:rPr>
              <a:t>(</a:t>
            </a:r>
            <a:r>
              <a:rPr b="0" lang="en-US" sz="1050" spc="-1" strike="noStrike">
                <a:solidFill>
                  <a:srgbClr val="8ab4f8"/>
                </a:solidFill>
                <a:latin typeface="Consolas"/>
                <a:ea typeface="Consolas"/>
              </a:rPr>
              <a:t>Modifier</a:t>
            </a:r>
            <a:r>
              <a:rPr b="0" lang="en-US" sz="1050" spc="-1" strike="noStrike">
                <a:solidFill>
                  <a:srgbClr val="dce3ec"/>
                </a:solidFill>
                <a:latin typeface="Consolas"/>
                <a:ea typeface="Consolas"/>
              </a:rPr>
              <a:t>.</a:t>
            </a:r>
            <a:r>
              <a:rPr b="1" lang="en-US" sz="1050" spc="-1" strike="noStrike">
                <a:solidFill>
                  <a:srgbClr val="3ddc84"/>
                </a:solidFill>
                <a:latin typeface="Consolas"/>
                <a:ea typeface="Consolas"/>
              </a:rPr>
              <a:t>semantics</a:t>
            </a:r>
            <a:r>
              <a:rPr b="0" lang="en-US" sz="1050" spc="-1" strike="noStrike">
                <a:solidFill>
                  <a:srgbClr val="dce3ec"/>
                </a:solidFill>
                <a:latin typeface="Consolas"/>
                <a:ea typeface="Consolas"/>
              </a:rPr>
              <a:t>(</a:t>
            </a:r>
            <a:endParaRPr b="0" lang="en-US" sz="1050" spc="-1" strike="noStrike">
              <a:solidFill>
                <a:srgbClr val="000000"/>
              </a:solidFill>
              <a:latin typeface="Arial"/>
            </a:endParaRPr>
          </a:p>
          <a:p>
            <a:pPr defTabSz="914400">
              <a:lnSpc>
                <a:spcPct val="100000"/>
              </a:lnSpc>
              <a:tabLst>
                <a:tab algn="l" pos="0"/>
              </a:tabLst>
            </a:pPr>
            <a:r>
              <a:rPr b="0" lang="en-US" sz="1050" spc="-1" strike="noStrike">
                <a:solidFill>
                  <a:srgbClr val="dce3ec"/>
                </a:solidFill>
                <a:latin typeface="Consolas"/>
                <a:ea typeface="Consolas"/>
              </a:rPr>
              <a:t>  </a:t>
            </a:r>
            <a:r>
              <a:rPr b="1" lang="en-US" sz="1050" spc="-1" strike="noStrike">
                <a:solidFill>
                  <a:srgbClr val="3ddc84"/>
                </a:solidFill>
                <a:latin typeface="Consolas"/>
                <a:ea typeface="Consolas"/>
              </a:rPr>
              <a:t>mergeDescendants</a:t>
            </a:r>
            <a:r>
              <a:rPr b="0" lang="en-US" sz="1050" spc="-1" strike="noStrike">
                <a:solidFill>
                  <a:srgbClr val="dce3ec"/>
                </a:solidFill>
                <a:latin typeface="Consolas"/>
                <a:ea typeface="Consolas"/>
              </a:rPr>
              <a:t> = </a:t>
            </a:r>
            <a:r>
              <a:rPr b="0" lang="en-US" sz="1050" spc="-1" strike="noStrike">
                <a:solidFill>
                  <a:srgbClr val="ff8fc7"/>
                </a:solidFill>
                <a:latin typeface="Consolas"/>
                <a:ea typeface="Consolas"/>
              </a:rPr>
              <a:t>true</a:t>
            </a:r>
            <a:r>
              <a:rPr b="0" lang="en-US" sz="1050" spc="-1" strike="noStrike">
                <a:solidFill>
                  <a:srgbClr val="dce3ec"/>
                </a:solidFill>
                <a:latin typeface="Consolas"/>
                <a:ea typeface="Consolas"/>
              </a:rPr>
              <a:t>) {})</a:t>
            </a:r>
            <a:endParaRPr b="0" lang="en-US" sz="1050" spc="-1" strike="noStrike">
              <a:solidFill>
                <a:srgbClr val="000000"/>
              </a:solidFill>
              <a:latin typeface="Arial"/>
            </a:endParaRPr>
          </a:p>
        </p:txBody>
      </p:sp>
      <p:sp>
        <p:nvSpPr>
          <p:cNvPr id="198" name="Shape 33"/>
          <p:cNvSpPr/>
          <p:nvPr/>
        </p:nvSpPr>
        <p:spPr>
          <a:xfrm>
            <a:off x="8046720" y="1737360"/>
            <a:ext cx="3520080" cy="4525920"/>
          </a:xfrm>
          <a:prstGeom prst="roundRect">
            <a:avLst>
              <a:gd name="adj" fmla="val 3636"/>
            </a:avLst>
          </a:prstGeom>
          <a:solidFill>
            <a:srgbClr val="f3f5f8"/>
          </a:solidFill>
          <a:ln w="12700">
            <a:solidFill>
              <a:srgbClr val="f3f5f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99" name="Text 34"/>
          <p:cNvSpPr/>
          <p:nvPr/>
        </p:nvSpPr>
        <p:spPr>
          <a:xfrm>
            <a:off x="8229600" y="1874520"/>
            <a:ext cx="3154320" cy="3286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350" spc="-1" strike="noStrike">
                <a:solidFill>
                  <a:srgbClr val="0a7d43"/>
                </a:solidFill>
                <a:latin typeface="Consolas"/>
                <a:ea typeface="Consolas"/>
              </a:rPr>
              <a:t>clearAndSetSemantics</a:t>
            </a:r>
            <a:endParaRPr b="0" lang="en-US" sz="1350" spc="-1" strike="noStrike">
              <a:solidFill>
                <a:srgbClr val="000000"/>
              </a:solidFill>
              <a:latin typeface="Arial"/>
            </a:endParaRPr>
          </a:p>
        </p:txBody>
      </p:sp>
      <p:sp>
        <p:nvSpPr>
          <p:cNvPr id="200" name="Shape 35"/>
          <p:cNvSpPr/>
          <p:nvPr/>
        </p:nvSpPr>
        <p:spPr>
          <a:xfrm>
            <a:off x="8229600" y="2377440"/>
            <a:ext cx="3154320" cy="776880"/>
          </a:xfrm>
          <a:prstGeom prst="rect">
            <a:avLst/>
          </a:prstGeom>
          <a:solidFill>
            <a:srgbClr val="ffffff"/>
          </a:solidFill>
          <a:ln w="9525">
            <a:solidFill>
              <a:srgbClr val="e2ddea"/>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201" name="Image 4" descr="preencoded.png"/>
          <p:cNvPicPr/>
          <p:nvPr/>
        </p:nvPicPr>
        <p:blipFill>
          <a:blip r:embed="rId5"/>
          <a:stretch/>
        </p:blipFill>
        <p:spPr>
          <a:xfrm>
            <a:off x="8339400" y="2619720"/>
            <a:ext cx="292320" cy="292320"/>
          </a:xfrm>
          <a:prstGeom prst="rect">
            <a:avLst/>
          </a:prstGeom>
          <a:ln w="0">
            <a:noFill/>
          </a:ln>
        </p:spPr>
      </p:pic>
      <p:pic>
        <p:nvPicPr>
          <p:cNvPr id="202" name="Image 5" descr="preencoded.png"/>
          <p:cNvPicPr/>
          <p:nvPr/>
        </p:nvPicPr>
        <p:blipFill>
          <a:blip r:embed="rId6"/>
          <a:stretch/>
        </p:blipFill>
        <p:spPr>
          <a:xfrm>
            <a:off x="10981800" y="2619720"/>
            <a:ext cx="292320" cy="292320"/>
          </a:xfrm>
          <a:prstGeom prst="rect">
            <a:avLst/>
          </a:prstGeom>
          <a:ln w="0">
            <a:noFill/>
          </a:ln>
        </p:spPr>
      </p:pic>
      <p:sp>
        <p:nvSpPr>
          <p:cNvPr id="203" name="Text 36"/>
          <p:cNvSpPr/>
          <p:nvPr/>
        </p:nvSpPr>
        <p:spPr>
          <a:xfrm>
            <a:off x="8723520" y="2501640"/>
            <a:ext cx="1256400" cy="26388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1" lang="en-US" sz="1150" spc="-1" strike="noStrike">
                <a:solidFill>
                  <a:srgbClr val="1b2330"/>
                </a:solidFill>
                <a:latin typeface="Calibri"/>
                <a:ea typeface="Calibri"/>
              </a:rPr>
              <a:t>Avery Johnson</a:t>
            </a:r>
            <a:endParaRPr b="0" lang="en-US" sz="1150" spc="-1" strike="noStrike">
              <a:solidFill>
                <a:srgbClr val="000000"/>
              </a:solidFill>
              <a:latin typeface="Arial"/>
            </a:endParaRPr>
          </a:p>
        </p:txBody>
      </p:sp>
      <p:sp>
        <p:nvSpPr>
          <p:cNvPr id="204" name="Text 37"/>
          <p:cNvSpPr/>
          <p:nvPr/>
        </p:nvSpPr>
        <p:spPr>
          <a:xfrm>
            <a:off x="9980280" y="2501640"/>
            <a:ext cx="909720" cy="263880"/>
          </a:xfrm>
          <a:prstGeom prst="rect">
            <a:avLst/>
          </a:prstGeom>
          <a:noFill/>
          <a:ln w="0">
            <a:noFill/>
          </a:ln>
        </p:spPr>
        <p:style>
          <a:lnRef idx="0"/>
          <a:fillRef idx="0"/>
          <a:effectRef idx="0"/>
          <a:fontRef idx="minor"/>
        </p:style>
        <p:txBody>
          <a:bodyPr lIns="0" rIns="0" tIns="0" bIns="0" anchor="t">
            <a:noAutofit/>
          </a:bodyPr>
          <a:p>
            <a:pPr algn="r" defTabSz="914400">
              <a:lnSpc>
                <a:spcPct val="100000"/>
              </a:lnSpc>
              <a:tabLst>
                <a:tab algn="l" pos="0"/>
              </a:tabLst>
            </a:pPr>
            <a:r>
              <a:rPr b="0" lang="en-US" sz="950" spc="-1" strike="noStrike">
                <a:solidFill>
                  <a:srgbClr val="5b6472"/>
                </a:solidFill>
                <a:latin typeface="Calibri"/>
                <a:ea typeface="Calibri"/>
              </a:rPr>
              <a:t>Jun 17</a:t>
            </a:r>
            <a:endParaRPr b="0" lang="en-US" sz="950" spc="-1" strike="noStrike">
              <a:solidFill>
                <a:srgbClr val="000000"/>
              </a:solidFill>
              <a:latin typeface="Arial"/>
            </a:endParaRPr>
          </a:p>
        </p:txBody>
      </p:sp>
      <p:sp>
        <p:nvSpPr>
          <p:cNvPr id="205" name="Text 38"/>
          <p:cNvSpPr/>
          <p:nvPr/>
        </p:nvSpPr>
        <p:spPr>
          <a:xfrm>
            <a:off x="8723520" y="2781720"/>
            <a:ext cx="2166840" cy="263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050" spc="-1" strike="noStrike">
                <a:solidFill>
                  <a:srgbClr val="3b3f4a"/>
                </a:solidFill>
                <a:latin typeface="Calibri"/>
                <a:ea typeface="Calibri"/>
              </a:rPr>
              <a:t>Please add contentDescriptions</a:t>
            </a:r>
            <a:endParaRPr b="0" lang="en-US" sz="1050" spc="-1" strike="noStrike">
              <a:solidFill>
                <a:srgbClr val="000000"/>
              </a:solidFill>
              <a:latin typeface="Arial"/>
            </a:endParaRPr>
          </a:p>
        </p:txBody>
      </p:sp>
      <p:sp>
        <p:nvSpPr>
          <p:cNvPr id="206" name="Shape 39"/>
          <p:cNvSpPr/>
          <p:nvPr/>
        </p:nvSpPr>
        <p:spPr>
          <a:xfrm>
            <a:off x="8192880" y="2340720"/>
            <a:ext cx="3227400" cy="849960"/>
          </a:xfrm>
          <a:prstGeom prst="rect">
            <a:avLst/>
          </a:prstGeom>
          <a:noFill/>
          <a:ln w="34925">
            <a:solidFill>
              <a:srgbClr val="1a73e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07" name="Text 40"/>
          <p:cNvSpPr/>
          <p:nvPr/>
        </p:nvSpPr>
        <p:spPr>
          <a:xfrm>
            <a:off x="8229600" y="3337560"/>
            <a:ext cx="822600" cy="8683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5400" spc="-1" strike="noStrike">
                <a:solidFill>
                  <a:srgbClr val="0a7d43"/>
                </a:solidFill>
                <a:latin typeface="Arial"/>
                <a:ea typeface="Arial"/>
              </a:rPr>
              <a:t>1</a:t>
            </a:r>
            <a:endParaRPr b="0" lang="en-US" sz="5400" spc="-1" strike="noStrike">
              <a:solidFill>
                <a:srgbClr val="000000"/>
              </a:solidFill>
              <a:latin typeface="Arial"/>
            </a:endParaRPr>
          </a:p>
        </p:txBody>
      </p:sp>
      <p:sp>
        <p:nvSpPr>
          <p:cNvPr id="208" name="Text 41"/>
          <p:cNvSpPr/>
          <p:nvPr/>
        </p:nvSpPr>
        <p:spPr>
          <a:xfrm>
            <a:off x="9006840" y="3611880"/>
            <a:ext cx="2422800" cy="4568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400" spc="-1" strike="noStrike">
                <a:solidFill>
                  <a:srgbClr val="1b2330"/>
                </a:solidFill>
                <a:latin typeface="Calibri"/>
                <a:ea typeface="Calibri"/>
              </a:rPr>
              <a:t>swipe + actions menu</a:t>
            </a:r>
            <a:endParaRPr b="0" lang="en-US" sz="1400" spc="-1" strike="noStrike">
              <a:solidFill>
                <a:srgbClr val="000000"/>
              </a:solidFill>
              <a:latin typeface="Arial"/>
            </a:endParaRPr>
          </a:p>
        </p:txBody>
      </p:sp>
      <p:sp>
        <p:nvSpPr>
          <p:cNvPr id="209" name="Text 42"/>
          <p:cNvSpPr/>
          <p:nvPr/>
        </p:nvSpPr>
        <p:spPr>
          <a:xfrm>
            <a:off x="8229600" y="4251960"/>
            <a:ext cx="3154320" cy="776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250" spc="-1" strike="noStrike">
                <a:solidFill>
                  <a:srgbClr val="333b48"/>
                </a:solidFill>
                <a:latin typeface="Calibri"/>
                <a:ea typeface="Calibri"/>
              </a:rPr>
              <a:t>You write the sentence. Star / Delete move into TalkBack’s Actions menu.</a:t>
            </a:r>
            <a:endParaRPr b="0" lang="en-US" sz="1250" spc="-1" strike="noStrike">
              <a:solidFill>
                <a:srgbClr val="000000"/>
              </a:solidFill>
              <a:latin typeface="Arial"/>
            </a:endParaRPr>
          </a:p>
        </p:txBody>
      </p:sp>
      <p:sp>
        <p:nvSpPr>
          <p:cNvPr id="210" name="Shape 43"/>
          <p:cNvSpPr/>
          <p:nvPr/>
        </p:nvSpPr>
        <p:spPr>
          <a:xfrm>
            <a:off x="8229600" y="5120640"/>
            <a:ext cx="3154320" cy="959760"/>
          </a:xfrm>
          <a:prstGeom prst="roundRect">
            <a:avLst>
              <a:gd name="adj" fmla="val 7619"/>
            </a:avLst>
          </a:prstGeom>
          <a:solidFill>
            <a:srgbClr val="182235"/>
          </a:solidFill>
          <a:ln w="12700">
            <a:solidFill>
              <a:srgbClr val="18223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1" name="Text 44"/>
          <p:cNvSpPr/>
          <p:nvPr/>
        </p:nvSpPr>
        <p:spPr>
          <a:xfrm>
            <a:off x="8339400" y="5193720"/>
            <a:ext cx="2971440" cy="822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50" spc="-1" strike="noStrike">
                <a:solidFill>
                  <a:srgbClr val="8ab4f8"/>
                </a:solidFill>
                <a:latin typeface="Consolas"/>
                <a:ea typeface="Consolas"/>
              </a:rPr>
              <a:t>Row</a:t>
            </a:r>
            <a:r>
              <a:rPr b="0" lang="en-US" sz="1050" spc="-1" strike="noStrike">
                <a:solidFill>
                  <a:srgbClr val="dce3ec"/>
                </a:solidFill>
                <a:latin typeface="Consolas"/>
                <a:ea typeface="Consolas"/>
              </a:rPr>
              <a:t>(</a:t>
            </a:r>
            <a:r>
              <a:rPr b="0" lang="en-US" sz="1050" spc="-1" strike="noStrike">
                <a:solidFill>
                  <a:srgbClr val="8ab4f8"/>
                </a:solidFill>
                <a:latin typeface="Consolas"/>
                <a:ea typeface="Consolas"/>
              </a:rPr>
              <a:t>Modifier</a:t>
            </a:r>
            <a:r>
              <a:rPr b="0" lang="en-US" sz="1050" spc="-1" strike="noStrike">
                <a:solidFill>
                  <a:srgbClr val="dce3ec"/>
                </a:solidFill>
                <a:latin typeface="Consolas"/>
                <a:ea typeface="Consolas"/>
              </a:rPr>
              <a:t>.</a:t>
            </a:r>
            <a:r>
              <a:rPr b="1" lang="en-US" sz="1050" spc="-1" strike="noStrike">
                <a:solidFill>
                  <a:srgbClr val="3ddc84"/>
                </a:solidFill>
                <a:latin typeface="Consolas"/>
                <a:ea typeface="Consolas"/>
              </a:rPr>
              <a:t>clearAndSetSemantics</a:t>
            </a:r>
            <a:r>
              <a:rPr b="0" lang="en-US" sz="1050" spc="-1" strike="noStrike">
                <a:solidFill>
                  <a:srgbClr val="dce3ec"/>
                </a:solidFill>
                <a:latin typeface="Consolas"/>
                <a:ea typeface="Consolas"/>
              </a:rPr>
              <a:t> {</a:t>
            </a:r>
            <a:endParaRPr b="0" lang="en-US" sz="1050" spc="-1" strike="noStrike">
              <a:solidFill>
                <a:srgbClr val="000000"/>
              </a:solidFill>
              <a:latin typeface="Arial"/>
            </a:endParaRPr>
          </a:p>
          <a:p>
            <a:pPr defTabSz="914400">
              <a:lnSpc>
                <a:spcPct val="100000"/>
              </a:lnSpc>
              <a:tabLst>
                <a:tab algn="l" pos="0"/>
              </a:tabLst>
            </a:pPr>
            <a:r>
              <a:rPr b="0" lang="en-US" sz="1050" spc="-1" strike="noStrike">
                <a:solidFill>
                  <a:srgbClr val="dce3ec"/>
                </a:solidFill>
                <a:latin typeface="Consolas"/>
                <a:ea typeface="Consolas"/>
              </a:rPr>
              <a:t>  </a:t>
            </a:r>
            <a:r>
              <a:rPr b="1" lang="en-US" sz="1050" spc="-1" strike="noStrike">
                <a:solidFill>
                  <a:srgbClr val="3ddc84"/>
                </a:solidFill>
                <a:latin typeface="Consolas"/>
                <a:ea typeface="Consolas"/>
              </a:rPr>
              <a:t>contentDescription</a:t>
            </a:r>
            <a:r>
              <a:rPr b="0" lang="en-US" sz="1050" spc="-1" strike="noStrike">
                <a:solidFill>
                  <a:srgbClr val="dce3ec"/>
                </a:solidFill>
                <a:latin typeface="Consolas"/>
                <a:ea typeface="Consolas"/>
              </a:rPr>
              <a:t> = …</a:t>
            </a:r>
            <a:endParaRPr b="0" lang="en-US" sz="1050" spc="-1" strike="noStrike">
              <a:solidFill>
                <a:srgbClr val="000000"/>
              </a:solidFill>
              <a:latin typeface="Arial"/>
            </a:endParaRPr>
          </a:p>
          <a:p>
            <a:pPr defTabSz="914400">
              <a:lnSpc>
                <a:spcPct val="100000"/>
              </a:lnSpc>
              <a:tabLst>
                <a:tab algn="l" pos="0"/>
              </a:tabLst>
            </a:pPr>
            <a:r>
              <a:rPr b="0" lang="en-US" sz="1050" spc="-1" strike="noStrike">
                <a:solidFill>
                  <a:srgbClr val="dce3ec"/>
                </a:solidFill>
                <a:latin typeface="Consolas"/>
                <a:ea typeface="Consolas"/>
              </a:rPr>
              <a:t>  </a:t>
            </a:r>
            <a:r>
              <a:rPr b="1" lang="en-US" sz="1050" spc="-1" strike="noStrike">
                <a:solidFill>
                  <a:srgbClr val="3ddc84"/>
                </a:solidFill>
                <a:latin typeface="Consolas"/>
                <a:ea typeface="Consolas"/>
              </a:rPr>
              <a:t>customActions</a:t>
            </a:r>
            <a:r>
              <a:rPr b="0" lang="en-US" sz="1050" spc="-1" strike="noStrike">
                <a:solidFill>
                  <a:srgbClr val="dce3ec"/>
                </a:solidFill>
                <a:latin typeface="Consolas"/>
                <a:ea typeface="Consolas"/>
              </a:rPr>
              <a:t> = …</a:t>
            </a:r>
            <a:endParaRPr b="0" lang="en-US" sz="1050" spc="-1" strike="noStrike">
              <a:solidFill>
                <a:srgbClr val="000000"/>
              </a:solidFill>
              <a:latin typeface="Arial"/>
            </a:endParaRPr>
          </a:p>
          <a:p>
            <a:pPr defTabSz="914400">
              <a:lnSpc>
                <a:spcPct val="100000"/>
              </a:lnSpc>
              <a:tabLst>
                <a:tab algn="l" pos="0"/>
              </a:tabLst>
            </a:pPr>
            <a:r>
              <a:rPr b="0" lang="en-US" sz="1050" spc="-1" strike="noStrike">
                <a:solidFill>
                  <a:srgbClr val="dce3ec"/>
                </a:solidFill>
                <a:latin typeface="Consolas"/>
                <a:ea typeface="Consolas"/>
              </a:rPr>
              <a:t>})</a:t>
            </a:r>
            <a:endParaRPr b="0" lang="en-US" sz="1050" spc="-1" strike="noStrike">
              <a:solidFill>
                <a:srgbClr val="000000"/>
              </a:solidFill>
              <a:latin typeface="Arial"/>
            </a:endParaRPr>
          </a:p>
        </p:txBody>
      </p:sp>
      <p:sp>
        <p:nvSpPr>
          <p:cNvPr id="212" name="Text 45"/>
          <p:cNvSpPr/>
          <p:nvPr/>
        </p:nvSpPr>
        <p:spPr>
          <a:xfrm>
            <a:off x="548640" y="6355080"/>
            <a:ext cx="11063880" cy="3196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i="1" lang="en-US" sz="1200" spc="-1" strike="noStrike">
                <a:solidFill>
                  <a:srgbClr val="5b6472"/>
                </a:solidFill>
                <a:latin typeface="Calibri"/>
                <a:ea typeface="Calibri"/>
              </a:rPr>
              <a:t>Concatenation isn’t understanding: a merged revenue table reads “February, 143K, 4.8%, 3.9K”. Complex content needs a sentence you write.</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13" name="Shape 0"/>
          <p:cNvSpPr/>
          <p:nvPr/>
        </p:nvSpPr>
        <p:spPr>
          <a:xfrm>
            <a:off x="548640" y="384120"/>
            <a:ext cx="1449000" cy="328680"/>
          </a:xfrm>
          <a:prstGeom prst="roundRect">
            <a:avLst>
              <a:gd name="adj" fmla="val 50000"/>
            </a:avLst>
          </a:prstGeom>
          <a:solidFill>
            <a:srgbClr val="eeeafb"/>
          </a:solidFill>
          <a:ln w="12700">
            <a:solidFill>
              <a:srgbClr val="eeeaf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14" name="Text 1"/>
          <p:cNvSpPr/>
          <p:nvPr/>
        </p:nvSpPr>
        <p:spPr>
          <a:xfrm>
            <a:off x="548640" y="384120"/>
            <a:ext cx="144900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99" strike="noStrike">
                <a:solidFill>
                  <a:srgbClr val="5b3fd6"/>
                </a:solidFill>
                <a:latin typeface="Calibri"/>
                <a:ea typeface="Calibri"/>
              </a:rPr>
              <a:t>03 · GROUPING</a:t>
            </a:r>
            <a:endParaRPr b="0" lang="en-US" sz="1100" spc="-1" strike="noStrike">
              <a:solidFill>
                <a:srgbClr val="000000"/>
              </a:solidFill>
              <a:latin typeface="Arial"/>
            </a:endParaRPr>
          </a:p>
        </p:txBody>
      </p:sp>
      <p:sp>
        <p:nvSpPr>
          <p:cNvPr id="215" name="Text 2"/>
          <p:cNvSpPr/>
          <p:nvPr/>
        </p:nvSpPr>
        <p:spPr>
          <a:xfrm>
            <a:off x="548640" y="868680"/>
            <a:ext cx="11063880" cy="7311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2800" spc="-1" strike="noStrike">
                <a:solidFill>
                  <a:srgbClr val="1b2330"/>
                </a:solidFill>
                <a:latin typeface="Consolas"/>
                <a:ea typeface="Consolas"/>
              </a:rPr>
              <a:t>clearAndSetSemantics + customActions</a:t>
            </a:r>
            <a:endParaRPr b="0" lang="en-US" sz="2800" spc="-1" strike="noStrike">
              <a:solidFill>
                <a:srgbClr val="000000"/>
              </a:solidFill>
              <a:latin typeface="Arial"/>
            </a:endParaRPr>
          </a:p>
        </p:txBody>
      </p:sp>
      <p:sp>
        <p:nvSpPr>
          <p:cNvPr id="216" name="Shape 3"/>
          <p:cNvSpPr/>
          <p:nvPr/>
        </p:nvSpPr>
        <p:spPr>
          <a:xfrm>
            <a:off x="548640" y="1737360"/>
            <a:ext cx="6811920" cy="4160160"/>
          </a:xfrm>
          <a:prstGeom prst="roundRect">
            <a:avLst>
              <a:gd name="adj" fmla="val 2637"/>
            </a:avLst>
          </a:prstGeom>
          <a:solidFill>
            <a:srgbClr val="182235"/>
          </a:solidFill>
          <a:ln w="12700">
            <a:solidFill>
              <a:srgbClr val="18223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7" name="Text 4"/>
          <p:cNvSpPr/>
          <p:nvPr/>
        </p:nvSpPr>
        <p:spPr>
          <a:xfrm>
            <a:off x="777240" y="1938600"/>
            <a:ext cx="6446160" cy="3840120"/>
          </a:xfrm>
          <a:prstGeom prst="rect">
            <a:avLst/>
          </a:prstGeom>
          <a:noFill/>
          <a:ln w="0">
            <a:noFill/>
          </a:ln>
        </p:spPr>
        <p:style>
          <a:lnRef idx="0"/>
          <a:fillRef idx="0"/>
          <a:effectRef idx="0"/>
          <a:fontRef idx="minor"/>
        </p:style>
        <p:txBody>
          <a:bodyPr lIns="0" rIns="0" tIns="0" bIns="0" anchor="t">
            <a:noAutofit/>
          </a:bodyPr>
          <a:p>
            <a:pPr defTabSz="914400">
              <a:lnSpc>
                <a:spcPct val="105000"/>
              </a:lnSpc>
              <a:tabLst>
                <a:tab algn="l" pos="0"/>
              </a:tabLst>
            </a:pPr>
            <a:r>
              <a:rPr b="0" lang="en-US" sz="1200" spc="-1" strike="noStrike">
                <a:solidFill>
                  <a:srgbClr val="8ab4f8"/>
                </a:solidFill>
                <a:latin typeface="Consolas"/>
                <a:ea typeface="Consolas"/>
              </a:rPr>
              <a:t>Row</a:t>
            </a:r>
            <a:r>
              <a:rPr b="0" lang="en-US" sz="1200" spc="-1" strike="noStrike">
                <a:solidFill>
                  <a:srgbClr val="dce3ec"/>
                </a:solidFill>
                <a:latin typeface="Consolas"/>
                <a:ea typeface="Consolas"/>
              </a:rPr>
              <a:t>(</a:t>
            </a:r>
            <a:endParaRPr b="0" lang="en-US" sz="1200" spc="-1" strike="noStrike">
              <a:solidFill>
                <a:srgbClr val="000000"/>
              </a:solidFill>
              <a:latin typeface="Arial"/>
            </a:endParaRPr>
          </a:p>
          <a:p>
            <a:pPr defTabSz="914400">
              <a:lnSpc>
                <a:spcPct val="105000"/>
              </a:lnSpc>
              <a:tabLst>
                <a:tab algn="l" pos="0"/>
              </a:tabLst>
            </a:pPr>
            <a:r>
              <a:rPr b="0" lang="en-US" sz="1200" spc="-1" strike="noStrike">
                <a:solidFill>
                  <a:srgbClr val="dce3ec"/>
                </a:solidFill>
                <a:latin typeface="Consolas"/>
                <a:ea typeface="Consolas"/>
              </a:rPr>
              <a:t>    </a:t>
            </a:r>
            <a:r>
              <a:rPr b="0" lang="en-US" sz="1200" spc="-1" strike="noStrike">
                <a:solidFill>
                  <a:srgbClr val="8ab4f8"/>
                </a:solidFill>
                <a:latin typeface="Consolas"/>
                <a:ea typeface="Consolas"/>
              </a:rPr>
              <a:t>Modifier</a:t>
            </a:r>
            <a:r>
              <a:rPr b="0" lang="en-US" sz="1200" spc="-1" strike="noStrike">
                <a:solidFill>
                  <a:srgbClr val="dce3ec"/>
                </a:solidFill>
                <a:latin typeface="Consolas"/>
                <a:ea typeface="Consolas"/>
              </a:rPr>
              <a:t>.</a:t>
            </a:r>
            <a:r>
              <a:rPr b="1" lang="en-US" sz="1200" spc="-1" strike="noStrike">
                <a:solidFill>
                  <a:srgbClr val="3ddc84"/>
                </a:solidFill>
                <a:latin typeface="Consolas"/>
                <a:ea typeface="Consolas"/>
              </a:rPr>
              <a:t>clearAndSetSemantics</a:t>
            </a:r>
            <a:r>
              <a:rPr b="0" lang="en-US" sz="1200" spc="-1" strike="noStrike">
                <a:solidFill>
                  <a:srgbClr val="dce3ec"/>
                </a:solidFill>
                <a:latin typeface="Consolas"/>
                <a:ea typeface="Consolas"/>
              </a:rPr>
              <a:t> {</a:t>
            </a:r>
            <a:endParaRPr b="0" lang="en-US" sz="1200" spc="-1" strike="noStrike">
              <a:solidFill>
                <a:srgbClr val="000000"/>
              </a:solidFill>
              <a:latin typeface="Arial"/>
            </a:endParaRPr>
          </a:p>
          <a:p>
            <a:pPr defTabSz="914400">
              <a:lnSpc>
                <a:spcPct val="105000"/>
              </a:lnSpc>
              <a:tabLst>
                <a:tab algn="l" pos="0"/>
              </a:tabLst>
            </a:pPr>
            <a:r>
              <a:rPr b="0" lang="en-US" sz="1200" spc="-1" strike="noStrike">
                <a:solidFill>
                  <a:srgbClr val="dce3ec"/>
                </a:solidFill>
                <a:latin typeface="Consolas"/>
                <a:ea typeface="Consolas"/>
              </a:rPr>
              <a:t>        </a:t>
            </a:r>
            <a:r>
              <a:rPr b="1" lang="en-US" sz="1200" spc="-1" strike="noStrike">
                <a:solidFill>
                  <a:srgbClr val="3ddc84"/>
                </a:solidFill>
                <a:latin typeface="Consolas"/>
                <a:ea typeface="Consolas"/>
              </a:rPr>
              <a:t>contentDescription</a:t>
            </a:r>
            <a:r>
              <a:rPr b="0" lang="en-US" sz="1200" spc="-1" strike="noStrike">
                <a:solidFill>
                  <a:srgbClr val="dce3ec"/>
                </a:solidFill>
                <a:latin typeface="Consolas"/>
                <a:ea typeface="Consolas"/>
              </a:rPr>
              <a:t> =</a:t>
            </a:r>
            <a:endParaRPr b="0" lang="en-US" sz="1200" spc="-1" strike="noStrike">
              <a:solidFill>
                <a:srgbClr val="000000"/>
              </a:solidFill>
              <a:latin typeface="Arial"/>
            </a:endParaRPr>
          </a:p>
          <a:p>
            <a:pPr defTabSz="914400">
              <a:lnSpc>
                <a:spcPct val="105000"/>
              </a:lnSpc>
              <a:tabLst>
                <a:tab algn="l" pos="0"/>
              </a:tabLst>
            </a:pPr>
            <a:r>
              <a:rPr b="0" lang="en-US" sz="1200" spc="-1" strike="noStrike">
                <a:solidFill>
                  <a:srgbClr val="dce3ec"/>
                </a:solidFill>
                <a:latin typeface="Consolas"/>
                <a:ea typeface="Consolas"/>
              </a:rPr>
              <a:t>            </a:t>
            </a:r>
            <a:r>
              <a:rPr b="0" lang="en-US" sz="1200" spc="-1" strike="noStrike">
                <a:solidFill>
                  <a:srgbClr val="b5e48c"/>
                </a:solidFill>
                <a:latin typeface="Consolas"/>
                <a:ea typeface="Consolas"/>
              </a:rPr>
              <a:t>"${item.name}, ${item.dateTime}, ${item.subject}"</a:t>
            </a:r>
            <a:endParaRPr b="0" lang="en-US" sz="1200" spc="-1" strike="noStrike">
              <a:solidFill>
                <a:srgbClr val="000000"/>
              </a:solidFill>
              <a:latin typeface="Arial"/>
            </a:endParaRPr>
          </a:p>
          <a:p>
            <a:pPr defTabSz="914400">
              <a:lnSpc>
                <a:spcPct val="105000"/>
              </a:lnSpc>
              <a:tabLst>
                <a:tab algn="l" pos="0"/>
              </a:tabLst>
            </a:pPr>
            <a:r>
              <a:rPr b="0" lang="en-US" sz="1200" spc="-1" strike="noStrike">
                <a:solidFill>
                  <a:srgbClr val="dce3ec"/>
                </a:solidFill>
                <a:latin typeface="Consolas"/>
                <a:ea typeface="Consolas"/>
              </a:rPr>
              <a:t>        </a:t>
            </a:r>
            <a:r>
              <a:rPr b="1" lang="en-US" sz="1200" spc="-1" strike="noStrike">
                <a:solidFill>
                  <a:srgbClr val="3ddc84"/>
                </a:solidFill>
                <a:latin typeface="Consolas"/>
                <a:ea typeface="Consolas"/>
              </a:rPr>
              <a:t>stateDescription</a:t>
            </a:r>
            <a:r>
              <a:rPr b="0" lang="en-US" sz="1200" spc="-1" strike="noStrike">
                <a:solidFill>
                  <a:srgbClr val="dce3ec"/>
                </a:solidFill>
                <a:latin typeface="Consolas"/>
                <a:ea typeface="Consolas"/>
              </a:rPr>
              <a:t> =</a:t>
            </a:r>
            <a:endParaRPr b="0" lang="en-US" sz="1200" spc="-1" strike="noStrike">
              <a:solidFill>
                <a:srgbClr val="000000"/>
              </a:solidFill>
              <a:latin typeface="Arial"/>
            </a:endParaRPr>
          </a:p>
          <a:p>
            <a:pPr defTabSz="914400">
              <a:lnSpc>
                <a:spcPct val="105000"/>
              </a:lnSpc>
              <a:tabLst>
                <a:tab algn="l" pos="0"/>
              </a:tabLst>
            </a:pPr>
            <a:r>
              <a:rPr b="0" lang="en-US" sz="1200" spc="-1" strike="noStrike">
                <a:solidFill>
                  <a:srgbClr val="dce3ec"/>
                </a:solidFill>
                <a:latin typeface="Consolas"/>
                <a:ea typeface="Consolas"/>
              </a:rPr>
              <a:t>            </a:t>
            </a:r>
            <a:r>
              <a:rPr b="0" lang="en-US" sz="1200" spc="-1" strike="noStrike">
                <a:solidFill>
                  <a:srgbClr val="ff8fc7"/>
                </a:solidFill>
                <a:latin typeface="Consolas"/>
                <a:ea typeface="Consolas"/>
              </a:rPr>
              <a:t>if</a:t>
            </a:r>
            <a:r>
              <a:rPr b="0" lang="en-US" sz="1200" spc="-1" strike="noStrike">
                <a:solidFill>
                  <a:srgbClr val="dce3ec"/>
                </a:solidFill>
                <a:latin typeface="Consolas"/>
                <a:ea typeface="Consolas"/>
              </a:rPr>
              <a:t> (isStarred) </a:t>
            </a:r>
            <a:r>
              <a:rPr b="0" lang="en-US" sz="1200" spc="-1" strike="noStrike">
                <a:solidFill>
                  <a:srgbClr val="b5e48c"/>
                </a:solidFill>
                <a:latin typeface="Consolas"/>
                <a:ea typeface="Consolas"/>
              </a:rPr>
              <a:t>"Starred"</a:t>
            </a:r>
            <a:r>
              <a:rPr b="0" lang="en-US" sz="1200" spc="-1" strike="noStrike">
                <a:solidFill>
                  <a:srgbClr val="dce3ec"/>
                </a:solidFill>
                <a:latin typeface="Consolas"/>
                <a:ea typeface="Consolas"/>
              </a:rPr>
              <a:t> </a:t>
            </a:r>
            <a:r>
              <a:rPr b="0" lang="en-US" sz="1200" spc="-1" strike="noStrike">
                <a:solidFill>
                  <a:srgbClr val="ff8fc7"/>
                </a:solidFill>
                <a:latin typeface="Consolas"/>
                <a:ea typeface="Consolas"/>
              </a:rPr>
              <a:t>else</a:t>
            </a:r>
            <a:r>
              <a:rPr b="0" lang="en-US" sz="1200" spc="-1" strike="noStrike">
                <a:solidFill>
                  <a:srgbClr val="dce3ec"/>
                </a:solidFill>
                <a:latin typeface="Consolas"/>
                <a:ea typeface="Consolas"/>
              </a:rPr>
              <a:t> </a:t>
            </a:r>
            <a:r>
              <a:rPr b="0" lang="en-US" sz="1200" spc="-1" strike="noStrike">
                <a:solidFill>
                  <a:srgbClr val="b5e48c"/>
                </a:solidFill>
                <a:latin typeface="Consolas"/>
                <a:ea typeface="Consolas"/>
              </a:rPr>
              <a:t>"Not starred"</a:t>
            </a:r>
            <a:endParaRPr b="0" lang="en-US" sz="1200" spc="-1" strike="noStrike">
              <a:solidFill>
                <a:srgbClr val="000000"/>
              </a:solidFill>
              <a:latin typeface="Arial"/>
            </a:endParaRPr>
          </a:p>
          <a:p>
            <a:pPr defTabSz="914400">
              <a:lnSpc>
                <a:spcPct val="105000"/>
              </a:lnSpc>
              <a:tabLst>
                <a:tab algn="l" pos="0"/>
              </a:tabLst>
            </a:pPr>
            <a:r>
              <a:rPr b="0" lang="en-US" sz="1200" spc="-1" strike="noStrike">
                <a:solidFill>
                  <a:srgbClr val="dce3ec"/>
                </a:solidFill>
                <a:latin typeface="Consolas"/>
                <a:ea typeface="Consolas"/>
              </a:rPr>
              <a:t>        </a:t>
            </a:r>
            <a:r>
              <a:rPr b="1" lang="en-US" sz="1200" spc="-1" strike="noStrike">
                <a:solidFill>
                  <a:srgbClr val="3ddc84"/>
                </a:solidFill>
                <a:latin typeface="Consolas"/>
                <a:ea typeface="Consolas"/>
              </a:rPr>
              <a:t>customActions</a:t>
            </a:r>
            <a:r>
              <a:rPr b="0" lang="en-US" sz="1200" spc="-1" strike="noStrike">
                <a:solidFill>
                  <a:srgbClr val="dce3ec"/>
                </a:solidFill>
                <a:latin typeface="Consolas"/>
                <a:ea typeface="Consolas"/>
              </a:rPr>
              <a:t> = listOf(</a:t>
            </a:r>
            <a:endParaRPr b="0" lang="en-US" sz="1200" spc="-1" strike="noStrike">
              <a:solidFill>
                <a:srgbClr val="000000"/>
              </a:solidFill>
              <a:latin typeface="Arial"/>
            </a:endParaRPr>
          </a:p>
          <a:p>
            <a:pPr defTabSz="914400">
              <a:lnSpc>
                <a:spcPct val="105000"/>
              </a:lnSpc>
              <a:tabLst>
                <a:tab algn="l" pos="0"/>
              </a:tabLst>
            </a:pPr>
            <a:r>
              <a:rPr b="0" lang="en-US" sz="1200" spc="-1" strike="noStrike">
                <a:solidFill>
                  <a:srgbClr val="dce3ec"/>
                </a:solidFill>
                <a:latin typeface="Consolas"/>
                <a:ea typeface="Consolas"/>
              </a:rPr>
              <a:t>            </a:t>
            </a:r>
            <a:r>
              <a:rPr b="1" lang="en-US" sz="1200" spc="-1" strike="noStrike">
                <a:solidFill>
                  <a:srgbClr val="3ddc84"/>
                </a:solidFill>
                <a:latin typeface="Consolas"/>
                <a:ea typeface="Consolas"/>
              </a:rPr>
              <a:t>CustomAccessibilityAction</a:t>
            </a:r>
            <a:r>
              <a:rPr b="0" lang="en-US" sz="1200" spc="-1" strike="noStrike">
                <a:solidFill>
                  <a:srgbClr val="dce3ec"/>
                </a:solidFill>
                <a:latin typeface="Consolas"/>
                <a:ea typeface="Consolas"/>
              </a:rPr>
              <a:t>(</a:t>
            </a:r>
            <a:endParaRPr b="0" lang="en-US" sz="1200" spc="-1" strike="noStrike">
              <a:solidFill>
                <a:srgbClr val="000000"/>
              </a:solidFill>
              <a:latin typeface="Arial"/>
            </a:endParaRPr>
          </a:p>
          <a:p>
            <a:pPr defTabSz="914400">
              <a:lnSpc>
                <a:spcPct val="105000"/>
              </a:lnSpc>
              <a:tabLst>
                <a:tab algn="l" pos="0"/>
              </a:tabLst>
            </a:pPr>
            <a:r>
              <a:rPr b="0" lang="en-US" sz="1200" spc="-1" strike="noStrike">
                <a:solidFill>
                  <a:srgbClr val="dce3ec"/>
                </a:solidFill>
                <a:latin typeface="Consolas"/>
                <a:ea typeface="Consolas"/>
              </a:rPr>
              <a:t>                </a:t>
            </a:r>
            <a:r>
              <a:rPr b="0" lang="en-US" sz="1200" spc="-1" strike="noStrike">
                <a:solidFill>
                  <a:srgbClr val="ff8fc7"/>
                </a:solidFill>
                <a:latin typeface="Consolas"/>
                <a:ea typeface="Consolas"/>
              </a:rPr>
              <a:t>if</a:t>
            </a:r>
            <a:r>
              <a:rPr b="0" lang="en-US" sz="1200" spc="-1" strike="noStrike">
                <a:solidFill>
                  <a:srgbClr val="dce3ec"/>
                </a:solidFill>
                <a:latin typeface="Consolas"/>
                <a:ea typeface="Consolas"/>
              </a:rPr>
              <a:t> (isStarred) </a:t>
            </a:r>
            <a:r>
              <a:rPr b="0" lang="en-US" sz="1200" spc="-1" strike="noStrike">
                <a:solidFill>
                  <a:srgbClr val="b5e48c"/>
                </a:solidFill>
                <a:latin typeface="Consolas"/>
                <a:ea typeface="Consolas"/>
              </a:rPr>
              <a:t>"Unstar message"</a:t>
            </a:r>
            <a:r>
              <a:rPr b="0" lang="en-US" sz="1200" spc="-1" strike="noStrike">
                <a:solidFill>
                  <a:srgbClr val="dce3ec"/>
                </a:solidFill>
                <a:latin typeface="Consolas"/>
                <a:ea typeface="Consolas"/>
              </a:rPr>
              <a:t> </a:t>
            </a:r>
            <a:r>
              <a:rPr b="0" lang="en-US" sz="1200" spc="-1" strike="noStrike">
                <a:solidFill>
                  <a:srgbClr val="ff8fc7"/>
                </a:solidFill>
                <a:latin typeface="Consolas"/>
                <a:ea typeface="Consolas"/>
              </a:rPr>
              <a:t>else</a:t>
            </a:r>
            <a:r>
              <a:rPr b="0" lang="en-US" sz="1200" spc="-1" strike="noStrike">
                <a:solidFill>
                  <a:srgbClr val="dce3ec"/>
                </a:solidFill>
                <a:latin typeface="Consolas"/>
                <a:ea typeface="Consolas"/>
              </a:rPr>
              <a:t> </a:t>
            </a:r>
            <a:r>
              <a:rPr b="0" lang="en-US" sz="1200" spc="-1" strike="noStrike">
                <a:solidFill>
                  <a:srgbClr val="b5e48c"/>
                </a:solidFill>
                <a:latin typeface="Consolas"/>
                <a:ea typeface="Consolas"/>
              </a:rPr>
              <a:t>"Star message"</a:t>
            </a:r>
            <a:endParaRPr b="0" lang="en-US" sz="1200" spc="-1" strike="noStrike">
              <a:solidFill>
                <a:srgbClr val="000000"/>
              </a:solidFill>
              <a:latin typeface="Arial"/>
            </a:endParaRPr>
          </a:p>
          <a:p>
            <a:pPr defTabSz="914400">
              <a:lnSpc>
                <a:spcPct val="105000"/>
              </a:lnSpc>
              <a:tabLst>
                <a:tab algn="l" pos="0"/>
              </a:tabLst>
            </a:pPr>
            <a:r>
              <a:rPr b="0" lang="en-US" sz="1200" spc="-1" strike="noStrike">
                <a:solidFill>
                  <a:srgbClr val="dce3ec"/>
                </a:solidFill>
                <a:latin typeface="Consolas"/>
                <a:ea typeface="Consolas"/>
              </a:rPr>
              <a:t>            </a:t>
            </a:r>
            <a:r>
              <a:rPr b="0" lang="en-US" sz="1200" spc="-1" strike="noStrike">
                <a:solidFill>
                  <a:srgbClr val="dce3ec"/>
                </a:solidFill>
                <a:latin typeface="Consolas"/>
                <a:ea typeface="Consolas"/>
              </a:rPr>
              <a:t>) { isStarred = !isStarred; </a:t>
            </a:r>
            <a:r>
              <a:rPr b="0" lang="en-US" sz="1200" spc="-1" strike="noStrike">
                <a:solidFill>
                  <a:srgbClr val="ff8fc7"/>
                </a:solidFill>
                <a:latin typeface="Consolas"/>
                <a:ea typeface="Consolas"/>
              </a:rPr>
              <a:t>true</a:t>
            </a:r>
            <a:r>
              <a:rPr b="0" lang="en-US" sz="1200" spc="-1" strike="noStrike">
                <a:solidFill>
                  <a:srgbClr val="dce3ec"/>
                </a:solidFill>
                <a:latin typeface="Consolas"/>
                <a:ea typeface="Consolas"/>
              </a:rPr>
              <a:t> },</a:t>
            </a:r>
            <a:endParaRPr b="0" lang="en-US" sz="1200" spc="-1" strike="noStrike">
              <a:solidFill>
                <a:srgbClr val="000000"/>
              </a:solidFill>
              <a:latin typeface="Arial"/>
            </a:endParaRPr>
          </a:p>
          <a:p>
            <a:pPr defTabSz="914400">
              <a:lnSpc>
                <a:spcPct val="105000"/>
              </a:lnSpc>
              <a:tabLst>
                <a:tab algn="l" pos="0"/>
              </a:tabLst>
            </a:pPr>
            <a:r>
              <a:rPr b="0" lang="en-US" sz="1200" spc="-1" strike="noStrike">
                <a:solidFill>
                  <a:srgbClr val="dce3ec"/>
                </a:solidFill>
                <a:latin typeface="Consolas"/>
                <a:ea typeface="Consolas"/>
              </a:rPr>
              <a:t>            </a:t>
            </a:r>
            <a:r>
              <a:rPr b="1" lang="en-US" sz="1200" spc="-1" strike="noStrike">
                <a:solidFill>
                  <a:srgbClr val="3ddc84"/>
                </a:solidFill>
                <a:latin typeface="Consolas"/>
                <a:ea typeface="Consolas"/>
              </a:rPr>
              <a:t>CustomAccessibilityAction</a:t>
            </a:r>
            <a:r>
              <a:rPr b="0" lang="en-US" sz="1200" spc="-1" strike="noStrike">
                <a:solidFill>
                  <a:srgbClr val="dce3ec"/>
                </a:solidFill>
                <a:latin typeface="Consolas"/>
                <a:ea typeface="Consolas"/>
              </a:rPr>
              <a:t>(</a:t>
            </a:r>
            <a:endParaRPr b="0" lang="en-US" sz="1200" spc="-1" strike="noStrike">
              <a:solidFill>
                <a:srgbClr val="000000"/>
              </a:solidFill>
              <a:latin typeface="Arial"/>
            </a:endParaRPr>
          </a:p>
          <a:p>
            <a:pPr defTabSz="914400">
              <a:lnSpc>
                <a:spcPct val="105000"/>
              </a:lnSpc>
              <a:tabLst>
                <a:tab algn="l" pos="0"/>
              </a:tabLst>
            </a:pPr>
            <a:r>
              <a:rPr b="0" lang="en-US" sz="1200" spc="-1" strike="noStrike">
                <a:solidFill>
                  <a:srgbClr val="dce3ec"/>
                </a:solidFill>
                <a:latin typeface="Consolas"/>
                <a:ea typeface="Consolas"/>
              </a:rPr>
              <a:t>                </a:t>
            </a:r>
            <a:r>
              <a:rPr b="0" lang="en-US" sz="1200" spc="-1" strike="noStrike">
                <a:solidFill>
                  <a:srgbClr val="b5e48c"/>
                </a:solidFill>
                <a:latin typeface="Consolas"/>
                <a:ea typeface="Consolas"/>
              </a:rPr>
              <a:t>"Delete message from ${item.name}: ${item.subject}"</a:t>
            </a:r>
            <a:endParaRPr b="0" lang="en-US" sz="1200" spc="-1" strike="noStrike">
              <a:solidFill>
                <a:srgbClr val="000000"/>
              </a:solidFill>
              <a:latin typeface="Arial"/>
            </a:endParaRPr>
          </a:p>
          <a:p>
            <a:pPr defTabSz="914400">
              <a:lnSpc>
                <a:spcPct val="105000"/>
              </a:lnSpc>
              <a:tabLst>
                <a:tab algn="l" pos="0"/>
              </a:tabLst>
            </a:pPr>
            <a:r>
              <a:rPr b="0" lang="en-US" sz="1200" spc="-1" strike="noStrike">
                <a:solidFill>
                  <a:srgbClr val="dce3ec"/>
                </a:solidFill>
                <a:latin typeface="Consolas"/>
                <a:ea typeface="Consolas"/>
              </a:rPr>
              <a:t>            </a:t>
            </a:r>
            <a:r>
              <a:rPr b="0" lang="en-US" sz="1200" spc="-1" strike="noStrike">
                <a:solidFill>
                  <a:srgbClr val="dce3ec"/>
                </a:solidFill>
                <a:latin typeface="Consolas"/>
                <a:ea typeface="Consolas"/>
              </a:rPr>
              <a:t>) { onDelete(); </a:t>
            </a:r>
            <a:r>
              <a:rPr b="0" lang="en-US" sz="1200" spc="-1" strike="noStrike">
                <a:solidFill>
                  <a:srgbClr val="ff8fc7"/>
                </a:solidFill>
                <a:latin typeface="Consolas"/>
                <a:ea typeface="Consolas"/>
              </a:rPr>
              <a:t>true</a:t>
            </a:r>
            <a:r>
              <a:rPr b="0" lang="en-US" sz="1200" spc="-1" strike="noStrike">
                <a:solidFill>
                  <a:srgbClr val="dce3ec"/>
                </a:solidFill>
                <a:latin typeface="Consolas"/>
                <a:ea typeface="Consolas"/>
              </a:rPr>
              <a:t> },</a:t>
            </a:r>
            <a:endParaRPr b="0" lang="en-US" sz="1200" spc="-1" strike="noStrike">
              <a:solidFill>
                <a:srgbClr val="000000"/>
              </a:solidFill>
              <a:latin typeface="Arial"/>
            </a:endParaRPr>
          </a:p>
          <a:p>
            <a:pPr defTabSz="914400">
              <a:lnSpc>
                <a:spcPct val="105000"/>
              </a:lnSpc>
              <a:tabLst>
                <a:tab algn="l" pos="0"/>
              </a:tabLst>
            </a:pPr>
            <a:r>
              <a:rPr b="0" lang="en-US" sz="1200" spc="-1" strike="noStrike">
                <a:solidFill>
                  <a:srgbClr val="dce3ec"/>
                </a:solidFill>
                <a:latin typeface="Consolas"/>
                <a:ea typeface="Consolas"/>
              </a:rPr>
              <a:t>        </a:t>
            </a:r>
            <a:r>
              <a:rPr b="0" lang="en-US" sz="1200" spc="-1" strike="noStrike">
                <a:solidFill>
                  <a:srgbClr val="dce3ec"/>
                </a:solidFill>
                <a:latin typeface="Consolas"/>
                <a:ea typeface="Consolas"/>
              </a:rPr>
              <a:t>)</a:t>
            </a:r>
            <a:endParaRPr b="0" lang="en-US" sz="1200" spc="-1" strike="noStrike">
              <a:solidFill>
                <a:srgbClr val="000000"/>
              </a:solidFill>
              <a:latin typeface="Arial"/>
            </a:endParaRPr>
          </a:p>
          <a:p>
            <a:pPr defTabSz="914400">
              <a:lnSpc>
                <a:spcPct val="105000"/>
              </a:lnSpc>
              <a:tabLst>
                <a:tab algn="l" pos="0"/>
              </a:tabLst>
            </a:pPr>
            <a:r>
              <a:rPr b="0" lang="en-US" sz="1200" spc="-1" strike="noStrike">
                <a:solidFill>
                  <a:srgbClr val="dce3ec"/>
                </a:solidFill>
                <a:latin typeface="Consolas"/>
                <a:ea typeface="Consolas"/>
              </a:rPr>
              <a:t>    </a:t>
            </a:r>
            <a:r>
              <a:rPr b="0" lang="en-US" sz="1200" spc="-1" strike="noStrike">
                <a:solidFill>
                  <a:srgbClr val="dce3ec"/>
                </a:solidFill>
                <a:latin typeface="Consolas"/>
                <a:ea typeface="Consolas"/>
              </a:rPr>
              <a:t>}</a:t>
            </a:r>
            <a:endParaRPr b="0" lang="en-US" sz="1200" spc="-1" strike="noStrike">
              <a:solidFill>
                <a:srgbClr val="000000"/>
              </a:solidFill>
              <a:latin typeface="Arial"/>
            </a:endParaRPr>
          </a:p>
          <a:p>
            <a:pPr defTabSz="914400">
              <a:lnSpc>
                <a:spcPct val="105000"/>
              </a:lnSpc>
              <a:tabLst>
                <a:tab algn="l" pos="0"/>
              </a:tabLst>
            </a:pPr>
            <a:r>
              <a:rPr b="0" lang="en-US" sz="1200" spc="-1" strike="noStrike">
                <a:solidFill>
                  <a:srgbClr val="dce3ec"/>
                </a:solidFill>
                <a:latin typeface="Consolas"/>
                <a:ea typeface="Consolas"/>
              </a:rPr>
              <a:t>) { </a:t>
            </a:r>
            <a:r>
              <a:rPr b="0" lang="en-US" sz="1200" spc="-1" strike="noStrike">
                <a:solidFill>
                  <a:srgbClr val="8ab4f8"/>
                </a:solidFill>
                <a:latin typeface="Consolas"/>
                <a:ea typeface="Consolas"/>
              </a:rPr>
              <a:t>StarToggle</a:t>
            </a:r>
            <a:r>
              <a:rPr b="0" lang="en-US" sz="1200" spc="-1" strike="noStrike">
                <a:solidFill>
                  <a:srgbClr val="dce3ec"/>
                </a:solidFill>
                <a:latin typeface="Consolas"/>
                <a:ea typeface="Consolas"/>
              </a:rPr>
              <a:t>(); </a:t>
            </a:r>
            <a:r>
              <a:rPr b="0" lang="en-US" sz="1200" spc="-1" strike="noStrike">
                <a:solidFill>
                  <a:srgbClr val="8ab4f8"/>
                </a:solidFill>
                <a:latin typeface="Consolas"/>
                <a:ea typeface="Consolas"/>
              </a:rPr>
              <a:t>InboxText</a:t>
            </a:r>
            <a:r>
              <a:rPr b="0" lang="en-US" sz="1200" spc="-1" strike="noStrike">
                <a:solidFill>
                  <a:srgbClr val="dce3ec"/>
                </a:solidFill>
                <a:latin typeface="Consolas"/>
                <a:ea typeface="Consolas"/>
              </a:rPr>
              <a:t>(); </a:t>
            </a:r>
            <a:r>
              <a:rPr b="0" lang="en-US" sz="1200" spc="-1" strike="noStrike">
                <a:solidFill>
                  <a:srgbClr val="8ab4f8"/>
                </a:solidFill>
                <a:latin typeface="Consolas"/>
                <a:ea typeface="Consolas"/>
              </a:rPr>
              <a:t>DeleteButton</a:t>
            </a:r>
            <a:r>
              <a:rPr b="0" lang="en-US" sz="1200" spc="-1" strike="noStrike">
                <a:solidFill>
                  <a:srgbClr val="dce3ec"/>
                </a:solidFill>
                <a:latin typeface="Consolas"/>
                <a:ea typeface="Consolas"/>
              </a:rPr>
              <a:t>() }</a:t>
            </a:r>
            <a:endParaRPr b="0" lang="en-US" sz="1200" spc="-1" strike="noStrike">
              <a:solidFill>
                <a:srgbClr val="000000"/>
              </a:solidFill>
              <a:latin typeface="Arial"/>
            </a:endParaRPr>
          </a:p>
        </p:txBody>
      </p:sp>
      <p:sp>
        <p:nvSpPr>
          <p:cNvPr id="218" name="Text 5"/>
          <p:cNvSpPr/>
          <p:nvPr/>
        </p:nvSpPr>
        <p:spPr>
          <a:xfrm>
            <a:off x="6355080" y="1810440"/>
            <a:ext cx="868320" cy="200880"/>
          </a:xfrm>
          <a:prstGeom prst="rect">
            <a:avLst/>
          </a:prstGeom>
          <a:noFill/>
          <a:ln w="0">
            <a:noFill/>
          </a:ln>
        </p:spPr>
        <p:style>
          <a:lnRef idx="0"/>
          <a:fillRef idx="0"/>
          <a:effectRef idx="0"/>
          <a:fontRef idx="minor"/>
        </p:style>
        <p:txBody>
          <a:bodyPr lIns="0" rIns="0" tIns="0" bIns="0" anchor="t">
            <a:noAutofit/>
          </a:bodyPr>
          <a:p>
            <a:pPr algn="r" defTabSz="914400">
              <a:lnSpc>
                <a:spcPct val="100000"/>
              </a:lnSpc>
              <a:tabLst>
                <a:tab algn="l" pos="0"/>
              </a:tabLst>
            </a:pPr>
            <a:r>
              <a:rPr b="0" lang="en-US" sz="900" spc="-1" strike="noStrike">
                <a:solidFill>
                  <a:srgbClr val="6f7d93"/>
                </a:solidFill>
                <a:latin typeface="Calibri"/>
                <a:ea typeface="Calibri"/>
              </a:rPr>
              <a:t>Kotlin</a:t>
            </a:r>
            <a:endParaRPr b="0" lang="en-US" sz="900" spc="-1" strike="noStrike">
              <a:solidFill>
                <a:srgbClr val="000000"/>
              </a:solidFill>
              <a:latin typeface="Arial"/>
            </a:endParaRPr>
          </a:p>
        </p:txBody>
      </p:sp>
      <p:sp>
        <p:nvSpPr>
          <p:cNvPr id="219" name="Text 6"/>
          <p:cNvSpPr/>
          <p:nvPr/>
        </p:nvSpPr>
        <p:spPr>
          <a:xfrm>
            <a:off x="548640" y="6035040"/>
            <a:ext cx="6811920" cy="5482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250" spc="-1" strike="noStrike">
                <a:solidFill>
                  <a:srgbClr val="5b3fd6"/>
                </a:solidFill>
                <a:latin typeface="Calibri"/>
                <a:ea typeface="Calibri"/>
              </a:rPr>
              <a:t>Same pattern for feed cards: </a:t>
            </a:r>
            <a:r>
              <a:rPr b="0" lang="en-US" sz="1250" spc="-1" strike="noStrike">
                <a:solidFill>
                  <a:srgbClr val="333b48"/>
                </a:solidFill>
                <a:latin typeface="Calibri"/>
                <a:ea typeface="Calibri"/>
              </a:rPr>
              <a:t>“Post by Jane in Android Devs, 2 hours ago, photo of a mountain trail, 120 likes, 14 comments” + Like · Comment · Share actions.</a:t>
            </a:r>
            <a:endParaRPr b="0" lang="en-US" sz="1250" spc="-1" strike="noStrike">
              <a:solidFill>
                <a:srgbClr val="000000"/>
              </a:solidFill>
              <a:latin typeface="Arial"/>
            </a:endParaRPr>
          </a:p>
        </p:txBody>
      </p:sp>
      <p:sp>
        <p:nvSpPr>
          <p:cNvPr id="220" name="Shape 7"/>
          <p:cNvSpPr/>
          <p:nvPr/>
        </p:nvSpPr>
        <p:spPr>
          <a:xfrm>
            <a:off x="8001000" y="1600200"/>
            <a:ext cx="3611520" cy="4983120"/>
          </a:xfrm>
          <a:prstGeom prst="roundRect">
            <a:avLst>
              <a:gd name="adj" fmla="val 8101"/>
            </a:avLst>
          </a:prstGeom>
          <a:solidFill>
            <a:srgbClr val="15161a"/>
          </a:solidFill>
          <a:ln w="12700">
            <a:solidFill>
              <a:srgbClr val="15161a"/>
            </a:solidFill>
            <a:round/>
          </a:ln>
          <a:effectLst>
            <a:outerShdw algn="bl" blurRad="101520" dir="5400000" dist="38160" kx="0" ky="0" rotWithShape="0" sx="100000" sy="100000">
              <a:srgbClr val="000000">
                <a:alpha val="22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21" name="Shape 8"/>
          <p:cNvSpPr/>
          <p:nvPr/>
        </p:nvSpPr>
        <p:spPr>
          <a:xfrm>
            <a:off x="8101440" y="1700640"/>
            <a:ext cx="3410280" cy="4781880"/>
          </a:xfrm>
          <a:prstGeom prst="roundRect">
            <a:avLst>
              <a:gd name="adj" fmla="val 6434"/>
            </a:avLst>
          </a:prstGeom>
          <a:solidFill>
            <a:srgbClr val="f7f2fa"/>
          </a:solidFill>
          <a:ln w="12700">
            <a:solidFill>
              <a:srgbClr val="f7f2fa"/>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222" name="Image 0" descr="preencoded.png"/>
          <p:cNvPicPr/>
          <p:nvPr/>
        </p:nvPicPr>
        <p:blipFill>
          <a:blip r:embed="rId1"/>
          <a:stretch/>
        </p:blipFill>
        <p:spPr>
          <a:xfrm>
            <a:off x="8284320" y="1974960"/>
            <a:ext cx="273960" cy="273960"/>
          </a:xfrm>
          <a:prstGeom prst="rect">
            <a:avLst/>
          </a:prstGeom>
          <a:ln w="0">
            <a:noFill/>
          </a:ln>
        </p:spPr>
      </p:pic>
      <p:sp>
        <p:nvSpPr>
          <p:cNvPr id="223" name="Text 9"/>
          <p:cNvSpPr/>
          <p:nvPr/>
        </p:nvSpPr>
        <p:spPr>
          <a:xfrm>
            <a:off x="8695800" y="1929240"/>
            <a:ext cx="228564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1b2330"/>
                </a:solidFill>
                <a:latin typeface="Calibri"/>
                <a:ea typeface="Calibri"/>
              </a:rPr>
              <a:t>Messages</a:t>
            </a:r>
            <a:endParaRPr b="0" lang="en-US" sz="1600" spc="-1" strike="noStrike">
              <a:solidFill>
                <a:srgbClr val="000000"/>
              </a:solidFill>
              <a:latin typeface="Arial"/>
            </a:endParaRPr>
          </a:p>
        </p:txBody>
      </p:sp>
      <p:sp>
        <p:nvSpPr>
          <p:cNvPr id="224" name="Shape 10"/>
          <p:cNvSpPr/>
          <p:nvPr/>
        </p:nvSpPr>
        <p:spPr>
          <a:xfrm>
            <a:off x="8192880" y="2477880"/>
            <a:ext cx="3227400" cy="731160"/>
          </a:xfrm>
          <a:prstGeom prst="rect">
            <a:avLst/>
          </a:prstGeom>
          <a:solidFill>
            <a:srgbClr val="ffffff"/>
          </a:solidFill>
          <a:ln w="9525">
            <a:solidFill>
              <a:srgbClr val="e2ddea"/>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225" name="Image 1" descr="preencoded.png"/>
          <p:cNvPicPr/>
          <p:nvPr/>
        </p:nvPicPr>
        <p:blipFill>
          <a:blip r:embed="rId2"/>
          <a:stretch/>
        </p:blipFill>
        <p:spPr>
          <a:xfrm>
            <a:off x="8302680" y="2697480"/>
            <a:ext cx="292320" cy="292320"/>
          </a:xfrm>
          <a:prstGeom prst="rect">
            <a:avLst/>
          </a:prstGeom>
          <a:ln w="0">
            <a:noFill/>
          </a:ln>
        </p:spPr>
      </p:pic>
      <p:pic>
        <p:nvPicPr>
          <p:cNvPr id="226" name="Image 2" descr="preencoded.png"/>
          <p:cNvPicPr/>
          <p:nvPr/>
        </p:nvPicPr>
        <p:blipFill>
          <a:blip r:embed="rId3"/>
          <a:stretch/>
        </p:blipFill>
        <p:spPr>
          <a:xfrm>
            <a:off x="11018520" y="2697480"/>
            <a:ext cx="292320" cy="292320"/>
          </a:xfrm>
          <a:prstGeom prst="rect">
            <a:avLst/>
          </a:prstGeom>
          <a:ln w="0">
            <a:noFill/>
          </a:ln>
        </p:spPr>
      </p:pic>
      <p:sp>
        <p:nvSpPr>
          <p:cNvPr id="227" name="Text 11"/>
          <p:cNvSpPr/>
          <p:nvPr/>
        </p:nvSpPr>
        <p:spPr>
          <a:xfrm>
            <a:off x="8686800" y="2595240"/>
            <a:ext cx="1298880" cy="24840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1" lang="en-US" sz="1150" spc="-1" strike="noStrike">
                <a:solidFill>
                  <a:srgbClr val="1b2330"/>
                </a:solidFill>
                <a:latin typeface="Calibri"/>
                <a:ea typeface="Calibri"/>
              </a:rPr>
              <a:t>Avery Johnson</a:t>
            </a:r>
            <a:endParaRPr b="0" lang="en-US" sz="1150" spc="-1" strike="noStrike">
              <a:solidFill>
                <a:srgbClr val="000000"/>
              </a:solidFill>
              <a:latin typeface="Arial"/>
            </a:endParaRPr>
          </a:p>
        </p:txBody>
      </p:sp>
      <p:sp>
        <p:nvSpPr>
          <p:cNvPr id="228" name="Text 12"/>
          <p:cNvSpPr/>
          <p:nvPr/>
        </p:nvSpPr>
        <p:spPr>
          <a:xfrm>
            <a:off x="9986040" y="2595240"/>
            <a:ext cx="940680" cy="248400"/>
          </a:xfrm>
          <a:prstGeom prst="rect">
            <a:avLst/>
          </a:prstGeom>
          <a:noFill/>
          <a:ln w="0">
            <a:noFill/>
          </a:ln>
        </p:spPr>
        <p:style>
          <a:lnRef idx="0"/>
          <a:fillRef idx="0"/>
          <a:effectRef idx="0"/>
          <a:fontRef idx="minor"/>
        </p:style>
        <p:txBody>
          <a:bodyPr lIns="0" rIns="0" tIns="0" bIns="0" anchor="t">
            <a:noAutofit/>
          </a:bodyPr>
          <a:p>
            <a:pPr algn="r" defTabSz="914400">
              <a:lnSpc>
                <a:spcPct val="100000"/>
              </a:lnSpc>
              <a:tabLst>
                <a:tab algn="l" pos="0"/>
              </a:tabLst>
            </a:pPr>
            <a:r>
              <a:rPr b="0" lang="en-US" sz="950" spc="-1" strike="noStrike">
                <a:solidFill>
                  <a:srgbClr val="5b6472"/>
                </a:solidFill>
                <a:latin typeface="Calibri"/>
                <a:ea typeface="Calibri"/>
              </a:rPr>
              <a:t>Jun 17, 9:20 AM</a:t>
            </a:r>
            <a:endParaRPr b="0" lang="en-US" sz="950" spc="-1" strike="noStrike">
              <a:solidFill>
                <a:srgbClr val="000000"/>
              </a:solidFill>
              <a:latin typeface="Arial"/>
            </a:endParaRPr>
          </a:p>
        </p:txBody>
      </p:sp>
      <p:sp>
        <p:nvSpPr>
          <p:cNvPr id="229" name="Text 13"/>
          <p:cNvSpPr/>
          <p:nvPr/>
        </p:nvSpPr>
        <p:spPr>
          <a:xfrm>
            <a:off x="8686800" y="2858400"/>
            <a:ext cx="2239920" cy="2484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050" spc="-1" strike="noStrike">
                <a:solidFill>
                  <a:srgbClr val="3b3f4a"/>
                </a:solidFill>
                <a:latin typeface="Calibri"/>
                <a:ea typeface="Calibri"/>
              </a:rPr>
              <a:t>Please add contentDescriptions</a:t>
            </a:r>
            <a:endParaRPr b="0" lang="en-US" sz="1050" spc="-1" strike="noStrike">
              <a:solidFill>
                <a:srgbClr val="000000"/>
              </a:solidFill>
              <a:latin typeface="Arial"/>
            </a:endParaRPr>
          </a:p>
        </p:txBody>
      </p:sp>
      <p:sp>
        <p:nvSpPr>
          <p:cNvPr id="230" name="Shape 14"/>
          <p:cNvSpPr/>
          <p:nvPr/>
        </p:nvSpPr>
        <p:spPr>
          <a:xfrm>
            <a:off x="8192880" y="3237120"/>
            <a:ext cx="3227400" cy="731160"/>
          </a:xfrm>
          <a:prstGeom prst="rect">
            <a:avLst/>
          </a:prstGeom>
          <a:solidFill>
            <a:srgbClr val="ffffff"/>
          </a:solidFill>
          <a:ln w="9525">
            <a:solidFill>
              <a:srgbClr val="e2ddea"/>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231" name="Image 3" descr="preencoded.png"/>
          <p:cNvPicPr/>
          <p:nvPr/>
        </p:nvPicPr>
        <p:blipFill>
          <a:blip r:embed="rId4"/>
          <a:stretch/>
        </p:blipFill>
        <p:spPr>
          <a:xfrm>
            <a:off x="8302680" y="3456360"/>
            <a:ext cx="292320" cy="292320"/>
          </a:xfrm>
          <a:prstGeom prst="rect">
            <a:avLst/>
          </a:prstGeom>
          <a:ln w="0">
            <a:noFill/>
          </a:ln>
        </p:spPr>
      </p:pic>
      <p:pic>
        <p:nvPicPr>
          <p:cNvPr id="232" name="Image 4" descr="preencoded.png"/>
          <p:cNvPicPr/>
          <p:nvPr/>
        </p:nvPicPr>
        <p:blipFill>
          <a:blip r:embed="rId5"/>
          <a:stretch/>
        </p:blipFill>
        <p:spPr>
          <a:xfrm>
            <a:off x="11018520" y="3456360"/>
            <a:ext cx="292320" cy="292320"/>
          </a:xfrm>
          <a:prstGeom prst="rect">
            <a:avLst/>
          </a:prstGeom>
          <a:ln w="0">
            <a:noFill/>
          </a:ln>
        </p:spPr>
      </p:pic>
      <p:sp>
        <p:nvSpPr>
          <p:cNvPr id="233" name="Text 15"/>
          <p:cNvSpPr/>
          <p:nvPr/>
        </p:nvSpPr>
        <p:spPr>
          <a:xfrm>
            <a:off x="8686800" y="3354120"/>
            <a:ext cx="1298880" cy="24840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1" lang="en-US" sz="1150" spc="-1" strike="noStrike">
                <a:solidFill>
                  <a:srgbClr val="1b2330"/>
                </a:solidFill>
                <a:latin typeface="Calibri"/>
                <a:ea typeface="Calibri"/>
              </a:rPr>
              <a:t>Priya Shah</a:t>
            </a:r>
            <a:endParaRPr b="0" lang="en-US" sz="1150" spc="-1" strike="noStrike">
              <a:solidFill>
                <a:srgbClr val="000000"/>
              </a:solidFill>
              <a:latin typeface="Arial"/>
            </a:endParaRPr>
          </a:p>
        </p:txBody>
      </p:sp>
      <p:sp>
        <p:nvSpPr>
          <p:cNvPr id="234" name="Text 16"/>
          <p:cNvSpPr/>
          <p:nvPr/>
        </p:nvSpPr>
        <p:spPr>
          <a:xfrm>
            <a:off x="9986040" y="3354120"/>
            <a:ext cx="940680" cy="248400"/>
          </a:xfrm>
          <a:prstGeom prst="rect">
            <a:avLst/>
          </a:prstGeom>
          <a:noFill/>
          <a:ln w="0">
            <a:noFill/>
          </a:ln>
        </p:spPr>
        <p:style>
          <a:lnRef idx="0"/>
          <a:fillRef idx="0"/>
          <a:effectRef idx="0"/>
          <a:fontRef idx="minor"/>
        </p:style>
        <p:txBody>
          <a:bodyPr lIns="0" rIns="0" tIns="0" bIns="0" anchor="t">
            <a:noAutofit/>
          </a:bodyPr>
          <a:p>
            <a:pPr algn="r" defTabSz="914400">
              <a:lnSpc>
                <a:spcPct val="100000"/>
              </a:lnSpc>
              <a:tabLst>
                <a:tab algn="l" pos="0"/>
              </a:tabLst>
            </a:pPr>
            <a:r>
              <a:rPr b="0" lang="en-US" sz="950" spc="-1" strike="noStrike">
                <a:solidFill>
                  <a:srgbClr val="5b6472"/>
                </a:solidFill>
                <a:latin typeface="Calibri"/>
                <a:ea typeface="Calibri"/>
              </a:rPr>
              <a:t>Jun 17, 10:45 AM</a:t>
            </a:r>
            <a:endParaRPr b="0" lang="en-US" sz="950" spc="-1" strike="noStrike">
              <a:solidFill>
                <a:srgbClr val="000000"/>
              </a:solidFill>
              <a:latin typeface="Arial"/>
            </a:endParaRPr>
          </a:p>
        </p:txBody>
      </p:sp>
      <p:sp>
        <p:nvSpPr>
          <p:cNvPr id="235" name="Text 17"/>
          <p:cNvSpPr/>
          <p:nvPr/>
        </p:nvSpPr>
        <p:spPr>
          <a:xfrm>
            <a:off x="8686800" y="3617280"/>
            <a:ext cx="2239920" cy="2484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050" spc="-1" strike="noStrike">
                <a:solidFill>
                  <a:srgbClr val="3b3f4a"/>
                </a:solidFill>
                <a:latin typeface="Calibri"/>
                <a:ea typeface="Calibri"/>
              </a:rPr>
              <a:t>Draft agenda for design review</a:t>
            </a:r>
            <a:endParaRPr b="0" lang="en-US" sz="1050" spc="-1" strike="noStrike">
              <a:solidFill>
                <a:srgbClr val="000000"/>
              </a:solidFill>
              <a:latin typeface="Arial"/>
            </a:endParaRPr>
          </a:p>
        </p:txBody>
      </p:sp>
      <p:sp>
        <p:nvSpPr>
          <p:cNvPr id="236" name="Shape 18"/>
          <p:cNvSpPr/>
          <p:nvPr/>
        </p:nvSpPr>
        <p:spPr>
          <a:xfrm>
            <a:off x="8174880" y="2459880"/>
            <a:ext cx="3264120" cy="767880"/>
          </a:xfrm>
          <a:prstGeom prst="rect">
            <a:avLst/>
          </a:prstGeom>
          <a:noFill/>
          <a:ln w="34925">
            <a:solidFill>
              <a:srgbClr val="1a73e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37" name="Shape 19"/>
          <p:cNvSpPr/>
          <p:nvPr/>
        </p:nvSpPr>
        <p:spPr>
          <a:xfrm>
            <a:off x="8211240" y="4032360"/>
            <a:ext cx="3191040" cy="456840"/>
          </a:xfrm>
          <a:prstGeom prst="rect">
            <a:avLst/>
          </a:prstGeom>
          <a:solidFill>
            <a:srgbClr val="2e2e2e"/>
          </a:solidFill>
          <a:ln w="12700">
            <a:solidFill>
              <a:srgbClr val="2e2e2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38" name="Text 20"/>
          <p:cNvSpPr/>
          <p:nvPr/>
        </p:nvSpPr>
        <p:spPr>
          <a:xfrm>
            <a:off x="8284320" y="4032360"/>
            <a:ext cx="3044520" cy="4568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050" spc="-1" strike="noStrike">
                <a:solidFill>
                  <a:srgbClr val="ffffff"/>
                </a:solidFill>
                <a:latin typeface="Calibri"/>
                <a:ea typeface="Calibri"/>
              </a:rPr>
              <a:t>Actions available, use tap with 3 fingers to view</a:t>
            </a:r>
            <a:endParaRPr b="0" lang="en-US" sz="1050" spc="-1" strike="noStrike">
              <a:solidFill>
                <a:srgbClr val="000000"/>
              </a:solidFill>
              <a:latin typeface="Arial"/>
            </a:endParaRPr>
          </a:p>
        </p:txBody>
      </p:sp>
      <p:sp>
        <p:nvSpPr>
          <p:cNvPr id="239" name="Shape 21"/>
          <p:cNvSpPr/>
          <p:nvPr/>
        </p:nvSpPr>
        <p:spPr>
          <a:xfrm>
            <a:off x="8156520" y="4581000"/>
            <a:ext cx="3300480" cy="1810080"/>
          </a:xfrm>
          <a:prstGeom prst="roundRect">
            <a:avLst>
              <a:gd name="adj" fmla="val 10101"/>
            </a:avLst>
          </a:prstGeom>
          <a:solidFill>
            <a:srgbClr val="2a2a2e"/>
          </a:solidFill>
          <a:ln w="12700">
            <a:solidFill>
              <a:srgbClr val="2a2a2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40" name="Text 22"/>
          <p:cNvSpPr/>
          <p:nvPr/>
        </p:nvSpPr>
        <p:spPr>
          <a:xfrm>
            <a:off x="8375760" y="4690800"/>
            <a:ext cx="1828440" cy="3196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400" spc="-1" strike="noStrike">
                <a:solidFill>
                  <a:srgbClr val="ffffff"/>
                </a:solidFill>
                <a:latin typeface="Calibri"/>
                <a:ea typeface="Calibri"/>
              </a:rPr>
              <a:t>Actions</a:t>
            </a:r>
            <a:endParaRPr b="0" lang="en-US" sz="1400" spc="-1" strike="noStrike">
              <a:solidFill>
                <a:srgbClr val="000000"/>
              </a:solidFill>
              <a:latin typeface="Arial"/>
            </a:endParaRPr>
          </a:p>
        </p:txBody>
      </p:sp>
      <p:sp>
        <p:nvSpPr>
          <p:cNvPr id="241" name="Text 23"/>
          <p:cNvSpPr/>
          <p:nvPr/>
        </p:nvSpPr>
        <p:spPr>
          <a:xfrm>
            <a:off x="8375760" y="5038200"/>
            <a:ext cx="2953080" cy="2923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250" spc="-1" strike="noStrike">
                <a:solidFill>
                  <a:srgbClr val="ffffff"/>
                </a:solidFill>
                <a:latin typeface="Calibri"/>
                <a:ea typeface="Calibri"/>
              </a:rPr>
              <a:t>Star message</a:t>
            </a:r>
            <a:endParaRPr b="0" lang="en-US" sz="1250" spc="-1" strike="noStrike">
              <a:solidFill>
                <a:srgbClr val="000000"/>
              </a:solidFill>
              <a:latin typeface="Arial"/>
            </a:endParaRPr>
          </a:p>
        </p:txBody>
      </p:sp>
      <p:sp>
        <p:nvSpPr>
          <p:cNvPr id="242" name="Text 24"/>
          <p:cNvSpPr/>
          <p:nvPr/>
        </p:nvSpPr>
        <p:spPr>
          <a:xfrm>
            <a:off x="8375760" y="5403960"/>
            <a:ext cx="2907360" cy="5025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200" spc="-1" strike="noStrike">
                <a:solidFill>
                  <a:srgbClr val="ffffff"/>
                </a:solidFill>
                <a:latin typeface="Calibri"/>
                <a:ea typeface="Calibri"/>
              </a:rPr>
              <a:t>Delete message from Avery Johnson: Please add contentDescriptions</a:t>
            </a:r>
            <a:endParaRPr b="0" lang="en-US" sz="1200" spc="-1" strike="noStrike">
              <a:solidFill>
                <a:srgbClr val="000000"/>
              </a:solidFill>
              <a:latin typeface="Arial"/>
            </a:endParaRPr>
          </a:p>
        </p:txBody>
      </p:sp>
      <p:sp>
        <p:nvSpPr>
          <p:cNvPr id="243" name="Shape 25"/>
          <p:cNvSpPr/>
          <p:nvPr/>
        </p:nvSpPr>
        <p:spPr>
          <a:xfrm>
            <a:off x="8284320" y="5358240"/>
            <a:ext cx="3044520" cy="566640"/>
          </a:xfrm>
          <a:prstGeom prst="rect">
            <a:avLst/>
          </a:prstGeom>
          <a:noFill/>
          <a:ln w="34925">
            <a:solidFill>
              <a:srgbClr val="1a73e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44" name="Text 26"/>
          <p:cNvSpPr/>
          <p:nvPr/>
        </p:nvSpPr>
        <p:spPr>
          <a:xfrm>
            <a:off x="8375760" y="6026040"/>
            <a:ext cx="2861640" cy="27396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1" lang="en-US" sz="1250" spc="-1" strike="noStrike">
                <a:solidFill>
                  <a:srgbClr val="ffffff"/>
                </a:solidFill>
                <a:latin typeface="Calibri"/>
                <a:ea typeface="Calibri"/>
              </a:rPr>
              <a:t>Close</a:t>
            </a:r>
            <a:endParaRPr b="0" lang="en-US" sz="12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e1a2b"/>
        </a:solidFill>
      </p:bgPr>
    </p:bg>
    <p:spTree>
      <p:nvGrpSpPr>
        <p:cNvPr id="1" name=""/>
        <p:cNvGrpSpPr/>
        <p:nvPr/>
      </p:nvGrpSpPr>
      <p:grpSpPr>
        <a:xfrm>
          <a:off x="0" y="0"/>
          <a:ext cx="0" cy="0"/>
          <a:chOff x="0" y="0"/>
          <a:chExt cx="0" cy="0"/>
        </a:xfrm>
      </p:grpSpPr>
      <p:sp>
        <p:nvSpPr>
          <p:cNvPr id="245" name="Shape 0"/>
          <p:cNvSpPr/>
          <p:nvPr/>
        </p:nvSpPr>
        <p:spPr>
          <a:xfrm>
            <a:off x="548640" y="384120"/>
            <a:ext cx="2025000" cy="328680"/>
          </a:xfrm>
          <a:prstGeom prst="roundRect">
            <a:avLst>
              <a:gd name="adj" fmla="val 50000"/>
            </a:avLst>
          </a:prstGeom>
          <a:solidFill>
            <a:srgbClr val="1a2a42"/>
          </a:solidFill>
          <a:ln w="12700">
            <a:solidFill>
              <a:srgbClr val="1a2a42"/>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46" name="Text 1"/>
          <p:cNvSpPr/>
          <p:nvPr/>
        </p:nvSpPr>
        <p:spPr>
          <a:xfrm>
            <a:off x="548640" y="384120"/>
            <a:ext cx="202500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99" strike="noStrike">
                <a:solidFill>
                  <a:srgbClr val="3ddc84"/>
                </a:solidFill>
                <a:latin typeface="Calibri"/>
                <a:ea typeface="Calibri"/>
              </a:rPr>
              <a:t>04 · STREAMING TEXT</a:t>
            </a:r>
            <a:endParaRPr b="0" lang="en-US" sz="1100" spc="-1" strike="noStrike">
              <a:solidFill>
                <a:srgbClr val="ffffff"/>
              </a:solidFill>
              <a:latin typeface="Arial"/>
            </a:endParaRPr>
          </a:p>
        </p:txBody>
      </p:sp>
      <p:sp>
        <p:nvSpPr>
          <p:cNvPr id="247" name="Text 2"/>
          <p:cNvSpPr/>
          <p:nvPr/>
        </p:nvSpPr>
        <p:spPr>
          <a:xfrm>
            <a:off x="548640" y="868680"/>
            <a:ext cx="6949080" cy="7311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3200" spc="-1" strike="noStrike">
                <a:solidFill>
                  <a:srgbClr val="ffffff"/>
                </a:solidFill>
                <a:latin typeface="Arial"/>
                <a:ea typeface="Arial"/>
              </a:rPr>
              <a:t>Streaming AI responses</a:t>
            </a:r>
            <a:endParaRPr b="0" lang="en-US" sz="3200" spc="-1" strike="noStrike">
              <a:solidFill>
                <a:srgbClr val="ffffff"/>
              </a:solidFill>
              <a:latin typeface="Arial"/>
            </a:endParaRPr>
          </a:p>
        </p:txBody>
      </p:sp>
      <p:sp>
        <p:nvSpPr>
          <p:cNvPr id="248" name="Text 3"/>
          <p:cNvSpPr/>
          <p:nvPr/>
        </p:nvSpPr>
        <p:spPr>
          <a:xfrm>
            <a:off x="548640" y="1737360"/>
            <a:ext cx="6583320" cy="9140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700" spc="-1" strike="noStrike">
                <a:solidFill>
                  <a:srgbClr val="c9d3e3"/>
                </a:solidFill>
                <a:latin typeface="Calibri"/>
                <a:ea typeface="Calibri"/>
              </a:rPr>
              <a:t>Words fade in one by one. To animate each word, each word becomes its own composable — so with no semantics, TalkBack reads one word per swipe.</a:t>
            </a:r>
            <a:endParaRPr b="0" lang="en-US" sz="1700" spc="-1" strike="noStrike">
              <a:solidFill>
                <a:srgbClr val="ffffff"/>
              </a:solidFill>
              <a:latin typeface="Arial"/>
            </a:endParaRPr>
          </a:p>
        </p:txBody>
      </p:sp>
      <p:sp>
        <p:nvSpPr>
          <p:cNvPr id="249" name="Shape 4"/>
          <p:cNvSpPr/>
          <p:nvPr/>
        </p:nvSpPr>
        <p:spPr>
          <a:xfrm>
            <a:off x="548640" y="2834640"/>
            <a:ext cx="6583320" cy="1965600"/>
          </a:xfrm>
          <a:prstGeom prst="roundRect">
            <a:avLst>
              <a:gd name="adj" fmla="val 5581"/>
            </a:avLst>
          </a:prstGeom>
          <a:solidFill>
            <a:srgbClr val="182235"/>
          </a:solidFill>
          <a:ln w="12700">
            <a:solidFill>
              <a:srgbClr val="18223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50" name="Text 5"/>
          <p:cNvSpPr/>
          <p:nvPr/>
        </p:nvSpPr>
        <p:spPr>
          <a:xfrm>
            <a:off x="777240" y="3035880"/>
            <a:ext cx="6217560" cy="1645560"/>
          </a:xfrm>
          <a:prstGeom prst="rect">
            <a:avLst/>
          </a:prstGeom>
          <a:noFill/>
          <a:ln w="0">
            <a:noFill/>
          </a:ln>
        </p:spPr>
        <p:style>
          <a:lnRef idx="0"/>
          <a:fillRef idx="0"/>
          <a:effectRef idx="0"/>
          <a:fontRef idx="minor"/>
        </p:style>
        <p:txBody>
          <a:bodyPr lIns="0" rIns="0" tIns="0" bIns="0" anchor="t">
            <a:noAutofit/>
          </a:bodyPr>
          <a:p>
            <a:pPr defTabSz="914400">
              <a:lnSpc>
                <a:spcPct val="105000"/>
              </a:lnSpc>
              <a:tabLst>
                <a:tab algn="l" pos="0"/>
              </a:tabLst>
            </a:pPr>
            <a:r>
              <a:rPr b="0" lang="en-US" sz="1300" spc="-1" strike="noStrike">
                <a:solidFill>
                  <a:srgbClr val="8ab4f8"/>
                </a:solidFill>
                <a:latin typeface="Consolas"/>
                <a:ea typeface="Consolas"/>
              </a:rPr>
              <a:t>FlowRow</a:t>
            </a:r>
            <a:r>
              <a:rPr b="0" lang="en-US" sz="1300" spc="-1" strike="noStrike">
                <a:solidFill>
                  <a:srgbClr val="dce3ec"/>
                </a:solidFill>
                <a:latin typeface="Consolas"/>
                <a:ea typeface="Consolas"/>
              </a:rPr>
              <a:t>(</a:t>
            </a:r>
            <a:r>
              <a:rPr b="0" lang="en-US" sz="1300" spc="-1" strike="noStrike">
                <a:solidFill>
                  <a:srgbClr val="8ab4f8"/>
                </a:solidFill>
                <a:latin typeface="Consolas"/>
                <a:ea typeface="Consolas"/>
              </a:rPr>
              <a:t>Modifier</a:t>
            </a:r>
            <a:r>
              <a:rPr b="0" lang="en-US" sz="1300" spc="-1" strike="noStrike">
                <a:solidFill>
                  <a:srgbClr val="dce3ec"/>
                </a:solidFill>
                <a:latin typeface="Consolas"/>
                <a:ea typeface="Consolas"/>
              </a:rPr>
              <a:t>.fillMaxWidth()) {</a:t>
            </a:r>
            <a:endParaRPr b="0" lang="en-US" sz="1300" spc="-1" strike="noStrike">
              <a:solidFill>
                <a:srgbClr val="ffffff"/>
              </a:solidFill>
              <a:latin typeface="Arial"/>
            </a:endParaRPr>
          </a:p>
          <a:p>
            <a:pPr defTabSz="914400">
              <a:lnSpc>
                <a:spcPct val="105000"/>
              </a:lnSpc>
              <a:tabLst>
                <a:tab algn="l" pos="0"/>
              </a:tabLst>
            </a:pPr>
            <a:r>
              <a:rPr b="0" lang="en-US" sz="1300" spc="-1" strike="noStrike">
                <a:solidFill>
                  <a:srgbClr val="dce3ec"/>
                </a:solidFill>
                <a:latin typeface="Consolas"/>
                <a:ea typeface="Consolas"/>
              </a:rPr>
              <a:t>    </a:t>
            </a:r>
            <a:r>
              <a:rPr b="0" lang="en-US" sz="1300" spc="-1" strike="noStrike">
                <a:solidFill>
                  <a:srgbClr val="dce3ec"/>
                </a:solidFill>
                <a:latin typeface="Consolas"/>
                <a:ea typeface="Consolas"/>
              </a:rPr>
              <a:t>words.take(visibleWordCount).forEachIndexed { i, word -&gt;</a:t>
            </a:r>
            <a:endParaRPr b="0" lang="en-US" sz="1300" spc="-1" strike="noStrike">
              <a:solidFill>
                <a:srgbClr val="ffffff"/>
              </a:solidFill>
              <a:latin typeface="Arial"/>
            </a:endParaRPr>
          </a:p>
          <a:p>
            <a:pPr defTabSz="914400">
              <a:lnSpc>
                <a:spcPct val="105000"/>
              </a:lnSpc>
              <a:tabLst>
                <a:tab algn="l" pos="0"/>
              </a:tabLst>
            </a:pPr>
            <a:r>
              <a:rPr b="0" lang="en-US" sz="1300" spc="-1" strike="noStrike">
                <a:solidFill>
                  <a:srgbClr val="dce3ec"/>
                </a:solidFill>
                <a:latin typeface="Consolas"/>
                <a:ea typeface="Consolas"/>
              </a:rPr>
              <a:t>        </a:t>
            </a:r>
            <a:r>
              <a:rPr b="0" lang="en-US" sz="1300" spc="-1" strike="noStrike">
                <a:solidFill>
                  <a:srgbClr val="dce3ec"/>
                </a:solidFill>
                <a:latin typeface="Consolas"/>
                <a:ea typeface="Consolas"/>
              </a:rPr>
              <a:t>key(</a:t>
            </a:r>
            <a:r>
              <a:rPr b="0" lang="en-US" sz="1300" spc="-1" strike="noStrike">
                <a:solidFill>
                  <a:srgbClr val="b5e48c"/>
                </a:solidFill>
                <a:latin typeface="Consolas"/>
                <a:ea typeface="Consolas"/>
              </a:rPr>
              <a:t>"p$p-w$i"</a:t>
            </a:r>
            <a:r>
              <a:rPr b="0" lang="en-US" sz="1300" spc="-1" strike="noStrike">
                <a:solidFill>
                  <a:srgbClr val="dce3ec"/>
                </a:solidFill>
                <a:latin typeface="Consolas"/>
                <a:ea typeface="Consolas"/>
              </a:rPr>
              <a:t>) {</a:t>
            </a:r>
            <a:endParaRPr b="0" lang="en-US" sz="1300" spc="-1" strike="noStrike">
              <a:solidFill>
                <a:srgbClr val="ffffff"/>
              </a:solidFill>
              <a:latin typeface="Arial"/>
            </a:endParaRPr>
          </a:p>
          <a:p>
            <a:pPr defTabSz="914400">
              <a:lnSpc>
                <a:spcPct val="105000"/>
              </a:lnSpc>
              <a:tabLst>
                <a:tab algn="l" pos="0"/>
              </a:tabLst>
            </a:pPr>
            <a:r>
              <a:rPr b="0" lang="en-US" sz="1300" spc="-1" strike="noStrike">
                <a:solidFill>
                  <a:srgbClr val="dce3ec"/>
                </a:solidFill>
                <a:latin typeface="Consolas"/>
                <a:ea typeface="Consolas"/>
              </a:rPr>
              <a:t>            </a:t>
            </a:r>
            <a:r>
              <a:rPr b="0" lang="en-US" sz="1300" spc="-1" strike="noStrike">
                <a:solidFill>
                  <a:srgbClr val="8ab4f8"/>
                </a:solidFill>
                <a:latin typeface="Consolas"/>
                <a:ea typeface="Consolas"/>
              </a:rPr>
              <a:t>FadeInWord</a:t>
            </a:r>
            <a:r>
              <a:rPr b="0" lang="en-US" sz="1300" spc="-1" strike="noStrike">
                <a:solidFill>
                  <a:srgbClr val="dce3ec"/>
                </a:solidFill>
                <a:latin typeface="Consolas"/>
                <a:ea typeface="Consolas"/>
              </a:rPr>
              <a:t>(</a:t>
            </a:r>
            <a:r>
              <a:rPr b="0" lang="en-US" sz="1300" spc="-1" strike="noStrike">
                <a:solidFill>
                  <a:srgbClr val="b5e48c"/>
                </a:solidFill>
                <a:latin typeface="Consolas"/>
                <a:ea typeface="Consolas"/>
              </a:rPr>
              <a:t>"$word "</a:t>
            </a:r>
            <a:r>
              <a:rPr b="0" lang="en-US" sz="1300" spc="-1" strike="noStrike">
                <a:solidFill>
                  <a:srgbClr val="dce3ec"/>
                </a:solidFill>
                <a:latin typeface="Consolas"/>
                <a:ea typeface="Consolas"/>
              </a:rPr>
              <a:t>)   </a:t>
            </a:r>
            <a:r>
              <a:rPr b="0" i="1" lang="en-US" sz="1300" spc="-1" strike="noStrike">
                <a:solidFill>
                  <a:srgbClr val="8b98ad"/>
                </a:solidFill>
                <a:latin typeface="Consolas"/>
                <a:ea typeface="Consolas"/>
              </a:rPr>
              <a:t>// 1 composable per word</a:t>
            </a:r>
            <a:endParaRPr b="0" lang="en-US" sz="1300" spc="-1" strike="noStrike">
              <a:solidFill>
                <a:srgbClr val="ffffff"/>
              </a:solidFill>
              <a:latin typeface="Arial"/>
            </a:endParaRPr>
          </a:p>
          <a:p>
            <a:pPr defTabSz="914400">
              <a:lnSpc>
                <a:spcPct val="105000"/>
              </a:lnSpc>
              <a:tabLst>
                <a:tab algn="l" pos="0"/>
              </a:tabLst>
            </a:pPr>
            <a:r>
              <a:rPr b="0" lang="en-US" sz="1300" spc="-1" strike="noStrike">
                <a:solidFill>
                  <a:srgbClr val="dce3ec"/>
                </a:solidFill>
                <a:latin typeface="Consolas"/>
                <a:ea typeface="Consolas"/>
              </a:rPr>
              <a:t>        </a:t>
            </a:r>
            <a:r>
              <a:rPr b="0" lang="en-US" sz="1300" spc="-1" strike="noStrike">
                <a:solidFill>
                  <a:srgbClr val="dce3ec"/>
                </a:solidFill>
                <a:latin typeface="Consolas"/>
                <a:ea typeface="Consolas"/>
              </a:rPr>
              <a:t>}</a:t>
            </a:r>
            <a:endParaRPr b="0" lang="en-US" sz="1300" spc="-1" strike="noStrike">
              <a:solidFill>
                <a:srgbClr val="ffffff"/>
              </a:solidFill>
              <a:latin typeface="Arial"/>
            </a:endParaRPr>
          </a:p>
          <a:p>
            <a:pPr defTabSz="914400">
              <a:lnSpc>
                <a:spcPct val="105000"/>
              </a:lnSpc>
              <a:tabLst>
                <a:tab algn="l" pos="0"/>
              </a:tabLst>
            </a:pPr>
            <a:r>
              <a:rPr b="0" lang="en-US" sz="1300" spc="-1" strike="noStrike">
                <a:solidFill>
                  <a:srgbClr val="dce3ec"/>
                </a:solidFill>
                <a:latin typeface="Consolas"/>
                <a:ea typeface="Consolas"/>
              </a:rPr>
              <a:t>    </a:t>
            </a:r>
            <a:r>
              <a:rPr b="0" lang="en-US" sz="1300" spc="-1" strike="noStrike">
                <a:solidFill>
                  <a:srgbClr val="dce3ec"/>
                </a:solidFill>
                <a:latin typeface="Consolas"/>
                <a:ea typeface="Consolas"/>
              </a:rPr>
              <a:t>}</a:t>
            </a:r>
            <a:endParaRPr b="0" lang="en-US" sz="1300" spc="-1" strike="noStrike">
              <a:solidFill>
                <a:srgbClr val="ffffff"/>
              </a:solidFill>
              <a:latin typeface="Arial"/>
            </a:endParaRPr>
          </a:p>
          <a:p>
            <a:pPr defTabSz="914400">
              <a:lnSpc>
                <a:spcPct val="105000"/>
              </a:lnSpc>
              <a:tabLst>
                <a:tab algn="l" pos="0"/>
              </a:tabLst>
            </a:pPr>
            <a:r>
              <a:rPr b="0" lang="en-US" sz="1300" spc="-1" strike="noStrike">
                <a:solidFill>
                  <a:srgbClr val="dce3ec"/>
                </a:solidFill>
                <a:latin typeface="Consolas"/>
                <a:ea typeface="Consolas"/>
              </a:rPr>
              <a:t>}</a:t>
            </a:r>
            <a:endParaRPr b="0" lang="en-US" sz="1300" spc="-1" strike="noStrike">
              <a:solidFill>
                <a:srgbClr val="ffffff"/>
              </a:solidFill>
              <a:latin typeface="Arial"/>
            </a:endParaRPr>
          </a:p>
        </p:txBody>
      </p:sp>
      <p:sp>
        <p:nvSpPr>
          <p:cNvPr id="251" name="Text 6"/>
          <p:cNvSpPr/>
          <p:nvPr/>
        </p:nvSpPr>
        <p:spPr>
          <a:xfrm>
            <a:off x="6126480" y="2907720"/>
            <a:ext cx="868320" cy="200880"/>
          </a:xfrm>
          <a:prstGeom prst="rect">
            <a:avLst/>
          </a:prstGeom>
          <a:noFill/>
          <a:ln w="0">
            <a:noFill/>
          </a:ln>
        </p:spPr>
        <p:style>
          <a:lnRef idx="0"/>
          <a:fillRef idx="0"/>
          <a:effectRef idx="0"/>
          <a:fontRef idx="minor"/>
        </p:style>
        <p:txBody>
          <a:bodyPr lIns="0" rIns="0" tIns="0" bIns="0" anchor="t">
            <a:noAutofit/>
          </a:bodyPr>
          <a:p>
            <a:pPr algn="r" defTabSz="914400">
              <a:lnSpc>
                <a:spcPct val="100000"/>
              </a:lnSpc>
              <a:tabLst>
                <a:tab algn="l" pos="0"/>
              </a:tabLst>
            </a:pPr>
            <a:r>
              <a:rPr b="0" lang="en-US" sz="900" spc="-1" strike="noStrike">
                <a:solidFill>
                  <a:srgbClr val="6f7d93"/>
                </a:solidFill>
                <a:latin typeface="Calibri"/>
                <a:ea typeface="Calibri"/>
              </a:rPr>
              <a:t>Kotlin</a:t>
            </a:r>
            <a:endParaRPr b="0" lang="en-US" sz="900" spc="-1" strike="noStrike">
              <a:solidFill>
                <a:srgbClr val="ffffff"/>
              </a:solidFill>
              <a:latin typeface="Arial"/>
            </a:endParaRPr>
          </a:p>
        </p:txBody>
      </p:sp>
      <p:sp>
        <p:nvSpPr>
          <p:cNvPr id="252" name="Text 7"/>
          <p:cNvSpPr/>
          <p:nvPr/>
        </p:nvSpPr>
        <p:spPr>
          <a:xfrm>
            <a:off x="548640" y="5074920"/>
            <a:ext cx="6583320" cy="9140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i="1" lang="en-US" sz="2100" spc="-1" strike="noStrike">
                <a:solidFill>
                  <a:srgbClr val="3ddc84"/>
                </a:solidFill>
                <a:latin typeface="Calibri"/>
                <a:ea typeface="Calibri"/>
              </a:rPr>
              <a:t>“</a:t>
            </a:r>
            <a:r>
              <a:rPr b="1" i="1" lang="en-US" sz="2100" spc="-1" strike="noStrike">
                <a:solidFill>
                  <a:srgbClr val="3ddc84"/>
                </a:solidFill>
                <a:latin typeface="Calibri"/>
                <a:ea typeface="Calibri"/>
              </a:rPr>
              <a:t>Would you listen to an audiobook where you had to swipe for every single word?”</a:t>
            </a:r>
            <a:endParaRPr b="0" lang="en-US" sz="2100" spc="-1" strike="noStrike">
              <a:solidFill>
                <a:srgbClr val="ffffff"/>
              </a:solidFill>
              <a:latin typeface="Arial"/>
            </a:endParaRPr>
          </a:p>
        </p:txBody>
      </p:sp>
      <p:sp>
        <p:nvSpPr>
          <p:cNvPr id="253" name="Shape 8"/>
          <p:cNvSpPr/>
          <p:nvPr/>
        </p:nvSpPr>
        <p:spPr>
          <a:xfrm>
            <a:off x="8138160" y="640080"/>
            <a:ext cx="3291480" cy="5668920"/>
          </a:xfrm>
          <a:prstGeom prst="roundRect">
            <a:avLst>
              <a:gd name="adj" fmla="val 8889"/>
            </a:avLst>
          </a:prstGeom>
          <a:solidFill>
            <a:srgbClr val="15161a"/>
          </a:solidFill>
          <a:ln w="12700">
            <a:solidFill>
              <a:srgbClr val="15161a"/>
            </a:solidFill>
            <a:round/>
          </a:ln>
          <a:effectLst>
            <a:outerShdw algn="bl" blurRad="101520" dir="5400000" dist="38160" kx="0" ky="0" rotWithShape="0" sx="100000" sy="100000">
              <a:srgbClr val="000000">
                <a:alpha val="22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54" name="Shape 9"/>
          <p:cNvSpPr/>
          <p:nvPr/>
        </p:nvSpPr>
        <p:spPr>
          <a:xfrm>
            <a:off x="8238600" y="740520"/>
            <a:ext cx="3090240" cy="5467680"/>
          </a:xfrm>
          <a:prstGeom prst="roundRect">
            <a:avLst>
              <a:gd name="adj" fmla="val 7101"/>
            </a:avLst>
          </a:prstGeom>
          <a:solidFill>
            <a:srgbClr val="f7f2fa"/>
          </a:solidFill>
          <a:ln w="12700">
            <a:solidFill>
              <a:srgbClr val="f7f2fa"/>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55" name="Text 10"/>
          <p:cNvSpPr/>
          <p:nvPr/>
        </p:nvSpPr>
        <p:spPr>
          <a:xfrm>
            <a:off x="8421480" y="1060560"/>
            <a:ext cx="371880" cy="282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1b2330"/>
                </a:solidFill>
                <a:latin typeface="Arial"/>
                <a:ea typeface="Arial"/>
              </a:rPr>
              <a:t>The</a:t>
            </a:r>
            <a:endParaRPr b="0" lang="en-US" sz="1200" spc="-1" strike="noStrike">
              <a:solidFill>
                <a:srgbClr val="ffffff"/>
              </a:solidFill>
              <a:latin typeface="Arial"/>
            </a:endParaRPr>
          </a:p>
        </p:txBody>
      </p:sp>
      <p:sp>
        <p:nvSpPr>
          <p:cNvPr id="256" name="Text 11"/>
          <p:cNvSpPr/>
          <p:nvPr/>
        </p:nvSpPr>
        <p:spPr>
          <a:xfrm>
            <a:off x="8726400" y="1060560"/>
            <a:ext cx="829080" cy="282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1b2330"/>
                </a:solidFill>
                <a:latin typeface="Arial"/>
                <a:ea typeface="Arial"/>
              </a:rPr>
              <a:t>Americans</a:t>
            </a:r>
            <a:endParaRPr b="0" lang="en-US" sz="1200" spc="-1" strike="noStrike">
              <a:solidFill>
                <a:srgbClr val="ffffff"/>
              </a:solidFill>
              <a:latin typeface="Arial"/>
            </a:endParaRPr>
          </a:p>
        </p:txBody>
      </p:sp>
      <p:sp>
        <p:nvSpPr>
          <p:cNvPr id="257" name="Text 12"/>
          <p:cNvSpPr/>
          <p:nvPr/>
        </p:nvSpPr>
        <p:spPr>
          <a:xfrm>
            <a:off x="9488880" y="1060560"/>
            <a:ext cx="380520" cy="282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1b2330"/>
                </a:solidFill>
                <a:latin typeface="Arial"/>
                <a:ea typeface="Arial"/>
              </a:rPr>
              <a:t>with</a:t>
            </a:r>
            <a:endParaRPr b="0" lang="en-US" sz="1200" spc="-1" strike="noStrike">
              <a:solidFill>
                <a:srgbClr val="ffffff"/>
              </a:solidFill>
              <a:latin typeface="Arial"/>
            </a:endParaRPr>
          </a:p>
        </p:txBody>
      </p:sp>
      <p:sp>
        <p:nvSpPr>
          <p:cNvPr id="258" name="Text 13"/>
          <p:cNvSpPr/>
          <p:nvPr/>
        </p:nvSpPr>
        <p:spPr>
          <a:xfrm>
            <a:off x="9802080" y="1060560"/>
            <a:ext cx="837720" cy="282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1b2330"/>
                </a:solidFill>
                <a:latin typeface="Arial"/>
                <a:ea typeface="Arial"/>
              </a:rPr>
              <a:t>Disabilities</a:t>
            </a:r>
            <a:endParaRPr b="0" lang="en-US" sz="1200" spc="-1" strike="noStrike">
              <a:solidFill>
                <a:srgbClr val="ffffff"/>
              </a:solidFill>
              <a:latin typeface="Arial"/>
            </a:endParaRPr>
          </a:p>
        </p:txBody>
      </p:sp>
      <p:sp>
        <p:nvSpPr>
          <p:cNvPr id="259" name="Text 14"/>
          <p:cNvSpPr/>
          <p:nvPr/>
        </p:nvSpPr>
        <p:spPr>
          <a:xfrm>
            <a:off x="10572840" y="1060560"/>
            <a:ext cx="329400" cy="282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1b2330"/>
                </a:solidFill>
                <a:latin typeface="Arial"/>
                <a:ea typeface="Arial"/>
              </a:rPr>
              <a:t>Act</a:t>
            </a:r>
            <a:endParaRPr b="0" lang="en-US" sz="1200" spc="-1" strike="noStrike">
              <a:solidFill>
                <a:srgbClr val="ffffff"/>
              </a:solidFill>
              <a:latin typeface="Arial"/>
            </a:endParaRPr>
          </a:p>
        </p:txBody>
      </p:sp>
      <p:sp>
        <p:nvSpPr>
          <p:cNvPr id="260" name="Text 15"/>
          <p:cNvSpPr/>
          <p:nvPr/>
        </p:nvSpPr>
        <p:spPr>
          <a:xfrm>
            <a:off x="10835280" y="1060560"/>
            <a:ext cx="219600" cy="282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1b2330"/>
                </a:solidFill>
                <a:latin typeface="Arial"/>
                <a:ea typeface="Arial"/>
              </a:rPr>
              <a:t>is</a:t>
            </a:r>
            <a:endParaRPr b="0" lang="en-US" sz="1200" spc="-1" strike="noStrike">
              <a:solidFill>
                <a:srgbClr val="ffffff"/>
              </a:solidFill>
              <a:latin typeface="Arial"/>
            </a:endParaRPr>
          </a:p>
        </p:txBody>
      </p:sp>
      <p:sp>
        <p:nvSpPr>
          <p:cNvPr id="261" name="Text 16"/>
          <p:cNvSpPr/>
          <p:nvPr/>
        </p:nvSpPr>
        <p:spPr>
          <a:xfrm>
            <a:off x="10987920" y="1060560"/>
            <a:ext cx="194040" cy="282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1b2330"/>
                </a:solidFill>
                <a:latin typeface="Arial"/>
                <a:ea typeface="Arial"/>
              </a:rPr>
              <a:t>a</a:t>
            </a:r>
            <a:endParaRPr b="0" lang="en-US" sz="1200" spc="-1" strike="noStrike">
              <a:solidFill>
                <a:srgbClr val="ffffff"/>
              </a:solidFill>
              <a:latin typeface="Arial"/>
            </a:endParaRPr>
          </a:p>
        </p:txBody>
      </p:sp>
      <p:sp>
        <p:nvSpPr>
          <p:cNvPr id="262" name="Text 17"/>
          <p:cNvSpPr/>
          <p:nvPr/>
        </p:nvSpPr>
        <p:spPr>
          <a:xfrm>
            <a:off x="8421480" y="1344240"/>
            <a:ext cx="575280" cy="282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1b2330"/>
                </a:solidFill>
                <a:latin typeface="Arial"/>
                <a:ea typeface="Arial"/>
              </a:rPr>
              <a:t>federal</a:t>
            </a:r>
            <a:endParaRPr b="0" lang="en-US" sz="1200" spc="-1" strike="noStrike">
              <a:solidFill>
                <a:srgbClr val="ffffff"/>
              </a:solidFill>
              <a:latin typeface="Arial"/>
            </a:endParaRPr>
          </a:p>
        </p:txBody>
      </p:sp>
      <p:sp>
        <p:nvSpPr>
          <p:cNvPr id="263" name="Text 18"/>
          <p:cNvSpPr/>
          <p:nvPr/>
        </p:nvSpPr>
        <p:spPr>
          <a:xfrm>
            <a:off x="8929800" y="1344240"/>
            <a:ext cx="363240" cy="282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1b2330"/>
                </a:solidFill>
                <a:latin typeface="Arial"/>
                <a:ea typeface="Arial"/>
              </a:rPr>
              <a:t>civil</a:t>
            </a:r>
            <a:endParaRPr b="0" lang="en-US" sz="1200" spc="-1" strike="noStrike">
              <a:solidFill>
                <a:srgbClr val="ffffff"/>
              </a:solidFill>
              <a:latin typeface="Arial"/>
            </a:endParaRPr>
          </a:p>
        </p:txBody>
      </p:sp>
      <p:sp>
        <p:nvSpPr>
          <p:cNvPr id="264" name="Text 19"/>
          <p:cNvSpPr/>
          <p:nvPr/>
        </p:nvSpPr>
        <p:spPr>
          <a:xfrm>
            <a:off x="9226440" y="1344240"/>
            <a:ext cx="482040" cy="282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1b2330"/>
                </a:solidFill>
                <a:latin typeface="Arial"/>
                <a:ea typeface="Arial"/>
              </a:rPr>
              <a:t>rights</a:t>
            </a:r>
            <a:endParaRPr b="0" lang="en-US" sz="1200" spc="-1" strike="noStrike">
              <a:solidFill>
                <a:srgbClr val="ffffff"/>
              </a:solidFill>
              <a:latin typeface="Arial"/>
            </a:endParaRPr>
          </a:p>
        </p:txBody>
      </p:sp>
      <p:sp>
        <p:nvSpPr>
          <p:cNvPr id="265" name="Text 20"/>
          <p:cNvSpPr/>
          <p:nvPr/>
        </p:nvSpPr>
        <p:spPr>
          <a:xfrm>
            <a:off x="9641160" y="1344240"/>
            <a:ext cx="338040" cy="282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1b2330"/>
                </a:solidFill>
                <a:latin typeface="Arial"/>
                <a:ea typeface="Arial"/>
              </a:rPr>
              <a:t>law</a:t>
            </a:r>
            <a:endParaRPr b="0" lang="en-US" sz="1200" spc="-1" strike="noStrike">
              <a:solidFill>
                <a:srgbClr val="ffffff"/>
              </a:solidFill>
              <a:latin typeface="Arial"/>
            </a:endParaRPr>
          </a:p>
        </p:txBody>
      </p:sp>
      <p:sp>
        <p:nvSpPr>
          <p:cNvPr id="266" name="Text 21"/>
          <p:cNvSpPr/>
          <p:nvPr/>
        </p:nvSpPr>
        <p:spPr>
          <a:xfrm>
            <a:off x="9912240" y="1344240"/>
            <a:ext cx="363600" cy="282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1b2330"/>
                </a:solidFill>
                <a:latin typeface="Arial"/>
                <a:ea typeface="Arial"/>
              </a:rPr>
              <a:t>that</a:t>
            </a:r>
            <a:endParaRPr b="0" lang="en-US" sz="1200" spc="-1" strike="noStrike">
              <a:solidFill>
                <a:srgbClr val="ffffff"/>
              </a:solidFill>
              <a:latin typeface="Arial"/>
            </a:endParaRPr>
          </a:p>
        </p:txBody>
      </p:sp>
      <p:sp>
        <p:nvSpPr>
          <p:cNvPr id="267" name="Text 22"/>
          <p:cNvSpPr/>
          <p:nvPr/>
        </p:nvSpPr>
        <p:spPr>
          <a:xfrm>
            <a:off x="10208880" y="1344240"/>
            <a:ext cx="685440" cy="282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1b2330"/>
                </a:solidFill>
                <a:latin typeface="Arial"/>
                <a:ea typeface="Arial"/>
              </a:rPr>
              <a:t>prohibits</a:t>
            </a:r>
            <a:endParaRPr b="0" lang="en-US" sz="1200" spc="-1" strike="noStrike">
              <a:solidFill>
                <a:srgbClr val="ffffff"/>
              </a:solidFill>
              <a:latin typeface="Arial"/>
            </a:endParaRPr>
          </a:p>
        </p:txBody>
      </p:sp>
      <p:sp>
        <p:nvSpPr>
          <p:cNvPr id="268" name="Shape 23"/>
          <p:cNvSpPr/>
          <p:nvPr/>
        </p:nvSpPr>
        <p:spPr>
          <a:xfrm>
            <a:off x="10163160" y="1353240"/>
            <a:ext cx="667080" cy="264960"/>
          </a:xfrm>
          <a:prstGeom prst="rect">
            <a:avLst/>
          </a:prstGeom>
          <a:noFill/>
          <a:ln w="34925">
            <a:solidFill>
              <a:srgbClr val="1a73e8"/>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69" name="Text 24"/>
          <p:cNvSpPr/>
          <p:nvPr/>
        </p:nvSpPr>
        <p:spPr>
          <a:xfrm>
            <a:off x="8421480" y="1627560"/>
            <a:ext cx="1041120" cy="282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1b2330"/>
                </a:solidFill>
                <a:latin typeface="Arial"/>
                <a:ea typeface="Arial"/>
              </a:rPr>
              <a:t>discrimination</a:t>
            </a:r>
            <a:endParaRPr b="0" lang="en-US" sz="1200" spc="-1" strike="noStrike">
              <a:solidFill>
                <a:srgbClr val="ffffff"/>
              </a:solidFill>
              <a:latin typeface="Arial"/>
            </a:endParaRPr>
          </a:p>
        </p:txBody>
      </p:sp>
      <p:sp>
        <p:nvSpPr>
          <p:cNvPr id="270" name="Text 25"/>
          <p:cNvSpPr/>
          <p:nvPr/>
        </p:nvSpPr>
        <p:spPr>
          <a:xfrm>
            <a:off x="9395640" y="1627560"/>
            <a:ext cx="600840" cy="282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1b2330"/>
                </a:solidFill>
                <a:latin typeface="Arial"/>
                <a:ea typeface="Arial"/>
              </a:rPr>
              <a:t>against</a:t>
            </a:r>
            <a:endParaRPr b="0" lang="en-US" sz="1200" spc="-1" strike="noStrike">
              <a:solidFill>
                <a:srgbClr val="ffffff"/>
              </a:solidFill>
              <a:latin typeface="Arial"/>
            </a:endParaRPr>
          </a:p>
        </p:txBody>
      </p:sp>
      <p:sp>
        <p:nvSpPr>
          <p:cNvPr id="271" name="Text 26"/>
          <p:cNvSpPr/>
          <p:nvPr/>
        </p:nvSpPr>
        <p:spPr>
          <a:xfrm>
            <a:off x="9929520" y="1627560"/>
            <a:ext cx="567000" cy="282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1b2330"/>
                </a:solidFill>
                <a:latin typeface="Arial"/>
                <a:ea typeface="Arial"/>
              </a:rPr>
              <a:t>people</a:t>
            </a:r>
            <a:endParaRPr b="0" lang="en-US" sz="1200" spc="-1" strike="noStrike">
              <a:solidFill>
                <a:srgbClr val="ffffff"/>
              </a:solidFill>
              <a:latin typeface="Arial"/>
            </a:endParaRPr>
          </a:p>
        </p:txBody>
      </p:sp>
      <p:sp>
        <p:nvSpPr>
          <p:cNvPr id="272" name="Text 27"/>
          <p:cNvSpPr/>
          <p:nvPr/>
        </p:nvSpPr>
        <p:spPr>
          <a:xfrm>
            <a:off x="10429560" y="1627560"/>
            <a:ext cx="380520" cy="282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1b2330"/>
                </a:solidFill>
                <a:latin typeface="Arial"/>
                <a:ea typeface="Arial"/>
              </a:rPr>
              <a:t>with</a:t>
            </a:r>
            <a:endParaRPr b="0" lang="en-US" sz="1200" spc="-1" strike="noStrike">
              <a:solidFill>
                <a:srgbClr val="ffffff"/>
              </a:solidFill>
              <a:latin typeface="Arial"/>
            </a:endParaRPr>
          </a:p>
        </p:txBody>
      </p:sp>
      <p:sp>
        <p:nvSpPr>
          <p:cNvPr id="273" name="Text 28"/>
          <p:cNvSpPr/>
          <p:nvPr/>
        </p:nvSpPr>
        <p:spPr>
          <a:xfrm>
            <a:off x="8421480" y="1911240"/>
            <a:ext cx="812520" cy="282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1b2330"/>
                </a:solidFill>
                <a:latin typeface="Arial"/>
                <a:ea typeface="Arial"/>
              </a:rPr>
              <a:t>disabilities</a:t>
            </a:r>
            <a:endParaRPr b="0" lang="en-US" sz="1200" spc="-1" strike="noStrike">
              <a:solidFill>
                <a:srgbClr val="ffffff"/>
              </a:solidFill>
              <a:latin typeface="Arial"/>
            </a:endParaRPr>
          </a:p>
        </p:txBody>
      </p:sp>
      <p:sp>
        <p:nvSpPr>
          <p:cNvPr id="274" name="Text 29"/>
          <p:cNvSpPr/>
          <p:nvPr/>
        </p:nvSpPr>
        <p:spPr>
          <a:xfrm>
            <a:off x="9167040" y="1911240"/>
            <a:ext cx="227880" cy="282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1b2330"/>
                </a:solidFill>
                <a:latin typeface="Arial"/>
                <a:ea typeface="Arial"/>
              </a:rPr>
              <a:t>in</a:t>
            </a:r>
            <a:endParaRPr b="0" lang="en-US" sz="1200" spc="-1" strike="noStrike">
              <a:solidFill>
                <a:srgbClr val="ffffff"/>
              </a:solidFill>
              <a:latin typeface="Arial"/>
            </a:endParaRPr>
          </a:p>
        </p:txBody>
      </p:sp>
      <p:sp>
        <p:nvSpPr>
          <p:cNvPr id="275" name="Text 30"/>
          <p:cNvSpPr/>
          <p:nvPr/>
        </p:nvSpPr>
        <p:spPr>
          <a:xfrm>
            <a:off x="9327960" y="1911240"/>
            <a:ext cx="727920" cy="282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1b2330"/>
                </a:solidFill>
                <a:latin typeface="Arial"/>
                <a:ea typeface="Arial"/>
              </a:rPr>
              <a:t>everyday</a:t>
            </a:r>
            <a:endParaRPr b="0" lang="en-US" sz="1200" spc="-1" strike="noStrike">
              <a:solidFill>
                <a:srgbClr val="ffffff"/>
              </a:solidFill>
              <a:latin typeface="Arial"/>
            </a:endParaRPr>
          </a:p>
        </p:txBody>
      </p:sp>
      <p:sp>
        <p:nvSpPr>
          <p:cNvPr id="276" name="Text 31"/>
          <p:cNvSpPr/>
          <p:nvPr/>
        </p:nvSpPr>
        <p:spPr>
          <a:xfrm>
            <a:off x="9988560" y="1911240"/>
            <a:ext cx="736200" cy="282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1b2330"/>
                </a:solidFill>
                <a:latin typeface="Arial"/>
                <a:ea typeface="Arial"/>
              </a:rPr>
              <a:t>activities.</a:t>
            </a:r>
            <a:endParaRPr b="0" lang="en-US" sz="1200" spc="-1" strike="noStrike">
              <a:solidFill>
                <a:srgbClr val="ffffff"/>
              </a:solidFill>
              <a:latin typeface="Arial"/>
            </a:endParaRPr>
          </a:p>
        </p:txBody>
      </p:sp>
      <p:sp>
        <p:nvSpPr>
          <p:cNvPr id="277" name="Text 32"/>
          <p:cNvSpPr/>
          <p:nvPr/>
        </p:nvSpPr>
        <p:spPr>
          <a:xfrm>
            <a:off x="10657800" y="1911240"/>
            <a:ext cx="194040" cy="282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1b2330"/>
                </a:solidFill>
                <a:latin typeface="Arial"/>
                <a:ea typeface="Arial"/>
              </a:rPr>
              <a:t>It</a:t>
            </a:r>
            <a:endParaRPr b="0" lang="en-US" sz="1200" spc="-1" strike="noStrike">
              <a:solidFill>
                <a:srgbClr val="ffffff"/>
              </a:solidFill>
              <a:latin typeface="Arial"/>
            </a:endParaRPr>
          </a:p>
        </p:txBody>
      </p:sp>
      <p:sp>
        <p:nvSpPr>
          <p:cNvPr id="278" name="Text 33"/>
          <p:cNvSpPr/>
          <p:nvPr/>
        </p:nvSpPr>
        <p:spPr>
          <a:xfrm>
            <a:off x="10784880" y="1911240"/>
            <a:ext cx="380520" cy="282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1b2330"/>
                </a:solidFill>
                <a:latin typeface="Arial"/>
                <a:ea typeface="Arial"/>
              </a:rPr>
              <a:t>was</a:t>
            </a:r>
            <a:endParaRPr b="0" lang="en-US" sz="1200" spc="-1" strike="noStrike">
              <a:solidFill>
                <a:srgbClr val="ffffff"/>
              </a:solidFill>
              <a:latin typeface="Arial"/>
            </a:endParaRPr>
          </a:p>
        </p:txBody>
      </p:sp>
      <p:sp>
        <p:nvSpPr>
          <p:cNvPr id="279" name="Text 34"/>
          <p:cNvSpPr/>
          <p:nvPr/>
        </p:nvSpPr>
        <p:spPr>
          <a:xfrm>
            <a:off x="8421480" y="2194560"/>
            <a:ext cx="558360" cy="282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1b2330"/>
                </a:solidFill>
                <a:latin typeface="Arial"/>
                <a:ea typeface="Arial"/>
              </a:rPr>
              <a:t>signed</a:t>
            </a:r>
            <a:endParaRPr b="0" lang="en-US" sz="1200" spc="-1" strike="noStrike">
              <a:solidFill>
                <a:srgbClr val="ffffff"/>
              </a:solidFill>
              <a:latin typeface="Arial"/>
            </a:endParaRPr>
          </a:p>
        </p:txBody>
      </p:sp>
      <p:sp>
        <p:nvSpPr>
          <p:cNvPr id="280" name="Text 35"/>
          <p:cNvSpPr/>
          <p:nvPr/>
        </p:nvSpPr>
        <p:spPr>
          <a:xfrm>
            <a:off x="8912880" y="2194560"/>
            <a:ext cx="354960" cy="282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1b2330"/>
                </a:solidFill>
                <a:latin typeface="Arial"/>
                <a:ea typeface="Arial"/>
              </a:rPr>
              <a:t>into</a:t>
            </a:r>
            <a:endParaRPr b="0" lang="en-US" sz="1200" spc="-1" strike="noStrike">
              <a:solidFill>
                <a:srgbClr val="ffffff"/>
              </a:solidFill>
              <a:latin typeface="Arial"/>
            </a:endParaRPr>
          </a:p>
        </p:txBody>
      </p:sp>
      <p:sp>
        <p:nvSpPr>
          <p:cNvPr id="281" name="Text 36"/>
          <p:cNvSpPr/>
          <p:nvPr/>
        </p:nvSpPr>
        <p:spPr>
          <a:xfrm>
            <a:off x="9201240" y="2194560"/>
            <a:ext cx="338040" cy="282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1b2330"/>
                </a:solidFill>
                <a:latin typeface="Arial"/>
                <a:ea typeface="Arial"/>
              </a:rPr>
              <a:t>law</a:t>
            </a:r>
            <a:endParaRPr b="0" lang="en-US" sz="1200" spc="-1" strike="noStrike">
              <a:solidFill>
                <a:srgbClr val="ffffff"/>
              </a:solidFill>
              <a:latin typeface="Arial"/>
            </a:endParaRPr>
          </a:p>
        </p:txBody>
      </p:sp>
      <p:sp>
        <p:nvSpPr>
          <p:cNvPr id="282" name="Text 37"/>
          <p:cNvSpPr/>
          <p:nvPr/>
        </p:nvSpPr>
        <p:spPr>
          <a:xfrm>
            <a:off x="9471960" y="2194560"/>
            <a:ext cx="279000" cy="282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1b2330"/>
                </a:solidFill>
                <a:latin typeface="Arial"/>
                <a:ea typeface="Arial"/>
              </a:rPr>
              <a:t>on</a:t>
            </a:r>
            <a:endParaRPr b="0" lang="en-US" sz="1200" spc="-1" strike="noStrike">
              <a:solidFill>
                <a:srgbClr val="ffffff"/>
              </a:solidFill>
              <a:latin typeface="Arial"/>
            </a:endParaRPr>
          </a:p>
        </p:txBody>
      </p:sp>
      <p:sp>
        <p:nvSpPr>
          <p:cNvPr id="283" name="Text 38"/>
          <p:cNvSpPr/>
          <p:nvPr/>
        </p:nvSpPr>
        <p:spPr>
          <a:xfrm>
            <a:off x="9684000" y="2194560"/>
            <a:ext cx="380520" cy="282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1b2330"/>
                </a:solidFill>
                <a:latin typeface="Arial"/>
                <a:ea typeface="Arial"/>
              </a:rPr>
              <a:t>July</a:t>
            </a:r>
            <a:endParaRPr b="0" lang="en-US" sz="1200" spc="-1" strike="noStrike">
              <a:solidFill>
                <a:srgbClr val="ffffff"/>
              </a:solidFill>
              <a:latin typeface="Arial"/>
            </a:endParaRPr>
          </a:p>
        </p:txBody>
      </p:sp>
      <p:sp>
        <p:nvSpPr>
          <p:cNvPr id="284" name="Text 39"/>
          <p:cNvSpPr/>
          <p:nvPr/>
        </p:nvSpPr>
        <p:spPr>
          <a:xfrm>
            <a:off x="9997200" y="2194560"/>
            <a:ext cx="321120" cy="282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1b2330"/>
                </a:solidFill>
                <a:latin typeface="Arial"/>
                <a:ea typeface="Arial"/>
              </a:rPr>
              <a:t>26,</a:t>
            </a:r>
            <a:endParaRPr b="0" lang="en-US" sz="1200" spc="-1" strike="noStrike">
              <a:solidFill>
                <a:srgbClr val="ffffff"/>
              </a:solidFill>
              <a:latin typeface="Arial"/>
            </a:endParaRPr>
          </a:p>
        </p:txBody>
      </p:sp>
      <p:sp>
        <p:nvSpPr>
          <p:cNvPr id="285" name="Text 40"/>
          <p:cNvSpPr/>
          <p:nvPr/>
        </p:nvSpPr>
        <p:spPr>
          <a:xfrm>
            <a:off x="10251720" y="2194560"/>
            <a:ext cx="490680" cy="282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1b2330"/>
                </a:solidFill>
                <a:latin typeface="Arial"/>
                <a:ea typeface="Arial"/>
              </a:rPr>
              <a:t>1990,</a:t>
            </a:r>
            <a:endParaRPr b="0" lang="en-US" sz="1200" spc="-1" strike="noStrike">
              <a:solidFill>
                <a:srgbClr val="ffffff"/>
              </a:solidFill>
              <a:latin typeface="Arial"/>
            </a:endParaRPr>
          </a:p>
        </p:txBody>
      </p:sp>
      <p:sp>
        <p:nvSpPr>
          <p:cNvPr id="286" name="Text 41"/>
          <p:cNvSpPr/>
          <p:nvPr/>
        </p:nvSpPr>
        <p:spPr>
          <a:xfrm>
            <a:off x="10675440" y="2194560"/>
            <a:ext cx="363600" cy="282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1b2330"/>
                </a:solidFill>
                <a:latin typeface="Arial"/>
                <a:ea typeface="Arial"/>
              </a:rPr>
              <a:t>and</a:t>
            </a:r>
            <a:endParaRPr b="0" lang="en-US" sz="1200" spc="-1" strike="noStrike">
              <a:solidFill>
                <a:srgbClr val="ffffff"/>
              </a:solidFill>
              <a:latin typeface="Arial"/>
            </a:endParaRPr>
          </a:p>
        </p:txBody>
      </p:sp>
      <p:sp>
        <p:nvSpPr>
          <p:cNvPr id="287" name="Text 42"/>
          <p:cNvSpPr/>
          <p:nvPr/>
        </p:nvSpPr>
        <p:spPr>
          <a:xfrm>
            <a:off x="10971720" y="2194560"/>
            <a:ext cx="185400" cy="282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1b2330"/>
                </a:solidFill>
                <a:latin typeface="Arial"/>
                <a:ea typeface="Arial"/>
              </a:rPr>
              <a:t>it</a:t>
            </a:r>
            <a:endParaRPr b="0" lang="en-US" sz="1200" spc="-1" strike="noStrike">
              <a:solidFill>
                <a:srgbClr val="ffffff"/>
              </a:solidFill>
              <a:latin typeface="Arial"/>
            </a:endParaRPr>
          </a:p>
        </p:txBody>
      </p:sp>
      <p:sp>
        <p:nvSpPr>
          <p:cNvPr id="288" name="Text 43"/>
          <p:cNvSpPr/>
          <p:nvPr/>
        </p:nvSpPr>
        <p:spPr>
          <a:xfrm>
            <a:off x="8421480" y="2477880"/>
            <a:ext cx="651600" cy="282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1b2330"/>
                </a:solidFill>
                <a:latin typeface="Arial"/>
                <a:ea typeface="Arial"/>
              </a:rPr>
              <a:t>protects</a:t>
            </a:r>
            <a:endParaRPr b="0" lang="en-US" sz="1200" spc="-1" strike="noStrike">
              <a:solidFill>
                <a:srgbClr val="ffffff"/>
              </a:solidFill>
              <a:latin typeface="Arial"/>
            </a:endParaRPr>
          </a:p>
        </p:txBody>
      </p:sp>
      <p:sp>
        <p:nvSpPr>
          <p:cNvPr id="289" name="Text 44"/>
          <p:cNvSpPr/>
          <p:nvPr/>
        </p:nvSpPr>
        <p:spPr>
          <a:xfrm>
            <a:off x="9006120" y="2477880"/>
            <a:ext cx="583560" cy="282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1b2330"/>
                </a:solidFill>
                <a:latin typeface="Arial"/>
                <a:ea typeface="Arial"/>
              </a:rPr>
              <a:t>access</a:t>
            </a:r>
            <a:endParaRPr b="0" lang="en-US" sz="1200" spc="-1" strike="noStrike">
              <a:solidFill>
                <a:srgbClr val="ffffff"/>
              </a:solidFill>
              <a:latin typeface="Arial"/>
            </a:endParaRPr>
          </a:p>
        </p:txBody>
      </p:sp>
      <p:sp>
        <p:nvSpPr>
          <p:cNvPr id="290" name="Text 45"/>
          <p:cNvSpPr/>
          <p:nvPr/>
        </p:nvSpPr>
        <p:spPr>
          <a:xfrm>
            <a:off x="9522720" y="2477880"/>
            <a:ext cx="227880" cy="282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1b2330"/>
                </a:solidFill>
                <a:latin typeface="Arial"/>
                <a:ea typeface="Arial"/>
              </a:rPr>
              <a:t>in</a:t>
            </a:r>
            <a:endParaRPr b="0" lang="en-US" sz="1200" spc="-1" strike="noStrike">
              <a:solidFill>
                <a:srgbClr val="ffffff"/>
              </a:solidFill>
              <a:latin typeface="Arial"/>
            </a:endParaRPr>
          </a:p>
        </p:txBody>
      </p:sp>
      <p:sp>
        <p:nvSpPr>
          <p:cNvPr id="291" name="Text 46"/>
          <p:cNvSpPr/>
          <p:nvPr/>
        </p:nvSpPr>
        <p:spPr>
          <a:xfrm>
            <a:off x="9683640" y="2477880"/>
            <a:ext cx="981720" cy="282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1b2330"/>
                </a:solidFill>
                <a:latin typeface="Arial"/>
                <a:ea typeface="Arial"/>
              </a:rPr>
              <a:t>employment,</a:t>
            </a:r>
            <a:endParaRPr b="0" lang="en-US" sz="1200" spc="-1" strike="noStrike">
              <a:solidFill>
                <a:srgbClr val="ffffff"/>
              </a:solidFill>
              <a:latin typeface="Arial"/>
            </a:endParaRPr>
          </a:p>
        </p:txBody>
      </p:sp>
      <p:sp>
        <p:nvSpPr>
          <p:cNvPr id="292" name="Text 47"/>
          <p:cNvSpPr/>
          <p:nvPr/>
        </p:nvSpPr>
        <p:spPr>
          <a:xfrm>
            <a:off x="10598400" y="2477880"/>
            <a:ext cx="439920" cy="282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1b2330"/>
                </a:solidFill>
                <a:latin typeface="Arial"/>
                <a:ea typeface="Arial"/>
              </a:rPr>
              <a:t>state</a:t>
            </a:r>
            <a:endParaRPr b="0" lang="en-US" sz="1200" spc="-1" strike="noStrike">
              <a:solidFill>
                <a:srgbClr val="ffffff"/>
              </a:solidFill>
              <a:latin typeface="Arial"/>
            </a:endParaRPr>
          </a:p>
        </p:txBody>
      </p:sp>
      <p:sp>
        <p:nvSpPr>
          <p:cNvPr id="293" name="Text 48"/>
          <p:cNvSpPr/>
          <p:nvPr/>
        </p:nvSpPr>
        <p:spPr>
          <a:xfrm>
            <a:off x="8421480" y="2761560"/>
            <a:ext cx="363600" cy="282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1b2330"/>
                </a:solidFill>
                <a:latin typeface="Arial"/>
                <a:ea typeface="Arial"/>
              </a:rPr>
              <a:t>and</a:t>
            </a:r>
            <a:endParaRPr b="0" lang="en-US" sz="1200" spc="-1" strike="noStrike">
              <a:solidFill>
                <a:srgbClr val="ffffff"/>
              </a:solidFill>
              <a:latin typeface="Arial"/>
            </a:endParaRPr>
          </a:p>
        </p:txBody>
      </p:sp>
      <p:sp>
        <p:nvSpPr>
          <p:cNvPr id="294" name="Text 49"/>
          <p:cNvSpPr/>
          <p:nvPr/>
        </p:nvSpPr>
        <p:spPr>
          <a:xfrm>
            <a:off x="8718120" y="2761560"/>
            <a:ext cx="422640" cy="282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b8b1c6"/>
                </a:solidFill>
                <a:latin typeface="Arial"/>
                <a:ea typeface="Arial"/>
              </a:rPr>
              <a:t>local</a:t>
            </a:r>
            <a:endParaRPr b="0" lang="en-US" sz="1200" spc="-1" strike="noStrike">
              <a:solidFill>
                <a:srgbClr val="ffffff"/>
              </a:solidFill>
              <a:latin typeface="Arial"/>
            </a:endParaRPr>
          </a:p>
        </p:txBody>
      </p:sp>
      <p:sp>
        <p:nvSpPr>
          <p:cNvPr id="295" name="Text 50"/>
          <p:cNvSpPr/>
          <p:nvPr/>
        </p:nvSpPr>
        <p:spPr>
          <a:xfrm>
            <a:off x="9074160" y="2761560"/>
            <a:ext cx="914040" cy="282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b8b1c6"/>
                </a:solidFill>
                <a:latin typeface="Arial"/>
                <a:ea typeface="Arial"/>
              </a:rPr>
              <a:t>government</a:t>
            </a:r>
            <a:endParaRPr b="0" lang="en-US" sz="1200" spc="-1" strike="noStrike">
              <a:solidFill>
                <a:srgbClr val="ffffff"/>
              </a:solidFill>
              <a:latin typeface="Arial"/>
            </a:endParaRPr>
          </a:p>
        </p:txBody>
      </p:sp>
      <p:sp>
        <p:nvSpPr>
          <p:cNvPr id="296" name="Text 51"/>
          <p:cNvSpPr/>
          <p:nvPr/>
        </p:nvSpPr>
        <p:spPr>
          <a:xfrm>
            <a:off x="9921240" y="2761560"/>
            <a:ext cx="710640" cy="282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pc="-1" strike="noStrike">
                <a:solidFill>
                  <a:srgbClr val="d8d3e0"/>
                </a:solidFill>
                <a:latin typeface="Arial"/>
                <a:ea typeface="Arial"/>
              </a:rPr>
              <a:t>services,</a:t>
            </a:r>
            <a:endParaRPr b="0" lang="en-US" sz="1200" spc="-1" strike="noStrike">
              <a:solidFill>
                <a:srgbClr val="ffffff"/>
              </a:solidFill>
              <a:latin typeface="Arial"/>
            </a:endParaRPr>
          </a:p>
        </p:txBody>
      </p:sp>
      <p:sp>
        <p:nvSpPr>
          <p:cNvPr id="297" name="Shape 52"/>
          <p:cNvSpPr/>
          <p:nvPr/>
        </p:nvSpPr>
        <p:spPr>
          <a:xfrm>
            <a:off x="8787240" y="5294520"/>
            <a:ext cx="1992960" cy="411120"/>
          </a:xfrm>
          <a:prstGeom prst="rect">
            <a:avLst/>
          </a:prstGeom>
          <a:solidFill>
            <a:srgbClr val="2e2e2e"/>
          </a:solidFill>
          <a:ln w="12700">
            <a:solidFill>
              <a:srgbClr val="2e2e2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98" name="Text 53"/>
          <p:cNvSpPr/>
          <p:nvPr/>
        </p:nvSpPr>
        <p:spPr>
          <a:xfrm>
            <a:off x="8860680" y="5294520"/>
            <a:ext cx="1846800" cy="411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300" spc="-1" strike="noStrike">
                <a:solidFill>
                  <a:srgbClr val="ffffff"/>
                </a:solidFill>
                <a:latin typeface="Calibri"/>
                <a:ea typeface="Calibri"/>
              </a:rPr>
              <a:t>prohibits</a:t>
            </a:r>
            <a:endParaRPr b="0" lang="en-US" sz="13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99" name="Shape 0"/>
          <p:cNvSpPr/>
          <p:nvPr/>
        </p:nvSpPr>
        <p:spPr>
          <a:xfrm>
            <a:off x="548640" y="384120"/>
            <a:ext cx="2025000" cy="328680"/>
          </a:xfrm>
          <a:prstGeom prst="roundRect">
            <a:avLst>
              <a:gd name="adj" fmla="val 50000"/>
            </a:avLst>
          </a:prstGeom>
          <a:solidFill>
            <a:srgbClr val="eeeafb"/>
          </a:solidFill>
          <a:ln w="12700">
            <a:solidFill>
              <a:srgbClr val="eeeaf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00" name="Text 1"/>
          <p:cNvSpPr/>
          <p:nvPr/>
        </p:nvSpPr>
        <p:spPr>
          <a:xfrm>
            <a:off x="548640" y="384120"/>
            <a:ext cx="202500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99" strike="noStrike">
                <a:solidFill>
                  <a:srgbClr val="5b3fd6"/>
                </a:solidFill>
                <a:latin typeface="Calibri"/>
                <a:ea typeface="Calibri"/>
              </a:rPr>
              <a:t>04 · STREAMING TEXT</a:t>
            </a:r>
            <a:endParaRPr b="0" lang="en-US" sz="1100" spc="-1" strike="noStrike">
              <a:solidFill>
                <a:srgbClr val="000000"/>
              </a:solidFill>
              <a:latin typeface="Arial"/>
            </a:endParaRPr>
          </a:p>
        </p:txBody>
      </p:sp>
      <p:sp>
        <p:nvSpPr>
          <p:cNvPr id="301" name="Text 2"/>
          <p:cNvSpPr/>
          <p:nvPr/>
        </p:nvSpPr>
        <p:spPr>
          <a:xfrm>
            <a:off x="548640" y="868680"/>
            <a:ext cx="11063880" cy="7311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3200" spc="-1" strike="noStrike">
                <a:solidFill>
                  <a:srgbClr val="1b2330"/>
                </a:solidFill>
                <a:latin typeface="Arial"/>
                <a:ea typeface="Arial"/>
              </a:rPr>
              <a:t>Five attempts — listen to what TalkBack says</a:t>
            </a:r>
            <a:endParaRPr b="0" lang="en-US" sz="3200" spc="-1" strike="noStrike">
              <a:solidFill>
                <a:srgbClr val="000000"/>
              </a:solidFill>
              <a:latin typeface="Arial"/>
            </a:endParaRPr>
          </a:p>
        </p:txBody>
      </p:sp>
      <p:sp>
        <p:nvSpPr>
          <p:cNvPr id="302" name="Text 3"/>
          <p:cNvSpPr/>
          <p:nvPr/>
        </p:nvSpPr>
        <p:spPr>
          <a:xfrm>
            <a:off x="1234440" y="1572840"/>
            <a:ext cx="3657240" cy="2739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100" spc="199" strike="noStrike">
                <a:solidFill>
                  <a:srgbClr val="5b6472"/>
                </a:solidFill>
                <a:latin typeface="Calibri"/>
                <a:ea typeface="Calibri"/>
              </a:rPr>
              <a:t>APPROACH</a:t>
            </a:r>
            <a:endParaRPr b="0" lang="en-US" sz="1100" spc="-1" strike="noStrike">
              <a:solidFill>
                <a:srgbClr val="000000"/>
              </a:solidFill>
              <a:latin typeface="Arial"/>
            </a:endParaRPr>
          </a:p>
        </p:txBody>
      </p:sp>
      <p:sp>
        <p:nvSpPr>
          <p:cNvPr id="303" name="Text 4"/>
          <p:cNvSpPr/>
          <p:nvPr/>
        </p:nvSpPr>
        <p:spPr>
          <a:xfrm>
            <a:off x="5166360" y="1572840"/>
            <a:ext cx="3657240" cy="2739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100" spc="199" strike="noStrike">
                <a:solidFill>
                  <a:srgbClr val="5b6472"/>
                </a:solidFill>
                <a:latin typeface="Calibri"/>
                <a:ea typeface="Calibri"/>
              </a:rPr>
              <a:t>WHAT TALKBACK SAYS</a:t>
            </a:r>
            <a:endParaRPr b="0" lang="en-US" sz="1100" spc="-1" strike="noStrike">
              <a:solidFill>
                <a:srgbClr val="000000"/>
              </a:solidFill>
              <a:latin typeface="Arial"/>
            </a:endParaRPr>
          </a:p>
        </p:txBody>
      </p:sp>
      <p:sp>
        <p:nvSpPr>
          <p:cNvPr id="304" name="Text 5"/>
          <p:cNvSpPr/>
          <p:nvPr/>
        </p:nvSpPr>
        <p:spPr>
          <a:xfrm>
            <a:off x="9418320" y="1572840"/>
            <a:ext cx="2102760" cy="2739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100" spc="199" strike="noStrike">
                <a:solidFill>
                  <a:srgbClr val="5b6472"/>
                </a:solidFill>
                <a:latin typeface="Calibri"/>
                <a:ea typeface="Calibri"/>
              </a:rPr>
              <a:t>VERDICT</a:t>
            </a:r>
            <a:endParaRPr b="0" lang="en-US" sz="1100" spc="-1" strike="noStrike">
              <a:solidFill>
                <a:srgbClr val="000000"/>
              </a:solidFill>
              <a:latin typeface="Arial"/>
            </a:endParaRPr>
          </a:p>
        </p:txBody>
      </p:sp>
      <p:sp>
        <p:nvSpPr>
          <p:cNvPr id="305" name="Shape 6"/>
          <p:cNvSpPr/>
          <p:nvPr/>
        </p:nvSpPr>
        <p:spPr>
          <a:xfrm>
            <a:off x="548640" y="1920240"/>
            <a:ext cx="11063880" cy="776880"/>
          </a:xfrm>
          <a:prstGeom prst="roundRect">
            <a:avLst>
              <a:gd name="adj" fmla="val 11765"/>
            </a:avLst>
          </a:prstGeom>
          <a:solidFill>
            <a:srgbClr val="f3f5f8"/>
          </a:solidFill>
          <a:ln w="6350">
            <a:solidFill>
              <a:srgbClr val="f3f5f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06" name="Text 7"/>
          <p:cNvSpPr/>
          <p:nvPr/>
        </p:nvSpPr>
        <p:spPr>
          <a:xfrm>
            <a:off x="685800" y="1920240"/>
            <a:ext cx="411120" cy="776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200" spc="-1" strike="noStrike">
                <a:solidFill>
                  <a:srgbClr val="5b3fd6"/>
                </a:solidFill>
                <a:latin typeface="Arial"/>
                <a:ea typeface="Arial"/>
              </a:rPr>
              <a:t>1</a:t>
            </a:r>
            <a:endParaRPr b="0" lang="en-US" sz="2200" spc="-1" strike="noStrike">
              <a:solidFill>
                <a:srgbClr val="000000"/>
              </a:solidFill>
              <a:latin typeface="Arial"/>
            </a:endParaRPr>
          </a:p>
        </p:txBody>
      </p:sp>
      <p:sp>
        <p:nvSpPr>
          <p:cNvPr id="307" name="Text 8"/>
          <p:cNvSpPr/>
          <p:nvPr/>
        </p:nvSpPr>
        <p:spPr>
          <a:xfrm>
            <a:off x="1234440" y="1920240"/>
            <a:ext cx="3794400" cy="77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pc="-1" strike="noStrike">
                <a:solidFill>
                  <a:srgbClr val="1b2330"/>
                </a:solidFill>
                <a:latin typeface="Consolas"/>
                <a:ea typeface="Consolas"/>
              </a:rPr>
              <a:t>No semantics</a:t>
            </a:r>
            <a:endParaRPr b="0" lang="en-US" sz="1250" spc="-1" strike="noStrike">
              <a:solidFill>
                <a:srgbClr val="000000"/>
              </a:solidFill>
              <a:latin typeface="Arial"/>
            </a:endParaRPr>
          </a:p>
        </p:txBody>
      </p:sp>
      <p:sp>
        <p:nvSpPr>
          <p:cNvPr id="308" name="Text 9"/>
          <p:cNvSpPr/>
          <p:nvPr/>
        </p:nvSpPr>
        <p:spPr>
          <a:xfrm>
            <a:off x="5166360" y="1920240"/>
            <a:ext cx="4068720" cy="77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300" spc="-1" strike="noStrike">
                <a:solidFill>
                  <a:srgbClr val="333b48"/>
                </a:solidFill>
                <a:latin typeface="Calibri"/>
                <a:ea typeface="Calibri"/>
              </a:rPr>
              <a:t>“</a:t>
            </a:r>
            <a:r>
              <a:rPr b="0" i="1" lang="en-US" sz="1300" spc="-1" strike="noStrike">
                <a:solidFill>
                  <a:srgbClr val="333b48"/>
                </a:solidFill>
                <a:latin typeface="Calibri"/>
                <a:ea typeface="Calibri"/>
              </a:rPr>
              <a:t>The” … “Americans” … “with” …</a:t>
            </a:r>
            <a:endParaRPr b="0" lang="en-US" sz="1300" spc="-1" strike="noStrike">
              <a:solidFill>
                <a:srgbClr val="000000"/>
              </a:solidFill>
              <a:latin typeface="Arial"/>
            </a:endParaRPr>
          </a:p>
        </p:txBody>
      </p:sp>
      <p:sp>
        <p:nvSpPr>
          <p:cNvPr id="309" name="Shape 10"/>
          <p:cNvSpPr/>
          <p:nvPr/>
        </p:nvSpPr>
        <p:spPr>
          <a:xfrm>
            <a:off x="9418320" y="2103120"/>
            <a:ext cx="2057040" cy="411120"/>
          </a:xfrm>
          <a:prstGeom prst="roundRect">
            <a:avLst>
              <a:gd name="adj" fmla="val 48889"/>
            </a:avLst>
          </a:prstGeom>
          <a:solidFill>
            <a:srgbClr val="fdecec"/>
          </a:solidFill>
          <a:ln w="9525">
            <a:solidFill>
              <a:srgbClr val="c6282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310" name="Image 0" descr="preencoded.png"/>
          <p:cNvPicPr/>
          <p:nvPr/>
        </p:nvPicPr>
        <p:blipFill>
          <a:blip r:embed="rId1"/>
          <a:stretch/>
        </p:blipFill>
        <p:spPr>
          <a:xfrm>
            <a:off x="9528120" y="2185560"/>
            <a:ext cx="246600" cy="246600"/>
          </a:xfrm>
          <a:prstGeom prst="rect">
            <a:avLst/>
          </a:prstGeom>
          <a:ln w="0">
            <a:noFill/>
          </a:ln>
        </p:spPr>
      </p:pic>
      <p:sp>
        <p:nvSpPr>
          <p:cNvPr id="311" name="Text 11"/>
          <p:cNvSpPr/>
          <p:nvPr/>
        </p:nvSpPr>
        <p:spPr>
          <a:xfrm>
            <a:off x="9802440" y="2103120"/>
            <a:ext cx="1645560" cy="411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50" spc="-1" strike="noStrike">
                <a:solidFill>
                  <a:srgbClr val="c62828"/>
                </a:solidFill>
                <a:latin typeface="Calibri"/>
                <a:ea typeface="Calibri"/>
              </a:rPr>
              <a:t>One swipe per word</a:t>
            </a:r>
            <a:endParaRPr b="0" lang="en-US" sz="1150" spc="-1" strike="noStrike">
              <a:solidFill>
                <a:srgbClr val="000000"/>
              </a:solidFill>
              <a:latin typeface="Arial"/>
            </a:endParaRPr>
          </a:p>
        </p:txBody>
      </p:sp>
      <p:sp>
        <p:nvSpPr>
          <p:cNvPr id="312" name="Shape 12"/>
          <p:cNvSpPr/>
          <p:nvPr/>
        </p:nvSpPr>
        <p:spPr>
          <a:xfrm>
            <a:off x="548640" y="2807280"/>
            <a:ext cx="11063880" cy="776880"/>
          </a:xfrm>
          <a:prstGeom prst="roundRect">
            <a:avLst>
              <a:gd name="adj" fmla="val 11765"/>
            </a:avLst>
          </a:prstGeom>
          <a:solidFill>
            <a:srgbClr val="f3f5f8"/>
          </a:solidFill>
          <a:ln w="6350">
            <a:solidFill>
              <a:srgbClr val="f3f5f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13" name="Text 13"/>
          <p:cNvSpPr/>
          <p:nvPr/>
        </p:nvSpPr>
        <p:spPr>
          <a:xfrm>
            <a:off x="685800" y="2807280"/>
            <a:ext cx="411120" cy="776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200" spc="-1" strike="noStrike">
                <a:solidFill>
                  <a:srgbClr val="5b3fd6"/>
                </a:solidFill>
                <a:latin typeface="Arial"/>
                <a:ea typeface="Arial"/>
              </a:rPr>
              <a:t>2</a:t>
            </a:r>
            <a:endParaRPr b="0" lang="en-US" sz="2200" spc="-1" strike="noStrike">
              <a:solidFill>
                <a:srgbClr val="000000"/>
              </a:solidFill>
              <a:latin typeface="Arial"/>
            </a:endParaRPr>
          </a:p>
        </p:txBody>
      </p:sp>
      <p:sp>
        <p:nvSpPr>
          <p:cNvPr id="314" name="Text 14"/>
          <p:cNvSpPr/>
          <p:nvPr/>
        </p:nvSpPr>
        <p:spPr>
          <a:xfrm>
            <a:off x="1234440" y="2807280"/>
            <a:ext cx="3794400" cy="77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pc="-1" strike="noStrike">
                <a:solidFill>
                  <a:srgbClr val="1b2330"/>
                </a:solidFill>
                <a:latin typeface="Consolas"/>
                <a:ea typeface="Consolas"/>
              </a:rPr>
              <a:t>semantics(mergeDescendants = true)</a:t>
            </a:r>
            <a:endParaRPr b="0" lang="en-US" sz="1250" spc="-1" strike="noStrike">
              <a:solidFill>
                <a:srgbClr val="000000"/>
              </a:solidFill>
              <a:latin typeface="Arial"/>
            </a:endParaRPr>
          </a:p>
        </p:txBody>
      </p:sp>
      <p:sp>
        <p:nvSpPr>
          <p:cNvPr id="315" name="Text 15"/>
          <p:cNvSpPr/>
          <p:nvPr/>
        </p:nvSpPr>
        <p:spPr>
          <a:xfrm>
            <a:off x="5166360" y="2807280"/>
            <a:ext cx="4068720" cy="77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300" spc="-1" strike="noStrike">
                <a:solidFill>
                  <a:srgbClr val="333b48"/>
                </a:solidFill>
                <a:latin typeface="Calibri"/>
                <a:ea typeface="Calibri"/>
              </a:rPr>
              <a:t>“</a:t>
            </a:r>
            <a:r>
              <a:rPr b="0" i="1" lang="en-US" sz="1300" spc="-1" strike="noStrike">
                <a:solidFill>
                  <a:srgbClr val="333b48"/>
                </a:solidFill>
                <a:latin typeface="Calibri"/>
                <a:ea typeface="Calibri"/>
              </a:rPr>
              <a:t>The Americans with Disabilities Act” — only words loaded at focus time</a:t>
            </a:r>
            <a:endParaRPr b="0" lang="en-US" sz="1300" spc="-1" strike="noStrike">
              <a:solidFill>
                <a:srgbClr val="000000"/>
              </a:solidFill>
              <a:latin typeface="Arial"/>
            </a:endParaRPr>
          </a:p>
        </p:txBody>
      </p:sp>
      <p:sp>
        <p:nvSpPr>
          <p:cNvPr id="316" name="Shape 16"/>
          <p:cNvSpPr/>
          <p:nvPr/>
        </p:nvSpPr>
        <p:spPr>
          <a:xfrm>
            <a:off x="9418320" y="2990160"/>
            <a:ext cx="2057040" cy="411120"/>
          </a:xfrm>
          <a:prstGeom prst="roundRect">
            <a:avLst>
              <a:gd name="adj" fmla="val 48889"/>
            </a:avLst>
          </a:prstGeom>
          <a:solidFill>
            <a:srgbClr val="fdecec"/>
          </a:solidFill>
          <a:ln w="9525">
            <a:solidFill>
              <a:srgbClr val="c6282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317" name="Image 1" descr="preencoded.png"/>
          <p:cNvPicPr/>
          <p:nvPr/>
        </p:nvPicPr>
        <p:blipFill>
          <a:blip r:embed="rId2"/>
          <a:stretch/>
        </p:blipFill>
        <p:spPr>
          <a:xfrm>
            <a:off x="9528120" y="3072240"/>
            <a:ext cx="246600" cy="246600"/>
          </a:xfrm>
          <a:prstGeom prst="rect">
            <a:avLst/>
          </a:prstGeom>
          <a:ln w="0">
            <a:noFill/>
          </a:ln>
        </p:spPr>
      </p:pic>
      <p:sp>
        <p:nvSpPr>
          <p:cNvPr id="318" name="Text 17"/>
          <p:cNvSpPr/>
          <p:nvPr/>
        </p:nvSpPr>
        <p:spPr>
          <a:xfrm>
            <a:off x="9802440" y="2990160"/>
            <a:ext cx="1645560" cy="411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50" spc="-1" strike="noStrike">
                <a:solidFill>
                  <a:srgbClr val="c62828"/>
                </a:solidFill>
                <a:latin typeface="Calibri"/>
                <a:ea typeface="Calibri"/>
              </a:rPr>
              <a:t>Partial paragraph</a:t>
            </a:r>
            <a:endParaRPr b="0" lang="en-US" sz="1150" spc="-1" strike="noStrike">
              <a:solidFill>
                <a:srgbClr val="000000"/>
              </a:solidFill>
              <a:latin typeface="Arial"/>
            </a:endParaRPr>
          </a:p>
        </p:txBody>
      </p:sp>
      <p:sp>
        <p:nvSpPr>
          <p:cNvPr id="319" name="Shape 18"/>
          <p:cNvSpPr/>
          <p:nvPr/>
        </p:nvSpPr>
        <p:spPr>
          <a:xfrm>
            <a:off x="548640" y="3694320"/>
            <a:ext cx="11063880" cy="776880"/>
          </a:xfrm>
          <a:prstGeom prst="roundRect">
            <a:avLst>
              <a:gd name="adj" fmla="val 11765"/>
            </a:avLst>
          </a:prstGeom>
          <a:solidFill>
            <a:srgbClr val="f3f5f8"/>
          </a:solidFill>
          <a:ln w="6350">
            <a:solidFill>
              <a:srgbClr val="f3f5f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20" name="Text 19"/>
          <p:cNvSpPr/>
          <p:nvPr/>
        </p:nvSpPr>
        <p:spPr>
          <a:xfrm>
            <a:off x="685800" y="3694320"/>
            <a:ext cx="411120" cy="776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200" spc="-1" strike="noStrike">
                <a:solidFill>
                  <a:srgbClr val="5b3fd6"/>
                </a:solidFill>
                <a:latin typeface="Arial"/>
                <a:ea typeface="Arial"/>
              </a:rPr>
              <a:t>3</a:t>
            </a:r>
            <a:endParaRPr b="0" lang="en-US" sz="2200" spc="-1" strike="noStrike">
              <a:solidFill>
                <a:srgbClr val="000000"/>
              </a:solidFill>
              <a:latin typeface="Arial"/>
            </a:endParaRPr>
          </a:p>
        </p:txBody>
      </p:sp>
      <p:sp>
        <p:nvSpPr>
          <p:cNvPr id="321" name="Text 20"/>
          <p:cNvSpPr/>
          <p:nvPr/>
        </p:nvSpPr>
        <p:spPr>
          <a:xfrm>
            <a:off x="1234440" y="3694320"/>
            <a:ext cx="3794400" cy="77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pc="-1" strike="noStrike">
                <a:solidFill>
                  <a:srgbClr val="1b2330"/>
                </a:solidFill>
                <a:latin typeface="Consolas"/>
                <a:ea typeface="Consolas"/>
              </a:rPr>
              <a:t>merge + liveRegion = Polite</a:t>
            </a:r>
            <a:endParaRPr b="0" lang="en-US" sz="1250" spc="-1" strike="noStrike">
              <a:solidFill>
                <a:srgbClr val="000000"/>
              </a:solidFill>
              <a:latin typeface="Arial"/>
            </a:endParaRPr>
          </a:p>
        </p:txBody>
      </p:sp>
      <p:sp>
        <p:nvSpPr>
          <p:cNvPr id="322" name="Text 21"/>
          <p:cNvSpPr/>
          <p:nvPr/>
        </p:nvSpPr>
        <p:spPr>
          <a:xfrm>
            <a:off x="5166360" y="3694320"/>
            <a:ext cx="4068720" cy="77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300" spc="-1" strike="noStrike">
                <a:solidFill>
                  <a:srgbClr val="333b48"/>
                </a:solidFill>
                <a:latin typeface="Calibri"/>
                <a:ea typeface="Calibri"/>
              </a:rPr>
              <a:t>“</a:t>
            </a:r>
            <a:r>
              <a:rPr b="0" i="1" lang="en-US" sz="1300" spc="-1" strike="noStrike">
                <a:solidFill>
                  <a:srgbClr val="333b48"/>
                </a:solidFill>
                <a:latin typeface="Calibri"/>
                <a:ea typeface="Calibri"/>
              </a:rPr>
              <a:t>The Americans with… The Americans with Disabilities… The Americans with…”</a:t>
            </a:r>
            <a:endParaRPr b="0" lang="en-US" sz="1300" spc="-1" strike="noStrike">
              <a:solidFill>
                <a:srgbClr val="000000"/>
              </a:solidFill>
              <a:latin typeface="Arial"/>
            </a:endParaRPr>
          </a:p>
        </p:txBody>
      </p:sp>
      <p:sp>
        <p:nvSpPr>
          <p:cNvPr id="323" name="Shape 22"/>
          <p:cNvSpPr/>
          <p:nvPr/>
        </p:nvSpPr>
        <p:spPr>
          <a:xfrm>
            <a:off x="9418320" y="3877200"/>
            <a:ext cx="2057040" cy="411120"/>
          </a:xfrm>
          <a:prstGeom prst="roundRect">
            <a:avLst>
              <a:gd name="adj" fmla="val 48889"/>
            </a:avLst>
          </a:prstGeom>
          <a:solidFill>
            <a:srgbClr val="fdecec"/>
          </a:solidFill>
          <a:ln w="9525">
            <a:solidFill>
              <a:srgbClr val="c6282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324" name="Image 2" descr="preencoded.png"/>
          <p:cNvPicPr/>
          <p:nvPr/>
        </p:nvPicPr>
        <p:blipFill>
          <a:blip r:embed="rId3"/>
          <a:stretch/>
        </p:blipFill>
        <p:spPr>
          <a:xfrm>
            <a:off x="9528120" y="3959280"/>
            <a:ext cx="246600" cy="246600"/>
          </a:xfrm>
          <a:prstGeom prst="rect">
            <a:avLst/>
          </a:prstGeom>
          <a:ln w="0">
            <a:noFill/>
          </a:ln>
        </p:spPr>
      </p:pic>
      <p:sp>
        <p:nvSpPr>
          <p:cNvPr id="325" name="Text 23"/>
          <p:cNvSpPr/>
          <p:nvPr/>
        </p:nvSpPr>
        <p:spPr>
          <a:xfrm>
            <a:off x="9802440" y="3877200"/>
            <a:ext cx="1645560" cy="411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50" spc="-1" strike="noStrike">
                <a:solidFill>
                  <a:srgbClr val="c62828"/>
                </a:solidFill>
                <a:latin typeface="Calibri"/>
                <a:ea typeface="Calibri"/>
              </a:rPr>
              <a:t>Re-reads on every word</a:t>
            </a:r>
            <a:endParaRPr b="0" lang="en-US" sz="1150" spc="-1" strike="noStrike">
              <a:solidFill>
                <a:srgbClr val="000000"/>
              </a:solidFill>
              <a:latin typeface="Arial"/>
            </a:endParaRPr>
          </a:p>
        </p:txBody>
      </p:sp>
      <p:sp>
        <p:nvSpPr>
          <p:cNvPr id="326" name="Shape 24"/>
          <p:cNvSpPr/>
          <p:nvPr/>
        </p:nvSpPr>
        <p:spPr>
          <a:xfrm>
            <a:off x="548640" y="4581000"/>
            <a:ext cx="11063880" cy="776880"/>
          </a:xfrm>
          <a:prstGeom prst="roundRect">
            <a:avLst>
              <a:gd name="adj" fmla="val 11765"/>
            </a:avLst>
          </a:prstGeom>
          <a:solidFill>
            <a:srgbClr val="f3f5f8"/>
          </a:solidFill>
          <a:ln w="6350">
            <a:solidFill>
              <a:srgbClr val="f3f5f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27" name="Text 25"/>
          <p:cNvSpPr/>
          <p:nvPr/>
        </p:nvSpPr>
        <p:spPr>
          <a:xfrm>
            <a:off x="685800" y="4581000"/>
            <a:ext cx="411120" cy="776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200" spc="-1" strike="noStrike">
                <a:solidFill>
                  <a:srgbClr val="5b3fd6"/>
                </a:solidFill>
                <a:latin typeface="Arial"/>
                <a:ea typeface="Arial"/>
              </a:rPr>
              <a:t>4</a:t>
            </a:r>
            <a:endParaRPr b="0" lang="en-US" sz="2200" spc="-1" strike="noStrike">
              <a:solidFill>
                <a:srgbClr val="000000"/>
              </a:solidFill>
              <a:latin typeface="Arial"/>
            </a:endParaRPr>
          </a:p>
        </p:txBody>
      </p:sp>
      <p:sp>
        <p:nvSpPr>
          <p:cNvPr id="328" name="Text 26"/>
          <p:cNvSpPr/>
          <p:nvPr/>
        </p:nvSpPr>
        <p:spPr>
          <a:xfrm>
            <a:off x="1234440" y="4581000"/>
            <a:ext cx="3794400" cy="77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pc="-1" strike="noStrike">
                <a:solidFill>
                  <a:srgbClr val="1b2330"/>
                </a:solidFill>
                <a:latin typeface="Consolas"/>
                <a:ea typeface="Consolas"/>
              </a:rPr>
              <a:t>merge + stateDescription = "Loading"</a:t>
            </a:r>
            <a:endParaRPr b="0" lang="en-US" sz="1250" spc="-1" strike="noStrike">
              <a:solidFill>
                <a:srgbClr val="000000"/>
              </a:solidFill>
              <a:latin typeface="Arial"/>
            </a:endParaRPr>
          </a:p>
        </p:txBody>
      </p:sp>
      <p:sp>
        <p:nvSpPr>
          <p:cNvPr id="329" name="Text 27"/>
          <p:cNvSpPr/>
          <p:nvPr/>
        </p:nvSpPr>
        <p:spPr>
          <a:xfrm>
            <a:off x="5166360" y="4581000"/>
            <a:ext cx="4068720" cy="77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300" spc="-1" strike="noStrike">
                <a:solidFill>
                  <a:srgbClr val="333b48"/>
                </a:solidFill>
                <a:latin typeface="Calibri"/>
                <a:ea typeface="Calibri"/>
              </a:rPr>
              <a:t>“</a:t>
            </a:r>
            <a:r>
              <a:rPr b="0" i="1" lang="en-US" sz="1300" spc="-1" strike="noStrike">
                <a:solidFill>
                  <a:srgbClr val="333b48"/>
                </a:solidFill>
                <a:latin typeface="Calibri"/>
                <a:ea typeface="Calibri"/>
              </a:rPr>
              <a:t>Loading, The Americans with…” then updates</a:t>
            </a:r>
            <a:endParaRPr b="0" lang="en-US" sz="1300" spc="-1" strike="noStrike">
              <a:solidFill>
                <a:srgbClr val="000000"/>
              </a:solidFill>
              <a:latin typeface="Arial"/>
            </a:endParaRPr>
          </a:p>
        </p:txBody>
      </p:sp>
      <p:sp>
        <p:nvSpPr>
          <p:cNvPr id="330" name="Shape 28"/>
          <p:cNvSpPr/>
          <p:nvPr/>
        </p:nvSpPr>
        <p:spPr>
          <a:xfrm>
            <a:off x="9418320" y="4763880"/>
            <a:ext cx="2057040" cy="411120"/>
          </a:xfrm>
          <a:prstGeom prst="roundRect">
            <a:avLst>
              <a:gd name="adj" fmla="val 48889"/>
            </a:avLst>
          </a:prstGeom>
          <a:solidFill>
            <a:srgbClr val="fff4dd"/>
          </a:solidFill>
          <a:ln w="9525">
            <a:solidFill>
              <a:srgbClr val="b26a00"/>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331" name="Image 3" descr="preencoded.png"/>
          <p:cNvPicPr/>
          <p:nvPr/>
        </p:nvPicPr>
        <p:blipFill>
          <a:blip r:embed="rId4"/>
          <a:stretch/>
        </p:blipFill>
        <p:spPr>
          <a:xfrm>
            <a:off x="9528120" y="4846320"/>
            <a:ext cx="246600" cy="246600"/>
          </a:xfrm>
          <a:prstGeom prst="rect">
            <a:avLst/>
          </a:prstGeom>
          <a:ln w="0">
            <a:noFill/>
          </a:ln>
        </p:spPr>
      </p:pic>
      <p:sp>
        <p:nvSpPr>
          <p:cNvPr id="332" name="Text 29"/>
          <p:cNvSpPr/>
          <p:nvPr/>
        </p:nvSpPr>
        <p:spPr>
          <a:xfrm>
            <a:off x="9802440" y="4763880"/>
            <a:ext cx="1645560" cy="411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50" spc="-1" strike="noStrike">
                <a:solidFill>
                  <a:srgbClr val="b26a00"/>
                </a:solidFill>
                <a:latin typeface="Calibri"/>
                <a:ea typeface="Calibri"/>
              </a:rPr>
              <a:t>Partial text still leaks</a:t>
            </a:r>
            <a:endParaRPr b="0" lang="en-US" sz="1150" spc="-1" strike="noStrike">
              <a:solidFill>
                <a:srgbClr val="000000"/>
              </a:solidFill>
              <a:latin typeface="Arial"/>
            </a:endParaRPr>
          </a:p>
        </p:txBody>
      </p:sp>
      <p:sp>
        <p:nvSpPr>
          <p:cNvPr id="333" name="Shape 30"/>
          <p:cNvSpPr/>
          <p:nvPr/>
        </p:nvSpPr>
        <p:spPr>
          <a:xfrm>
            <a:off x="548640" y="5468040"/>
            <a:ext cx="11063880" cy="776880"/>
          </a:xfrm>
          <a:prstGeom prst="roundRect">
            <a:avLst>
              <a:gd name="adj" fmla="val 11765"/>
            </a:avLst>
          </a:prstGeom>
          <a:solidFill>
            <a:srgbClr val="e6f8ee"/>
          </a:solidFill>
          <a:ln w="19050">
            <a:solidFill>
              <a:srgbClr val="3ddc84"/>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34" name="Text 31"/>
          <p:cNvSpPr/>
          <p:nvPr/>
        </p:nvSpPr>
        <p:spPr>
          <a:xfrm>
            <a:off x="685800" y="5468040"/>
            <a:ext cx="411120" cy="776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200" spc="-1" strike="noStrike">
                <a:solidFill>
                  <a:srgbClr val="0a7d43"/>
                </a:solidFill>
                <a:latin typeface="Arial"/>
                <a:ea typeface="Arial"/>
              </a:rPr>
              <a:t>5</a:t>
            </a:r>
            <a:endParaRPr b="0" lang="en-US" sz="2200" spc="-1" strike="noStrike">
              <a:solidFill>
                <a:srgbClr val="000000"/>
              </a:solidFill>
              <a:latin typeface="Arial"/>
            </a:endParaRPr>
          </a:p>
        </p:txBody>
      </p:sp>
      <p:sp>
        <p:nvSpPr>
          <p:cNvPr id="335" name="Text 32"/>
          <p:cNvSpPr/>
          <p:nvPr/>
        </p:nvSpPr>
        <p:spPr>
          <a:xfrm>
            <a:off x="1234440" y="5468040"/>
            <a:ext cx="3794400" cy="77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50" spc="-1" strike="noStrike">
                <a:solidFill>
                  <a:srgbClr val="1b2330"/>
                </a:solidFill>
                <a:latin typeface="Consolas"/>
                <a:ea typeface="Consolas"/>
              </a:rPr>
              <a:t>clearAndSetSemantics + stateDescription</a:t>
            </a:r>
            <a:endParaRPr b="0" lang="en-US" sz="1250" spc="-1" strike="noStrike">
              <a:solidFill>
                <a:srgbClr val="000000"/>
              </a:solidFill>
              <a:latin typeface="Arial"/>
            </a:endParaRPr>
          </a:p>
        </p:txBody>
      </p:sp>
      <p:sp>
        <p:nvSpPr>
          <p:cNvPr id="336" name="Text 33"/>
          <p:cNvSpPr/>
          <p:nvPr/>
        </p:nvSpPr>
        <p:spPr>
          <a:xfrm>
            <a:off x="5166360" y="5468040"/>
            <a:ext cx="4068720" cy="77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300" spc="-1" strike="noStrike">
                <a:solidFill>
                  <a:srgbClr val="333b48"/>
                </a:solidFill>
                <a:latin typeface="Calibri"/>
                <a:ea typeface="Calibri"/>
              </a:rPr>
              <a:t>“</a:t>
            </a:r>
            <a:r>
              <a:rPr b="0" i="1" lang="en-US" sz="1300" spc="-1" strike="noStrike">
                <a:solidFill>
                  <a:srgbClr val="333b48"/>
                </a:solidFill>
                <a:latin typeface="Calibri"/>
                <a:ea typeface="Calibri"/>
              </a:rPr>
              <a:t>Loading” → the whole paragraph, once it’s complete</a:t>
            </a:r>
            <a:endParaRPr b="0" lang="en-US" sz="1300" spc="-1" strike="noStrike">
              <a:solidFill>
                <a:srgbClr val="000000"/>
              </a:solidFill>
              <a:latin typeface="Arial"/>
            </a:endParaRPr>
          </a:p>
        </p:txBody>
      </p:sp>
      <p:sp>
        <p:nvSpPr>
          <p:cNvPr id="337" name="Shape 34"/>
          <p:cNvSpPr/>
          <p:nvPr/>
        </p:nvSpPr>
        <p:spPr>
          <a:xfrm>
            <a:off x="9418320" y="5650920"/>
            <a:ext cx="2057040" cy="411120"/>
          </a:xfrm>
          <a:prstGeom prst="roundRect">
            <a:avLst>
              <a:gd name="adj" fmla="val 48889"/>
            </a:avLst>
          </a:prstGeom>
          <a:solidFill>
            <a:srgbClr val="e6f8ee"/>
          </a:solidFill>
          <a:ln w="9525">
            <a:solidFill>
              <a:srgbClr val="0a7d43"/>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338" name="Image 4" descr="preencoded.png"/>
          <p:cNvPicPr/>
          <p:nvPr/>
        </p:nvPicPr>
        <p:blipFill>
          <a:blip r:embed="rId5"/>
          <a:stretch/>
        </p:blipFill>
        <p:spPr>
          <a:xfrm>
            <a:off x="9528120" y="5733360"/>
            <a:ext cx="246600" cy="246600"/>
          </a:xfrm>
          <a:prstGeom prst="rect">
            <a:avLst/>
          </a:prstGeom>
          <a:ln w="0">
            <a:noFill/>
          </a:ln>
        </p:spPr>
      </p:pic>
      <p:sp>
        <p:nvSpPr>
          <p:cNvPr id="339" name="Text 35"/>
          <p:cNvSpPr/>
          <p:nvPr/>
        </p:nvSpPr>
        <p:spPr>
          <a:xfrm>
            <a:off x="9802440" y="5650920"/>
            <a:ext cx="1645560" cy="411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50" spc="-1" strike="noStrike">
                <a:solidFill>
                  <a:srgbClr val="0a7d43"/>
                </a:solidFill>
                <a:latin typeface="Calibri"/>
                <a:ea typeface="Calibri"/>
              </a:rPr>
              <a:t>Best experience</a:t>
            </a:r>
            <a:endParaRPr b="0" lang="en-US" sz="11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40" name="Shape 0"/>
          <p:cNvSpPr/>
          <p:nvPr/>
        </p:nvSpPr>
        <p:spPr>
          <a:xfrm>
            <a:off x="548640" y="384120"/>
            <a:ext cx="2025000" cy="328680"/>
          </a:xfrm>
          <a:prstGeom prst="roundRect">
            <a:avLst>
              <a:gd name="adj" fmla="val 50000"/>
            </a:avLst>
          </a:prstGeom>
          <a:solidFill>
            <a:srgbClr val="eeeafb"/>
          </a:solidFill>
          <a:ln w="12700">
            <a:solidFill>
              <a:srgbClr val="eeeaf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41" name="Text 1"/>
          <p:cNvSpPr/>
          <p:nvPr/>
        </p:nvSpPr>
        <p:spPr>
          <a:xfrm>
            <a:off x="548640" y="384120"/>
            <a:ext cx="202500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99" strike="noStrike">
                <a:solidFill>
                  <a:srgbClr val="5b3fd6"/>
                </a:solidFill>
                <a:latin typeface="Calibri"/>
                <a:ea typeface="Calibri"/>
              </a:rPr>
              <a:t>04 · STREAMING TEXT</a:t>
            </a:r>
            <a:endParaRPr b="0" lang="en-US" sz="1100" spc="-1" strike="noStrike">
              <a:solidFill>
                <a:srgbClr val="000000"/>
              </a:solidFill>
              <a:latin typeface="Arial"/>
            </a:endParaRPr>
          </a:p>
        </p:txBody>
      </p:sp>
      <p:sp>
        <p:nvSpPr>
          <p:cNvPr id="342" name="Text 2"/>
          <p:cNvSpPr/>
          <p:nvPr/>
        </p:nvSpPr>
        <p:spPr>
          <a:xfrm>
            <a:off x="548640" y="868680"/>
            <a:ext cx="11063880" cy="7311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3200" spc="-1" strike="noStrike">
                <a:solidFill>
                  <a:srgbClr val="1b2330"/>
                </a:solidFill>
                <a:latin typeface="Arial"/>
                <a:ea typeface="Arial"/>
              </a:rPr>
              <a:t>The fix: you decide what TalkBack hears</a:t>
            </a:r>
            <a:endParaRPr b="0" lang="en-US" sz="3200" spc="-1" strike="noStrike">
              <a:solidFill>
                <a:srgbClr val="000000"/>
              </a:solidFill>
              <a:latin typeface="Arial"/>
            </a:endParaRPr>
          </a:p>
        </p:txBody>
      </p:sp>
      <p:sp>
        <p:nvSpPr>
          <p:cNvPr id="343" name="Shape 3"/>
          <p:cNvSpPr/>
          <p:nvPr/>
        </p:nvSpPr>
        <p:spPr>
          <a:xfrm>
            <a:off x="548640" y="1737360"/>
            <a:ext cx="5806080" cy="4343040"/>
          </a:xfrm>
          <a:prstGeom prst="roundRect">
            <a:avLst>
              <a:gd name="adj" fmla="val 2526"/>
            </a:avLst>
          </a:prstGeom>
          <a:solidFill>
            <a:srgbClr val="182235"/>
          </a:solidFill>
          <a:ln w="12700">
            <a:solidFill>
              <a:srgbClr val="18223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44" name="Text 4"/>
          <p:cNvSpPr/>
          <p:nvPr/>
        </p:nvSpPr>
        <p:spPr>
          <a:xfrm>
            <a:off x="777240" y="1938600"/>
            <a:ext cx="5440320" cy="4023000"/>
          </a:xfrm>
          <a:prstGeom prst="rect">
            <a:avLst/>
          </a:prstGeom>
          <a:noFill/>
          <a:ln w="0">
            <a:noFill/>
          </a:ln>
        </p:spPr>
        <p:style>
          <a:lnRef idx="0"/>
          <a:fillRef idx="0"/>
          <a:effectRef idx="0"/>
          <a:fontRef idx="minor"/>
        </p:style>
        <p:txBody>
          <a:bodyPr lIns="0" rIns="0" tIns="0" bIns="0" anchor="t">
            <a:noAutofit/>
          </a:bodyPr>
          <a:p>
            <a:pPr defTabSz="914400">
              <a:lnSpc>
                <a:spcPct val="105000"/>
              </a:lnSpc>
              <a:tabLst>
                <a:tab algn="l" pos="0"/>
              </a:tabLst>
            </a:pPr>
            <a:r>
              <a:rPr b="0" lang="en-US" sz="1300" spc="-1" strike="noStrike">
                <a:solidFill>
                  <a:srgbClr val="8ab4f8"/>
                </a:solidFill>
                <a:latin typeface="Consolas"/>
                <a:ea typeface="Consolas"/>
              </a:rPr>
              <a:t>FlowRow</a:t>
            </a:r>
            <a:r>
              <a:rPr b="0" lang="en-US" sz="1300" spc="-1" strike="noStrike">
                <a:solidFill>
                  <a:srgbClr val="dce3ec"/>
                </a:solidFill>
                <a:latin typeface="Consolas"/>
                <a:ea typeface="Consolas"/>
              </a:rPr>
              <a:t>(</a:t>
            </a:r>
            <a:endParaRPr b="0" lang="en-US" sz="1300" spc="-1" strike="noStrike">
              <a:solidFill>
                <a:srgbClr val="000000"/>
              </a:solidFill>
              <a:latin typeface="Arial"/>
            </a:endParaRPr>
          </a:p>
          <a:p>
            <a:pPr defTabSz="914400">
              <a:lnSpc>
                <a:spcPct val="105000"/>
              </a:lnSpc>
              <a:tabLst>
                <a:tab algn="l" pos="0"/>
              </a:tabLst>
            </a:pPr>
            <a:r>
              <a:rPr b="0" lang="en-US" sz="1300" spc="-1" strike="noStrike">
                <a:solidFill>
                  <a:srgbClr val="dce3ec"/>
                </a:solidFill>
                <a:latin typeface="Consolas"/>
                <a:ea typeface="Consolas"/>
              </a:rPr>
              <a:t>    </a:t>
            </a:r>
            <a:r>
              <a:rPr b="0" lang="en-US" sz="1300" spc="-1" strike="noStrike">
                <a:solidFill>
                  <a:srgbClr val="8ab4f8"/>
                </a:solidFill>
                <a:latin typeface="Consolas"/>
                <a:ea typeface="Consolas"/>
              </a:rPr>
              <a:t>Modifier</a:t>
            </a:r>
            <a:endParaRPr b="0" lang="en-US" sz="1300" spc="-1" strike="noStrike">
              <a:solidFill>
                <a:srgbClr val="000000"/>
              </a:solidFill>
              <a:latin typeface="Arial"/>
            </a:endParaRPr>
          </a:p>
          <a:p>
            <a:pPr defTabSz="914400">
              <a:lnSpc>
                <a:spcPct val="105000"/>
              </a:lnSpc>
              <a:tabLst>
                <a:tab algn="l" pos="0"/>
              </a:tabLst>
            </a:pPr>
            <a:r>
              <a:rPr b="0" lang="en-US" sz="1300" spc="-1" strike="noStrike">
                <a:solidFill>
                  <a:srgbClr val="dce3ec"/>
                </a:solidFill>
                <a:latin typeface="Consolas"/>
                <a:ea typeface="Consolas"/>
              </a:rPr>
              <a:t>        </a:t>
            </a:r>
            <a:r>
              <a:rPr b="0" lang="en-US" sz="1300" spc="-1" strike="noStrike">
                <a:solidFill>
                  <a:srgbClr val="dce3ec"/>
                </a:solidFill>
                <a:latin typeface="Consolas"/>
                <a:ea typeface="Consolas"/>
              </a:rPr>
              <a:t>.fillMaxWidth()</a:t>
            </a:r>
            <a:endParaRPr b="0" lang="en-US" sz="1300" spc="-1" strike="noStrike">
              <a:solidFill>
                <a:srgbClr val="000000"/>
              </a:solidFill>
              <a:latin typeface="Arial"/>
            </a:endParaRPr>
          </a:p>
          <a:p>
            <a:pPr defTabSz="914400">
              <a:lnSpc>
                <a:spcPct val="105000"/>
              </a:lnSpc>
              <a:tabLst>
                <a:tab algn="l" pos="0"/>
              </a:tabLst>
            </a:pPr>
            <a:r>
              <a:rPr b="0" lang="en-US" sz="1300" spc="-1" strike="noStrike">
                <a:solidFill>
                  <a:srgbClr val="dce3ec"/>
                </a:solidFill>
                <a:latin typeface="Consolas"/>
                <a:ea typeface="Consolas"/>
              </a:rPr>
              <a:t>        </a:t>
            </a:r>
            <a:r>
              <a:rPr b="0" lang="en-US" sz="1300" spc="-1" strike="noStrike">
                <a:solidFill>
                  <a:srgbClr val="dce3ec"/>
                </a:solidFill>
                <a:latin typeface="Consolas"/>
                <a:ea typeface="Consolas"/>
              </a:rPr>
              <a:t>.</a:t>
            </a:r>
            <a:r>
              <a:rPr b="1" lang="en-US" sz="1300" spc="-1" strike="noStrike">
                <a:solidFill>
                  <a:srgbClr val="3ddc84"/>
                </a:solidFill>
                <a:latin typeface="Consolas"/>
                <a:ea typeface="Consolas"/>
              </a:rPr>
              <a:t>clearAndSetSemantics</a:t>
            </a:r>
            <a:r>
              <a:rPr b="0" lang="en-US" sz="1300" spc="-1" strike="noStrike">
                <a:solidFill>
                  <a:srgbClr val="dce3ec"/>
                </a:solidFill>
                <a:latin typeface="Consolas"/>
                <a:ea typeface="Consolas"/>
              </a:rPr>
              <a:t> {</a:t>
            </a:r>
            <a:endParaRPr b="0" lang="en-US" sz="1300" spc="-1" strike="noStrike">
              <a:solidFill>
                <a:srgbClr val="000000"/>
              </a:solidFill>
              <a:latin typeface="Arial"/>
            </a:endParaRPr>
          </a:p>
          <a:p>
            <a:pPr defTabSz="914400">
              <a:lnSpc>
                <a:spcPct val="105000"/>
              </a:lnSpc>
              <a:tabLst>
                <a:tab algn="l" pos="0"/>
              </a:tabLst>
            </a:pPr>
            <a:r>
              <a:rPr b="0" lang="en-US" sz="1300" spc="-1" strike="noStrike">
                <a:solidFill>
                  <a:srgbClr val="dce3ec"/>
                </a:solidFill>
                <a:latin typeface="Consolas"/>
                <a:ea typeface="Consolas"/>
              </a:rPr>
              <a:t>            </a:t>
            </a:r>
            <a:r>
              <a:rPr b="0" lang="en-US" sz="1300" spc="-1" strike="noStrike">
                <a:solidFill>
                  <a:srgbClr val="ff8fc7"/>
                </a:solidFill>
                <a:latin typeface="Consolas"/>
                <a:ea typeface="Consolas"/>
              </a:rPr>
              <a:t>if</a:t>
            </a:r>
            <a:r>
              <a:rPr b="0" lang="en-US" sz="1300" spc="-1" strike="noStrike">
                <a:solidFill>
                  <a:srgbClr val="dce3ec"/>
                </a:solidFill>
                <a:latin typeface="Consolas"/>
                <a:ea typeface="Consolas"/>
              </a:rPr>
              <a:t> (isComplete) {</a:t>
            </a:r>
            <a:endParaRPr b="0" lang="en-US" sz="1300" spc="-1" strike="noStrike">
              <a:solidFill>
                <a:srgbClr val="000000"/>
              </a:solidFill>
              <a:latin typeface="Arial"/>
            </a:endParaRPr>
          </a:p>
          <a:p>
            <a:pPr defTabSz="914400">
              <a:lnSpc>
                <a:spcPct val="105000"/>
              </a:lnSpc>
              <a:tabLst>
                <a:tab algn="l" pos="0"/>
              </a:tabLst>
            </a:pPr>
            <a:r>
              <a:rPr b="0" lang="en-US" sz="1300" spc="-1" strike="noStrike">
                <a:solidFill>
                  <a:srgbClr val="dce3ec"/>
                </a:solidFill>
                <a:latin typeface="Consolas"/>
                <a:ea typeface="Consolas"/>
              </a:rPr>
              <a:t>                </a:t>
            </a:r>
            <a:r>
              <a:rPr b="1" lang="en-US" sz="1300" spc="-1" strike="noStrike">
                <a:solidFill>
                  <a:srgbClr val="3ddc84"/>
                </a:solidFill>
                <a:latin typeface="Consolas"/>
                <a:ea typeface="Consolas"/>
              </a:rPr>
              <a:t>contentDescription</a:t>
            </a:r>
            <a:r>
              <a:rPr b="0" lang="en-US" sz="1300" spc="-1" strike="noStrike">
                <a:solidFill>
                  <a:srgbClr val="dce3ec"/>
                </a:solidFill>
                <a:latin typeface="Consolas"/>
                <a:ea typeface="Consolas"/>
              </a:rPr>
              <a:t> = completeText</a:t>
            </a:r>
            <a:endParaRPr b="0" lang="en-US" sz="1300" spc="-1" strike="noStrike">
              <a:solidFill>
                <a:srgbClr val="000000"/>
              </a:solidFill>
              <a:latin typeface="Arial"/>
            </a:endParaRPr>
          </a:p>
          <a:p>
            <a:pPr defTabSz="914400">
              <a:lnSpc>
                <a:spcPct val="105000"/>
              </a:lnSpc>
              <a:tabLst>
                <a:tab algn="l" pos="0"/>
              </a:tabLst>
            </a:pPr>
            <a:r>
              <a:rPr b="0" lang="en-US" sz="1300" spc="-1" strike="noStrike">
                <a:solidFill>
                  <a:srgbClr val="dce3ec"/>
                </a:solidFill>
                <a:latin typeface="Consolas"/>
                <a:ea typeface="Consolas"/>
              </a:rPr>
              <a:t>            </a:t>
            </a:r>
            <a:r>
              <a:rPr b="0" lang="en-US" sz="1300" spc="-1" strike="noStrike">
                <a:solidFill>
                  <a:srgbClr val="dce3ec"/>
                </a:solidFill>
                <a:latin typeface="Consolas"/>
                <a:ea typeface="Consolas"/>
              </a:rPr>
              <a:t>} </a:t>
            </a:r>
            <a:r>
              <a:rPr b="0" lang="en-US" sz="1300" spc="-1" strike="noStrike">
                <a:solidFill>
                  <a:srgbClr val="ff8fc7"/>
                </a:solidFill>
                <a:latin typeface="Consolas"/>
                <a:ea typeface="Consolas"/>
              </a:rPr>
              <a:t>else</a:t>
            </a:r>
            <a:r>
              <a:rPr b="0" lang="en-US" sz="1300" spc="-1" strike="noStrike">
                <a:solidFill>
                  <a:srgbClr val="dce3ec"/>
                </a:solidFill>
                <a:latin typeface="Consolas"/>
                <a:ea typeface="Consolas"/>
              </a:rPr>
              <a:t> {</a:t>
            </a:r>
            <a:endParaRPr b="0" lang="en-US" sz="1300" spc="-1" strike="noStrike">
              <a:solidFill>
                <a:srgbClr val="000000"/>
              </a:solidFill>
              <a:latin typeface="Arial"/>
            </a:endParaRPr>
          </a:p>
          <a:p>
            <a:pPr defTabSz="914400">
              <a:lnSpc>
                <a:spcPct val="105000"/>
              </a:lnSpc>
              <a:tabLst>
                <a:tab algn="l" pos="0"/>
              </a:tabLst>
            </a:pPr>
            <a:r>
              <a:rPr b="0" lang="en-US" sz="1300" spc="-1" strike="noStrike">
                <a:solidFill>
                  <a:srgbClr val="dce3ec"/>
                </a:solidFill>
                <a:latin typeface="Consolas"/>
                <a:ea typeface="Consolas"/>
              </a:rPr>
              <a:t>                </a:t>
            </a:r>
            <a:r>
              <a:rPr b="1" lang="en-US" sz="1300" spc="-1" strike="noStrike">
                <a:solidFill>
                  <a:srgbClr val="3ddc84"/>
                </a:solidFill>
                <a:latin typeface="Consolas"/>
                <a:ea typeface="Consolas"/>
              </a:rPr>
              <a:t>stateDescription</a:t>
            </a:r>
            <a:r>
              <a:rPr b="0" lang="en-US" sz="1300" spc="-1" strike="noStrike">
                <a:solidFill>
                  <a:srgbClr val="dce3ec"/>
                </a:solidFill>
                <a:latin typeface="Consolas"/>
                <a:ea typeface="Consolas"/>
              </a:rPr>
              <a:t> = </a:t>
            </a:r>
            <a:r>
              <a:rPr b="0" lang="en-US" sz="1300" spc="-1" strike="noStrike">
                <a:solidFill>
                  <a:srgbClr val="b5e48c"/>
                </a:solidFill>
                <a:latin typeface="Consolas"/>
                <a:ea typeface="Consolas"/>
              </a:rPr>
              <a:t>"Loading"</a:t>
            </a:r>
            <a:endParaRPr b="0" lang="en-US" sz="1300" spc="-1" strike="noStrike">
              <a:solidFill>
                <a:srgbClr val="000000"/>
              </a:solidFill>
              <a:latin typeface="Arial"/>
            </a:endParaRPr>
          </a:p>
          <a:p>
            <a:pPr defTabSz="914400">
              <a:lnSpc>
                <a:spcPct val="105000"/>
              </a:lnSpc>
              <a:tabLst>
                <a:tab algn="l" pos="0"/>
              </a:tabLst>
            </a:pPr>
            <a:r>
              <a:rPr b="0" lang="en-US" sz="1300" spc="-1" strike="noStrike">
                <a:solidFill>
                  <a:srgbClr val="dce3ec"/>
                </a:solidFill>
                <a:latin typeface="Consolas"/>
                <a:ea typeface="Consolas"/>
              </a:rPr>
              <a:t>            </a:t>
            </a:r>
            <a:r>
              <a:rPr b="0" lang="en-US" sz="1300" spc="-1" strike="noStrike">
                <a:solidFill>
                  <a:srgbClr val="dce3ec"/>
                </a:solidFill>
                <a:latin typeface="Consolas"/>
                <a:ea typeface="Consolas"/>
              </a:rPr>
              <a:t>}</a:t>
            </a:r>
            <a:endParaRPr b="0" lang="en-US" sz="1300" spc="-1" strike="noStrike">
              <a:solidFill>
                <a:srgbClr val="000000"/>
              </a:solidFill>
              <a:latin typeface="Arial"/>
            </a:endParaRPr>
          </a:p>
          <a:p>
            <a:pPr defTabSz="914400">
              <a:lnSpc>
                <a:spcPct val="105000"/>
              </a:lnSpc>
              <a:tabLst>
                <a:tab algn="l" pos="0"/>
              </a:tabLst>
            </a:pPr>
            <a:r>
              <a:rPr b="0" lang="en-US" sz="1300" spc="-1" strike="noStrike">
                <a:solidFill>
                  <a:srgbClr val="dce3ec"/>
                </a:solidFill>
                <a:latin typeface="Consolas"/>
                <a:ea typeface="Consolas"/>
              </a:rPr>
              <a:t>        </a:t>
            </a:r>
            <a:r>
              <a:rPr b="0" lang="en-US" sz="1300" spc="-1" strike="noStrike">
                <a:solidFill>
                  <a:srgbClr val="dce3ec"/>
                </a:solidFill>
                <a:latin typeface="Consolas"/>
                <a:ea typeface="Consolas"/>
              </a:rPr>
              <a:t>}</a:t>
            </a:r>
            <a:endParaRPr b="0" lang="en-US" sz="1300" spc="-1" strike="noStrike">
              <a:solidFill>
                <a:srgbClr val="000000"/>
              </a:solidFill>
              <a:latin typeface="Arial"/>
            </a:endParaRPr>
          </a:p>
          <a:p>
            <a:pPr defTabSz="914400">
              <a:lnSpc>
                <a:spcPct val="105000"/>
              </a:lnSpc>
              <a:tabLst>
                <a:tab algn="l" pos="0"/>
              </a:tabLst>
            </a:pPr>
            <a:r>
              <a:rPr b="0" lang="en-US" sz="1300" spc="-1" strike="noStrike">
                <a:solidFill>
                  <a:srgbClr val="dce3ec"/>
                </a:solidFill>
                <a:latin typeface="Consolas"/>
                <a:ea typeface="Consolas"/>
              </a:rPr>
              <a:t>) {</a:t>
            </a:r>
            <a:endParaRPr b="0" lang="en-US" sz="1300" spc="-1" strike="noStrike">
              <a:solidFill>
                <a:srgbClr val="000000"/>
              </a:solidFill>
              <a:latin typeface="Arial"/>
            </a:endParaRPr>
          </a:p>
          <a:p>
            <a:pPr defTabSz="914400">
              <a:lnSpc>
                <a:spcPct val="105000"/>
              </a:lnSpc>
              <a:tabLst>
                <a:tab algn="l" pos="0"/>
              </a:tabLst>
            </a:pPr>
            <a:r>
              <a:rPr b="0" lang="en-US" sz="1300" spc="-1" strike="noStrike">
                <a:solidFill>
                  <a:srgbClr val="dce3ec"/>
                </a:solidFill>
                <a:latin typeface="Consolas"/>
                <a:ea typeface="Consolas"/>
              </a:rPr>
              <a:t>    </a:t>
            </a:r>
            <a:r>
              <a:rPr b="0" lang="en-US" sz="1300" spc="-1" strike="noStrike">
                <a:solidFill>
                  <a:srgbClr val="dce3ec"/>
                </a:solidFill>
                <a:latin typeface="Consolas"/>
                <a:ea typeface="Consolas"/>
              </a:rPr>
              <a:t>words.take(visible).forEachIndexed { i, w -&gt;</a:t>
            </a:r>
            <a:endParaRPr b="0" lang="en-US" sz="1300" spc="-1" strike="noStrike">
              <a:solidFill>
                <a:srgbClr val="000000"/>
              </a:solidFill>
              <a:latin typeface="Arial"/>
            </a:endParaRPr>
          </a:p>
          <a:p>
            <a:pPr defTabSz="914400">
              <a:lnSpc>
                <a:spcPct val="105000"/>
              </a:lnSpc>
              <a:tabLst>
                <a:tab algn="l" pos="0"/>
              </a:tabLst>
            </a:pPr>
            <a:r>
              <a:rPr b="0" lang="en-US" sz="1300" spc="-1" strike="noStrike">
                <a:solidFill>
                  <a:srgbClr val="dce3ec"/>
                </a:solidFill>
                <a:latin typeface="Consolas"/>
                <a:ea typeface="Consolas"/>
              </a:rPr>
              <a:t>        </a:t>
            </a:r>
            <a:r>
              <a:rPr b="0" lang="en-US" sz="1300" spc="-1" strike="noStrike">
                <a:solidFill>
                  <a:srgbClr val="dce3ec"/>
                </a:solidFill>
                <a:latin typeface="Consolas"/>
                <a:ea typeface="Consolas"/>
              </a:rPr>
              <a:t>key(</a:t>
            </a:r>
            <a:r>
              <a:rPr b="0" lang="en-US" sz="1300" spc="-1" strike="noStrike">
                <a:solidFill>
                  <a:srgbClr val="b5e48c"/>
                </a:solidFill>
                <a:latin typeface="Consolas"/>
                <a:ea typeface="Consolas"/>
              </a:rPr>
              <a:t>"p$p-w$i"</a:t>
            </a:r>
            <a:r>
              <a:rPr b="0" lang="en-US" sz="1300" spc="-1" strike="noStrike">
                <a:solidFill>
                  <a:srgbClr val="dce3ec"/>
                </a:solidFill>
                <a:latin typeface="Consolas"/>
                <a:ea typeface="Consolas"/>
              </a:rPr>
              <a:t>) { </a:t>
            </a:r>
            <a:r>
              <a:rPr b="0" lang="en-US" sz="1300" spc="-1" strike="noStrike">
                <a:solidFill>
                  <a:srgbClr val="8ab4f8"/>
                </a:solidFill>
                <a:latin typeface="Consolas"/>
                <a:ea typeface="Consolas"/>
              </a:rPr>
              <a:t>FadeInWord</a:t>
            </a:r>
            <a:r>
              <a:rPr b="0" lang="en-US" sz="1300" spc="-1" strike="noStrike">
                <a:solidFill>
                  <a:srgbClr val="dce3ec"/>
                </a:solidFill>
                <a:latin typeface="Consolas"/>
                <a:ea typeface="Consolas"/>
              </a:rPr>
              <a:t>(</a:t>
            </a:r>
            <a:r>
              <a:rPr b="0" lang="en-US" sz="1300" spc="-1" strike="noStrike">
                <a:solidFill>
                  <a:srgbClr val="b5e48c"/>
                </a:solidFill>
                <a:latin typeface="Consolas"/>
                <a:ea typeface="Consolas"/>
              </a:rPr>
              <a:t>"$w "</a:t>
            </a:r>
            <a:r>
              <a:rPr b="0" lang="en-US" sz="1300" spc="-1" strike="noStrike">
                <a:solidFill>
                  <a:srgbClr val="dce3ec"/>
                </a:solidFill>
                <a:latin typeface="Consolas"/>
                <a:ea typeface="Consolas"/>
              </a:rPr>
              <a:t>) }</a:t>
            </a:r>
            <a:endParaRPr b="0" lang="en-US" sz="1300" spc="-1" strike="noStrike">
              <a:solidFill>
                <a:srgbClr val="000000"/>
              </a:solidFill>
              <a:latin typeface="Arial"/>
            </a:endParaRPr>
          </a:p>
          <a:p>
            <a:pPr defTabSz="914400">
              <a:lnSpc>
                <a:spcPct val="105000"/>
              </a:lnSpc>
              <a:tabLst>
                <a:tab algn="l" pos="0"/>
              </a:tabLst>
            </a:pPr>
            <a:r>
              <a:rPr b="0" lang="en-US" sz="1300" spc="-1" strike="noStrike">
                <a:solidFill>
                  <a:srgbClr val="dce3ec"/>
                </a:solidFill>
                <a:latin typeface="Consolas"/>
                <a:ea typeface="Consolas"/>
              </a:rPr>
              <a:t>    </a:t>
            </a:r>
            <a:r>
              <a:rPr b="0" lang="en-US" sz="1300" spc="-1" strike="noStrike">
                <a:solidFill>
                  <a:srgbClr val="dce3ec"/>
                </a:solidFill>
                <a:latin typeface="Consolas"/>
                <a:ea typeface="Consolas"/>
              </a:rPr>
              <a:t>}</a:t>
            </a:r>
            <a:endParaRPr b="0" lang="en-US" sz="1300" spc="-1" strike="noStrike">
              <a:solidFill>
                <a:srgbClr val="000000"/>
              </a:solidFill>
              <a:latin typeface="Arial"/>
            </a:endParaRPr>
          </a:p>
          <a:p>
            <a:pPr defTabSz="914400">
              <a:lnSpc>
                <a:spcPct val="105000"/>
              </a:lnSpc>
              <a:tabLst>
                <a:tab algn="l" pos="0"/>
              </a:tabLst>
            </a:pPr>
            <a:r>
              <a:rPr b="0" lang="en-US" sz="1300" spc="-1" strike="noStrike">
                <a:solidFill>
                  <a:srgbClr val="dce3ec"/>
                </a:solidFill>
                <a:latin typeface="Consolas"/>
                <a:ea typeface="Consolas"/>
              </a:rPr>
              <a:t>}</a:t>
            </a:r>
            <a:endParaRPr b="0" lang="en-US" sz="1300" spc="-1" strike="noStrike">
              <a:solidFill>
                <a:srgbClr val="000000"/>
              </a:solidFill>
              <a:latin typeface="Arial"/>
            </a:endParaRPr>
          </a:p>
        </p:txBody>
      </p:sp>
      <p:sp>
        <p:nvSpPr>
          <p:cNvPr id="345" name="Text 5"/>
          <p:cNvSpPr/>
          <p:nvPr/>
        </p:nvSpPr>
        <p:spPr>
          <a:xfrm>
            <a:off x="5349240" y="1810440"/>
            <a:ext cx="868320" cy="200880"/>
          </a:xfrm>
          <a:prstGeom prst="rect">
            <a:avLst/>
          </a:prstGeom>
          <a:noFill/>
          <a:ln w="0">
            <a:noFill/>
          </a:ln>
        </p:spPr>
        <p:style>
          <a:lnRef idx="0"/>
          <a:fillRef idx="0"/>
          <a:effectRef idx="0"/>
          <a:fontRef idx="minor"/>
        </p:style>
        <p:txBody>
          <a:bodyPr lIns="0" rIns="0" tIns="0" bIns="0" anchor="t">
            <a:noAutofit/>
          </a:bodyPr>
          <a:p>
            <a:pPr algn="r" defTabSz="914400">
              <a:lnSpc>
                <a:spcPct val="100000"/>
              </a:lnSpc>
              <a:tabLst>
                <a:tab algn="l" pos="0"/>
              </a:tabLst>
            </a:pPr>
            <a:r>
              <a:rPr b="0" lang="en-US" sz="900" spc="-1" strike="noStrike">
                <a:solidFill>
                  <a:srgbClr val="6f7d93"/>
                </a:solidFill>
                <a:latin typeface="Calibri"/>
                <a:ea typeface="Calibri"/>
              </a:rPr>
              <a:t>Kotlin</a:t>
            </a:r>
            <a:endParaRPr b="0" lang="en-US" sz="900" spc="-1" strike="noStrike">
              <a:solidFill>
                <a:srgbClr val="000000"/>
              </a:solidFill>
              <a:latin typeface="Arial"/>
            </a:endParaRPr>
          </a:p>
        </p:txBody>
      </p:sp>
      <p:sp>
        <p:nvSpPr>
          <p:cNvPr id="346" name="Shape 6"/>
          <p:cNvSpPr/>
          <p:nvPr/>
        </p:nvSpPr>
        <p:spPr>
          <a:xfrm>
            <a:off x="6583680" y="1737360"/>
            <a:ext cx="2514240" cy="1325520"/>
          </a:xfrm>
          <a:prstGeom prst="roundRect">
            <a:avLst>
              <a:gd name="adj" fmla="val 8276"/>
            </a:avLst>
          </a:prstGeom>
          <a:solidFill>
            <a:srgbClr val="eeeafb"/>
          </a:solidFill>
          <a:ln w="12700">
            <a:solidFill>
              <a:srgbClr val="eeeaf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47" name="Text 7"/>
          <p:cNvSpPr/>
          <p:nvPr/>
        </p:nvSpPr>
        <p:spPr>
          <a:xfrm>
            <a:off x="6720840" y="1847160"/>
            <a:ext cx="365400" cy="3654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2000" spc="-1" strike="noStrike">
                <a:solidFill>
                  <a:srgbClr val="5b3fd6"/>
                </a:solidFill>
                <a:latin typeface="Arial"/>
                <a:ea typeface="Arial"/>
              </a:rPr>
              <a:t>1</a:t>
            </a:r>
            <a:endParaRPr b="0" lang="en-US" sz="2000" spc="-1" strike="noStrike">
              <a:solidFill>
                <a:srgbClr val="000000"/>
              </a:solidFill>
              <a:latin typeface="Arial"/>
            </a:endParaRPr>
          </a:p>
        </p:txBody>
      </p:sp>
      <p:sp>
        <p:nvSpPr>
          <p:cNvPr id="348" name="Text 8"/>
          <p:cNvSpPr/>
          <p:nvPr/>
        </p:nvSpPr>
        <p:spPr>
          <a:xfrm>
            <a:off x="6720840" y="2212920"/>
            <a:ext cx="2285640" cy="2739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150" spc="-1" strike="noStrike">
                <a:solidFill>
                  <a:srgbClr val="5b3fd6"/>
                </a:solidFill>
                <a:latin typeface="Consolas"/>
                <a:ea typeface="Consolas"/>
              </a:rPr>
              <a:t>clearAndSetSemantics</a:t>
            </a:r>
            <a:endParaRPr b="0" lang="en-US" sz="1150" spc="-1" strike="noStrike">
              <a:solidFill>
                <a:srgbClr val="000000"/>
              </a:solidFill>
              <a:latin typeface="Arial"/>
            </a:endParaRPr>
          </a:p>
        </p:txBody>
      </p:sp>
      <p:sp>
        <p:nvSpPr>
          <p:cNvPr id="349" name="Text 9"/>
          <p:cNvSpPr/>
          <p:nvPr/>
        </p:nvSpPr>
        <p:spPr>
          <a:xfrm>
            <a:off x="6720840" y="2505600"/>
            <a:ext cx="2285640" cy="5025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200" spc="-1" strike="noStrike">
                <a:solidFill>
                  <a:srgbClr val="1b2330"/>
                </a:solidFill>
                <a:latin typeface="Calibri"/>
                <a:ea typeface="Calibri"/>
              </a:rPr>
              <a:t>hides the per-word nodes from TalkBack</a:t>
            </a:r>
            <a:endParaRPr b="0" lang="en-US" sz="1200" spc="-1" strike="noStrike">
              <a:solidFill>
                <a:srgbClr val="000000"/>
              </a:solidFill>
              <a:latin typeface="Arial"/>
            </a:endParaRPr>
          </a:p>
        </p:txBody>
      </p:sp>
      <p:sp>
        <p:nvSpPr>
          <p:cNvPr id="350" name="Shape 10"/>
          <p:cNvSpPr/>
          <p:nvPr/>
        </p:nvSpPr>
        <p:spPr>
          <a:xfrm>
            <a:off x="6583680" y="3218760"/>
            <a:ext cx="2514240" cy="1325520"/>
          </a:xfrm>
          <a:prstGeom prst="roundRect">
            <a:avLst>
              <a:gd name="adj" fmla="val 8276"/>
            </a:avLst>
          </a:prstGeom>
          <a:solidFill>
            <a:srgbClr val="eeeafb"/>
          </a:solidFill>
          <a:ln w="12700">
            <a:solidFill>
              <a:srgbClr val="eeeaf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51" name="Text 11"/>
          <p:cNvSpPr/>
          <p:nvPr/>
        </p:nvSpPr>
        <p:spPr>
          <a:xfrm>
            <a:off x="6720840" y="3328560"/>
            <a:ext cx="365400" cy="3654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2000" spc="-1" strike="noStrike">
                <a:solidFill>
                  <a:srgbClr val="5b3fd6"/>
                </a:solidFill>
                <a:latin typeface="Arial"/>
                <a:ea typeface="Arial"/>
              </a:rPr>
              <a:t>2</a:t>
            </a:r>
            <a:endParaRPr b="0" lang="en-US" sz="2000" spc="-1" strike="noStrike">
              <a:solidFill>
                <a:srgbClr val="000000"/>
              </a:solidFill>
              <a:latin typeface="Arial"/>
            </a:endParaRPr>
          </a:p>
        </p:txBody>
      </p:sp>
      <p:sp>
        <p:nvSpPr>
          <p:cNvPr id="352" name="Text 12"/>
          <p:cNvSpPr/>
          <p:nvPr/>
        </p:nvSpPr>
        <p:spPr>
          <a:xfrm>
            <a:off x="6720840" y="3694320"/>
            <a:ext cx="2285640" cy="2739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150" spc="-1" strike="noStrike">
                <a:solidFill>
                  <a:srgbClr val="5b3fd6"/>
                </a:solidFill>
                <a:latin typeface="Consolas"/>
                <a:ea typeface="Consolas"/>
              </a:rPr>
              <a:t>stateDescription</a:t>
            </a:r>
            <a:endParaRPr b="0" lang="en-US" sz="1150" spc="-1" strike="noStrike">
              <a:solidFill>
                <a:srgbClr val="000000"/>
              </a:solidFill>
              <a:latin typeface="Arial"/>
            </a:endParaRPr>
          </a:p>
        </p:txBody>
      </p:sp>
      <p:sp>
        <p:nvSpPr>
          <p:cNvPr id="353" name="Text 13"/>
          <p:cNvSpPr/>
          <p:nvPr/>
        </p:nvSpPr>
        <p:spPr>
          <a:xfrm>
            <a:off x="6720840" y="3986640"/>
            <a:ext cx="2285640" cy="5025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200" spc="-1" strike="noStrike">
                <a:solidFill>
                  <a:srgbClr val="1b2330"/>
                </a:solidFill>
                <a:latin typeface="Calibri"/>
                <a:ea typeface="Calibri"/>
              </a:rPr>
              <a:t>covers the in-between: “Loading”</a:t>
            </a:r>
            <a:endParaRPr b="0" lang="en-US" sz="1200" spc="-1" strike="noStrike">
              <a:solidFill>
                <a:srgbClr val="000000"/>
              </a:solidFill>
              <a:latin typeface="Arial"/>
            </a:endParaRPr>
          </a:p>
        </p:txBody>
      </p:sp>
      <p:sp>
        <p:nvSpPr>
          <p:cNvPr id="354" name="Shape 14"/>
          <p:cNvSpPr/>
          <p:nvPr/>
        </p:nvSpPr>
        <p:spPr>
          <a:xfrm>
            <a:off x="6583680" y="4700160"/>
            <a:ext cx="2514240" cy="1325520"/>
          </a:xfrm>
          <a:prstGeom prst="roundRect">
            <a:avLst>
              <a:gd name="adj" fmla="val 8276"/>
            </a:avLst>
          </a:prstGeom>
          <a:solidFill>
            <a:srgbClr val="eeeafb"/>
          </a:solidFill>
          <a:ln w="12700">
            <a:solidFill>
              <a:srgbClr val="eeeaf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55" name="Text 15"/>
          <p:cNvSpPr/>
          <p:nvPr/>
        </p:nvSpPr>
        <p:spPr>
          <a:xfrm>
            <a:off x="6720840" y="4809600"/>
            <a:ext cx="365400" cy="3654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2000" spc="-1" strike="noStrike">
                <a:solidFill>
                  <a:srgbClr val="5b3fd6"/>
                </a:solidFill>
                <a:latin typeface="Arial"/>
                <a:ea typeface="Arial"/>
              </a:rPr>
              <a:t>3</a:t>
            </a:r>
            <a:endParaRPr b="0" lang="en-US" sz="2000" spc="-1" strike="noStrike">
              <a:solidFill>
                <a:srgbClr val="000000"/>
              </a:solidFill>
              <a:latin typeface="Arial"/>
            </a:endParaRPr>
          </a:p>
        </p:txBody>
      </p:sp>
      <p:sp>
        <p:nvSpPr>
          <p:cNvPr id="356" name="Text 16"/>
          <p:cNvSpPr/>
          <p:nvPr/>
        </p:nvSpPr>
        <p:spPr>
          <a:xfrm>
            <a:off x="6720840" y="5175360"/>
            <a:ext cx="2285640" cy="2739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150" spc="-1" strike="noStrike">
                <a:solidFill>
                  <a:srgbClr val="5b3fd6"/>
                </a:solidFill>
                <a:latin typeface="Consolas"/>
                <a:ea typeface="Consolas"/>
              </a:rPr>
              <a:t>contentDescription</a:t>
            </a:r>
            <a:endParaRPr b="0" lang="en-US" sz="1150" spc="-1" strike="noStrike">
              <a:solidFill>
                <a:srgbClr val="000000"/>
              </a:solidFill>
              <a:latin typeface="Arial"/>
            </a:endParaRPr>
          </a:p>
        </p:txBody>
      </p:sp>
      <p:sp>
        <p:nvSpPr>
          <p:cNvPr id="357" name="Text 17"/>
          <p:cNvSpPr/>
          <p:nvPr/>
        </p:nvSpPr>
        <p:spPr>
          <a:xfrm>
            <a:off x="6720840" y="5468040"/>
            <a:ext cx="2285640" cy="5025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200" spc="-1" strike="noStrike">
                <a:solidFill>
                  <a:srgbClr val="1b2330"/>
                </a:solidFill>
                <a:latin typeface="Calibri"/>
                <a:ea typeface="Calibri"/>
              </a:rPr>
              <a:t>delivers the whole paragraph once</a:t>
            </a:r>
            <a:endParaRPr b="0" lang="en-US" sz="1200" spc="-1" strike="noStrike">
              <a:solidFill>
                <a:srgbClr val="000000"/>
              </a:solidFill>
              <a:latin typeface="Arial"/>
            </a:endParaRPr>
          </a:p>
        </p:txBody>
      </p:sp>
      <p:sp>
        <p:nvSpPr>
          <p:cNvPr id="358" name="Text 18"/>
          <p:cNvSpPr/>
          <p:nvPr/>
        </p:nvSpPr>
        <p:spPr>
          <a:xfrm>
            <a:off x="548640" y="6217920"/>
            <a:ext cx="8595000" cy="3654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i="1" lang="en-US" sz="1300" spc="-1" strike="noStrike">
                <a:solidFill>
                  <a:srgbClr val="5b6472"/>
                </a:solidFill>
                <a:latin typeface="Calibri"/>
                <a:ea typeface="Calibri"/>
              </a:rPr>
              <a:t>Children keep animating for sighted users.</a:t>
            </a:r>
            <a:endParaRPr b="0" lang="en-US" sz="1300" spc="-1" strike="noStrike">
              <a:solidFill>
                <a:srgbClr val="000000"/>
              </a:solidFill>
              <a:latin typeface="Arial"/>
            </a:endParaRPr>
          </a:p>
        </p:txBody>
      </p:sp>
      <p:sp>
        <p:nvSpPr>
          <p:cNvPr id="359" name="Shape 19"/>
          <p:cNvSpPr/>
          <p:nvPr/>
        </p:nvSpPr>
        <p:spPr>
          <a:xfrm>
            <a:off x="9372600" y="1188720"/>
            <a:ext cx="2331360" cy="5394600"/>
          </a:xfrm>
          <a:prstGeom prst="roundRect">
            <a:avLst>
              <a:gd name="adj" fmla="val 12549"/>
            </a:avLst>
          </a:prstGeom>
          <a:solidFill>
            <a:srgbClr val="15161a"/>
          </a:solidFill>
          <a:ln w="12700">
            <a:solidFill>
              <a:srgbClr val="15161a"/>
            </a:solidFill>
            <a:round/>
          </a:ln>
          <a:effectLst>
            <a:outerShdw algn="bl" blurRad="101520" dir="5400000" dist="38160" kx="0" ky="0" rotWithShape="0" sx="100000" sy="100000">
              <a:srgbClr val="000000">
                <a:alpha val="22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60" name="Shape 20"/>
          <p:cNvSpPr/>
          <p:nvPr/>
        </p:nvSpPr>
        <p:spPr>
          <a:xfrm>
            <a:off x="9473040" y="1289160"/>
            <a:ext cx="2130120" cy="5193360"/>
          </a:xfrm>
          <a:prstGeom prst="roundRect">
            <a:avLst>
              <a:gd name="adj" fmla="val 10300"/>
            </a:avLst>
          </a:prstGeom>
          <a:solidFill>
            <a:srgbClr val="f7f2fa"/>
          </a:solidFill>
          <a:ln w="12700">
            <a:solidFill>
              <a:srgbClr val="f7f2fa"/>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61" name="Text 21"/>
          <p:cNvSpPr/>
          <p:nvPr/>
        </p:nvSpPr>
        <p:spPr>
          <a:xfrm>
            <a:off x="9637920" y="1581840"/>
            <a:ext cx="1801080" cy="14626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150" spc="-1" strike="noStrike">
                <a:solidFill>
                  <a:srgbClr val="1b2330"/>
                </a:solidFill>
                <a:latin typeface="Arial"/>
                <a:ea typeface="Arial"/>
              </a:rPr>
              <a:t>The Americans with Disabilities Act is a federal civil rights law that prohibits discrimination against people with disabilities in everyday activities…</a:t>
            </a:r>
            <a:endParaRPr b="0" lang="en-US" sz="1150" spc="-1" strike="noStrike">
              <a:solidFill>
                <a:srgbClr val="000000"/>
              </a:solidFill>
              <a:latin typeface="Arial"/>
            </a:endParaRPr>
          </a:p>
        </p:txBody>
      </p:sp>
      <p:sp>
        <p:nvSpPr>
          <p:cNvPr id="362" name="Shape 22"/>
          <p:cNvSpPr/>
          <p:nvPr/>
        </p:nvSpPr>
        <p:spPr>
          <a:xfrm>
            <a:off x="9564480" y="1490400"/>
            <a:ext cx="1947240" cy="1599840"/>
          </a:xfrm>
          <a:prstGeom prst="rect">
            <a:avLst/>
          </a:prstGeom>
          <a:noFill/>
          <a:ln w="34925">
            <a:solidFill>
              <a:srgbClr val="1a73e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63" name="Text 23"/>
          <p:cNvSpPr/>
          <p:nvPr/>
        </p:nvSpPr>
        <p:spPr>
          <a:xfrm>
            <a:off x="9564480" y="3392280"/>
            <a:ext cx="1947240" cy="22824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0" lang="en-US" sz="1000" spc="-1" strike="noStrike">
                <a:solidFill>
                  <a:srgbClr val="5b6472"/>
                </a:solidFill>
                <a:latin typeface="Calibri"/>
                <a:ea typeface="Calibri"/>
              </a:rPr>
              <a:t>while streaming</a:t>
            </a:r>
            <a:endParaRPr b="0" lang="en-US" sz="1000" spc="-1" strike="noStrike">
              <a:solidFill>
                <a:srgbClr val="000000"/>
              </a:solidFill>
              <a:latin typeface="Arial"/>
            </a:endParaRPr>
          </a:p>
        </p:txBody>
      </p:sp>
      <p:sp>
        <p:nvSpPr>
          <p:cNvPr id="364" name="Shape 24"/>
          <p:cNvSpPr/>
          <p:nvPr/>
        </p:nvSpPr>
        <p:spPr>
          <a:xfrm>
            <a:off x="9884520" y="3639240"/>
            <a:ext cx="1307160" cy="365400"/>
          </a:xfrm>
          <a:prstGeom prst="rect">
            <a:avLst/>
          </a:prstGeom>
          <a:solidFill>
            <a:srgbClr val="2e2e2e"/>
          </a:solidFill>
          <a:ln w="12700">
            <a:solidFill>
              <a:srgbClr val="2e2e2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65" name="Text 25"/>
          <p:cNvSpPr/>
          <p:nvPr/>
        </p:nvSpPr>
        <p:spPr>
          <a:xfrm>
            <a:off x="9957960" y="3639240"/>
            <a:ext cx="1161000" cy="365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200" spc="-1" strike="noStrike">
                <a:solidFill>
                  <a:srgbClr val="ffffff"/>
                </a:solidFill>
                <a:latin typeface="Calibri"/>
                <a:ea typeface="Calibri"/>
              </a:rPr>
              <a:t>Loading</a:t>
            </a:r>
            <a:endParaRPr b="0" lang="en-US" sz="1200" spc="-1" strike="noStrike">
              <a:solidFill>
                <a:srgbClr val="000000"/>
              </a:solidFill>
              <a:latin typeface="Arial"/>
            </a:endParaRPr>
          </a:p>
        </p:txBody>
      </p:sp>
      <p:sp>
        <p:nvSpPr>
          <p:cNvPr id="366" name="Text 26"/>
          <p:cNvSpPr/>
          <p:nvPr/>
        </p:nvSpPr>
        <p:spPr>
          <a:xfrm>
            <a:off x="9564480" y="4215240"/>
            <a:ext cx="1947240" cy="22824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0" lang="en-US" sz="1000" spc="-1" strike="noStrike">
                <a:solidFill>
                  <a:srgbClr val="5b6472"/>
                </a:solidFill>
                <a:latin typeface="Calibri"/>
                <a:ea typeface="Calibri"/>
              </a:rPr>
              <a:t>when complete</a:t>
            </a:r>
            <a:endParaRPr b="0" lang="en-US" sz="1000" spc="-1" strike="noStrike">
              <a:solidFill>
                <a:srgbClr val="000000"/>
              </a:solidFill>
              <a:latin typeface="Arial"/>
            </a:endParaRPr>
          </a:p>
        </p:txBody>
      </p:sp>
      <p:sp>
        <p:nvSpPr>
          <p:cNvPr id="367" name="Shape 27"/>
          <p:cNvSpPr/>
          <p:nvPr/>
        </p:nvSpPr>
        <p:spPr>
          <a:xfrm>
            <a:off x="9528120" y="4462200"/>
            <a:ext cx="2020320" cy="1508400"/>
          </a:xfrm>
          <a:prstGeom prst="rect">
            <a:avLst/>
          </a:prstGeom>
          <a:solidFill>
            <a:srgbClr val="2e2e2e"/>
          </a:solidFill>
          <a:ln w="12700">
            <a:solidFill>
              <a:srgbClr val="2e2e2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68" name="Text 28"/>
          <p:cNvSpPr/>
          <p:nvPr/>
        </p:nvSpPr>
        <p:spPr>
          <a:xfrm>
            <a:off x="9601200" y="4462200"/>
            <a:ext cx="1874160" cy="1508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50" spc="-1" strike="noStrike">
                <a:solidFill>
                  <a:srgbClr val="ffffff"/>
                </a:solidFill>
                <a:latin typeface="Calibri"/>
                <a:ea typeface="Calibri"/>
              </a:rPr>
              <a:t>The Americans with Disabilities Act is a federal civil rights law that prohibits discrimination against people with disabilities in everyday activities. It was signed into law…</a:t>
            </a:r>
            <a:endParaRPr b="0" lang="en-US" sz="9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69" name="Shape 0"/>
          <p:cNvSpPr/>
          <p:nvPr/>
        </p:nvSpPr>
        <p:spPr>
          <a:xfrm>
            <a:off x="548640" y="384120"/>
            <a:ext cx="1449000" cy="328680"/>
          </a:xfrm>
          <a:prstGeom prst="roundRect">
            <a:avLst>
              <a:gd name="adj" fmla="val 50000"/>
            </a:avLst>
          </a:prstGeom>
          <a:solidFill>
            <a:srgbClr val="eeeafb"/>
          </a:solidFill>
          <a:ln w="12700">
            <a:solidFill>
              <a:srgbClr val="eeeaf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70" name="Text 1"/>
          <p:cNvSpPr/>
          <p:nvPr/>
        </p:nvSpPr>
        <p:spPr>
          <a:xfrm>
            <a:off x="548640" y="384120"/>
            <a:ext cx="144900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99" strike="noStrike">
                <a:solidFill>
                  <a:srgbClr val="5b3fd6"/>
                </a:solidFill>
                <a:latin typeface="Calibri"/>
                <a:ea typeface="Calibri"/>
              </a:rPr>
              <a:t>BONUS · FOCUS</a:t>
            </a:r>
            <a:endParaRPr b="0" lang="en-US" sz="1100" spc="-1" strike="noStrike">
              <a:solidFill>
                <a:srgbClr val="000000"/>
              </a:solidFill>
              <a:latin typeface="Arial"/>
            </a:endParaRPr>
          </a:p>
        </p:txBody>
      </p:sp>
      <p:sp>
        <p:nvSpPr>
          <p:cNvPr id="371" name="Text 2"/>
          <p:cNvSpPr/>
          <p:nvPr/>
        </p:nvSpPr>
        <p:spPr>
          <a:xfrm>
            <a:off x="548640" y="868680"/>
            <a:ext cx="11063880" cy="7311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3200" spc="-1" strike="noStrike">
                <a:solidFill>
                  <a:srgbClr val="1b2330"/>
                </a:solidFill>
                <a:latin typeface="Arial"/>
                <a:ea typeface="Arial"/>
              </a:rPr>
              <a:t>Don’t lose focus when content is replaced</a:t>
            </a:r>
            <a:endParaRPr b="0" lang="en-US" sz="3200" spc="-1" strike="noStrike">
              <a:solidFill>
                <a:srgbClr val="000000"/>
              </a:solidFill>
              <a:latin typeface="Arial"/>
            </a:endParaRPr>
          </a:p>
        </p:txBody>
      </p:sp>
      <p:sp>
        <p:nvSpPr>
          <p:cNvPr id="372" name="Shape 3"/>
          <p:cNvSpPr/>
          <p:nvPr/>
        </p:nvSpPr>
        <p:spPr>
          <a:xfrm>
            <a:off x="548640" y="1691640"/>
            <a:ext cx="3520080" cy="1371240"/>
          </a:xfrm>
          <a:prstGeom prst="roundRect">
            <a:avLst>
              <a:gd name="adj" fmla="val 8000"/>
            </a:avLst>
          </a:prstGeom>
          <a:solidFill>
            <a:srgbClr val="f7f2fa"/>
          </a:solidFill>
          <a:ln w="9525">
            <a:solidFill>
              <a:srgbClr val="e2ddea"/>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73" name="Text 4"/>
          <p:cNvSpPr/>
          <p:nvPr/>
        </p:nvSpPr>
        <p:spPr>
          <a:xfrm>
            <a:off x="713160" y="1801440"/>
            <a:ext cx="3245760" cy="2739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250" spc="-1" strike="noStrike">
                <a:solidFill>
                  <a:srgbClr val="1b2330"/>
                </a:solidFill>
                <a:latin typeface="Calibri"/>
                <a:ea typeface="Calibri"/>
              </a:rPr>
              <a:t>1  Double-tap “See more”</a:t>
            </a:r>
            <a:endParaRPr b="0" lang="en-US" sz="1250" spc="-1" strike="noStrike">
              <a:solidFill>
                <a:srgbClr val="000000"/>
              </a:solidFill>
              <a:latin typeface="Arial"/>
            </a:endParaRPr>
          </a:p>
        </p:txBody>
      </p:sp>
      <p:sp>
        <p:nvSpPr>
          <p:cNvPr id="374" name="Shape 5"/>
          <p:cNvSpPr/>
          <p:nvPr/>
        </p:nvSpPr>
        <p:spPr>
          <a:xfrm>
            <a:off x="713160" y="2194560"/>
            <a:ext cx="662760" cy="328680"/>
          </a:xfrm>
          <a:prstGeom prst="roundRect">
            <a:avLst>
              <a:gd name="adj" fmla="val 50000"/>
            </a:avLst>
          </a:prstGeom>
          <a:solidFill>
            <a:srgbClr val="ffffff"/>
          </a:solidFill>
          <a:ln w="12700">
            <a:solidFill>
              <a:srgbClr val="5b3fd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75" name="Text 6"/>
          <p:cNvSpPr/>
          <p:nvPr/>
        </p:nvSpPr>
        <p:spPr>
          <a:xfrm>
            <a:off x="713160" y="2194560"/>
            <a:ext cx="66276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100" spc="-1" strike="noStrike">
                <a:solidFill>
                  <a:srgbClr val="5b3fd6"/>
                </a:solidFill>
                <a:latin typeface="Calibri"/>
                <a:ea typeface="Calibri"/>
              </a:rPr>
              <a:t>Ramps</a:t>
            </a:r>
            <a:endParaRPr b="0" lang="en-US" sz="1100" spc="-1" strike="noStrike">
              <a:solidFill>
                <a:srgbClr val="000000"/>
              </a:solidFill>
              <a:latin typeface="Arial"/>
            </a:endParaRPr>
          </a:p>
        </p:txBody>
      </p:sp>
      <p:sp>
        <p:nvSpPr>
          <p:cNvPr id="376" name="Shape 7"/>
          <p:cNvSpPr/>
          <p:nvPr/>
        </p:nvSpPr>
        <p:spPr>
          <a:xfrm>
            <a:off x="1486080" y="2194560"/>
            <a:ext cx="973440" cy="328680"/>
          </a:xfrm>
          <a:prstGeom prst="roundRect">
            <a:avLst>
              <a:gd name="adj" fmla="val 50000"/>
            </a:avLst>
          </a:prstGeom>
          <a:solidFill>
            <a:srgbClr val="ffffff"/>
          </a:solidFill>
          <a:ln w="12700">
            <a:solidFill>
              <a:srgbClr val="5b3fd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77" name="Text 8"/>
          <p:cNvSpPr/>
          <p:nvPr/>
        </p:nvSpPr>
        <p:spPr>
          <a:xfrm>
            <a:off x="1486080" y="2194560"/>
            <a:ext cx="97344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100" spc="-1" strike="noStrike">
                <a:solidFill>
                  <a:srgbClr val="5b3fd6"/>
                </a:solidFill>
                <a:latin typeface="Calibri"/>
                <a:ea typeface="Calibri"/>
              </a:rPr>
              <a:t>Curb cuts</a:t>
            </a:r>
            <a:endParaRPr b="0" lang="en-US" sz="1100" spc="-1" strike="noStrike">
              <a:solidFill>
                <a:srgbClr val="000000"/>
              </a:solidFill>
              <a:latin typeface="Arial"/>
            </a:endParaRPr>
          </a:p>
        </p:txBody>
      </p:sp>
      <p:sp>
        <p:nvSpPr>
          <p:cNvPr id="378" name="Shape 9"/>
          <p:cNvSpPr/>
          <p:nvPr/>
        </p:nvSpPr>
        <p:spPr>
          <a:xfrm>
            <a:off x="2569320" y="2194560"/>
            <a:ext cx="895680" cy="328680"/>
          </a:xfrm>
          <a:prstGeom prst="roundRect">
            <a:avLst>
              <a:gd name="adj" fmla="val 50000"/>
            </a:avLst>
          </a:prstGeom>
          <a:solidFill>
            <a:srgbClr val="5b3fd6"/>
          </a:solidFill>
          <a:ln w="12700">
            <a:solidFill>
              <a:srgbClr val="5b3fd6"/>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79" name="Text 10"/>
          <p:cNvSpPr/>
          <p:nvPr/>
        </p:nvSpPr>
        <p:spPr>
          <a:xfrm>
            <a:off x="2569320" y="2194560"/>
            <a:ext cx="89568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100" spc="-1" strike="noStrike">
                <a:solidFill>
                  <a:srgbClr val="ffffff"/>
                </a:solidFill>
                <a:latin typeface="Calibri"/>
                <a:ea typeface="Calibri"/>
              </a:rPr>
              <a:t>See more</a:t>
            </a:r>
            <a:endParaRPr b="0" lang="en-US" sz="1100" spc="-1" strike="noStrike">
              <a:solidFill>
                <a:srgbClr val="000000"/>
              </a:solidFill>
              <a:latin typeface="Arial"/>
            </a:endParaRPr>
          </a:p>
        </p:txBody>
      </p:sp>
      <p:sp>
        <p:nvSpPr>
          <p:cNvPr id="380" name="Shape 11"/>
          <p:cNvSpPr/>
          <p:nvPr/>
        </p:nvSpPr>
        <p:spPr>
          <a:xfrm>
            <a:off x="2523600" y="2148840"/>
            <a:ext cx="987120" cy="420120"/>
          </a:xfrm>
          <a:prstGeom prst="rect">
            <a:avLst/>
          </a:prstGeom>
          <a:noFill/>
          <a:ln w="34925">
            <a:solidFill>
              <a:srgbClr val="1a73e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81" name="Shape 12"/>
          <p:cNvSpPr/>
          <p:nvPr/>
        </p:nvSpPr>
        <p:spPr>
          <a:xfrm>
            <a:off x="4297680" y="1691640"/>
            <a:ext cx="3520080" cy="1371240"/>
          </a:xfrm>
          <a:prstGeom prst="roundRect">
            <a:avLst>
              <a:gd name="adj" fmla="val 8000"/>
            </a:avLst>
          </a:prstGeom>
          <a:solidFill>
            <a:srgbClr val="f7f2fa"/>
          </a:solidFill>
          <a:ln w="9525">
            <a:solidFill>
              <a:srgbClr val="e2ddea"/>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82" name="Text 13"/>
          <p:cNvSpPr/>
          <p:nvPr/>
        </p:nvSpPr>
        <p:spPr>
          <a:xfrm>
            <a:off x="4462200" y="1801440"/>
            <a:ext cx="3245760" cy="2739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250" spc="-1" strike="noStrike">
                <a:solidFill>
                  <a:srgbClr val="1b2330"/>
                </a:solidFill>
                <a:latin typeface="Calibri"/>
                <a:ea typeface="Calibri"/>
              </a:rPr>
              <a:t>2  It turns into “Loading…”</a:t>
            </a:r>
            <a:endParaRPr b="0" lang="en-US" sz="1250" spc="-1" strike="noStrike">
              <a:solidFill>
                <a:srgbClr val="000000"/>
              </a:solidFill>
              <a:latin typeface="Arial"/>
            </a:endParaRPr>
          </a:p>
        </p:txBody>
      </p:sp>
      <p:sp>
        <p:nvSpPr>
          <p:cNvPr id="383" name="Shape 14"/>
          <p:cNvSpPr/>
          <p:nvPr/>
        </p:nvSpPr>
        <p:spPr>
          <a:xfrm>
            <a:off x="4462200" y="2194560"/>
            <a:ext cx="662760" cy="328680"/>
          </a:xfrm>
          <a:prstGeom prst="roundRect">
            <a:avLst>
              <a:gd name="adj" fmla="val 50000"/>
            </a:avLst>
          </a:prstGeom>
          <a:solidFill>
            <a:srgbClr val="ffffff"/>
          </a:solidFill>
          <a:ln w="12700">
            <a:solidFill>
              <a:srgbClr val="5b3fd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84" name="Text 15"/>
          <p:cNvSpPr/>
          <p:nvPr/>
        </p:nvSpPr>
        <p:spPr>
          <a:xfrm>
            <a:off x="4462200" y="2194560"/>
            <a:ext cx="66276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100" spc="-1" strike="noStrike">
                <a:solidFill>
                  <a:srgbClr val="5b3fd6"/>
                </a:solidFill>
                <a:latin typeface="Calibri"/>
                <a:ea typeface="Calibri"/>
              </a:rPr>
              <a:t>Ramps</a:t>
            </a:r>
            <a:endParaRPr b="0" lang="en-US" sz="1100" spc="-1" strike="noStrike">
              <a:solidFill>
                <a:srgbClr val="000000"/>
              </a:solidFill>
              <a:latin typeface="Arial"/>
            </a:endParaRPr>
          </a:p>
        </p:txBody>
      </p:sp>
      <p:sp>
        <p:nvSpPr>
          <p:cNvPr id="385" name="Shape 16"/>
          <p:cNvSpPr/>
          <p:nvPr/>
        </p:nvSpPr>
        <p:spPr>
          <a:xfrm>
            <a:off x="5235120" y="2194560"/>
            <a:ext cx="973440" cy="328680"/>
          </a:xfrm>
          <a:prstGeom prst="roundRect">
            <a:avLst>
              <a:gd name="adj" fmla="val 50000"/>
            </a:avLst>
          </a:prstGeom>
          <a:solidFill>
            <a:srgbClr val="ffffff"/>
          </a:solidFill>
          <a:ln w="12700">
            <a:solidFill>
              <a:srgbClr val="5b3fd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86" name="Text 17"/>
          <p:cNvSpPr/>
          <p:nvPr/>
        </p:nvSpPr>
        <p:spPr>
          <a:xfrm>
            <a:off x="5235120" y="2194560"/>
            <a:ext cx="97344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100" spc="-1" strike="noStrike">
                <a:solidFill>
                  <a:srgbClr val="5b3fd6"/>
                </a:solidFill>
                <a:latin typeface="Calibri"/>
                <a:ea typeface="Calibri"/>
              </a:rPr>
              <a:t>Curb cuts</a:t>
            </a:r>
            <a:endParaRPr b="0" lang="en-US" sz="1100" spc="-1" strike="noStrike">
              <a:solidFill>
                <a:srgbClr val="000000"/>
              </a:solidFill>
              <a:latin typeface="Arial"/>
            </a:endParaRPr>
          </a:p>
        </p:txBody>
      </p:sp>
      <p:sp>
        <p:nvSpPr>
          <p:cNvPr id="387" name="Shape 18"/>
          <p:cNvSpPr/>
          <p:nvPr/>
        </p:nvSpPr>
        <p:spPr>
          <a:xfrm>
            <a:off x="6318360" y="2194560"/>
            <a:ext cx="895680" cy="328680"/>
          </a:xfrm>
          <a:prstGeom prst="roundRect">
            <a:avLst>
              <a:gd name="adj" fmla="val 50000"/>
            </a:avLst>
          </a:prstGeom>
          <a:solidFill>
            <a:srgbClr val="5b3fd6"/>
          </a:solidFill>
          <a:ln w="12700">
            <a:solidFill>
              <a:srgbClr val="5b3fd6"/>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88" name="Text 19"/>
          <p:cNvSpPr/>
          <p:nvPr/>
        </p:nvSpPr>
        <p:spPr>
          <a:xfrm>
            <a:off x="6318360" y="2194560"/>
            <a:ext cx="89568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100" spc="-1" strike="noStrike">
                <a:solidFill>
                  <a:srgbClr val="ffffff"/>
                </a:solidFill>
                <a:latin typeface="Calibri"/>
                <a:ea typeface="Calibri"/>
              </a:rPr>
              <a:t>Loading…</a:t>
            </a:r>
            <a:endParaRPr b="0" lang="en-US" sz="1100" spc="-1" strike="noStrike">
              <a:solidFill>
                <a:srgbClr val="000000"/>
              </a:solidFill>
              <a:latin typeface="Arial"/>
            </a:endParaRPr>
          </a:p>
        </p:txBody>
      </p:sp>
      <p:sp>
        <p:nvSpPr>
          <p:cNvPr id="389" name="Shape 20"/>
          <p:cNvSpPr/>
          <p:nvPr/>
        </p:nvSpPr>
        <p:spPr>
          <a:xfrm>
            <a:off x="6272640" y="2148840"/>
            <a:ext cx="987120" cy="420120"/>
          </a:xfrm>
          <a:prstGeom prst="rect">
            <a:avLst/>
          </a:prstGeom>
          <a:noFill/>
          <a:ln w="34925">
            <a:solidFill>
              <a:srgbClr val="1a73e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90" name="Shape 21"/>
          <p:cNvSpPr/>
          <p:nvPr/>
        </p:nvSpPr>
        <p:spPr>
          <a:xfrm>
            <a:off x="8046720" y="1691640"/>
            <a:ext cx="3520080" cy="1371240"/>
          </a:xfrm>
          <a:prstGeom prst="roundRect">
            <a:avLst>
              <a:gd name="adj" fmla="val 8000"/>
            </a:avLst>
          </a:prstGeom>
          <a:solidFill>
            <a:srgbClr val="f7f2fa"/>
          </a:solidFill>
          <a:ln w="9525">
            <a:solidFill>
              <a:srgbClr val="e2ddea"/>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91" name="Text 22"/>
          <p:cNvSpPr/>
          <p:nvPr/>
        </p:nvSpPr>
        <p:spPr>
          <a:xfrm>
            <a:off x="8211240" y="1801440"/>
            <a:ext cx="3245760" cy="2739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250" spc="-1" strike="noStrike">
                <a:solidFill>
                  <a:srgbClr val="0a7d43"/>
                </a:solidFill>
                <a:latin typeface="Calibri"/>
                <a:ea typeface="Calibri"/>
              </a:rPr>
              <a:t>3  Button gone → focus the first NEW pill</a:t>
            </a:r>
            <a:endParaRPr b="0" lang="en-US" sz="1250" spc="-1" strike="noStrike">
              <a:solidFill>
                <a:srgbClr val="000000"/>
              </a:solidFill>
              <a:latin typeface="Arial"/>
            </a:endParaRPr>
          </a:p>
        </p:txBody>
      </p:sp>
      <p:sp>
        <p:nvSpPr>
          <p:cNvPr id="392" name="Shape 23"/>
          <p:cNvSpPr/>
          <p:nvPr/>
        </p:nvSpPr>
        <p:spPr>
          <a:xfrm>
            <a:off x="8211240" y="2194560"/>
            <a:ext cx="662760" cy="328680"/>
          </a:xfrm>
          <a:prstGeom prst="roundRect">
            <a:avLst>
              <a:gd name="adj" fmla="val 50000"/>
            </a:avLst>
          </a:prstGeom>
          <a:solidFill>
            <a:srgbClr val="ffffff"/>
          </a:solidFill>
          <a:ln w="12700">
            <a:solidFill>
              <a:srgbClr val="5b3fd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93" name="Text 24"/>
          <p:cNvSpPr/>
          <p:nvPr/>
        </p:nvSpPr>
        <p:spPr>
          <a:xfrm>
            <a:off x="8211240" y="2194560"/>
            <a:ext cx="66276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100" spc="-1" strike="noStrike">
                <a:solidFill>
                  <a:srgbClr val="5b3fd6"/>
                </a:solidFill>
                <a:latin typeface="Calibri"/>
                <a:ea typeface="Calibri"/>
              </a:rPr>
              <a:t>Ramps</a:t>
            </a:r>
            <a:endParaRPr b="0" lang="en-US" sz="1100" spc="-1" strike="noStrike">
              <a:solidFill>
                <a:srgbClr val="000000"/>
              </a:solidFill>
              <a:latin typeface="Arial"/>
            </a:endParaRPr>
          </a:p>
        </p:txBody>
      </p:sp>
      <p:sp>
        <p:nvSpPr>
          <p:cNvPr id="394" name="Shape 25"/>
          <p:cNvSpPr/>
          <p:nvPr/>
        </p:nvSpPr>
        <p:spPr>
          <a:xfrm>
            <a:off x="8984160" y="2194560"/>
            <a:ext cx="973440" cy="328680"/>
          </a:xfrm>
          <a:prstGeom prst="roundRect">
            <a:avLst>
              <a:gd name="adj" fmla="val 50000"/>
            </a:avLst>
          </a:prstGeom>
          <a:solidFill>
            <a:srgbClr val="ffffff"/>
          </a:solidFill>
          <a:ln w="12700">
            <a:solidFill>
              <a:srgbClr val="5b3fd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95" name="Text 26"/>
          <p:cNvSpPr/>
          <p:nvPr/>
        </p:nvSpPr>
        <p:spPr>
          <a:xfrm>
            <a:off x="8984160" y="2194560"/>
            <a:ext cx="97344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100" spc="-1" strike="noStrike">
                <a:solidFill>
                  <a:srgbClr val="5b3fd6"/>
                </a:solidFill>
                <a:latin typeface="Calibri"/>
                <a:ea typeface="Calibri"/>
              </a:rPr>
              <a:t>Curb cuts</a:t>
            </a:r>
            <a:endParaRPr b="0" lang="en-US" sz="1100" spc="-1" strike="noStrike">
              <a:solidFill>
                <a:srgbClr val="000000"/>
              </a:solidFill>
              <a:latin typeface="Arial"/>
            </a:endParaRPr>
          </a:p>
        </p:txBody>
      </p:sp>
      <p:sp>
        <p:nvSpPr>
          <p:cNvPr id="396" name="Shape 27"/>
          <p:cNvSpPr/>
          <p:nvPr/>
        </p:nvSpPr>
        <p:spPr>
          <a:xfrm>
            <a:off x="10067400" y="2194560"/>
            <a:ext cx="973440" cy="328680"/>
          </a:xfrm>
          <a:prstGeom prst="roundRect">
            <a:avLst>
              <a:gd name="adj" fmla="val 50000"/>
            </a:avLst>
          </a:prstGeom>
          <a:solidFill>
            <a:srgbClr val="ffffff"/>
          </a:solidFill>
          <a:ln w="12700">
            <a:solidFill>
              <a:srgbClr val="5b3fd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97" name="Text 28"/>
          <p:cNvSpPr/>
          <p:nvPr/>
        </p:nvSpPr>
        <p:spPr>
          <a:xfrm>
            <a:off x="10067400" y="2194560"/>
            <a:ext cx="97344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100" spc="-1" strike="noStrike">
                <a:solidFill>
                  <a:srgbClr val="5b3fd6"/>
                </a:solidFill>
                <a:latin typeface="Calibri"/>
                <a:ea typeface="Calibri"/>
              </a:rPr>
              <a:t>Handrails</a:t>
            </a:r>
            <a:endParaRPr b="0" lang="en-US" sz="1100" spc="-1" strike="noStrike">
              <a:solidFill>
                <a:srgbClr val="000000"/>
              </a:solidFill>
              <a:latin typeface="Arial"/>
            </a:endParaRPr>
          </a:p>
        </p:txBody>
      </p:sp>
      <p:sp>
        <p:nvSpPr>
          <p:cNvPr id="398" name="Shape 29"/>
          <p:cNvSpPr/>
          <p:nvPr/>
        </p:nvSpPr>
        <p:spPr>
          <a:xfrm>
            <a:off x="10021680" y="2148840"/>
            <a:ext cx="1064880" cy="420120"/>
          </a:xfrm>
          <a:prstGeom prst="rect">
            <a:avLst/>
          </a:prstGeom>
          <a:noFill/>
          <a:ln w="34925">
            <a:solidFill>
              <a:srgbClr val="1a73e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99" name="Shape 30"/>
          <p:cNvSpPr/>
          <p:nvPr/>
        </p:nvSpPr>
        <p:spPr>
          <a:xfrm>
            <a:off x="8211240" y="2606040"/>
            <a:ext cx="662760" cy="328680"/>
          </a:xfrm>
          <a:prstGeom prst="roundRect">
            <a:avLst>
              <a:gd name="adj" fmla="val 50000"/>
            </a:avLst>
          </a:prstGeom>
          <a:solidFill>
            <a:srgbClr val="ffffff"/>
          </a:solidFill>
          <a:ln w="12700">
            <a:solidFill>
              <a:srgbClr val="5b3fd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00" name="Text 31"/>
          <p:cNvSpPr/>
          <p:nvPr/>
        </p:nvSpPr>
        <p:spPr>
          <a:xfrm>
            <a:off x="8211240" y="2606040"/>
            <a:ext cx="66276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100" spc="-1" strike="noStrike">
                <a:solidFill>
                  <a:srgbClr val="5b3fd6"/>
                </a:solidFill>
                <a:latin typeface="Calibri"/>
                <a:ea typeface="Calibri"/>
              </a:rPr>
              <a:t>Lifts</a:t>
            </a:r>
            <a:endParaRPr b="0" lang="en-US" sz="1100" spc="-1" strike="noStrike">
              <a:solidFill>
                <a:srgbClr val="000000"/>
              </a:solidFill>
              <a:latin typeface="Arial"/>
            </a:endParaRPr>
          </a:p>
        </p:txBody>
      </p:sp>
      <p:sp>
        <p:nvSpPr>
          <p:cNvPr id="401" name="Shape 32"/>
          <p:cNvSpPr/>
          <p:nvPr/>
        </p:nvSpPr>
        <p:spPr>
          <a:xfrm>
            <a:off x="548640" y="3291840"/>
            <a:ext cx="6400440" cy="3291480"/>
          </a:xfrm>
          <a:prstGeom prst="roundRect">
            <a:avLst>
              <a:gd name="adj" fmla="val 3333"/>
            </a:avLst>
          </a:prstGeom>
          <a:solidFill>
            <a:srgbClr val="182235"/>
          </a:solidFill>
          <a:ln w="12700">
            <a:solidFill>
              <a:srgbClr val="18223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02" name="Text 33"/>
          <p:cNvSpPr/>
          <p:nvPr/>
        </p:nvSpPr>
        <p:spPr>
          <a:xfrm>
            <a:off x="777240" y="3493080"/>
            <a:ext cx="6034680" cy="2971440"/>
          </a:xfrm>
          <a:prstGeom prst="rect">
            <a:avLst/>
          </a:prstGeom>
          <a:noFill/>
          <a:ln w="0">
            <a:noFill/>
          </a:ln>
        </p:spPr>
        <p:style>
          <a:lnRef idx="0"/>
          <a:fillRef idx="0"/>
          <a:effectRef idx="0"/>
          <a:fontRef idx="minor"/>
        </p:style>
        <p:txBody>
          <a:bodyPr lIns="0" rIns="0" tIns="0" bIns="0" anchor="t">
            <a:noAutofit/>
          </a:bodyPr>
          <a:p>
            <a:pPr defTabSz="914400">
              <a:lnSpc>
                <a:spcPct val="105000"/>
              </a:lnSpc>
              <a:tabLst>
                <a:tab algn="l" pos="0"/>
              </a:tabLst>
            </a:pPr>
            <a:r>
              <a:rPr b="0" lang="en-US" sz="1250" spc="-1" strike="noStrike">
                <a:solidFill>
                  <a:srgbClr val="8ab4f8"/>
                </a:solidFill>
                <a:latin typeface="Consolas"/>
                <a:ea typeface="Consolas"/>
              </a:rPr>
              <a:t>LaunchedEffect</a:t>
            </a:r>
            <a:r>
              <a:rPr b="0" lang="en-US" sz="1250" spc="-1" strike="noStrike">
                <a:solidFill>
                  <a:srgbClr val="dce3ec"/>
                </a:solidFill>
                <a:latin typeface="Consolas"/>
                <a:ea typeface="Consolas"/>
              </a:rPr>
              <a:t>(shouldRequestFocus) {</a:t>
            </a:r>
            <a:endParaRPr b="0" lang="en-US" sz="1250" spc="-1" strike="noStrike">
              <a:solidFill>
                <a:srgbClr val="000000"/>
              </a:solidFill>
              <a:latin typeface="Arial"/>
            </a:endParaRPr>
          </a:p>
          <a:p>
            <a:pPr defTabSz="914400">
              <a:lnSpc>
                <a:spcPct val="105000"/>
              </a:lnSpc>
              <a:tabLst>
                <a:tab algn="l" pos="0"/>
              </a:tabLst>
            </a:pPr>
            <a:r>
              <a:rPr b="0" lang="en-US" sz="1250" spc="-1" strike="noStrike">
                <a:solidFill>
                  <a:srgbClr val="dce3ec"/>
                </a:solidFill>
                <a:latin typeface="Consolas"/>
                <a:ea typeface="Consolas"/>
              </a:rPr>
              <a:t>    </a:t>
            </a:r>
            <a:r>
              <a:rPr b="0" lang="en-US" sz="1250" spc="-1" strike="noStrike">
                <a:solidFill>
                  <a:srgbClr val="ff8fc7"/>
                </a:solidFill>
                <a:latin typeface="Consolas"/>
                <a:ea typeface="Consolas"/>
              </a:rPr>
              <a:t>if</a:t>
            </a:r>
            <a:r>
              <a:rPr b="0" lang="en-US" sz="1250" spc="-1" strike="noStrike">
                <a:solidFill>
                  <a:srgbClr val="dce3ec"/>
                </a:solidFill>
                <a:latin typeface="Consolas"/>
                <a:ea typeface="Consolas"/>
              </a:rPr>
              <a:t> (shouldRequestFocus) {</a:t>
            </a:r>
            <a:endParaRPr b="0" lang="en-US" sz="1250" spc="-1" strike="noStrike">
              <a:solidFill>
                <a:srgbClr val="000000"/>
              </a:solidFill>
              <a:latin typeface="Arial"/>
            </a:endParaRPr>
          </a:p>
          <a:p>
            <a:pPr defTabSz="914400">
              <a:lnSpc>
                <a:spcPct val="105000"/>
              </a:lnSpc>
              <a:tabLst>
                <a:tab algn="l" pos="0"/>
              </a:tabLst>
            </a:pPr>
            <a:r>
              <a:rPr b="0" lang="en-US" sz="1250" spc="-1" strike="noStrike">
                <a:solidFill>
                  <a:srgbClr val="dce3ec"/>
                </a:solidFill>
                <a:latin typeface="Consolas"/>
                <a:ea typeface="Consolas"/>
              </a:rPr>
              <a:t>        </a:t>
            </a:r>
            <a:r>
              <a:rPr b="0" lang="en-US" sz="1250" spc="-1" strike="noStrike">
                <a:solidFill>
                  <a:srgbClr val="dce3ec"/>
                </a:solidFill>
                <a:latin typeface="Consolas"/>
                <a:ea typeface="Consolas"/>
              </a:rPr>
              <a:t>isTalkBackFocused = </a:t>
            </a:r>
            <a:r>
              <a:rPr b="0" lang="en-US" sz="1250" spc="-1" strike="noStrike">
                <a:solidFill>
                  <a:srgbClr val="ff8fc7"/>
                </a:solidFill>
                <a:latin typeface="Consolas"/>
                <a:ea typeface="Consolas"/>
              </a:rPr>
              <a:t>false</a:t>
            </a:r>
            <a:endParaRPr b="0" lang="en-US" sz="1250" spc="-1" strike="noStrike">
              <a:solidFill>
                <a:srgbClr val="000000"/>
              </a:solidFill>
              <a:latin typeface="Arial"/>
            </a:endParaRPr>
          </a:p>
          <a:p>
            <a:pPr defTabSz="914400">
              <a:lnSpc>
                <a:spcPct val="105000"/>
              </a:lnSpc>
              <a:tabLst>
                <a:tab algn="l" pos="0"/>
              </a:tabLst>
            </a:pPr>
            <a:r>
              <a:rPr b="0" lang="en-US" sz="1250" spc="-1" strike="noStrike">
                <a:solidFill>
                  <a:srgbClr val="dce3ec"/>
                </a:solidFill>
                <a:latin typeface="Consolas"/>
                <a:ea typeface="Consolas"/>
              </a:rPr>
              <a:t>        </a:t>
            </a:r>
            <a:r>
              <a:rPr b="1" lang="en-US" sz="1250" spc="-1" strike="noStrike">
                <a:solidFill>
                  <a:srgbClr val="3ddc84"/>
                </a:solidFill>
                <a:latin typeface="Consolas"/>
                <a:ea typeface="Consolas"/>
              </a:rPr>
              <a:t>withFrameNanos</a:t>
            </a:r>
            <a:r>
              <a:rPr b="0" lang="en-US" sz="1250" spc="-1" strike="noStrike">
                <a:solidFill>
                  <a:srgbClr val="dce3ec"/>
                </a:solidFill>
                <a:latin typeface="Consolas"/>
                <a:ea typeface="Consolas"/>
              </a:rPr>
              <a:t> { }            </a:t>
            </a:r>
            <a:r>
              <a:rPr b="0" i="1" lang="en-US" sz="1250" spc="-1" strike="noStrike">
                <a:solidFill>
                  <a:srgbClr val="8b98ad"/>
                </a:solidFill>
                <a:latin typeface="Consolas"/>
                <a:ea typeface="Consolas"/>
              </a:rPr>
              <a:t>// wait for the new node</a:t>
            </a:r>
            <a:endParaRPr b="0" lang="en-US" sz="1250" spc="-1" strike="noStrike">
              <a:solidFill>
                <a:srgbClr val="000000"/>
              </a:solidFill>
              <a:latin typeface="Arial"/>
            </a:endParaRPr>
          </a:p>
          <a:p>
            <a:pPr defTabSz="914400">
              <a:lnSpc>
                <a:spcPct val="105000"/>
              </a:lnSpc>
              <a:tabLst>
                <a:tab algn="l" pos="0"/>
              </a:tabLst>
            </a:pPr>
            <a:r>
              <a:rPr b="0" lang="en-US" sz="1250" spc="-1" strike="noStrike">
                <a:solidFill>
                  <a:srgbClr val="dce3ec"/>
                </a:solidFill>
                <a:latin typeface="Consolas"/>
                <a:ea typeface="Consolas"/>
              </a:rPr>
              <a:t>        </a:t>
            </a:r>
            <a:r>
              <a:rPr b="0" lang="en-US" sz="1250" spc="-1" strike="noStrike">
                <a:solidFill>
                  <a:srgbClr val="dce3ec"/>
                </a:solidFill>
                <a:latin typeface="Consolas"/>
                <a:ea typeface="Consolas"/>
              </a:rPr>
              <a:t>isTalkBackFocused = </a:t>
            </a:r>
            <a:r>
              <a:rPr b="0" lang="en-US" sz="1250" spc="-1" strike="noStrike">
                <a:solidFill>
                  <a:srgbClr val="ff8fc7"/>
                </a:solidFill>
                <a:latin typeface="Consolas"/>
                <a:ea typeface="Consolas"/>
              </a:rPr>
              <a:t>true</a:t>
            </a:r>
            <a:r>
              <a:rPr b="0" lang="en-US" sz="1250" spc="-1" strike="noStrike">
                <a:solidFill>
                  <a:srgbClr val="dce3ec"/>
                </a:solidFill>
                <a:latin typeface="Consolas"/>
                <a:ea typeface="Consolas"/>
              </a:rPr>
              <a:t>      </a:t>
            </a:r>
            <a:r>
              <a:rPr b="0" i="1" lang="en-US" sz="1250" spc="-1" strike="noStrike">
                <a:solidFill>
                  <a:srgbClr val="8b98ad"/>
                </a:solidFill>
                <a:latin typeface="Consolas"/>
                <a:ea typeface="Consolas"/>
              </a:rPr>
              <a:t>// TalkBack focus</a:t>
            </a:r>
            <a:endParaRPr b="0" lang="en-US" sz="1250" spc="-1" strike="noStrike">
              <a:solidFill>
                <a:srgbClr val="000000"/>
              </a:solidFill>
              <a:latin typeface="Arial"/>
            </a:endParaRPr>
          </a:p>
          <a:p>
            <a:pPr defTabSz="914400">
              <a:lnSpc>
                <a:spcPct val="105000"/>
              </a:lnSpc>
              <a:tabLst>
                <a:tab algn="l" pos="0"/>
              </a:tabLst>
            </a:pPr>
            <a:r>
              <a:rPr b="0" lang="en-US" sz="1250" spc="-1" strike="noStrike">
                <a:solidFill>
                  <a:srgbClr val="dce3ec"/>
                </a:solidFill>
                <a:latin typeface="Consolas"/>
                <a:ea typeface="Consolas"/>
              </a:rPr>
              <a:t>        </a:t>
            </a:r>
            <a:r>
              <a:rPr b="1" lang="en-US" sz="1250" spc="-1" strike="noStrike">
                <a:solidFill>
                  <a:srgbClr val="3ddc84"/>
                </a:solidFill>
                <a:latin typeface="Consolas"/>
                <a:ea typeface="Consolas"/>
              </a:rPr>
              <a:t>focusRequester</a:t>
            </a:r>
            <a:r>
              <a:rPr b="0" lang="en-US" sz="1250" spc="-1" strike="noStrike">
                <a:solidFill>
                  <a:srgbClr val="dce3ec"/>
                </a:solidFill>
                <a:latin typeface="Consolas"/>
                <a:ea typeface="Consolas"/>
              </a:rPr>
              <a:t>.</a:t>
            </a:r>
            <a:r>
              <a:rPr b="1" lang="en-US" sz="1250" spc="-1" strike="noStrike">
                <a:solidFill>
                  <a:srgbClr val="3ddc84"/>
                </a:solidFill>
                <a:latin typeface="Consolas"/>
                <a:ea typeface="Consolas"/>
              </a:rPr>
              <a:t>requestFocus</a:t>
            </a:r>
            <a:r>
              <a:rPr b="0" lang="en-US" sz="1250" spc="-1" strike="noStrike">
                <a:solidFill>
                  <a:srgbClr val="dce3ec"/>
                </a:solidFill>
                <a:latin typeface="Consolas"/>
                <a:ea typeface="Consolas"/>
              </a:rPr>
              <a:t>() </a:t>
            </a:r>
            <a:r>
              <a:rPr b="0" i="1" lang="en-US" sz="1250" spc="-1" strike="noStrike">
                <a:solidFill>
                  <a:srgbClr val="8b98ad"/>
                </a:solidFill>
                <a:latin typeface="Consolas"/>
                <a:ea typeface="Consolas"/>
              </a:rPr>
              <a:t>// keyboard / D-pad</a:t>
            </a:r>
            <a:endParaRPr b="0" lang="en-US" sz="1250" spc="-1" strike="noStrike">
              <a:solidFill>
                <a:srgbClr val="000000"/>
              </a:solidFill>
              <a:latin typeface="Arial"/>
            </a:endParaRPr>
          </a:p>
          <a:p>
            <a:pPr defTabSz="914400">
              <a:lnSpc>
                <a:spcPct val="105000"/>
              </a:lnSpc>
              <a:tabLst>
                <a:tab algn="l" pos="0"/>
              </a:tabLst>
            </a:pPr>
            <a:r>
              <a:rPr b="0" lang="en-US" sz="1250" spc="-1" strike="noStrike">
                <a:solidFill>
                  <a:srgbClr val="dce3ec"/>
                </a:solidFill>
                <a:latin typeface="Consolas"/>
                <a:ea typeface="Consolas"/>
              </a:rPr>
              <a:t>    </a:t>
            </a:r>
            <a:r>
              <a:rPr b="0" lang="en-US" sz="1250" spc="-1" strike="noStrike">
                <a:solidFill>
                  <a:srgbClr val="dce3ec"/>
                </a:solidFill>
                <a:latin typeface="Consolas"/>
                <a:ea typeface="Consolas"/>
              </a:rPr>
              <a:t>}</a:t>
            </a:r>
            <a:endParaRPr b="0" lang="en-US" sz="1250" spc="-1" strike="noStrike">
              <a:solidFill>
                <a:srgbClr val="000000"/>
              </a:solidFill>
              <a:latin typeface="Arial"/>
            </a:endParaRPr>
          </a:p>
          <a:p>
            <a:pPr defTabSz="914400">
              <a:lnSpc>
                <a:spcPct val="105000"/>
              </a:lnSpc>
              <a:tabLst>
                <a:tab algn="l" pos="0"/>
              </a:tabLst>
            </a:pPr>
            <a:r>
              <a:rPr b="0" lang="en-US" sz="1250" spc="-1" strike="noStrike">
                <a:solidFill>
                  <a:srgbClr val="dce3ec"/>
                </a:solidFill>
                <a:latin typeface="Consolas"/>
                <a:ea typeface="Consolas"/>
              </a:rPr>
              <a:t>}</a:t>
            </a:r>
            <a:endParaRPr b="0" lang="en-US" sz="1250" spc="-1" strike="noStrike">
              <a:solidFill>
                <a:srgbClr val="000000"/>
              </a:solidFill>
              <a:latin typeface="Arial"/>
            </a:endParaRPr>
          </a:p>
          <a:p>
            <a:pPr defTabSz="914400">
              <a:lnSpc>
                <a:spcPct val="105000"/>
              </a:lnSpc>
              <a:tabLst>
                <a:tab algn="l" pos="0"/>
              </a:tabLst>
            </a:pPr>
            <a:r>
              <a:rPr b="0" lang="en-US" sz="1250" spc="-1" strike="noStrike">
                <a:solidFill>
                  <a:srgbClr val="8ab4f8"/>
                </a:solidFill>
                <a:latin typeface="Consolas"/>
                <a:ea typeface="Consolas"/>
              </a:rPr>
              <a:t>OutlinedButton</a:t>
            </a:r>
            <a:r>
              <a:rPr b="0" lang="en-US" sz="1250" spc="-1" strike="noStrike">
                <a:solidFill>
                  <a:srgbClr val="dce3ec"/>
                </a:solidFill>
                <a:latin typeface="Consolas"/>
                <a:ea typeface="Consolas"/>
              </a:rPr>
              <a:t>(</a:t>
            </a:r>
            <a:endParaRPr b="0" lang="en-US" sz="1250" spc="-1" strike="noStrike">
              <a:solidFill>
                <a:srgbClr val="000000"/>
              </a:solidFill>
              <a:latin typeface="Arial"/>
            </a:endParaRPr>
          </a:p>
          <a:p>
            <a:pPr defTabSz="914400">
              <a:lnSpc>
                <a:spcPct val="105000"/>
              </a:lnSpc>
              <a:tabLst>
                <a:tab algn="l" pos="0"/>
              </a:tabLst>
            </a:pPr>
            <a:r>
              <a:rPr b="0" lang="en-US" sz="1250" spc="-1" strike="noStrike">
                <a:solidFill>
                  <a:srgbClr val="dce3ec"/>
                </a:solidFill>
                <a:latin typeface="Consolas"/>
                <a:ea typeface="Consolas"/>
              </a:rPr>
              <a:t>    </a:t>
            </a:r>
            <a:r>
              <a:rPr b="0" lang="en-US" sz="1250" spc="-1" strike="noStrike">
                <a:solidFill>
                  <a:srgbClr val="dce3ec"/>
                </a:solidFill>
                <a:latin typeface="Consolas"/>
                <a:ea typeface="Consolas"/>
              </a:rPr>
              <a:t>onClick = { },</a:t>
            </a:r>
            <a:endParaRPr b="0" lang="en-US" sz="1250" spc="-1" strike="noStrike">
              <a:solidFill>
                <a:srgbClr val="000000"/>
              </a:solidFill>
              <a:latin typeface="Arial"/>
            </a:endParaRPr>
          </a:p>
          <a:p>
            <a:pPr defTabSz="914400">
              <a:lnSpc>
                <a:spcPct val="105000"/>
              </a:lnSpc>
              <a:tabLst>
                <a:tab algn="l" pos="0"/>
              </a:tabLst>
            </a:pPr>
            <a:r>
              <a:rPr b="0" lang="en-US" sz="1250" spc="-1" strike="noStrike">
                <a:solidFill>
                  <a:srgbClr val="dce3ec"/>
                </a:solidFill>
                <a:latin typeface="Consolas"/>
                <a:ea typeface="Consolas"/>
              </a:rPr>
              <a:t>    </a:t>
            </a:r>
            <a:r>
              <a:rPr b="0" lang="en-US" sz="1250" spc="-1" strike="noStrike">
                <a:solidFill>
                  <a:srgbClr val="dce3ec"/>
                </a:solidFill>
                <a:latin typeface="Consolas"/>
                <a:ea typeface="Consolas"/>
              </a:rPr>
              <a:t>modifier = </a:t>
            </a:r>
            <a:r>
              <a:rPr b="0" lang="en-US" sz="1250" spc="-1" strike="noStrike">
                <a:solidFill>
                  <a:srgbClr val="8ab4f8"/>
                </a:solidFill>
                <a:latin typeface="Consolas"/>
                <a:ea typeface="Consolas"/>
              </a:rPr>
              <a:t>Modifier</a:t>
            </a:r>
            <a:endParaRPr b="0" lang="en-US" sz="1250" spc="-1" strike="noStrike">
              <a:solidFill>
                <a:srgbClr val="000000"/>
              </a:solidFill>
              <a:latin typeface="Arial"/>
            </a:endParaRPr>
          </a:p>
          <a:p>
            <a:pPr defTabSz="914400">
              <a:lnSpc>
                <a:spcPct val="105000"/>
              </a:lnSpc>
              <a:tabLst>
                <a:tab algn="l" pos="0"/>
              </a:tabLst>
            </a:pPr>
            <a:r>
              <a:rPr b="0" lang="en-US" sz="1250" spc="-1" strike="noStrike">
                <a:solidFill>
                  <a:srgbClr val="dce3ec"/>
                </a:solidFill>
                <a:latin typeface="Consolas"/>
                <a:ea typeface="Consolas"/>
              </a:rPr>
              <a:t>        </a:t>
            </a:r>
            <a:r>
              <a:rPr b="0" lang="en-US" sz="1250" spc="-1" strike="noStrike">
                <a:solidFill>
                  <a:srgbClr val="dce3ec"/>
                </a:solidFill>
                <a:latin typeface="Consolas"/>
                <a:ea typeface="Consolas"/>
              </a:rPr>
              <a:t>.</a:t>
            </a:r>
            <a:r>
              <a:rPr b="1" lang="en-US" sz="1250" spc="-1" strike="noStrike">
                <a:solidFill>
                  <a:srgbClr val="3ddc84"/>
                </a:solidFill>
                <a:latin typeface="Consolas"/>
                <a:ea typeface="Consolas"/>
              </a:rPr>
              <a:t>focusRequester</a:t>
            </a:r>
            <a:r>
              <a:rPr b="0" lang="en-US" sz="1250" spc="-1" strike="noStrike">
                <a:solidFill>
                  <a:srgbClr val="dce3ec"/>
                </a:solidFill>
                <a:latin typeface="Consolas"/>
                <a:ea typeface="Consolas"/>
              </a:rPr>
              <a:t>(</a:t>
            </a:r>
            <a:r>
              <a:rPr b="1" lang="en-US" sz="1250" spc="-1" strike="noStrike">
                <a:solidFill>
                  <a:srgbClr val="3ddc84"/>
                </a:solidFill>
                <a:latin typeface="Consolas"/>
                <a:ea typeface="Consolas"/>
              </a:rPr>
              <a:t>focusRequester</a:t>
            </a:r>
            <a:r>
              <a:rPr b="0" lang="en-US" sz="1250" spc="-1" strike="noStrike">
                <a:solidFill>
                  <a:srgbClr val="dce3ec"/>
                </a:solidFill>
                <a:latin typeface="Consolas"/>
                <a:ea typeface="Consolas"/>
              </a:rPr>
              <a:t>)</a:t>
            </a:r>
            <a:endParaRPr b="0" lang="en-US" sz="1250" spc="-1" strike="noStrike">
              <a:solidFill>
                <a:srgbClr val="000000"/>
              </a:solidFill>
              <a:latin typeface="Arial"/>
            </a:endParaRPr>
          </a:p>
          <a:p>
            <a:pPr defTabSz="914400">
              <a:lnSpc>
                <a:spcPct val="105000"/>
              </a:lnSpc>
              <a:tabLst>
                <a:tab algn="l" pos="0"/>
              </a:tabLst>
            </a:pPr>
            <a:r>
              <a:rPr b="0" lang="en-US" sz="1250" spc="-1" strike="noStrike">
                <a:solidFill>
                  <a:srgbClr val="dce3ec"/>
                </a:solidFill>
                <a:latin typeface="Consolas"/>
                <a:ea typeface="Consolas"/>
              </a:rPr>
              <a:t>        </a:t>
            </a:r>
            <a:r>
              <a:rPr b="0" lang="en-US" sz="1250" spc="-1" strike="noStrike">
                <a:solidFill>
                  <a:srgbClr val="dce3ec"/>
                </a:solidFill>
                <a:latin typeface="Consolas"/>
                <a:ea typeface="Consolas"/>
              </a:rPr>
              <a:t>.</a:t>
            </a:r>
            <a:r>
              <a:rPr b="1" lang="en-US" sz="1250" spc="-1" strike="noStrike">
                <a:solidFill>
                  <a:srgbClr val="3ddc84"/>
                </a:solidFill>
                <a:latin typeface="Consolas"/>
                <a:ea typeface="Consolas"/>
              </a:rPr>
              <a:t>semantics</a:t>
            </a:r>
            <a:r>
              <a:rPr b="0" lang="en-US" sz="1250" spc="-1" strike="noStrike">
                <a:solidFill>
                  <a:srgbClr val="dce3ec"/>
                </a:solidFill>
                <a:latin typeface="Consolas"/>
                <a:ea typeface="Consolas"/>
              </a:rPr>
              <a:t> { </a:t>
            </a:r>
            <a:r>
              <a:rPr b="1" lang="en-US" sz="1250" spc="-1" strike="noStrike">
                <a:solidFill>
                  <a:srgbClr val="3ddc84"/>
                </a:solidFill>
                <a:latin typeface="Consolas"/>
                <a:ea typeface="Consolas"/>
              </a:rPr>
              <a:t>focused</a:t>
            </a:r>
            <a:r>
              <a:rPr b="0" lang="en-US" sz="1250" spc="-1" strike="noStrike">
                <a:solidFill>
                  <a:srgbClr val="dce3ec"/>
                </a:solidFill>
                <a:latin typeface="Consolas"/>
                <a:ea typeface="Consolas"/>
              </a:rPr>
              <a:t> = isTalkBackFocused },</a:t>
            </a:r>
            <a:endParaRPr b="0" lang="en-US" sz="1250" spc="-1" strike="noStrike">
              <a:solidFill>
                <a:srgbClr val="000000"/>
              </a:solidFill>
              <a:latin typeface="Arial"/>
            </a:endParaRPr>
          </a:p>
          <a:p>
            <a:pPr defTabSz="914400">
              <a:lnSpc>
                <a:spcPct val="105000"/>
              </a:lnSpc>
              <a:tabLst>
                <a:tab algn="l" pos="0"/>
              </a:tabLst>
            </a:pPr>
            <a:r>
              <a:rPr b="0" lang="en-US" sz="1250" spc="-1" strike="noStrike">
                <a:solidFill>
                  <a:srgbClr val="dce3ec"/>
                </a:solidFill>
                <a:latin typeface="Consolas"/>
                <a:ea typeface="Consolas"/>
              </a:rPr>
              <a:t>) { </a:t>
            </a:r>
            <a:r>
              <a:rPr b="0" lang="en-US" sz="1250" spc="-1" strike="noStrike">
                <a:solidFill>
                  <a:srgbClr val="8ab4f8"/>
                </a:solidFill>
                <a:latin typeface="Consolas"/>
                <a:ea typeface="Consolas"/>
              </a:rPr>
              <a:t>Text</a:t>
            </a:r>
            <a:r>
              <a:rPr b="0" lang="en-US" sz="1250" spc="-1" strike="noStrike">
                <a:solidFill>
                  <a:srgbClr val="dce3ec"/>
                </a:solidFill>
                <a:latin typeface="Consolas"/>
                <a:ea typeface="Consolas"/>
              </a:rPr>
              <a:t>(pill.label) }</a:t>
            </a:r>
            <a:endParaRPr b="0" lang="en-US" sz="1250" spc="-1" strike="noStrike">
              <a:solidFill>
                <a:srgbClr val="000000"/>
              </a:solidFill>
              <a:latin typeface="Arial"/>
            </a:endParaRPr>
          </a:p>
        </p:txBody>
      </p:sp>
      <p:sp>
        <p:nvSpPr>
          <p:cNvPr id="403" name="Text 34"/>
          <p:cNvSpPr/>
          <p:nvPr/>
        </p:nvSpPr>
        <p:spPr>
          <a:xfrm>
            <a:off x="5943600" y="3364920"/>
            <a:ext cx="868320" cy="200880"/>
          </a:xfrm>
          <a:prstGeom prst="rect">
            <a:avLst/>
          </a:prstGeom>
          <a:noFill/>
          <a:ln w="0">
            <a:noFill/>
          </a:ln>
        </p:spPr>
        <p:style>
          <a:lnRef idx="0"/>
          <a:fillRef idx="0"/>
          <a:effectRef idx="0"/>
          <a:fontRef idx="minor"/>
        </p:style>
        <p:txBody>
          <a:bodyPr lIns="0" rIns="0" tIns="0" bIns="0" anchor="t">
            <a:noAutofit/>
          </a:bodyPr>
          <a:p>
            <a:pPr algn="r" defTabSz="914400">
              <a:lnSpc>
                <a:spcPct val="100000"/>
              </a:lnSpc>
              <a:tabLst>
                <a:tab algn="l" pos="0"/>
              </a:tabLst>
            </a:pPr>
            <a:r>
              <a:rPr b="0" lang="en-US" sz="900" spc="-1" strike="noStrike">
                <a:solidFill>
                  <a:srgbClr val="6f7d93"/>
                </a:solidFill>
                <a:latin typeface="Calibri"/>
                <a:ea typeface="Calibri"/>
              </a:rPr>
              <a:t>Kotlin</a:t>
            </a:r>
            <a:endParaRPr b="0" lang="en-US" sz="900" spc="-1" strike="noStrike">
              <a:solidFill>
                <a:srgbClr val="000000"/>
              </a:solidFill>
              <a:latin typeface="Arial"/>
            </a:endParaRPr>
          </a:p>
        </p:txBody>
      </p:sp>
      <p:sp>
        <p:nvSpPr>
          <p:cNvPr id="404" name="Shape 35"/>
          <p:cNvSpPr/>
          <p:nvPr/>
        </p:nvSpPr>
        <p:spPr>
          <a:xfrm>
            <a:off x="7223760" y="3291840"/>
            <a:ext cx="4388760" cy="987120"/>
          </a:xfrm>
          <a:prstGeom prst="roundRect">
            <a:avLst>
              <a:gd name="adj" fmla="val 9259"/>
            </a:avLst>
          </a:prstGeom>
          <a:solidFill>
            <a:srgbClr val="f3f5f8"/>
          </a:solidFill>
          <a:ln w="12700">
            <a:solidFill>
              <a:srgbClr val="f3f5f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05" name="Text 36"/>
          <p:cNvSpPr/>
          <p:nvPr/>
        </p:nvSpPr>
        <p:spPr>
          <a:xfrm>
            <a:off x="7406640" y="3401640"/>
            <a:ext cx="4023000" cy="2923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250" spc="-1" strike="noStrike">
                <a:solidFill>
                  <a:srgbClr val="5b3fd6"/>
                </a:solidFill>
                <a:latin typeface="Consolas"/>
                <a:ea typeface="Consolas"/>
              </a:rPr>
              <a:t>semantics { focused }</a:t>
            </a:r>
            <a:endParaRPr b="0" lang="en-US" sz="1250" spc="-1" strike="noStrike">
              <a:solidFill>
                <a:srgbClr val="000000"/>
              </a:solidFill>
              <a:latin typeface="Arial"/>
            </a:endParaRPr>
          </a:p>
        </p:txBody>
      </p:sp>
      <p:sp>
        <p:nvSpPr>
          <p:cNvPr id="406" name="Text 37"/>
          <p:cNvSpPr/>
          <p:nvPr/>
        </p:nvSpPr>
        <p:spPr>
          <a:xfrm>
            <a:off x="7406640" y="3721680"/>
            <a:ext cx="4023000" cy="5025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200" spc="-1" strike="noStrike">
                <a:solidFill>
                  <a:srgbClr val="1b2330"/>
                </a:solidFill>
                <a:latin typeface="Calibri"/>
                <a:ea typeface="Calibri"/>
              </a:rPr>
              <a:t>Accessibility (TalkBack) focus</a:t>
            </a:r>
            <a:endParaRPr b="0" lang="en-US" sz="1200" spc="-1" strike="noStrike">
              <a:solidFill>
                <a:srgbClr val="000000"/>
              </a:solidFill>
              <a:latin typeface="Arial"/>
            </a:endParaRPr>
          </a:p>
        </p:txBody>
      </p:sp>
      <p:sp>
        <p:nvSpPr>
          <p:cNvPr id="407" name="Shape 38"/>
          <p:cNvSpPr/>
          <p:nvPr/>
        </p:nvSpPr>
        <p:spPr>
          <a:xfrm>
            <a:off x="7223760" y="4407480"/>
            <a:ext cx="4388760" cy="987120"/>
          </a:xfrm>
          <a:prstGeom prst="roundRect">
            <a:avLst>
              <a:gd name="adj" fmla="val 9259"/>
            </a:avLst>
          </a:prstGeom>
          <a:solidFill>
            <a:srgbClr val="f3f5f8"/>
          </a:solidFill>
          <a:ln w="12700">
            <a:solidFill>
              <a:srgbClr val="f3f5f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08" name="Text 39"/>
          <p:cNvSpPr/>
          <p:nvPr/>
        </p:nvSpPr>
        <p:spPr>
          <a:xfrm>
            <a:off x="7406640" y="4517280"/>
            <a:ext cx="4023000" cy="2923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250" spc="-1" strike="noStrike">
                <a:solidFill>
                  <a:srgbClr val="5b3fd6"/>
                </a:solidFill>
                <a:latin typeface="Consolas"/>
                <a:ea typeface="Consolas"/>
              </a:rPr>
              <a:t>FocusRequester / FocusManager</a:t>
            </a:r>
            <a:endParaRPr b="0" lang="en-US" sz="1250" spc="-1" strike="noStrike">
              <a:solidFill>
                <a:srgbClr val="000000"/>
              </a:solidFill>
              <a:latin typeface="Arial"/>
            </a:endParaRPr>
          </a:p>
        </p:txBody>
      </p:sp>
      <p:sp>
        <p:nvSpPr>
          <p:cNvPr id="409" name="Text 40"/>
          <p:cNvSpPr/>
          <p:nvPr/>
        </p:nvSpPr>
        <p:spPr>
          <a:xfrm>
            <a:off x="7406640" y="4837320"/>
            <a:ext cx="4023000" cy="5025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200" spc="-1" strike="noStrike">
                <a:solidFill>
                  <a:srgbClr val="1b2330"/>
                </a:solidFill>
                <a:latin typeface="Calibri"/>
                <a:ea typeface="Calibri"/>
              </a:rPr>
              <a:t>Keyboard, D-pad, input focus — may move TalkBack as a side effect</a:t>
            </a:r>
            <a:endParaRPr b="0" lang="en-US" sz="1200" spc="-1" strike="noStrike">
              <a:solidFill>
                <a:srgbClr val="000000"/>
              </a:solidFill>
              <a:latin typeface="Arial"/>
            </a:endParaRPr>
          </a:p>
        </p:txBody>
      </p:sp>
      <p:sp>
        <p:nvSpPr>
          <p:cNvPr id="410" name="Shape 41"/>
          <p:cNvSpPr/>
          <p:nvPr/>
        </p:nvSpPr>
        <p:spPr>
          <a:xfrm>
            <a:off x="7223760" y="5523120"/>
            <a:ext cx="4388760" cy="987120"/>
          </a:xfrm>
          <a:prstGeom prst="roundRect">
            <a:avLst>
              <a:gd name="adj" fmla="val 9259"/>
            </a:avLst>
          </a:prstGeom>
          <a:solidFill>
            <a:srgbClr val="f3f5f8"/>
          </a:solidFill>
          <a:ln w="12700">
            <a:solidFill>
              <a:srgbClr val="f3f5f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11" name="Text 42"/>
          <p:cNvSpPr/>
          <p:nvPr/>
        </p:nvSpPr>
        <p:spPr>
          <a:xfrm>
            <a:off x="7406640" y="5632560"/>
            <a:ext cx="4023000" cy="2923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250" spc="-1" strike="noStrike">
                <a:solidFill>
                  <a:srgbClr val="5b3fd6"/>
                </a:solidFill>
                <a:latin typeface="Consolas"/>
                <a:ea typeface="Consolas"/>
              </a:rPr>
              <a:t>Modifier.focusable()</a:t>
            </a:r>
            <a:endParaRPr b="0" lang="en-US" sz="1250" spc="-1" strike="noStrike">
              <a:solidFill>
                <a:srgbClr val="000000"/>
              </a:solidFill>
              <a:latin typeface="Arial"/>
            </a:endParaRPr>
          </a:p>
        </p:txBody>
      </p:sp>
      <p:sp>
        <p:nvSpPr>
          <p:cNvPr id="412" name="Text 43"/>
          <p:cNvSpPr/>
          <p:nvPr/>
        </p:nvSpPr>
        <p:spPr>
          <a:xfrm>
            <a:off x="7406640" y="5952600"/>
            <a:ext cx="4023000" cy="5025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200" spc="-1" strike="noStrike">
                <a:solidFill>
                  <a:srgbClr val="1b2330"/>
                </a:solidFill>
                <a:latin typeface="Calibri"/>
                <a:ea typeface="Calibri"/>
              </a:rPr>
              <a:t>Makes non-focusable things reachable by keyboard and touch-to-explore</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13" name="Text 0"/>
          <p:cNvSpPr/>
          <p:nvPr/>
        </p:nvSpPr>
        <p:spPr>
          <a:xfrm>
            <a:off x="548640" y="502920"/>
            <a:ext cx="11063880" cy="7311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3200" spc="-1" strike="noStrike">
                <a:solidFill>
                  <a:srgbClr val="1b2330"/>
                </a:solidFill>
                <a:latin typeface="Arial"/>
                <a:ea typeface="Arial"/>
              </a:rPr>
              <a:t>Verify before you ship</a:t>
            </a:r>
            <a:endParaRPr b="0" lang="en-US" sz="3200" spc="-1" strike="noStrike">
              <a:solidFill>
                <a:srgbClr val="000000"/>
              </a:solidFill>
              <a:latin typeface="Arial"/>
            </a:endParaRPr>
          </a:p>
        </p:txBody>
      </p:sp>
      <p:sp>
        <p:nvSpPr>
          <p:cNvPr id="414" name="Shape 1"/>
          <p:cNvSpPr/>
          <p:nvPr/>
        </p:nvSpPr>
        <p:spPr>
          <a:xfrm>
            <a:off x="548640" y="1417320"/>
            <a:ext cx="685440" cy="685440"/>
          </a:xfrm>
          <a:prstGeom prst="ellipse">
            <a:avLst/>
          </a:prstGeom>
          <a:solidFill>
            <a:srgbClr val="eeeafb"/>
          </a:solidFill>
          <a:ln w="12700">
            <a:solidFill>
              <a:srgbClr val="eeeaf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415" name="Image 0" descr="preencoded.png"/>
          <p:cNvPicPr/>
          <p:nvPr/>
        </p:nvPicPr>
        <p:blipFill>
          <a:blip r:embed="rId1"/>
          <a:stretch/>
        </p:blipFill>
        <p:spPr>
          <a:xfrm>
            <a:off x="699480" y="1568160"/>
            <a:ext cx="383760" cy="383760"/>
          </a:xfrm>
          <a:prstGeom prst="rect">
            <a:avLst/>
          </a:prstGeom>
          <a:ln w="0">
            <a:noFill/>
          </a:ln>
        </p:spPr>
      </p:pic>
      <p:sp>
        <p:nvSpPr>
          <p:cNvPr id="416" name="Text 2"/>
          <p:cNvSpPr/>
          <p:nvPr/>
        </p:nvSpPr>
        <p:spPr>
          <a:xfrm>
            <a:off x="1463040" y="1417320"/>
            <a:ext cx="4205880" cy="3470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700" spc="-1" strike="noStrike">
                <a:solidFill>
                  <a:srgbClr val="1b2330"/>
                </a:solidFill>
                <a:latin typeface="Calibri"/>
                <a:ea typeface="Calibri"/>
              </a:rPr>
              <a:t>Layout Inspector</a:t>
            </a:r>
            <a:endParaRPr b="0" lang="en-US" sz="1700" spc="-1" strike="noStrike">
              <a:solidFill>
                <a:srgbClr val="000000"/>
              </a:solidFill>
              <a:latin typeface="Arial"/>
            </a:endParaRPr>
          </a:p>
        </p:txBody>
      </p:sp>
      <p:sp>
        <p:nvSpPr>
          <p:cNvPr id="417" name="Text 3"/>
          <p:cNvSpPr/>
          <p:nvPr/>
        </p:nvSpPr>
        <p:spPr>
          <a:xfrm>
            <a:off x="1463040" y="1801440"/>
            <a:ext cx="4205880" cy="8683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350" spc="-1" strike="noStrike">
                <a:solidFill>
                  <a:srgbClr val="5b6472"/>
                </a:solidFill>
                <a:latin typeface="Calibri"/>
                <a:ea typeface="Calibri"/>
              </a:rPr>
              <a:t>See merged vs declared semantics for any node — is the contentDescription really there?</a:t>
            </a:r>
            <a:endParaRPr b="0" lang="en-US" sz="1350" spc="-1" strike="noStrike">
              <a:solidFill>
                <a:srgbClr val="000000"/>
              </a:solidFill>
              <a:latin typeface="Arial"/>
            </a:endParaRPr>
          </a:p>
        </p:txBody>
      </p:sp>
      <p:sp>
        <p:nvSpPr>
          <p:cNvPr id="418" name="Shape 4"/>
          <p:cNvSpPr/>
          <p:nvPr/>
        </p:nvSpPr>
        <p:spPr>
          <a:xfrm>
            <a:off x="548640" y="2926080"/>
            <a:ext cx="685440" cy="685440"/>
          </a:xfrm>
          <a:prstGeom prst="ellipse">
            <a:avLst/>
          </a:prstGeom>
          <a:solidFill>
            <a:srgbClr val="eeeafb"/>
          </a:solidFill>
          <a:ln w="12700">
            <a:solidFill>
              <a:srgbClr val="eeeaf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419" name="Image 1" descr="preencoded.png"/>
          <p:cNvPicPr/>
          <p:nvPr/>
        </p:nvPicPr>
        <p:blipFill>
          <a:blip r:embed="rId2"/>
          <a:stretch/>
        </p:blipFill>
        <p:spPr>
          <a:xfrm>
            <a:off x="699480" y="3076920"/>
            <a:ext cx="383760" cy="383760"/>
          </a:xfrm>
          <a:prstGeom prst="rect">
            <a:avLst/>
          </a:prstGeom>
          <a:ln w="0">
            <a:noFill/>
          </a:ln>
        </p:spPr>
      </p:pic>
      <p:sp>
        <p:nvSpPr>
          <p:cNvPr id="420" name="Text 5"/>
          <p:cNvSpPr/>
          <p:nvPr/>
        </p:nvSpPr>
        <p:spPr>
          <a:xfrm>
            <a:off x="1463040" y="2926080"/>
            <a:ext cx="4205880" cy="3470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700" spc="-1" strike="noStrike">
                <a:solidFill>
                  <a:srgbClr val="1b2330"/>
                </a:solidFill>
                <a:latin typeface="Calibri"/>
                <a:ea typeface="Calibri"/>
              </a:rPr>
              <a:t>TalkBack + “Display speech output”</a:t>
            </a:r>
            <a:endParaRPr b="0" lang="en-US" sz="1700" spc="-1" strike="noStrike">
              <a:solidFill>
                <a:srgbClr val="000000"/>
              </a:solidFill>
              <a:latin typeface="Arial"/>
            </a:endParaRPr>
          </a:p>
        </p:txBody>
      </p:sp>
      <p:sp>
        <p:nvSpPr>
          <p:cNvPr id="421" name="Text 6"/>
          <p:cNvSpPr/>
          <p:nvPr/>
        </p:nvSpPr>
        <p:spPr>
          <a:xfrm>
            <a:off x="1463040" y="3310200"/>
            <a:ext cx="4205880" cy="8683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350" spc="-1" strike="noStrike">
                <a:solidFill>
                  <a:srgbClr val="5b6472"/>
                </a:solidFill>
                <a:latin typeface="Calibri"/>
                <a:ea typeface="Calibri"/>
              </a:rPr>
              <a:t>TalkBack › Advanced › Developer settings. Every announcement appears as a caption — great for demos and screenshots.</a:t>
            </a:r>
            <a:endParaRPr b="0" lang="en-US" sz="1350" spc="-1" strike="noStrike">
              <a:solidFill>
                <a:srgbClr val="000000"/>
              </a:solidFill>
              <a:latin typeface="Arial"/>
            </a:endParaRPr>
          </a:p>
        </p:txBody>
      </p:sp>
      <p:sp>
        <p:nvSpPr>
          <p:cNvPr id="422" name="Shape 7"/>
          <p:cNvSpPr/>
          <p:nvPr/>
        </p:nvSpPr>
        <p:spPr>
          <a:xfrm>
            <a:off x="548640" y="4434840"/>
            <a:ext cx="685440" cy="685440"/>
          </a:xfrm>
          <a:prstGeom prst="ellipse">
            <a:avLst/>
          </a:prstGeom>
          <a:solidFill>
            <a:srgbClr val="eeeafb"/>
          </a:solidFill>
          <a:ln w="12700">
            <a:solidFill>
              <a:srgbClr val="eeeaf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423" name="Image 2" descr="preencoded.png"/>
          <p:cNvPicPr/>
          <p:nvPr/>
        </p:nvPicPr>
        <p:blipFill>
          <a:blip r:embed="rId3"/>
          <a:stretch/>
        </p:blipFill>
        <p:spPr>
          <a:xfrm>
            <a:off x="699480" y="4585680"/>
            <a:ext cx="383760" cy="383760"/>
          </a:xfrm>
          <a:prstGeom prst="rect">
            <a:avLst/>
          </a:prstGeom>
          <a:ln w="0">
            <a:noFill/>
          </a:ln>
        </p:spPr>
      </p:pic>
      <p:sp>
        <p:nvSpPr>
          <p:cNvPr id="424" name="Text 8"/>
          <p:cNvSpPr/>
          <p:nvPr/>
        </p:nvSpPr>
        <p:spPr>
          <a:xfrm>
            <a:off x="1463040" y="4434840"/>
            <a:ext cx="4205880" cy="3470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700" spc="-1" strike="noStrike">
                <a:solidFill>
                  <a:srgbClr val="1b2330"/>
                </a:solidFill>
                <a:latin typeface="Calibri"/>
                <a:ea typeface="Calibri"/>
              </a:rPr>
              <a:t>Accessibility Scanner</a:t>
            </a:r>
            <a:endParaRPr b="0" lang="en-US" sz="1700" spc="-1" strike="noStrike">
              <a:solidFill>
                <a:srgbClr val="000000"/>
              </a:solidFill>
              <a:latin typeface="Arial"/>
            </a:endParaRPr>
          </a:p>
        </p:txBody>
      </p:sp>
      <p:sp>
        <p:nvSpPr>
          <p:cNvPr id="425" name="Text 9"/>
          <p:cNvSpPr/>
          <p:nvPr/>
        </p:nvSpPr>
        <p:spPr>
          <a:xfrm>
            <a:off x="1463040" y="4818960"/>
            <a:ext cx="4205880" cy="8683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350" spc="-1" strike="noStrike">
                <a:solidFill>
                  <a:srgbClr val="5b6472"/>
                </a:solidFill>
                <a:latin typeface="Calibri"/>
                <a:ea typeface="Calibri"/>
              </a:rPr>
              <a:t>Google’s free app flags missing labels, small touch targets and low contrast.</a:t>
            </a:r>
            <a:endParaRPr b="0" lang="en-US" sz="1350" spc="-1" strike="noStrike">
              <a:solidFill>
                <a:srgbClr val="000000"/>
              </a:solidFill>
              <a:latin typeface="Arial"/>
            </a:endParaRPr>
          </a:p>
        </p:txBody>
      </p:sp>
      <p:sp>
        <p:nvSpPr>
          <p:cNvPr id="426" name="Text 10"/>
          <p:cNvSpPr/>
          <p:nvPr/>
        </p:nvSpPr>
        <p:spPr>
          <a:xfrm>
            <a:off x="6035040" y="1417320"/>
            <a:ext cx="5577480" cy="3470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700" spc="-1" strike="noStrike">
                <a:solidFill>
                  <a:srgbClr val="1b2330"/>
                </a:solidFill>
                <a:latin typeface="Calibri"/>
                <a:ea typeface="Calibri"/>
              </a:rPr>
              <a:t>Compose UI tests — semantics ARE the test API</a:t>
            </a:r>
            <a:endParaRPr b="0" lang="en-US" sz="1700" spc="-1" strike="noStrike">
              <a:solidFill>
                <a:srgbClr val="000000"/>
              </a:solidFill>
              <a:latin typeface="Arial"/>
            </a:endParaRPr>
          </a:p>
        </p:txBody>
      </p:sp>
      <p:sp>
        <p:nvSpPr>
          <p:cNvPr id="427" name="Shape 11"/>
          <p:cNvSpPr/>
          <p:nvPr/>
        </p:nvSpPr>
        <p:spPr>
          <a:xfrm>
            <a:off x="6035040" y="1874520"/>
            <a:ext cx="5577480" cy="3520080"/>
          </a:xfrm>
          <a:prstGeom prst="roundRect">
            <a:avLst>
              <a:gd name="adj" fmla="val 3117"/>
            </a:avLst>
          </a:prstGeom>
          <a:solidFill>
            <a:srgbClr val="182235"/>
          </a:solidFill>
          <a:ln w="12700">
            <a:solidFill>
              <a:srgbClr val="18223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28" name="Text 12"/>
          <p:cNvSpPr/>
          <p:nvPr/>
        </p:nvSpPr>
        <p:spPr>
          <a:xfrm>
            <a:off x="6263640" y="2075760"/>
            <a:ext cx="5211720" cy="3200040"/>
          </a:xfrm>
          <a:prstGeom prst="rect">
            <a:avLst/>
          </a:prstGeom>
          <a:noFill/>
          <a:ln w="0">
            <a:noFill/>
          </a:ln>
        </p:spPr>
        <p:style>
          <a:lnRef idx="0"/>
          <a:fillRef idx="0"/>
          <a:effectRef idx="0"/>
          <a:fontRef idx="minor"/>
        </p:style>
        <p:txBody>
          <a:bodyPr lIns="0" rIns="0" tIns="0" bIns="0" anchor="t">
            <a:noAutofit/>
          </a:bodyPr>
          <a:p>
            <a:pPr defTabSz="914400">
              <a:lnSpc>
                <a:spcPct val="105000"/>
              </a:lnSpc>
              <a:tabLst>
                <a:tab algn="l" pos="0"/>
              </a:tabLst>
            </a:pPr>
            <a:r>
              <a:rPr b="0" lang="en-US" sz="1050" spc="-1" strike="noStrike">
                <a:solidFill>
                  <a:srgbClr val="ff8fc7"/>
                </a:solidFill>
                <a:latin typeface="Consolas"/>
                <a:ea typeface="Consolas"/>
              </a:rPr>
              <a:t>val</a:t>
            </a:r>
            <a:r>
              <a:rPr b="0" lang="en-US" sz="1050" spc="-1" strike="noStrike">
                <a:solidFill>
                  <a:srgbClr val="dce3ec"/>
                </a:solidFill>
                <a:latin typeface="Consolas"/>
                <a:ea typeface="Consolas"/>
              </a:rPr>
              <a:t> </a:t>
            </a:r>
            <a:r>
              <a:rPr b="1" lang="en-US" sz="1050" spc="-1" strike="noStrike">
                <a:solidFill>
                  <a:srgbClr val="3ddc84"/>
                </a:solidFill>
                <a:latin typeface="Consolas"/>
                <a:ea typeface="Consolas"/>
              </a:rPr>
              <a:t>hasLabel</a:t>
            </a:r>
            <a:r>
              <a:rPr b="0" lang="en-US" sz="1050" spc="-1" strike="noStrike">
                <a:solidFill>
                  <a:srgbClr val="dce3ec"/>
                </a:solidFill>
                <a:latin typeface="Consolas"/>
                <a:ea typeface="Consolas"/>
              </a:rPr>
              <a:t> = </a:t>
            </a:r>
            <a:r>
              <a:rPr b="0" lang="en-US" sz="1050" spc="-1" strike="noStrike">
                <a:solidFill>
                  <a:srgbClr val="8ab4f8"/>
                </a:solidFill>
                <a:latin typeface="Consolas"/>
                <a:ea typeface="Consolas"/>
              </a:rPr>
              <a:t>SemanticsMatcher</a:t>
            </a:r>
            <a:r>
              <a:rPr b="0" lang="en-US" sz="1050" spc="-1" strike="noStrike">
                <a:solidFill>
                  <a:srgbClr val="dce3ec"/>
                </a:solidFill>
                <a:latin typeface="Consolas"/>
                <a:ea typeface="Consolas"/>
              </a:rPr>
              <a:t>(</a:t>
            </a:r>
            <a:r>
              <a:rPr b="0" lang="en-US" sz="1050" spc="-1" strike="noStrike">
                <a:solidFill>
                  <a:srgbClr val="b5e48c"/>
                </a:solidFill>
                <a:latin typeface="Consolas"/>
                <a:ea typeface="Consolas"/>
              </a:rPr>
              <a:t>"has label"</a:t>
            </a:r>
            <a:r>
              <a:rPr b="0" lang="en-US" sz="1050" spc="-1" strike="noStrike">
                <a:solidFill>
                  <a:srgbClr val="dce3ec"/>
                </a:solidFill>
                <a:latin typeface="Consolas"/>
                <a:ea typeface="Consolas"/>
              </a:rPr>
              <a:t>) {</a:t>
            </a:r>
            <a:endParaRPr b="0" lang="en-US" sz="1050" spc="-1" strike="noStrike">
              <a:solidFill>
                <a:srgbClr val="000000"/>
              </a:solidFill>
              <a:latin typeface="Arial"/>
            </a:endParaRPr>
          </a:p>
          <a:p>
            <a:pPr defTabSz="914400">
              <a:lnSpc>
                <a:spcPct val="105000"/>
              </a:lnSpc>
              <a:tabLst>
                <a:tab algn="l" pos="0"/>
              </a:tabLst>
            </a:pPr>
            <a:r>
              <a:rPr b="0" lang="en-US" sz="1050" spc="-1" strike="noStrike">
                <a:solidFill>
                  <a:srgbClr val="dce3ec"/>
                </a:solidFill>
                <a:latin typeface="Consolas"/>
                <a:ea typeface="Consolas"/>
              </a:rPr>
              <a:t>    </a:t>
            </a:r>
            <a:r>
              <a:rPr b="0" lang="en-US" sz="1050" spc="-1" strike="noStrike">
                <a:solidFill>
                  <a:srgbClr val="8ab4f8"/>
                </a:solidFill>
                <a:latin typeface="Consolas"/>
                <a:ea typeface="Consolas"/>
              </a:rPr>
              <a:t>ContentDescription</a:t>
            </a:r>
            <a:r>
              <a:rPr b="0" lang="en-US" sz="1050" spc="-1" strike="noStrike">
                <a:solidFill>
                  <a:srgbClr val="dce3ec"/>
                </a:solidFill>
                <a:latin typeface="Consolas"/>
                <a:ea typeface="Consolas"/>
              </a:rPr>
              <a:t> in it.config || </a:t>
            </a:r>
            <a:r>
              <a:rPr b="0" lang="en-US" sz="1050" spc="-1" strike="noStrike">
                <a:solidFill>
                  <a:srgbClr val="8ab4f8"/>
                </a:solidFill>
                <a:latin typeface="Consolas"/>
                <a:ea typeface="Consolas"/>
              </a:rPr>
              <a:t>Text</a:t>
            </a:r>
            <a:r>
              <a:rPr b="0" lang="en-US" sz="1050" spc="-1" strike="noStrike">
                <a:solidFill>
                  <a:srgbClr val="dce3ec"/>
                </a:solidFill>
                <a:latin typeface="Consolas"/>
                <a:ea typeface="Consolas"/>
              </a:rPr>
              <a:t> in it.config</a:t>
            </a:r>
            <a:endParaRPr b="0" lang="en-US" sz="1050" spc="-1" strike="noStrike">
              <a:solidFill>
                <a:srgbClr val="000000"/>
              </a:solidFill>
              <a:latin typeface="Arial"/>
            </a:endParaRPr>
          </a:p>
          <a:p>
            <a:pPr defTabSz="914400">
              <a:lnSpc>
                <a:spcPct val="105000"/>
              </a:lnSpc>
              <a:tabLst>
                <a:tab algn="l" pos="0"/>
              </a:tabLst>
            </a:pPr>
            <a:r>
              <a:rPr b="0" lang="en-US" sz="1050" spc="-1" strike="noStrike">
                <a:solidFill>
                  <a:srgbClr val="dce3ec"/>
                </a:solidFill>
                <a:latin typeface="Consolas"/>
                <a:ea typeface="Consolas"/>
              </a:rPr>
              <a:t>}</a:t>
            </a:r>
            <a:endParaRPr b="0" lang="en-US" sz="1050" spc="-1" strike="noStrike">
              <a:solidFill>
                <a:srgbClr val="000000"/>
              </a:solidFill>
              <a:latin typeface="Arial"/>
            </a:endParaRPr>
          </a:p>
          <a:p>
            <a:pPr defTabSz="914400">
              <a:lnSpc>
                <a:spcPct val="105000"/>
              </a:lnSpc>
              <a:tabLst>
                <a:tab algn="l" pos="0"/>
              </a:tabLst>
            </a:pPr>
            <a:r>
              <a:rPr b="0" lang="en-US" sz="1050" spc="-1" strike="noStrike">
                <a:solidFill>
                  <a:srgbClr val="000000"/>
                </a:solidFill>
                <a:latin typeface="Consolas"/>
                <a:ea typeface="Consolas"/>
              </a:rPr>
              <a:t> </a:t>
            </a:r>
            <a:endParaRPr b="0" lang="en-US" sz="1050" spc="-1" strike="noStrike">
              <a:solidFill>
                <a:srgbClr val="000000"/>
              </a:solidFill>
              <a:latin typeface="Arial"/>
            </a:endParaRPr>
          </a:p>
          <a:p>
            <a:pPr defTabSz="914400">
              <a:lnSpc>
                <a:spcPct val="105000"/>
              </a:lnSpc>
              <a:tabLst>
                <a:tab algn="l" pos="0"/>
              </a:tabLst>
            </a:pPr>
            <a:r>
              <a:rPr b="0" lang="en-US" sz="1050" spc="-1" strike="noStrike">
                <a:solidFill>
                  <a:srgbClr val="dce3ec"/>
                </a:solidFill>
                <a:latin typeface="Consolas"/>
                <a:ea typeface="Consolas"/>
              </a:rPr>
              <a:t>@</a:t>
            </a:r>
            <a:r>
              <a:rPr b="0" lang="en-US" sz="1050" spc="-1" strike="noStrike">
                <a:solidFill>
                  <a:srgbClr val="8ab4f8"/>
                </a:solidFill>
                <a:latin typeface="Consolas"/>
                <a:ea typeface="Consolas"/>
              </a:rPr>
              <a:t>Test</a:t>
            </a:r>
            <a:r>
              <a:rPr b="0" lang="en-US" sz="1050" spc="-1" strike="noStrike">
                <a:solidFill>
                  <a:srgbClr val="dce3ec"/>
                </a:solidFill>
                <a:latin typeface="Consolas"/>
                <a:ea typeface="Consolas"/>
              </a:rPr>
              <a:t> </a:t>
            </a:r>
            <a:r>
              <a:rPr b="0" lang="en-US" sz="1050" spc="-1" strike="noStrike">
                <a:solidFill>
                  <a:srgbClr val="ff8fc7"/>
                </a:solidFill>
                <a:latin typeface="Consolas"/>
                <a:ea typeface="Consolas"/>
              </a:rPr>
              <a:t>fun</a:t>
            </a:r>
            <a:r>
              <a:rPr b="0" lang="en-US" sz="1050" spc="-1" strike="noStrike">
                <a:solidFill>
                  <a:srgbClr val="dce3ec"/>
                </a:solidFill>
                <a:latin typeface="Consolas"/>
                <a:ea typeface="Consolas"/>
              </a:rPr>
              <a:t> noUnlabeledClickables() {</a:t>
            </a:r>
            <a:endParaRPr b="0" lang="en-US" sz="1050" spc="-1" strike="noStrike">
              <a:solidFill>
                <a:srgbClr val="000000"/>
              </a:solidFill>
              <a:latin typeface="Arial"/>
            </a:endParaRPr>
          </a:p>
          <a:p>
            <a:pPr defTabSz="914400">
              <a:lnSpc>
                <a:spcPct val="105000"/>
              </a:lnSpc>
              <a:tabLst>
                <a:tab algn="l" pos="0"/>
              </a:tabLst>
            </a:pPr>
            <a:r>
              <a:rPr b="0" lang="en-US" sz="1050" spc="-1" strike="noStrike">
                <a:solidFill>
                  <a:srgbClr val="dce3ec"/>
                </a:solidFill>
                <a:latin typeface="Consolas"/>
                <a:ea typeface="Consolas"/>
              </a:rPr>
              <a:t>    </a:t>
            </a:r>
            <a:r>
              <a:rPr b="0" lang="en-US" sz="1050" spc="-1" strike="noStrike">
                <a:solidFill>
                  <a:srgbClr val="dce3ec"/>
                </a:solidFill>
                <a:latin typeface="Consolas"/>
                <a:ea typeface="Consolas"/>
              </a:rPr>
              <a:t>rule.setContent { </a:t>
            </a:r>
            <a:r>
              <a:rPr b="0" lang="en-US" sz="1050" spc="-1" strike="noStrike">
                <a:solidFill>
                  <a:srgbClr val="8ab4f8"/>
                </a:solidFill>
                <a:latin typeface="Consolas"/>
                <a:ea typeface="Consolas"/>
              </a:rPr>
              <a:t>InboxScreen</a:t>
            </a:r>
            <a:r>
              <a:rPr b="0" lang="en-US" sz="1050" spc="-1" strike="noStrike">
                <a:solidFill>
                  <a:srgbClr val="dce3ec"/>
                </a:solidFill>
                <a:latin typeface="Consolas"/>
                <a:ea typeface="Consolas"/>
              </a:rPr>
              <a:t>() }</a:t>
            </a:r>
            <a:endParaRPr b="0" lang="en-US" sz="1050" spc="-1" strike="noStrike">
              <a:solidFill>
                <a:srgbClr val="000000"/>
              </a:solidFill>
              <a:latin typeface="Arial"/>
            </a:endParaRPr>
          </a:p>
          <a:p>
            <a:pPr defTabSz="914400">
              <a:lnSpc>
                <a:spcPct val="105000"/>
              </a:lnSpc>
              <a:tabLst>
                <a:tab algn="l" pos="0"/>
              </a:tabLst>
            </a:pPr>
            <a:r>
              <a:rPr b="0" lang="en-US" sz="1050" spc="-1" strike="noStrike">
                <a:solidFill>
                  <a:srgbClr val="dce3ec"/>
                </a:solidFill>
                <a:latin typeface="Consolas"/>
                <a:ea typeface="Consolas"/>
              </a:rPr>
              <a:t>    </a:t>
            </a:r>
            <a:r>
              <a:rPr b="0" lang="en-US" sz="1050" spc="-1" strike="noStrike">
                <a:solidFill>
                  <a:srgbClr val="dce3ec"/>
                </a:solidFill>
                <a:latin typeface="Consolas"/>
                <a:ea typeface="Consolas"/>
              </a:rPr>
              <a:t>rule.onAllNodes(</a:t>
            </a:r>
            <a:r>
              <a:rPr b="1" lang="en-US" sz="1050" spc="-1" strike="noStrike">
                <a:solidFill>
                  <a:srgbClr val="3ddc84"/>
                </a:solidFill>
                <a:latin typeface="Consolas"/>
                <a:ea typeface="Consolas"/>
              </a:rPr>
              <a:t>hasClickAction</a:t>
            </a:r>
            <a:r>
              <a:rPr b="0" lang="en-US" sz="1050" spc="-1" strike="noStrike">
                <a:solidFill>
                  <a:srgbClr val="dce3ec"/>
                </a:solidFill>
                <a:latin typeface="Consolas"/>
                <a:ea typeface="Consolas"/>
              </a:rPr>
              <a:t>() and !</a:t>
            </a:r>
            <a:r>
              <a:rPr b="1" lang="en-US" sz="1050" spc="-1" strike="noStrike">
                <a:solidFill>
                  <a:srgbClr val="3ddc84"/>
                </a:solidFill>
                <a:latin typeface="Consolas"/>
                <a:ea typeface="Consolas"/>
              </a:rPr>
              <a:t>hasLabel</a:t>
            </a:r>
            <a:r>
              <a:rPr b="0" lang="en-US" sz="1050" spc="-1" strike="noStrike">
                <a:solidFill>
                  <a:srgbClr val="dce3ec"/>
                </a:solidFill>
                <a:latin typeface="Consolas"/>
                <a:ea typeface="Consolas"/>
              </a:rPr>
              <a:t>)</a:t>
            </a:r>
            <a:endParaRPr b="0" lang="en-US" sz="1050" spc="-1" strike="noStrike">
              <a:solidFill>
                <a:srgbClr val="000000"/>
              </a:solidFill>
              <a:latin typeface="Arial"/>
            </a:endParaRPr>
          </a:p>
          <a:p>
            <a:pPr defTabSz="914400">
              <a:lnSpc>
                <a:spcPct val="105000"/>
              </a:lnSpc>
              <a:tabLst>
                <a:tab algn="l" pos="0"/>
              </a:tabLst>
            </a:pPr>
            <a:r>
              <a:rPr b="0" lang="en-US" sz="1050" spc="-1" strike="noStrike">
                <a:solidFill>
                  <a:srgbClr val="dce3ec"/>
                </a:solidFill>
                <a:latin typeface="Consolas"/>
                <a:ea typeface="Consolas"/>
              </a:rPr>
              <a:t>        </a:t>
            </a:r>
            <a:r>
              <a:rPr b="0" lang="en-US" sz="1050" spc="-1" strike="noStrike">
                <a:solidFill>
                  <a:srgbClr val="dce3ec"/>
                </a:solidFill>
                <a:latin typeface="Consolas"/>
                <a:ea typeface="Consolas"/>
              </a:rPr>
              <a:t>.assertCountEquals(</a:t>
            </a:r>
            <a:r>
              <a:rPr b="0" lang="en-US" sz="1050" spc="-1" strike="noStrike">
                <a:solidFill>
                  <a:srgbClr val="f6c177"/>
                </a:solidFill>
                <a:latin typeface="Consolas"/>
                <a:ea typeface="Consolas"/>
              </a:rPr>
              <a:t>0</a:t>
            </a:r>
            <a:r>
              <a:rPr b="0" lang="en-US" sz="1050" spc="-1" strike="noStrike">
                <a:solidFill>
                  <a:srgbClr val="dce3ec"/>
                </a:solidFill>
                <a:latin typeface="Consolas"/>
                <a:ea typeface="Consolas"/>
              </a:rPr>
              <a:t>)</a:t>
            </a:r>
            <a:endParaRPr b="0" lang="en-US" sz="1050" spc="-1" strike="noStrike">
              <a:solidFill>
                <a:srgbClr val="000000"/>
              </a:solidFill>
              <a:latin typeface="Arial"/>
            </a:endParaRPr>
          </a:p>
          <a:p>
            <a:pPr defTabSz="914400">
              <a:lnSpc>
                <a:spcPct val="105000"/>
              </a:lnSpc>
              <a:tabLst>
                <a:tab algn="l" pos="0"/>
              </a:tabLst>
            </a:pPr>
            <a:r>
              <a:rPr b="0" lang="en-US" sz="1050" spc="-1" strike="noStrike">
                <a:solidFill>
                  <a:srgbClr val="dce3ec"/>
                </a:solidFill>
                <a:latin typeface="Consolas"/>
                <a:ea typeface="Consolas"/>
              </a:rPr>
              <a:t>}</a:t>
            </a:r>
            <a:endParaRPr b="0" lang="en-US" sz="1050" spc="-1" strike="noStrike">
              <a:solidFill>
                <a:srgbClr val="000000"/>
              </a:solidFill>
              <a:latin typeface="Arial"/>
            </a:endParaRPr>
          </a:p>
          <a:p>
            <a:pPr defTabSz="914400">
              <a:lnSpc>
                <a:spcPct val="105000"/>
              </a:lnSpc>
              <a:tabLst>
                <a:tab algn="l" pos="0"/>
              </a:tabLst>
            </a:pPr>
            <a:r>
              <a:rPr b="0" lang="en-US" sz="1050" spc="-1" strike="noStrike">
                <a:solidFill>
                  <a:srgbClr val="000000"/>
                </a:solidFill>
                <a:latin typeface="Consolas"/>
                <a:ea typeface="Consolas"/>
              </a:rPr>
              <a:t> </a:t>
            </a:r>
            <a:endParaRPr b="0" lang="en-US" sz="1050" spc="-1" strike="noStrike">
              <a:solidFill>
                <a:srgbClr val="000000"/>
              </a:solidFill>
              <a:latin typeface="Arial"/>
            </a:endParaRPr>
          </a:p>
          <a:p>
            <a:pPr defTabSz="914400">
              <a:lnSpc>
                <a:spcPct val="105000"/>
              </a:lnSpc>
              <a:tabLst>
                <a:tab algn="l" pos="0"/>
              </a:tabLst>
            </a:pPr>
            <a:r>
              <a:rPr b="0" lang="en-US" sz="1050" spc="-1" strike="noStrike">
                <a:solidFill>
                  <a:srgbClr val="dce3ec"/>
                </a:solidFill>
                <a:latin typeface="Consolas"/>
                <a:ea typeface="Consolas"/>
              </a:rPr>
              <a:t>@</a:t>
            </a:r>
            <a:r>
              <a:rPr b="0" lang="en-US" sz="1050" spc="-1" strike="noStrike">
                <a:solidFill>
                  <a:srgbClr val="8ab4f8"/>
                </a:solidFill>
                <a:latin typeface="Consolas"/>
                <a:ea typeface="Consolas"/>
              </a:rPr>
              <a:t>Test</a:t>
            </a:r>
            <a:r>
              <a:rPr b="0" lang="en-US" sz="1050" spc="-1" strike="noStrike">
                <a:solidFill>
                  <a:srgbClr val="dce3ec"/>
                </a:solidFill>
                <a:latin typeface="Consolas"/>
                <a:ea typeface="Consolas"/>
              </a:rPr>
              <a:t> </a:t>
            </a:r>
            <a:r>
              <a:rPr b="0" lang="en-US" sz="1050" spc="-1" strike="noStrike">
                <a:solidFill>
                  <a:srgbClr val="ff8fc7"/>
                </a:solidFill>
                <a:latin typeface="Consolas"/>
                <a:ea typeface="Consolas"/>
              </a:rPr>
              <a:t>fun</a:t>
            </a:r>
            <a:r>
              <a:rPr b="0" lang="en-US" sz="1050" spc="-1" strike="noStrike">
                <a:solidFill>
                  <a:srgbClr val="dce3ec"/>
                </a:solidFill>
                <a:latin typeface="Consolas"/>
                <a:ea typeface="Consolas"/>
              </a:rPr>
              <a:t> rowExposesStateAndActions() {</a:t>
            </a:r>
            <a:endParaRPr b="0" lang="en-US" sz="1050" spc="-1" strike="noStrike">
              <a:solidFill>
                <a:srgbClr val="000000"/>
              </a:solidFill>
              <a:latin typeface="Arial"/>
            </a:endParaRPr>
          </a:p>
          <a:p>
            <a:pPr defTabSz="914400">
              <a:lnSpc>
                <a:spcPct val="105000"/>
              </a:lnSpc>
              <a:tabLst>
                <a:tab algn="l" pos="0"/>
              </a:tabLst>
            </a:pPr>
            <a:r>
              <a:rPr b="0" lang="en-US" sz="1050" spc="-1" strike="noStrike">
                <a:solidFill>
                  <a:srgbClr val="dce3ec"/>
                </a:solidFill>
                <a:latin typeface="Consolas"/>
                <a:ea typeface="Consolas"/>
              </a:rPr>
              <a:t>    </a:t>
            </a:r>
            <a:r>
              <a:rPr b="0" lang="en-US" sz="1050" spc="-1" strike="noStrike">
                <a:solidFill>
                  <a:srgbClr val="dce3ec"/>
                </a:solidFill>
                <a:latin typeface="Consolas"/>
                <a:ea typeface="Consolas"/>
              </a:rPr>
              <a:t>rule.setContent { </a:t>
            </a:r>
            <a:r>
              <a:rPr b="0" lang="en-US" sz="1050" spc="-1" strike="noStrike">
                <a:solidFill>
                  <a:srgbClr val="8ab4f8"/>
                </a:solidFill>
                <a:latin typeface="Consolas"/>
                <a:ea typeface="Consolas"/>
              </a:rPr>
              <a:t>InboxScreen</a:t>
            </a:r>
            <a:r>
              <a:rPr b="0" lang="en-US" sz="1050" spc="-1" strike="noStrike">
                <a:solidFill>
                  <a:srgbClr val="dce3ec"/>
                </a:solidFill>
                <a:latin typeface="Consolas"/>
                <a:ea typeface="Consolas"/>
              </a:rPr>
              <a:t>() }</a:t>
            </a:r>
            <a:endParaRPr b="0" lang="en-US" sz="1050" spc="-1" strike="noStrike">
              <a:solidFill>
                <a:srgbClr val="000000"/>
              </a:solidFill>
              <a:latin typeface="Arial"/>
            </a:endParaRPr>
          </a:p>
          <a:p>
            <a:pPr defTabSz="914400">
              <a:lnSpc>
                <a:spcPct val="105000"/>
              </a:lnSpc>
              <a:tabLst>
                <a:tab algn="l" pos="0"/>
              </a:tabLst>
            </a:pPr>
            <a:r>
              <a:rPr b="0" lang="en-US" sz="1050" spc="-1" strike="noStrike">
                <a:solidFill>
                  <a:srgbClr val="dce3ec"/>
                </a:solidFill>
                <a:latin typeface="Consolas"/>
                <a:ea typeface="Consolas"/>
              </a:rPr>
              <a:t>    </a:t>
            </a:r>
            <a:r>
              <a:rPr b="0" lang="en-US" sz="1050" spc="-1" strike="noStrike">
                <a:solidFill>
                  <a:srgbClr val="dce3ec"/>
                </a:solidFill>
                <a:latin typeface="Consolas"/>
                <a:ea typeface="Consolas"/>
              </a:rPr>
              <a:t>rule.onNodeWithContentDescription(</a:t>
            </a:r>
            <a:endParaRPr b="0" lang="en-US" sz="1050" spc="-1" strike="noStrike">
              <a:solidFill>
                <a:srgbClr val="000000"/>
              </a:solidFill>
              <a:latin typeface="Arial"/>
            </a:endParaRPr>
          </a:p>
          <a:p>
            <a:pPr defTabSz="914400">
              <a:lnSpc>
                <a:spcPct val="105000"/>
              </a:lnSpc>
              <a:tabLst>
                <a:tab algn="l" pos="0"/>
              </a:tabLst>
            </a:pPr>
            <a:r>
              <a:rPr b="0" lang="en-US" sz="1050" spc="-1" strike="noStrike">
                <a:solidFill>
                  <a:srgbClr val="dce3ec"/>
                </a:solidFill>
                <a:latin typeface="Consolas"/>
                <a:ea typeface="Consolas"/>
              </a:rPr>
              <a:t>        </a:t>
            </a:r>
            <a:r>
              <a:rPr b="0" lang="en-US" sz="1050" spc="-1" strike="noStrike">
                <a:solidFill>
                  <a:srgbClr val="b5e48c"/>
                </a:solidFill>
                <a:latin typeface="Consolas"/>
                <a:ea typeface="Consolas"/>
              </a:rPr>
              <a:t>"Avery"</a:t>
            </a:r>
            <a:r>
              <a:rPr b="0" lang="en-US" sz="1050" spc="-1" strike="noStrike">
                <a:solidFill>
                  <a:srgbClr val="dce3ec"/>
                </a:solidFill>
                <a:latin typeface="Consolas"/>
                <a:ea typeface="Consolas"/>
              </a:rPr>
              <a:t>, substring = </a:t>
            </a:r>
            <a:r>
              <a:rPr b="0" lang="en-US" sz="1050" spc="-1" strike="noStrike">
                <a:solidFill>
                  <a:srgbClr val="ff8fc7"/>
                </a:solidFill>
                <a:latin typeface="Consolas"/>
                <a:ea typeface="Consolas"/>
              </a:rPr>
              <a:t>true</a:t>
            </a:r>
            <a:r>
              <a:rPr b="0" lang="en-US" sz="1050" spc="-1" strike="noStrike">
                <a:solidFill>
                  <a:srgbClr val="dce3ec"/>
                </a:solidFill>
                <a:latin typeface="Consolas"/>
                <a:ea typeface="Consolas"/>
              </a:rPr>
              <a:t>)</a:t>
            </a:r>
            <a:endParaRPr b="0" lang="en-US" sz="1050" spc="-1" strike="noStrike">
              <a:solidFill>
                <a:srgbClr val="000000"/>
              </a:solidFill>
              <a:latin typeface="Arial"/>
            </a:endParaRPr>
          </a:p>
          <a:p>
            <a:pPr defTabSz="914400">
              <a:lnSpc>
                <a:spcPct val="105000"/>
              </a:lnSpc>
              <a:tabLst>
                <a:tab algn="l" pos="0"/>
              </a:tabLst>
            </a:pPr>
            <a:r>
              <a:rPr b="0" lang="en-US" sz="1050" spc="-1" strike="noStrike">
                <a:solidFill>
                  <a:srgbClr val="dce3ec"/>
                </a:solidFill>
                <a:latin typeface="Consolas"/>
                <a:ea typeface="Consolas"/>
              </a:rPr>
              <a:t>        </a:t>
            </a:r>
            <a:r>
              <a:rPr b="0" lang="en-US" sz="1050" spc="-1" strike="noStrike">
                <a:solidFill>
                  <a:srgbClr val="dce3ec"/>
                </a:solidFill>
                <a:latin typeface="Consolas"/>
                <a:ea typeface="Consolas"/>
              </a:rPr>
              <a:t>.assert(expectValue(</a:t>
            </a:r>
            <a:r>
              <a:rPr b="0" lang="en-US" sz="1050" spc="-1" strike="noStrike">
                <a:solidFill>
                  <a:srgbClr val="8ab4f8"/>
                </a:solidFill>
                <a:latin typeface="Consolas"/>
                <a:ea typeface="Consolas"/>
              </a:rPr>
              <a:t>StateDescription</a:t>
            </a:r>
            <a:r>
              <a:rPr b="0" lang="en-US" sz="1050" spc="-1" strike="noStrike">
                <a:solidFill>
                  <a:srgbClr val="dce3ec"/>
                </a:solidFill>
                <a:latin typeface="Consolas"/>
                <a:ea typeface="Consolas"/>
              </a:rPr>
              <a:t>, </a:t>
            </a:r>
            <a:r>
              <a:rPr b="0" lang="en-US" sz="1050" spc="-1" strike="noStrike">
                <a:solidFill>
                  <a:srgbClr val="b5e48c"/>
                </a:solidFill>
                <a:latin typeface="Consolas"/>
                <a:ea typeface="Consolas"/>
              </a:rPr>
              <a:t>"Not starred"</a:t>
            </a:r>
            <a:r>
              <a:rPr b="0" lang="en-US" sz="1050" spc="-1" strike="noStrike">
                <a:solidFill>
                  <a:srgbClr val="dce3ec"/>
                </a:solidFill>
                <a:latin typeface="Consolas"/>
                <a:ea typeface="Consolas"/>
              </a:rPr>
              <a:t>))</a:t>
            </a:r>
            <a:endParaRPr b="0" lang="en-US" sz="1050" spc="-1" strike="noStrike">
              <a:solidFill>
                <a:srgbClr val="000000"/>
              </a:solidFill>
              <a:latin typeface="Arial"/>
            </a:endParaRPr>
          </a:p>
          <a:p>
            <a:pPr defTabSz="914400">
              <a:lnSpc>
                <a:spcPct val="105000"/>
              </a:lnSpc>
              <a:tabLst>
                <a:tab algn="l" pos="0"/>
              </a:tabLst>
            </a:pPr>
            <a:r>
              <a:rPr b="0" lang="en-US" sz="1050" spc="-1" strike="noStrike">
                <a:solidFill>
                  <a:srgbClr val="dce3ec"/>
                </a:solidFill>
                <a:latin typeface="Consolas"/>
                <a:ea typeface="Consolas"/>
              </a:rPr>
              <a:t>        </a:t>
            </a:r>
            <a:r>
              <a:rPr b="0" lang="en-US" sz="1050" spc="-1" strike="noStrike">
                <a:solidFill>
                  <a:srgbClr val="dce3ec"/>
                </a:solidFill>
                <a:latin typeface="Consolas"/>
                <a:ea typeface="Consolas"/>
              </a:rPr>
              <a:t>.assert(keyIsDefined(</a:t>
            </a:r>
            <a:r>
              <a:rPr b="0" lang="en-US" sz="1050" spc="-1" strike="noStrike">
                <a:solidFill>
                  <a:srgbClr val="8ab4f8"/>
                </a:solidFill>
                <a:latin typeface="Consolas"/>
                <a:ea typeface="Consolas"/>
              </a:rPr>
              <a:t>CustomActions</a:t>
            </a:r>
            <a:r>
              <a:rPr b="0" lang="en-US" sz="1050" spc="-1" strike="noStrike">
                <a:solidFill>
                  <a:srgbClr val="dce3ec"/>
                </a:solidFill>
                <a:latin typeface="Consolas"/>
                <a:ea typeface="Consolas"/>
              </a:rPr>
              <a:t>))</a:t>
            </a:r>
            <a:endParaRPr b="0" lang="en-US" sz="1050" spc="-1" strike="noStrike">
              <a:solidFill>
                <a:srgbClr val="000000"/>
              </a:solidFill>
              <a:latin typeface="Arial"/>
            </a:endParaRPr>
          </a:p>
          <a:p>
            <a:pPr defTabSz="914400">
              <a:lnSpc>
                <a:spcPct val="105000"/>
              </a:lnSpc>
              <a:tabLst>
                <a:tab algn="l" pos="0"/>
              </a:tabLst>
            </a:pPr>
            <a:r>
              <a:rPr b="0" lang="en-US" sz="1050" spc="-1" strike="noStrike">
                <a:solidFill>
                  <a:srgbClr val="dce3ec"/>
                </a:solidFill>
                <a:latin typeface="Consolas"/>
                <a:ea typeface="Consolas"/>
              </a:rPr>
              <a:t>}</a:t>
            </a:r>
            <a:endParaRPr b="0" lang="en-US" sz="1050" spc="-1" strike="noStrike">
              <a:solidFill>
                <a:srgbClr val="000000"/>
              </a:solidFill>
              <a:latin typeface="Arial"/>
            </a:endParaRPr>
          </a:p>
        </p:txBody>
      </p:sp>
      <p:sp>
        <p:nvSpPr>
          <p:cNvPr id="429" name="Text 13"/>
          <p:cNvSpPr/>
          <p:nvPr/>
        </p:nvSpPr>
        <p:spPr>
          <a:xfrm>
            <a:off x="10607040" y="1947600"/>
            <a:ext cx="868320" cy="200880"/>
          </a:xfrm>
          <a:prstGeom prst="rect">
            <a:avLst/>
          </a:prstGeom>
          <a:noFill/>
          <a:ln w="0">
            <a:noFill/>
          </a:ln>
        </p:spPr>
        <p:style>
          <a:lnRef idx="0"/>
          <a:fillRef idx="0"/>
          <a:effectRef idx="0"/>
          <a:fontRef idx="minor"/>
        </p:style>
        <p:txBody>
          <a:bodyPr lIns="0" rIns="0" tIns="0" bIns="0" anchor="t">
            <a:noAutofit/>
          </a:bodyPr>
          <a:p>
            <a:pPr algn="r" defTabSz="914400">
              <a:lnSpc>
                <a:spcPct val="100000"/>
              </a:lnSpc>
              <a:tabLst>
                <a:tab algn="l" pos="0"/>
              </a:tabLst>
            </a:pPr>
            <a:r>
              <a:rPr b="0" lang="en-US" sz="900" spc="-1" strike="noStrike">
                <a:solidFill>
                  <a:srgbClr val="6f7d93"/>
                </a:solidFill>
                <a:latin typeface="Calibri"/>
                <a:ea typeface="Calibri"/>
              </a:rPr>
              <a:t>Kotlin</a:t>
            </a:r>
            <a:endParaRPr b="0" lang="en-US"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30" name="Text 0"/>
          <p:cNvSpPr/>
          <p:nvPr/>
        </p:nvSpPr>
        <p:spPr>
          <a:xfrm>
            <a:off x="548640" y="502920"/>
            <a:ext cx="11063880" cy="7311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3200" spc="-1" strike="noStrike">
                <a:solidFill>
                  <a:srgbClr val="1b2330"/>
                </a:solidFill>
                <a:latin typeface="Arial"/>
                <a:ea typeface="Arial"/>
              </a:rPr>
              <a:t>Cheat sheet: when you have… reach for…</a:t>
            </a:r>
            <a:endParaRPr b="0" lang="en-US" sz="3200" spc="-1" strike="noStrike">
              <a:solidFill>
                <a:srgbClr val="000000"/>
              </a:solidFill>
              <a:latin typeface="Arial"/>
            </a:endParaRPr>
          </a:p>
        </p:txBody>
      </p:sp>
      <p:sp>
        <p:nvSpPr>
          <p:cNvPr id="431" name="Shape 1"/>
          <p:cNvSpPr/>
          <p:nvPr/>
        </p:nvSpPr>
        <p:spPr>
          <a:xfrm>
            <a:off x="548640" y="1463040"/>
            <a:ext cx="3520080" cy="1782720"/>
          </a:xfrm>
          <a:prstGeom prst="roundRect">
            <a:avLst>
              <a:gd name="adj" fmla="val 7179"/>
            </a:avLst>
          </a:prstGeom>
          <a:solidFill>
            <a:srgbClr val="f3f5f8"/>
          </a:solidFill>
          <a:ln w="12700">
            <a:solidFill>
              <a:srgbClr val="f3f5f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32" name="Text 2"/>
          <p:cNvSpPr/>
          <p:nvPr/>
        </p:nvSpPr>
        <p:spPr>
          <a:xfrm>
            <a:off x="777240" y="1645920"/>
            <a:ext cx="548280" cy="3196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400" spc="-1" strike="noStrike">
                <a:solidFill>
                  <a:srgbClr val="5b6472"/>
                </a:solidFill>
                <a:latin typeface="Arial"/>
                <a:ea typeface="Arial"/>
              </a:rPr>
              <a:t>01</a:t>
            </a:r>
            <a:endParaRPr b="0" lang="en-US" sz="1400" spc="-1" strike="noStrike">
              <a:solidFill>
                <a:srgbClr val="000000"/>
              </a:solidFill>
              <a:latin typeface="Arial"/>
            </a:endParaRPr>
          </a:p>
        </p:txBody>
      </p:sp>
      <p:sp>
        <p:nvSpPr>
          <p:cNvPr id="433" name="Text 3"/>
          <p:cNvSpPr/>
          <p:nvPr/>
        </p:nvSpPr>
        <p:spPr>
          <a:xfrm>
            <a:off x="777240" y="1993320"/>
            <a:ext cx="3062880" cy="5025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600" spc="-1" strike="noStrike">
                <a:solidFill>
                  <a:srgbClr val="1b2330"/>
                </a:solidFill>
                <a:latin typeface="Calibri"/>
                <a:ea typeface="Calibri"/>
              </a:rPr>
              <a:t>An icon or image with no text</a:t>
            </a:r>
            <a:endParaRPr b="0" lang="en-US" sz="1600" spc="-1" strike="noStrike">
              <a:solidFill>
                <a:srgbClr val="000000"/>
              </a:solidFill>
              <a:latin typeface="Arial"/>
            </a:endParaRPr>
          </a:p>
        </p:txBody>
      </p:sp>
      <p:sp>
        <p:nvSpPr>
          <p:cNvPr id="434" name="Text 4"/>
          <p:cNvSpPr/>
          <p:nvPr/>
        </p:nvSpPr>
        <p:spPr>
          <a:xfrm>
            <a:off x="777240" y="2514600"/>
            <a:ext cx="3108600" cy="5482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300" spc="-1" strike="noStrike">
                <a:solidFill>
                  <a:srgbClr val="0a7d43"/>
                </a:solidFill>
                <a:latin typeface="Consolas"/>
                <a:ea typeface="Consolas"/>
              </a:rPr>
              <a:t>contentDescription</a:t>
            </a:r>
            <a:endParaRPr b="0" lang="en-US" sz="1300" spc="-1" strike="noStrike">
              <a:solidFill>
                <a:srgbClr val="000000"/>
              </a:solidFill>
              <a:latin typeface="Arial"/>
            </a:endParaRPr>
          </a:p>
        </p:txBody>
      </p:sp>
      <p:sp>
        <p:nvSpPr>
          <p:cNvPr id="435" name="Shape 5"/>
          <p:cNvSpPr/>
          <p:nvPr/>
        </p:nvSpPr>
        <p:spPr>
          <a:xfrm>
            <a:off x="4297680" y="1463040"/>
            <a:ext cx="3520080" cy="1782720"/>
          </a:xfrm>
          <a:prstGeom prst="roundRect">
            <a:avLst>
              <a:gd name="adj" fmla="val 7179"/>
            </a:avLst>
          </a:prstGeom>
          <a:solidFill>
            <a:srgbClr val="f3f5f8"/>
          </a:solidFill>
          <a:ln w="12700">
            <a:solidFill>
              <a:srgbClr val="f3f5f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36" name="Text 6"/>
          <p:cNvSpPr/>
          <p:nvPr/>
        </p:nvSpPr>
        <p:spPr>
          <a:xfrm>
            <a:off x="4526280" y="1645920"/>
            <a:ext cx="548280" cy="3196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400" spc="-1" strike="noStrike">
                <a:solidFill>
                  <a:srgbClr val="5b6472"/>
                </a:solidFill>
                <a:latin typeface="Arial"/>
                <a:ea typeface="Arial"/>
              </a:rPr>
              <a:t>02</a:t>
            </a:r>
            <a:endParaRPr b="0" lang="en-US" sz="1400" spc="-1" strike="noStrike">
              <a:solidFill>
                <a:srgbClr val="000000"/>
              </a:solidFill>
              <a:latin typeface="Arial"/>
            </a:endParaRPr>
          </a:p>
        </p:txBody>
      </p:sp>
      <p:sp>
        <p:nvSpPr>
          <p:cNvPr id="437" name="Text 7"/>
          <p:cNvSpPr/>
          <p:nvPr/>
        </p:nvSpPr>
        <p:spPr>
          <a:xfrm>
            <a:off x="4526280" y="1993320"/>
            <a:ext cx="3062880" cy="5025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600" spc="-1" strike="noStrike">
                <a:solidFill>
                  <a:srgbClr val="1b2330"/>
                </a:solidFill>
                <a:latin typeface="Calibri"/>
                <a:ea typeface="Calibri"/>
              </a:rPr>
              <a:t>A custom clickable</a:t>
            </a:r>
            <a:endParaRPr b="0" lang="en-US" sz="1600" spc="-1" strike="noStrike">
              <a:solidFill>
                <a:srgbClr val="000000"/>
              </a:solidFill>
              <a:latin typeface="Arial"/>
            </a:endParaRPr>
          </a:p>
        </p:txBody>
      </p:sp>
      <p:sp>
        <p:nvSpPr>
          <p:cNvPr id="438" name="Text 8"/>
          <p:cNvSpPr/>
          <p:nvPr/>
        </p:nvSpPr>
        <p:spPr>
          <a:xfrm>
            <a:off x="4526280" y="2514600"/>
            <a:ext cx="3108600" cy="5482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300" spc="-1" strike="noStrike">
                <a:solidFill>
                  <a:srgbClr val="0a7d43"/>
                </a:solidFill>
                <a:latin typeface="Consolas"/>
                <a:ea typeface="Consolas"/>
              </a:rPr>
              <a:t>role + onClickLabel</a:t>
            </a:r>
            <a:endParaRPr b="0" lang="en-US" sz="1300" spc="-1" strike="noStrike">
              <a:solidFill>
                <a:srgbClr val="000000"/>
              </a:solidFill>
              <a:latin typeface="Arial"/>
            </a:endParaRPr>
          </a:p>
        </p:txBody>
      </p:sp>
      <p:sp>
        <p:nvSpPr>
          <p:cNvPr id="439" name="Shape 9"/>
          <p:cNvSpPr/>
          <p:nvPr/>
        </p:nvSpPr>
        <p:spPr>
          <a:xfrm>
            <a:off x="8046720" y="1463040"/>
            <a:ext cx="3520080" cy="1782720"/>
          </a:xfrm>
          <a:prstGeom prst="roundRect">
            <a:avLst>
              <a:gd name="adj" fmla="val 7179"/>
            </a:avLst>
          </a:prstGeom>
          <a:solidFill>
            <a:srgbClr val="f3f5f8"/>
          </a:solidFill>
          <a:ln w="12700">
            <a:solidFill>
              <a:srgbClr val="f3f5f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40" name="Text 10"/>
          <p:cNvSpPr/>
          <p:nvPr/>
        </p:nvSpPr>
        <p:spPr>
          <a:xfrm>
            <a:off x="8275320" y="1645920"/>
            <a:ext cx="548280" cy="3196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400" spc="-1" strike="noStrike">
                <a:solidFill>
                  <a:srgbClr val="5b6472"/>
                </a:solidFill>
                <a:latin typeface="Arial"/>
                <a:ea typeface="Arial"/>
              </a:rPr>
              <a:t>03</a:t>
            </a:r>
            <a:endParaRPr b="0" lang="en-US" sz="1400" spc="-1" strike="noStrike">
              <a:solidFill>
                <a:srgbClr val="000000"/>
              </a:solidFill>
              <a:latin typeface="Arial"/>
            </a:endParaRPr>
          </a:p>
        </p:txBody>
      </p:sp>
      <p:sp>
        <p:nvSpPr>
          <p:cNvPr id="441" name="Text 11"/>
          <p:cNvSpPr/>
          <p:nvPr/>
        </p:nvSpPr>
        <p:spPr>
          <a:xfrm>
            <a:off x="8275320" y="1993320"/>
            <a:ext cx="3062880" cy="5025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600" spc="-1" strike="noStrike">
                <a:solidFill>
                  <a:srgbClr val="1b2330"/>
                </a:solidFill>
                <a:latin typeface="Calibri"/>
                <a:ea typeface="Calibri"/>
              </a:rPr>
              <a:t>UI that changes state</a:t>
            </a:r>
            <a:endParaRPr b="0" lang="en-US" sz="1600" spc="-1" strike="noStrike">
              <a:solidFill>
                <a:srgbClr val="000000"/>
              </a:solidFill>
              <a:latin typeface="Arial"/>
            </a:endParaRPr>
          </a:p>
        </p:txBody>
      </p:sp>
      <p:sp>
        <p:nvSpPr>
          <p:cNvPr id="442" name="Text 12"/>
          <p:cNvSpPr/>
          <p:nvPr/>
        </p:nvSpPr>
        <p:spPr>
          <a:xfrm>
            <a:off x="8275320" y="2514600"/>
            <a:ext cx="3108600" cy="5482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300" spc="-1" strike="noStrike">
                <a:solidFill>
                  <a:srgbClr val="0a7d43"/>
                </a:solidFill>
                <a:latin typeface="Consolas"/>
                <a:ea typeface="Consolas"/>
              </a:rPr>
              <a:t>stateDescription + liveRegion</a:t>
            </a:r>
            <a:endParaRPr b="0" lang="en-US" sz="1300" spc="-1" strike="noStrike">
              <a:solidFill>
                <a:srgbClr val="000000"/>
              </a:solidFill>
              <a:latin typeface="Arial"/>
            </a:endParaRPr>
          </a:p>
        </p:txBody>
      </p:sp>
      <p:sp>
        <p:nvSpPr>
          <p:cNvPr id="443" name="Shape 13"/>
          <p:cNvSpPr/>
          <p:nvPr/>
        </p:nvSpPr>
        <p:spPr>
          <a:xfrm>
            <a:off x="548640" y="3474720"/>
            <a:ext cx="3520080" cy="1782720"/>
          </a:xfrm>
          <a:prstGeom prst="roundRect">
            <a:avLst>
              <a:gd name="adj" fmla="val 7179"/>
            </a:avLst>
          </a:prstGeom>
          <a:solidFill>
            <a:srgbClr val="eeeafb"/>
          </a:solidFill>
          <a:ln w="12700">
            <a:solidFill>
              <a:srgbClr val="eeeaf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44" name="Text 14"/>
          <p:cNvSpPr/>
          <p:nvPr/>
        </p:nvSpPr>
        <p:spPr>
          <a:xfrm>
            <a:off x="777240" y="3657600"/>
            <a:ext cx="548280" cy="3196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400" spc="-1" strike="noStrike">
                <a:solidFill>
                  <a:srgbClr val="5b6472"/>
                </a:solidFill>
                <a:latin typeface="Arial"/>
                <a:ea typeface="Arial"/>
              </a:rPr>
              <a:t>04</a:t>
            </a:r>
            <a:endParaRPr b="0" lang="en-US" sz="1400" spc="-1" strike="noStrike">
              <a:solidFill>
                <a:srgbClr val="000000"/>
              </a:solidFill>
              <a:latin typeface="Arial"/>
            </a:endParaRPr>
          </a:p>
        </p:txBody>
      </p:sp>
      <p:sp>
        <p:nvSpPr>
          <p:cNvPr id="445" name="Text 15"/>
          <p:cNvSpPr/>
          <p:nvPr/>
        </p:nvSpPr>
        <p:spPr>
          <a:xfrm>
            <a:off x="777240" y="4005000"/>
            <a:ext cx="3062880" cy="5025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600" spc="-1" strike="noStrike">
                <a:solidFill>
                  <a:srgbClr val="1b2330"/>
                </a:solidFill>
                <a:latin typeface="Calibri"/>
                <a:ea typeface="Calibri"/>
              </a:rPr>
              <a:t>Simple grouped text</a:t>
            </a:r>
            <a:endParaRPr b="0" lang="en-US" sz="1600" spc="-1" strike="noStrike">
              <a:solidFill>
                <a:srgbClr val="000000"/>
              </a:solidFill>
              <a:latin typeface="Arial"/>
            </a:endParaRPr>
          </a:p>
        </p:txBody>
      </p:sp>
      <p:sp>
        <p:nvSpPr>
          <p:cNvPr id="446" name="Text 16"/>
          <p:cNvSpPr/>
          <p:nvPr/>
        </p:nvSpPr>
        <p:spPr>
          <a:xfrm>
            <a:off x="777240" y="4526280"/>
            <a:ext cx="3108600" cy="5482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300" spc="-1" strike="noStrike">
                <a:solidFill>
                  <a:srgbClr val="5b3fd6"/>
                </a:solidFill>
                <a:latin typeface="Consolas"/>
                <a:ea typeface="Consolas"/>
              </a:rPr>
              <a:t>semantics(mergeDescendants = true)</a:t>
            </a:r>
            <a:endParaRPr b="0" lang="en-US" sz="1300" spc="-1" strike="noStrike">
              <a:solidFill>
                <a:srgbClr val="000000"/>
              </a:solidFill>
              <a:latin typeface="Arial"/>
            </a:endParaRPr>
          </a:p>
        </p:txBody>
      </p:sp>
      <p:sp>
        <p:nvSpPr>
          <p:cNvPr id="447" name="Shape 17"/>
          <p:cNvSpPr/>
          <p:nvPr/>
        </p:nvSpPr>
        <p:spPr>
          <a:xfrm>
            <a:off x="4297680" y="3474720"/>
            <a:ext cx="3520080" cy="1782720"/>
          </a:xfrm>
          <a:prstGeom prst="roundRect">
            <a:avLst>
              <a:gd name="adj" fmla="val 7179"/>
            </a:avLst>
          </a:prstGeom>
          <a:solidFill>
            <a:srgbClr val="eeeafb"/>
          </a:solidFill>
          <a:ln w="12700">
            <a:solidFill>
              <a:srgbClr val="eeeaf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48" name="Text 18"/>
          <p:cNvSpPr/>
          <p:nvPr/>
        </p:nvSpPr>
        <p:spPr>
          <a:xfrm>
            <a:off x="4526280" y="3657600"/>
            <a:ext cx="548280" cy="3196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400" spc="-1" strike="noStrike">
                <a:solidFill>
                  <a:srgbClr val="5b6472"/>
                </a:solidFill>
                <a:latin typeface="Arial"/>
                <a:ea typeface="Arial"/>
              </a:rPr>
              <a:t>05</a:t>
            </a:r>
            <a:endParaRPr b="0" lang="en-US" sz="1400" spc="-1" strike="noStrike">
              <a:solidFill>
                <a:srgbClr val="000000"/>
              </a:solidFill>
              <a:latin typeface="Arial"/>
            </a:endParaRPr>
          </a:p>
        </p:txBody>
      </p:sp>
      <p:sp>
        <p:nvSpPr>
          <p:cNvPr id="449" name="Text 19"/>
          <p:cNvSpPr/>
          <p:nvPr/>
        </p:nvSpPr>
        <p:spPr>
          <a:xfrm>
            <a:off x="4526280" y="4005000"/>
            <a:ext cx="3062880" cy="5025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600" spc="-1" strike="noStrike">
                <a:solidFill>
                  <a:srgbClr val="1b2330"/>
                </a:solidFill>
                <a:latin typeface="Calibri"/>
                <a:ea typeface="Calibri"/>
              </a:rPr>
              <a:t>Complex rows &amp; feed cards</a:t>
            </a:r>
            <a:endParaRPr b="0" lang="en-US" sz="1600" spc="-1" strike="noStrike">
              <a:solidFill>
                <a:srgbClr val="000000"/>
              </a:solidFill>
              <a:latin typeface="Arial"/>
            </a:endParaRPr>
          </a:p>
        </p:txBody>
      </p:sp>
      <p:sp>
        <p:nvSpPr>
          <p:cNvPr id="450" name="Text 20"/>
          <p:cNvSpPr/>
          <p:nvPr/>
        </p:nvSpPr>
        <p:spPr>
          <a:xfrm>
            <a:off x="4526280" y="4526280"/>
            <a:ext cx="3108600" cy="5482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300" spc="-1" strike="noStrike">
                <a:solidFill>
                  <a:srgbClr val="5b3fd6"/>
                </a:solidFill>
                <a:latin typeface="Consolas"/>
                <a:ea typeface="Consolas"/>
              </a:rPr>
              <a:t>clearAndSetSemantics + customActions</a:t>
            </a:r>
            <a:endParaRPr b="0" lang="en-US" sz="1300" spc="-1" strike="noStrike">
              <a:solidFill>
                <a:srgbClr val="000000"/>
              </a:solidFill>
              <a:latin typeface="Arial"/>
            </a:endParaRPr>
          </a:p>
        </p:txBody>
      </p:sp>
      <p:sp>
        <p:nvSpPr>
          <p:cNvPr id="451" name="Shape 21"/>
          <p:cNvSpPr/>
          <p:nvPr/>
        </p:nvSpPr>
        <p:spPr>
          <a:xfrm>
            <a:off x="8046720" y="3474720"/>
            <a:ext cx="3520080" cy="1782720"/>
          </a:xfrm>
          <a:prstGeom prst="roundRect">
            <a:avLst>
              <a:gd name="adj" fmla="val 7179"/>
            </a:avLst>
          </a:prstGeom>
          <a:solidFill>
            <a:srgbClr val="eeeafb"/>
          </a:solidFill>
          <a:ln w="12700">
            <a:solidFill>
              <a:srgbClr val="eeeafb"/>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52" name="Text 22"/>
          <p:cNvSpPr/>
          <p:nvPr/>
        </p:nvSpPr>
        <p:spPr>
          <a:xfrm>
            <a:off x="8275320" y="3657600"/>
            <a:ext cx="548280" cy="3196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400" spc="-1" strike="noStrike">
                <a:solidFill>
                  <a:srgbClr val="5b6472"/>
                </a:solidFill>
                <a:latin typeface="Arial"/>
                <a:ea typeface="Arial"/>
              </a:rPr>
              <a:t>06</a:t>
            </a:r>
            <a:endParaRPr b="0" lang="en-US" sz="1400" spc="-1" strike="noStrike">
              <a:solidFill>
                <a:srgbClr val="000000"/>
              </a:solidFill>
              <a:latin typeface="Arial"/>
            </a:endParaRPr>
          </a:p>
        </p:txBody>
      </p:sp>
      <p:sp>
        <p:nvSpPr>
          <p:cNvPr id="453" name="Text 23"/>
          <p:cNvSpPr/>
          <p:nvPr/>
        </p:nvSpPr>
        <p:spPr>
          <a:xfrm>
            <a:off x="8275320" y="4005000"/>
            <a:ext cx="3062880" cy="5025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600" spc="-1" strike="noStrike">
                <a:solidFill>
                  <a:srgbClr val="1b2330"/>
                </a:solidFill>
                <a:latin typeface="Calibri"/>
                <a:ea typeface="Calibri"/>
              </a:rPr>
              <a:t>Streaming or replaced content</a:t>
            </a:r>
            <a:endParaRPr b="0" lang="en-US" sz="1600" spc="-1" strike="noStrike">
              <a:solidFill>
                <a:srgbClr val="000000"/>
              </a:solidFill>
              <a:latin typeface="Arial"/>
            </a:endParaRPr>
          </a:p>
        </p:txBody>
      </p:sp>
      <p:sp>
        <p:nvSpPr>
          <p:cNvPr id="454" name="Text 24"/>
          <p:cNvSpPr/>
          <p:nvPr/>
        </p:nvSpPr>
        <p:spPr>
          <a:xfrm>
            <a:off x="8275320" y="4526280"/>
            <a:ext cx="3108600" cy="5482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300" spc="-1" strike="noStrike">
                <a:solidFill>
                  <a:srgbClr val="5b3fd6"/>
                </a:solidFill>
                <a:latin typeface="Consolas"/>
                <a:ea typeface="Consolas"/>
              </a:rPr>
              <a:t>“</a:t>
            </a:r>
            <a:r>
              <a:rPr b="1" lang="en-US" sz="1300" spc="-1" strike="noStrike">
                <a:solidFill>
                  <a:srgbClr val="5b3fd6"/>
                </a:solidFill>
                <a:latin typeface="Consolas"/>
                <a:ea typeface="Consolas"/>
              </a:rPr>
              <a:t>Loading” state + restore focus</a:t>
            </a:r>
            <a:endParaRPr b="0" lang="en-US" sz="1300" spc="-1" strike="noStrike">
              <a:solidFill>
                <a:srgbClr val="000000"/>
              </a:solidFill>
              <a:latin typeface="Arial"/>
            </a:endParaRPr>
          </a:p>
        </p:txBody>
      </p:sp>
      <p:sp>
        <p:nvSpPr>
          <p:cNvPr id="455" name="Shape 25"/>
          <p:cNvSpPr/>
          <p:nvPr/>
        </p:nvSpPr>
        <p:spPr>
          <a:xfrm>
            <a:off x="548640" y="5623560"/>
            <a:ext cx="11063880" cy="776880"/>
          </a:xfrm>
          <a:prstGeom prst="roundRect">
            <a:avLst>
              <a:gd name="adj" fmla="val 14118"/>
            </a:avLst>
          </a:prstGeom>
          <a:solidFill>
            <a:srgbClr val="0e1a2b"/>
          </a:solidFill>
          <a:ln w="12700">
            <a:solidFill>
              <a:srgbClr val="0e1a2b"/>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56" name="Text 26"/>
          <p:cNvSpPr/>
          <p:nvPr/>
        </p:nvSpPr>
        <p:spPr>
          <a:xfrm>
            <a:off x="822960" y="5623560"/>
            <a:ext cx="10606680" cy="77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50" spc="-1" strike="noStrike">
                <a:solidFill>
                  <a:srgbClr val="3ddc84"/>
                </a:solidFill>
                <a:latin typeface="Calibri"/>
                <a:ea typeface="Calibri"/>
              </a:rPr>
              <a:t>And recognise when UI can’t be fixed with semantics.  </a:t>
            </a:r>
            <a:r>
              <a:rPr b="0" lang="en-US" sz="1350" spc="-1" strike="noStrike">
                <a:solidFill>
                  <a:srgbClr val="ffffff"/>
                </a:solidFill>
                <a:latin typeface="Calibri"/>
                <a:ea typeface="Calibri"/>
              </a:rPr>
              <a:t>An infinite, auto-scrolling carousel ticks endlessly in TalkBack, is a moving tap target and ignores reduced motion — redesign it.</a:t>
            </a:r>
            <a:endParaRPr b="0" lang="en-US" sz="13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e1a2b"/>
        </a:solidFill>
      </p:bgPr>
    </p:bg>
    <p:spTree>
      <p:nvGrpSpPr>
        <p:cNvPr id="1" name=""/>
        <p:cNvGrpSpPr/>
        <p:nvPr/>
      </p:nvGrpSpPr>
      <p:grpSpPr>
        <a:xfrm>
          <a:off x="0" y="0"/>
          <a:ext cx="0" cy="0"/>
          <a:chOff x="0" y="0"/>
          <a:chExt cx="0" cy="0"/>
        </a:xfrm>
      </p:grpSpPr>
      <p:sp>
        <p:nvSpPr>
          <p:cNvPr id="457" name="Shape 0"/>
          <p:cNvSpPr/>
          <p:nvPr/>
        </p:nvSpPr>
        <p:spPr>
          <a:xfrm>
            <a:off x="548640" y="384120"/>
            <a:ext cx="1064880" cy="328680"/>
          </a:xfrm>
          <a:prstGeom prst="roundRect">
            <a:avLst>
              <a:gd name="adj" fmla="val 50000"/>
            </a:avLst>
          </a:prstGeom>
          <a:solidFill>
            <a:srgbClr val="1a2a42"/>
          </a:solidFill>
          <a:ln w="12700">
            <a:solidFill>
              <a:srgbClr val="1a2a42"/>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58" name="Text 1"/>
          <p:cNvSpPr/>
          <p:nvPr/>
        </p:nvSpPr>
        <p:spPr>
          <a:xfrm>
            <a:off x="548640" y="384120"/>
            <a:ext cx="106488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pc="199" strike="noStrike">
                <a:solidFill>
                  <a:srgbClr val="3ddc84"/>
                </a:solidFill>
                <a:latin typeface="Calibri"/>
                <a:ea typeface="Calibri"/>
              </a:rPr>
              <a:t>LIVE DEMO</a:t>
            </a:r>
            <a:endParaRPr b="0" lang="en-US" sz="1100" spc="-1" strike="noStrike">
              <a:solidFill>
                <a:srgbClr val="ffffff"/>
              </a:solidFill>
              <a:latin typeface="Arial"/>
            </a:endParaRPr>
          </a:p>
        </p:txBody>
      </p:sp>
      <p:sp>
        <p:nvSpPr>
          <p:cNvPr id="459" name="Text 2"/>
          <p:cNvSpPr/>
          <p:nvPr/>
        </p:nvSpPr>
        <p:spPr>
          <a:xfrm>
            <a:off x="548640" y="868680"/>
            <a:ext cx="6400440" cy="7311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3600" spc="-1" strike="noStrike">
                <a:solidFill>
                  <a:srgbClr val="ffffff"/>
                </a:solidFill>
                <a:latin typeface="Arial"/>
                <a:ea typeface="Arial"/>
              </a:rPr>
              <a:t>Let’s hear it</a:t>
            </a:r>
            <a:endParaRPr b="0" lang="en-US" sz="3600" spc="-1" strike="noStrike">
              <a:solidFill>
                <a:srgbClr val="ffffff"/>
              </a:solidFill>
              <a:latin typeface="Arial"/>
            </a:endParaRPr>
          </a:p>
        </p:txBody>
      </p:sp>
      <p:sp>
        <p:nvSpPr>
          <p:cNvPr id="460" name="Text 3"/>
          <p:cNvSpPr/>
          <p:nvPr/>
        </p:nvSpPr>
        <p:spPr>
          <a:xfrm>
            <a:off x="548640" y="1645920"/>
            <a:ext cx="10058040" cy="3654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600" spc="-1" strike="noStrike">
                <a:solidFill>
                  <a:srgbClr val="c9d3e3"/>
                </a:solidFill>
                <a:latin typeface="Calibri"/>
                <a:ea typeface="Calibri"/>
              </a:rPr>
              <a:t>Each screen has a broken ↔ fixed switch. TalkBack captions are on.</a:t>
            </a:r>
            <a:endParaRPr b="0" lang="en-US" sz="1600" spc="-1" strike="noStrike">
              <a:solidFill>
                <a:srgbClr val="ffffff"/>
              </a:solidFill>
              <a:latin typeface="Arial"/>
            </a:endParaRPr>
          </a:p>
        </p:txBody>
      </p:sp>
      <p:sp>
        <p:nvSpPr>
          <p:cNvPr id="461" name="Shape 4"/>
          <p:cNvSpPr/>
          <p:nvPr/>
        </p:nvSpPr>
        <p:spPr>
          <a:xfrm>
            <a:off x="548640" y="2331720"/>
            <a:ext cx="548280" cy="548280"/>
          </a:xfrm>
          <a:prstGeom prst="ellipse">
            <a:avLst/>
          </a:prstGeom>
          <a:solidFill>
            <a:srgbClr val="3ddc84"/>
          </a:solidFill>
          <a:ln w="12700">
            <a:solidFill>
              <a:srgbClr val="3ddc84"/>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62" name="Text 5"/>
          <p:cNvSpPr/>
          <p:nvPr/>
        </p:nvSpPr>
        <p:spPr>
          <a:xfrm>
            <a:off x="548640" y="2331720"/>
            <a:ext cx="548280" cy="5482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800" spc="-1" strike="noStrike">
                <a:solidFill>
                  <a:srgbClr val="0e1a2b"/>
                </a:solidFill>
                <a:latin typeface="Arial"/>
                <a:ea typeface="Arial"/>
              </a:rPr>
              <a:t>1</a:t>
            </a:r>
            <a:endParaRPr b="0" lang="en-US" sz="1800" spc="-1" strike="noStrike">
              <a:solidFill>
                <a:srgbClr val="ffffff"/>
              </a:solidFill>
              <a:latin typeface="Arial"/>
            </a:endParaRPr>
          </a:p>
        </p:txBody>
      </p:sp>
      <p:sp>
        <p:nvSpPr>
          <p:cNvPr id="463" name="Text 6"/>
          <p:cNvSpPr/>
          <p:nvPr/>
        </p:nvSpPr>
        <p:spPr>
          <a:xfrm>
            <a:off x="1325880" y="2331720"/>
            <a:ext cx="1828440" cy="548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900" spc="-1" strike="noStrike">
                <a:solidFill>
                  <a:srgbClr val="ffffff"/>
                </a:solidFill>
                <a:latin typeface="Calibri"/>
                <a:ea typeface="Calibri"/>
              </a:rPr>
              <a:t>Labels</a:t>
            </a:r>
            <a:endParaRPr b="0" lang="en-US" sz="1900" spc="-1" strike="noStrike">
              <a:solidFill>
                <a:srgbClr val="ffffff"/>
              </a:solidFill>
              <a:latin typeface="Arial"/>
            </a:endParaRPr>
          </a:p>
        </p:txBody>
      </p:sp>
      <p:sp>
        <p:nvSpPr>
          <p:cNvPr id="464" name="Text 7"/>
          <p:cNvSpPr/>
          <p:nvPr/>
        </p:nvSpPr>
        <p:spPr>
          <a:xfrm>
            <a:off x="3154680" y="2331720"/>
            <a:ext cx="5120280" cy="548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500" spc="-1" strike="noStrike">
                <a:solidFill>
                  <a:srgbClr val="c9d3e3"/>
                </a:solidFill>
                <a:latin typeface="Calibri"/>
                <a:ea typeface="Calibri"/>
              </a:rPr>
              <a:t>Heart icon: “Button…” → “Like, Button…”</a:t>
            </a:r>
            <a:endParaRPr b="0" lang="en-US" sz="1500" spc="-1" strike="noStrike">
              <a:solidFill>
                <a:srgbClr val="ffffff"/>
              </a:solidFill>
              <a:latin typeface="Arial"/>
            </a:endParaRPr>
          </a:p>
        </p:txBody>
      </p:sp>
      <p:sp>
        <p:nvSpPr>
          <p:cNvPr id="465" name="Shape 8"/>
          <p:cNvSpPr/>
          <p:nvPr/>
        </p:nvSpPr>
        <p:spPr>
          <a:xfrm>
            <a:off x="548640" y="3136320"/>
            <a:ext cx="548280" cy="548280"/>
          </a:xfrm>
          <a:prstGeom prst="ellipse">
            <a:avLst/>
          </a:prstGeom>
          <a:solidFill>
            <a:srgbClr val="3ddc84"/>
          </a:solidFill>
          <a:ln w="12700">
            <a:solidFill>
              <a:srgbClr val="3ddc84"/>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66" name="Text 9"/>
          <p:cNvSpPr/>
          <p:nvPr/>
        </p:nvSpPr>
        <p:spPr>
          <a:xfrm>
            <a:off x="548640" y="3136320"/>
            <a:ext cx="548280" cy="5482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800" spc="-1" strike="noStrike">
                <a:solidFill>
                  <a:srgbClr val="0e1a2b"/>
                </a:solidFill>
                <a:latin typeface="Arial"/>
                <a:ea typeface="Arial"/>
              </a:rPr>
              <a:t>2</a:t>
            </a:r>
            <a:endParaRPr b="0" lang="en-US" sz="1800" spc="-1" strike="noStrike">
              <a:solidFill>
                <a:srgbClr val="ffffff"/>
              </a:solidFill>
              <a:latin typeface="Arial"/>
            </a:endParaRPr>
          </a:p>
        </p:txBody>
      </p:sp>
      <p:sp>
        <p:nvSpPr>
          <p:cNvPr id="467" name="Text 10"/>
          <p:cNvSpPr/>
          <p:nvPr/>
        </p:nvSpPr>
        <p:spPr>
          <a:xfrm>
            <a:off x="1325880" y="3136320"/>
            <a:ext cx="1828440" cy="548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900" spc="-1" strike="noStrike">
                <a:solidFill>
                  <a:srgbClr val="ffffff"/>
                </a:solidFill>
                <a:latin typeface="Calibri"/>
                <a:ea typeface="Calibri"/>
              </a:rPr>
              <a:t>State</a:t>
            </a:r>
            <a:endParaRPr b="0" lang="en-US" sz="1900" spc="-1" strike="noStrike">
              <a:solidFill>
                <a:srgbClr val="ffffff"/>
              </a:solidFill>
              <a:latin typeface="Arial"/>
            </a:endParaRPr>
          </a:p>
        </p:txBody>
      </p:sp>
      <p:sp>
        <p:nvSpPr>
          <p:cNvPr id="468" name="Text 11"/>
          <p:cNvSpPr/>
          <p:nvPr/>
        </p:nvSpPr>
        <p:spPr>
          <a:xfrm>
            <a:off x="3154680" y="3136320"/>
            <a:ext cx="5120280" cy="548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500" spc="-1" strike="noStrike">
                <a:solidFill>
                  <a:srgbClr val="c9d3e3"/>
                </a:solidFill>
                <a:latin typeface="Calibri"/>
                <a:ea typeface="Calibri"/>
              </a:rPr>
              <a:t>Download, swipe away → polite “Downloaded”</a:t>
            </a:r>
            <a:endParaRPr b="0" lang="en-US" sz="1500" spc="-1" strike="noStrike">
              <a:solidFill>
                <a:srgbClr val="ffffff"/>
              </a:solidFill>
              <a:latin typeface="Arial"/>
            </a:endParaRPr>
          </a:p>
        </p:txBody>
      </p:sp>
      <p:sp>
        <p:nvSpPr>
          <p:cNvPr id="469" name="Shape 12"/>
          <p:cNvSpPr/>
          <p:nvPr/>
        </p:nvSpPr>
        <p:spPr>
          <a:xfrm>
            <a:off x="548640" y="3940920"/>
            <a:ext cx="548280" cy="548280"/>
          </a:xfrm>
          <a:prstGeom prst="ellipse">
            <a:avLst/>
          </a:prstGeom>
          <a:solidFill>
            <a:srgbClr val="3ddc84"/>
          </a:solidFill>
          <a:ln w="12700">
            <a:solidFill>
              <a:srgbClr val="3ddc84"/>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70" name="Text 13"/>
          <p:cNvSpPr/>
          <p:nvPr/>
        </p:nvSpPr>
        <p:spPr>
          <a:xfrm>
            <a:off x="548640" y="3940920"/>
            <a:ext cx="548280" cy="5482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800" spc="-1" strike="noStrike">
                <a:solidFill>
                  <a:srgbClr val="0e1a2b"/>
                </a:solidFill>
                <a:latin typeface="Arial"/>
                <a:ea typeface="Arial"/>
              </a:rPr>
              <a:t>3</a:t>
            </a:r>
            <a:endParaRPr b="0" lang="en-US" sz="1800" spc="-1" strike="noStrike">
              <a:solidFill>
                <a:srgbClr val="ffffff"/>
              </a:solidFill>
              <a:latin typeface="Arial"/>
            </a:endParaRPr>
          </a:p>
        </p:txBody>
      </p:sp>
      <p:sp>
        <p:nvSpPr>
          <p:cNvPr id="471" name="Text 14"/>
          <p:cNvSpPr/>
          <p:nvPr/>
        </p:nvSpPr>
        <p:spPr>
          <a:xfrm>
            <a:off x="1325880" y="3940920"/>
            <a:ext cx="1828440" cy="548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900" spc="-1" strike="noStrike">
                <a:solidFill>
                  <a:srgbClr val="ffffff"/>
                </a:solidFill>
                <a:latin typeface="Calibri"/>
                <a:ea typeface="Calibri"/>
              </a:rPr>
              <a:t>Grouping</a:t>
            </a:r>
            <a:endParaRPr b="0" lang="en-US" sz="1900" spc="-1" strike="noStrike">
              <a:solidFill>
                <a:srgbClr val="ffffff"/>
              </a:solidFill>
              <a:latin typeface="Arial"/>
            </a:endParaRPr>
          </a:p>
        </p:txBody>
      </p:sp>
      <p:sp>
        <p:nvSpPr>
          <p:cNvPr id="472" name="Text 15"/>
          <p:cNvSpPr/>
          <p:nvPr/>
        </p:nvSpPr>
        <p:spPr>
          <a:xfrm>
            <a:off x="3154680" y="3940920"/>
            <a:ext cx="5120280" cy="548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500" spc="-1" strike="noStrike">
                <a:solidFill>
                  <a:srgbClr val="c9d3e3"/>
                </a:solidFill>
                <a:latin typeface="Calibri"/>
                <a:ea typeface="Calibri"/>
              </a:rPr>
              <a:t>5 stops → 3 → 1 + Actions menu</a:t>
            </a:r>
            <a:endParaRPr b="0" lang="en-US" sz="1500" spc="-1" strike="noStrike">
              <a:solidFill>
                <a:srgbClr val="ffffff"/>
              </a:solidFill>
              <a:latin typeface="Arial"/>
            </a:endParaRPr>
          </a:p>
        </p:txBody>
      </p:sp>
      <p:sp>
        <p:nvSpPr>
          <p:cNvPr id="473" name="Shape 16"/>
          <p:cNvSpPr/>
          <p:nvPr/>
        </p:nvSpPr>
        <p:spPr>
          <a:xfrm>
            <a:off x="548640" y="4745880"/>
            <a:ext cx="548280" cy="548280"/>
          </a:xfrm>
          <a:prstGeom prst="ellipse">
            <a:avLst/>
          </a:prstGeom>
          <a:solidFill>
            <a:srgbClr val="3ddc84"/>
          </a:solidFill>
          <a:ln w="12700">
            <a:solidFill>
              <a:srgbClr val="3ddc84"/>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74" name="Text 17"/>
          <p:cNvSpPr/>
          <p:nvPr/>
        </p:nvSpPr>
        <p:spPr>
          <a:xfrm>
            <a:off x="548640" y="4745880"/>
            <a:ext cx="548280" cy="5482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800" spc="-1" strike="noStrike">
                <a:solidFill>
                  <a:srgbClr val="0e1a2b"/>
                </a:solidFill>
                <a:latin typeface="Arial"/>
                <a:ea typeface="Arial"/>
              </a:rPr>
              <a:t>4</a:t>
            </a:r>
            <a:endParaRPr b="0" lang="en-US" sz="1800" spc="-1" strike="noStrike">
              <a:solidFill>
                <a:srgbClr val="ffffff"/>
              </a:solidFill>
              <a:latin typeface="Arial"/>
            </a:endParaRPr>
          </a:p>
        </p:txBody>
      </p:sp>
      <p:sp>
        <p:nvSpPr>
          <p:cNvPr id="475" name="Text 18"/>
          <p:cNvSpPr/>
          <p:nvPr/>
        </p:nvSpPr>
        <p:spPr>
          <a:xfrm>
            <a:off x="1325880" y="4745880"/>
            <a:ext cx="1828440" cy="548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900" spc="-1" strike="noStrike">
                <a:solidFill>
                  <a:srgbClr val="ffffff"/>
                </a:solidFill>
                <a:latin typeface="Calibri"/>
                <a:ea typeface="Calibri"/>
              </a:rPr>
              <a:t>Streaming</a:t>
            </a:r>
            <a:endParaRPr b="0" lang="en-US" sz="1900" spc="-1" strike="noStrike">
              <a:solidFill>
                <a:srgbClr val="ffffff"/>
              </a:solidFill>
              <a:latin typeface="Arial"/>
            </a:endParaRPr>
          </a:p>
        </p:txBody>
      </p:sp>
      <p:sp>
        <p:nvSpPr>
          <p:cNvPr id="476" name="Text 19"/>
          <p:cNvSpPr/>
          <p:nvPr/>
        </p:nvSpPr>
        <p:spPr>
          <a:xfrm>
            <a:off x="3154680" y="4745880"/>
            <a:ext cx="5120280" cy="548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500" spc="-1" strike="noStrike">
                <a:solidFill>
                  <a:srgbClr val="c9d3e3"/>
                </a:solidFill>
                <a:latin typeface="Calibri"/>
                <a:ea typeface="Calibri"/>
              </a:rPr>
              <a:t>Mode 1 → 3 (painful) → 5 (“Loading”, then paragraph)</a:t>
            </a:r>
            <a:endParaRPr b="0" lang="en-US" sz="1500" spc="-1" strike="noStrike">
              <a:solidFill>
                <a:srgbClr val="ffffff"/>
              </a:solidFill>
              <a:latin typeface="Arial"/>
            </a:endParaRPr>
          </a:p>
        </p:txBody>
      </p:sp>
      <p:sp>
        <p:nvSpPr>
          <p:cNvPr id="477" name="Shape 20"/>
          <p:cNvSpPr/>
          <p:nvPr/>
        </p:nvSpPr>
        <p:spPr>
          <a:xfrm>
            <a:off x="548640" y="5550480"/>
            <a:ext cx="548280" cy="548280"/>
          </a:xfrm>
          <a:prstGeom prst="ellipse">
            <a:avLst/>
          </a:prstGeom>
          <a:solidFill>
            <a:srgbClr val="3ddc84"/>
          </a:solidFill>
          <a:ln w="12700">
            <a:solidFill>
              <a:srgbClr val="3ddc84"/>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78" name="Text 21"/>
          <p:cNvSpPr/>
          <p:nvPr/>
        </p:nvSpPr>
        <p:spPr>
          <a:xfrm>
            <a:off x="548640" y="5550480"/>
            <a:ext cx="548280" cy="5482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800" spc="-1" strike="noStrike">
                <a:solidFill>
                  <a:srgbClr val="0e1a2b"/>
                </a:solidFill>
                <a:latin typeface="Arial"/>
                <a:ea typeface="Arial"/>
              </a:rPr>
              <a:t>5</a:t>
            </a:r>
            <a:endParaRPr b="0" lang="en-US" sz="1800" spc="-1" strike="noStrike">
              <a:solidFill>
                <a:srgbClr val="ffffff"/>
              </a:solidFill>
              <a:latin typeface="Arial"/>
            </a:endParaRPr>
          </a:p>
        </p:txBody>
      </p:sp>
      <p:sp>
        <p:nvSpPr>
          <p:cNvPr id="479" name="Text 22"/>
          <p:cNvSpPr/>
          <p:nvPr/>
        </p:nvSpPr>
        <p:spPr>
          <a:xfrm>
            <a:off x="1325880" y="5550480"/>
            <a:ext cx="1828440" cy="548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900" spc="-1" strike="noStrike">
                <a:solidFill>
                  <a:srgbClr val="ffffff"/>
                </a:solidFill>
                <a:latin typeface="Calibri"/>
                <a:ea typeface="Calibri"/>
              </a:rPr>
              <a:t>Focus</a:t>
            </a:r>
            <a:endParaRPr b="0" lang="en-US" sz="1900" spc="-1" strike="noStrike">
              <a:solidFill>
                <a:srgbClr val="ffffff"/>
              </a:solidFill>
              <a:latin typeface="Arial"/>
            </a:endParaRPr>
          </a:p>
        </p:txBody>
      </p:sp>
      <p:sp>
        <p:nvSpPr>
          <p:cNvPr id="480" name="Text 23"/>
          <p:cNvSpPr/>
          <p:nvPr/>
        </p:nvSpPr>
        <p:spPr>
          <a:xfrm>
            <a:off x="3154680" y="5550480"/>
            <a:ext cx="5120280" cy="548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500" spc="-1" strike="noStrike">
                <a:solidFill>
                  <a:srgbClr val="c9d3e3"/>
                </a:solidFill>
                <a:latin typeface="Calibri"/>
                <a:ea typeface="Calibri"/>
              </a:rPr>
              <a:t>See more: focus lost → focus on first new pill</a:t>
            </a:r>
            <a:endParaRPr b="0" lang="en-US" sz="1500" spc="-1" strike="noStrike">
              <a:solidFill>
                <a:srgbClr val="ffffff"/>
              </a:solidFill>
              <a:latin typeface="Arial"/>
            </a:endParaRPr>
          </a:p>
        </p:txBody>
      </p:sp>
      <p:sp>
        <p:nvSpPr>
          <p:cNvPr id="481" name="Shape 24"/>
          <p:cNvSpPr/>
          <p:nvPr/>
        </p:nvSpPr>
        <p:spPr>
          <a:xfrm>
            <a:off x="8595360" y="2331720"/>
            <a:ext cx="3017160" cy="3748680"/>
          </a:xfrm>
          <a:prstGeom prst="roundRect">
            <a:avLst>
              <a:gd name="adj" fmla="val 4848"/>
            </a:avLst>
          </a:prstGeom>
          <a:solidFill>
            <a:srgbClr val="1a2a42"/>
          </a:solidFill>
          <a:ln w="12700">
            <a:solidFill>
              <a:srgbClr val="1a2a42"/>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82" name="Text 25"/>
          <p:cNvSpPr/>
          <p:nvPr/>
        </p:nvSpPr>
        <p:spPr>
          <a:xfrm>
            <a:off x="8823960" y="2514600"/>
            <a:ext cx="2651400" cy="3654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600" spc="-1" strike="noStrike">
                <a:solidFill>
                  <a:srgbClr val="3ddc84"/>
                </a:solidFill>
                <a:latin typeface="Calibri"/>
                <a:ea typeface="Calibri"/>
              </a:rPr>
              <a:t>Demo kit</a:t>
            </a:r>
            <a:endParaRPr b="0" lang="en-US" sz="1600" spc="-1" strike="noStrike">
              <a:solidFill>
                <a:srgbClr val="ffffff"/>
              </a:solidFill>
              <a:latin typeface="Arial"/>
            </a:endParaRPr>
          </a:p>
        </p:txBody>
      </p:sp>
      <p:sp>
        <p:nvSpPr>
          <p:cNvPr id="483" name="Text 26"/>
          <p:cNvSpPr/>
          <p:nvPr/>
        </p:nvSpPr>
        <p:spPr>
          <a:xfrm>
            <a:off x="8823960" y="2971800"/>
            <a:ext cx="2697120" cy="2194200"/>
          </a:xfrm>
          <a:prstGeom prst="rect">
            <a:avLst/>
          </a:prstGeom>
          <a:noFill/>
          <a:ln w="0">
            <a:noFill/>
          </a:ln>
        </p:spPr>
        <p:style>
          <a:lnRef idx="0"/>
          <a:fillRef idx="0"/>
          <a:effectRef idx="0"/>
          <a:fontRef idx="minor"/>
        </p:style>
        <p:txBody>
          <a:bodyPr lIns="0" rIns="0" tIns="0" bIns="0" anchor="t">
            <a:noAutofit/>
          </a:bodyPr>
          <a:p>
            <a:pPr defTabSz="914400">
              <a:lnSpc>
                <a:spcPct val="100000"/>
              </a:lnSpc>
              <a:spcAft>
                <a:spcPts val="400"/>
              </a:spcAft>
              <a:tabLst>
                <a:tab algn="l" pos="0"/>
              </a:tabLst>
            </a:pPr>
            <a:r>
              <a:rPr b="0" lang="en-US" sz="1150" spc="-1" strike="noStrike">
                <a:solidFill>
                  <a:srgbClr val="ffffff"/>
                </a:solidFill>
                <a:latin typeface="Consolas"/>
                <a:ea typeface="Consolas"/>
              </a:rPr>
              <a:t>A11yDemoApp.kt</a:t>
            </a:r>
            <a:endParaRPr b="0" lang="en-US" sz="1150" spc="-1" strike="noStrike">
              <a:solidFill>
                <a:srgbClr val="ffffff"/>
              </a:solidFill>
              <a:latin typeface="Arial"/>
            </a:endParaRPr>
          </a:p>
          <a:p>
            <a:pPr defTabSz="914400">
              <a:lnSpc>
                <a:spcPct val="100000"/>
              </a:lnSpc>
              <a:spcAft>
                <a:spcPts val="400"/>
              </a:spcAft>
              <a:tabLst>
                <a:tab algn="l" pos="0"/>
              </a:tabLst>
            </a:pPr>
            <a:r>
              <a:rPr b="0" lang="en-US" sz="1150" spc="-1" strike="noStrike">
                <a:solidFill>
                  <a:srgbClr val="ffffff"/>
                </a:solidFill>
                <a:latin typeface="Consolas"/>
                <a:ea typeface="Consolas"/>
              </a:rPr>
              <a:t>Demo1_Labels.kt</a:t>
            </a:r>
            <a:endParaRPr b="0" lang="en-US" sz="1150" spc="-1" strike="noStrike">
              <a:solidFill>
                <a:srgbClr val="ffffff"/>
              </a:solidFill>
              <a:latin typeface="Arial"/>
            </a:endParaRPr>
          </a:p>
          <a:p>
            <a:pPr defTabSz="914400">
              <a:lnSpc>
                <a:spcPct val="100000"/>
              </a:lnSpc>
              <a:spcAft>
                <a:spcPts val="400"/>
              </a:spcAft>
              <a:tabLst>
                <a:tab algn="l" pos="0"/>
              </a:tabLst>
            </a:pPr>
            <a:r>
              <a:rPr b="0" lang="en-US" sz="1150" spc="-1" strike="noStrike">
                <a:solidFill>
                  <a:srgbClr val="ffffff"/>
                </a:solidFill>
                <a:latin typeface="Consolas"/>
                <a:ea typeface="Consolas"/>
              </a:rPr>
              <a:t>Demo2_DownloadState.kt</a:t>
            </a:r>
            <a:endParaRPr b="0" lang="en-US" sz="1150" spc="-1" strike="noStrike">
              <a:solidFill>
                <a:srgbClr val="ffffff"/>
              </a:solidFill>
              <a:latin typeface="Arial"/>
            </a:endParaRPr>
          </a:p>
          <a:p>
            <a:pPr defTabSz="914400">
              <a:lnSpc>
                <a:spcPct val="100000"/>
              </a:lnSpc>
              <a:spcAft>
                <a:spcPts val="400"/>
              </a:spcAft>
              <a:tabLst>
                <a:tab algn="l" pos="0"/>
              </a:tabLst>
            </a:pPr>
            <a:r>
              <a:rPr b="0" lang="en-US" sz="1150" spc="-1" strike="noStrike">
                <a:solidFill>
                  <a:srgbClr val="ffffff"/>
                </a:solidFill>
                <a:latin typeface="Consolas"/>
                <a:ea typeface="Consolas"/>
              </a:rPr>
              <a:t>Demo3_Grouping.kt</a:t>
            </a:r>
            <a:endParaRPr b="0" lang="en-US" sz="1150" spc="-1" strike="noStrike">
              <a:solidFill>
                <a:srgbClr val="ffffff"/>
              </a:solidFill>
              <a:latin typeface="Arial"/>
            </a:endParaRPr>
          </a:p>
          <a:p>
            <a:pPr defTabSz="914400">
              <a:lnSpc>
                <a:spcPct val="100000"/>
              </a:lnSpc>
              <a:spcAft>
                <a:spcPts val="400"/>
              </a:spcAft>
              <a:tabLst>
                <a:tab algn="l" pos="0"/>
              </a:tabLst>
            </a:pPr>
            <a:r>
              <a:rPr b="0" lang="en-US" sz="1150" spc="-1" strike="noStrike">
                <a:solidFill>
                  <a:srgbClr val="ffffff"/>
                </a:solidFill>
                <a:latin typeface="Consolas"/>
                <a:ea typeface="Consolas"/>
              </a:rPr>
              <a:t>Demo4_StreamingText.kt</a:t>
            </a:r>
            <a:endParaRPr b="0" lang="en-US" sz="1150" spc="-1" strike="noStrike">
              <a:solidFill>
                <a:srgbClr val="ffffff"/>
              </a:solidFill>
              <a:latin typeface="Arial"/>
            </a:endParaRPr>
          </a:p>
          <a:p>
            <a:pPr defTabSz="914400">
              <a:lnSpc>
                <a:spcPct val="100000"/>
              </a:lnSpc>
              <a:spcAft>
                <a:spcPts val="400"/>
              </a:spcAft>
              <a:tabLst>
                <a:tab algn="l" pos="0"/>
              </a:tabLst>
            </a:pPr>
            <a:r>
              <a:rPr b="0" lang="en-US" sz="1150" spc="-1" strike="noStrike">
                <a:solidFill>
                  <a:srgbClr val="ffffff"/>
                </a:solidFill>
                <a:latin typeface="Consolas"/>
                <a:ea typeface="Consolas"/>
              </a:rPr>
              <a:t>Demo5_SeeMoreFocus.kt</a:t>
            </a:r>
            <a:endParaRPr b="0" lang="en-US" sz="1150" spc="-1" strike="noStrike">
              <a:solidFill>
                <a:srgbClr val="ffffff"/>
              </a:solidFill>
              <a:latin typeface="Arial"/>
            </a:endParaRPr>
          </a:p>
          <a:p>
            <a:pPr defTabSz="914400">
              <a:lnSpc>
                <a:spcPct val="100000"/>
              </a:lnSpc>
              <a:spcAft>
                <a:spcPts val="400"/>
              </a:spcAft>
              <a:tabLst>
                <a:tab algn="l" pos="0"/>
              </a:tabLst>
            </a:pPr>
            <a:r>
              <a:rPr b="0" lang="en-US" sz="1150" spc="-1" strike="noStrike">
                <a:solidFill>
                  <a:srgbClr val="ffffff"/>
                </a:solidFill>
                <a:latin typeface="Consolas"/>
                <a:ea typeface="Consolas"/>
              </a:rPr>
              <a:t>SemanticsDemoTest.kt</a:t>
            </a:r>
            <a:endParaRPr b="0" lang="en-US" sz="1150" spc="-1" strike="noStrike">
              <a:solidFill>
                <a:srgbClr val="ffffff"/>
              </a:solidFill>
              <a:latin typeface="Arial"/>
            </a:endParaRPr>
          </a:p>
        </p:txBody>
      </p:sp>
      <p:sp>
        <p:nvSpPr>
          <p:cNvPr id="484" name="Text 27"/>
          <p:cNvSpPr/>
          <p:nvPr/>
        </p:nvSpPr>
        <p:spPr>
          <a:xfrm>
            <a:off x="8823960" y="5440680"/>
            <a:ext cx="2651400" cy="3654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i="1" lang="en-US" sz="1150" spc="-1" strike="noStrike">
                <a:solidFill>
                  <a:srgbClr val="9aa8bd"/>
                </a:solidFill>
                <a:latin typeface="Calibri"/>
                <a:ea typeface="Calibri"/>
              </a:rPr>
              <a:t>Mirror with scrcpy · volume up</a:t>
            </a:r>
            <a:endParaRPr b="0" lang="en-US" sz="115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e1a2b"/>
        </a:solidFill>
      </p:bgPr>
    </p:bg>
    <p:spTree>
      <p:nvGrpSpPr>
        <p:cNvPr id="1" name=""/>
        <p:cNvGrpSpPr/>
        <p:nvPr/>
      </p:nvGrpSpPr>
      <p:grpSpPr>
        <a:xfrm>
          <a:off x="0" y="0"/>
          <a:ext cx="0" cy="0"/>
          <a:chOff x="0" y="0"/>
          <a:chExt cx="0" cy="0"/>
        </a:xfrm>
      </p:grpSpPr>
      <p:sp>
        <p:nvSpPr>
          <p:cNvPr id="485" name="Text 0"/>
          <p:cNvSpPr/>
          <p:nvPr/>
        </p:nvSpPr>
        <p:spPr>
          <a:xfrm>
            <a:off x="731520" y="1828800"/>
            <a:ext cx="7314840" cy="10054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5400" spc="-1" strike="noStrike">
                <a:solidFill>
                  <a:srgbClr val="ffffff"/>
                </a:solidFill>
                <a:latin typeface="Arial"/>
                <a:ea typeface="Arial"/>
              </a:rPr>
              <a:t>Thank you</a:t>
            </a:r>
            <a:endParaRPr b="0" lang="en-US" sz="5400" spc="-1" strike="noStrike">
              <a:solidFill>
                <a:srgbClr val="ffffff"/>
              </a:solidFill>
              <a:latin typeface="Arial"/>
            </a:endParaRPr>
          </a:p>
        </p:txBody>
      </p:sp>
      <p:sp>
        <p:nvSpPr>
          <p:cNvPr id="486" name="Text 1"/>
          <p:cNvSpPr/>
          <p:nvPr/>
        </p:nvSpPr>
        <p:spPr>
          <a:xfrm>
            <a:off x="731520" y="2880360"/>
            <a:ext cx="7314840" cy="6397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endParaRPr b="0" lang="en-US" sz="18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9</TotalTime>
  <Words>0</Words>
  <Application>LibreOffice/24.2.3.2$Windows_X86_64 LibreOffice_project/433d9c2ded56988e8a90e6b2e771ee4e6a5ab2ba</Application>
  <Paragraphs>0</Paragraphs>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Make Compose UI Speak</dc:title>
  <dc:description/>
  <cp:lastModifiedBy/>
  <cp:revision>3</cp:revision>
  <dcterms:created xsi:type="dcterms:W3CDTF">2026-10-01T02:01:06Z</dcterms:created>
  <dcterms:modified xsi:type="dcterms:W3CDTF">2026-09-30T21:48:50Z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15</vt:i4>
  </property>
  <property fmtid="{D5CDD505-2E9C-101B-9397-08002B2CF9AE}" pid="3" name="PresentationFormat">
    <vt:lpwstr>On-screen Show (16:9)</vt:lpwstr>
  </property>
  <property fmtid="{D5CDD505-2E9C-101B-9397-08002B2CF9AE}" pid="4" name="Slides">
    <vt:i4>15</vt:i4>
  </property>
</Properties>
</file>
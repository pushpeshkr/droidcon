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[0:00–0:10]
Quick one today: the new Styles API in Compose Foundation 1.12 — experimental, so now is the moment to try it and give feedback.
In three minutes: why it exists, how you use it, why it's fast, and when to pick a Style versus a Modifier.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[0:10–0:35]
Apps increasingly want their own look, and most sit somewhere between full Material and fully custom.
Example from Jetsnack: a filter chip with a gradient. Material's chip only takes a single Color. So you make the chip transparent, wrap it in a Box with a gradient background, re-apply the shape, and re-implement pressed and selected yourself. It works, but it's messy and hard to debug. The other option is forking Material and losing its accessibility, RTL and interaction defaults.
Look at Jetsnack's own Button: seven visual parameters. Styles replace all of them with one standard parameter.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[0:35–1:00]
So what is a Style? An interface that defines the appearance of a component — a specialized modifier that gives you performance and reusability for free. Important: it's not here to replace modifiers; it replaces the visual parameters.
Three fundamentals. Override: if a property is set twice, the last one wins. Reusable: define a style once and pass it anywhere. Mergeable: combine styles with Style(a, b) or "a then b".
The one that surprises people: with modifiers, padding 32 then top 16 adds up to 48dp on top. In a style, the later top padding overrides it — you get 16dp.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[1:00–1:30]
Two use cases. One: make your own component styleable. Under the hood Jetsnack's button is just a clickable Row. Add a style parameter defaulting to Style — just like you always add a modifier parameter — create a style state from the interaction source, and apply Modifier.styleable.
Two: use a component that has a style parameter. Here buttonStyle sets the base look, gradientStyle adds the gradient and shadows, and we merge them.
Order matters: both define a background, so whichever comes last wins. Flip them and you get a gray button that still has the shadows, because only the overlapping property is overridden.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[1:30–1:55]
Styling by interaction state is built in: default, pressed, hovered and focused — plus custom states, which are in the docs. Define all of them; your app may run on a phone, a TV with a D-pad, or a desktop with a mouse.
Add a block after Style(...): pressed gets a solid purple, hovered lavender, focused a border.
Wrap any property in animate and the transition between states is automatic — pass a spec like tween to tune it. All the state tracking and animate*AsState variables you used to write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[1:55–2:15]
Performance. In Google's benchmarks from the talk: about 70% fewer allocations and 2.3 times faster to the next frame.
Three reasons. Phase shifting: styles target layout and draw, so a changing value triggers a redraw instead of a recomposition. Reduced overhead: a single lambda instead of a chain of modifier objects. Lazy allocation: animation resources are only created when an animation actually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[2:15–2:40]
Side by side. Modifiers are the low-level building blocks: behaviour, semantics, additive properties and complex layouts. Styles are a level above, for visual appearance, individual item sizing and themeable properties.
Modifiers add up; styles override. Modifiers aren't designed to live in a theme; styles are. Modifiers often run through every phase; styles avoid recomposition. And animation is built into styles.
Remember: styles sit on top of modifiers. They don't replace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[2:40–3:00]
So: choose a Style to override a component's defaults, for high-performance interaction-state animations, or to define a theme-wide look for a component. Choose a Modifier to add behaviour like clickable or gestures, for one-off complex layouts, or when you need properties to add up.
To try it: Foundation 1.12, opt in to the experimental API, and use the docs and the styles agent skill. It's experimental, so feedback now actually shapes the API. Thanks!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731520" y="1188720"/>
            <a:ext cx="2926080" cy="365760"/>
          </a:xfrm>
          <a:prstGeom prst="roundRect">
            <a:avLst>
              <a:gd name="adj" fmla="val 50000"/>
            </a:avLst>
          </a:prstGeom>
          <a:solidFill>
            <a:srgbClr val="4A1D1D"/>
          </a:solidFill>
          <a:ln w="12700">
            <a:solidFill>
              <a:srgbClr val="E57373"/>
            </a:solidFill>
            <a:prstDash val="solid"/>
          </a:ln>
        </p:spPr>
      </p:sp>
      <p:sp>
        <p:nvSpPr>
          <p:cNvPr id="3" name="Text 1"/>
          <p:cNvSpPr txBox="1"/>
          <p:nvPr/>
        </p:nvSpPr>
        <p:spPr>
          <a:xfrm>
            <a:off x="731520" y="1188720"/>
            <a:ext cx="2926080" cy="365760"/>
          </a:xfrm>
          <a:prstGeom prst="rect">
            <a:avLst/>
          </a:prstGeom>
          <a:noFill/>
          <a:ln/>
        </p:spPr>
        <p:txBody>
          <a:bodyPr wrap="square" lIns="0" tIns="0" rIns="0" bIns="0" rtlCol="0" anchor="ctr"/>
          <a:lstStyle/>
          <a:p>
            <a:pPr algn="ctr" indent="0" marL="0">
              <a:buNone/>
            </a:pPr>
            <a:r>
              <a:rPr lang="en-US" sz="1150" b="1" spc="100" kern="0" dirty="0">
                <a:solidFill>
                  <a:srgbClr val="FFB4B4"/>
                </a:solidFill>
                <a:latin typeface="Calibri" pitchFamily="34" charset="0"/>
                <a:ea typeface="Calibri" pitchFamily="34" charset="-122"/>
                <a:cs typeface="Calibri" pitchFamily="34" charset="-120"/>
              </a:rPr>
              <a:t>EXPERIMENTAL · FOUNDATION 1.12</a:t>
            </a:r>
            <a:endParaRPr lang="en-US" sz="1150" dirty="0"/>
          </a:p>
        </p:txBody>
      </p:sp>
      <p:sp>
        <p:nvSpPr>
          <p:cNvPr id="4" name="Text 2"/>
          <p:cNvSpPr txBox="1"/>
          <p:nvPr/>
        </p:nvSpPr>
        <p:spPr>
          <a:xfrm>
            <a:off x="731520" y="1783080"/>
            <a:ext cx="6583680" cy="173736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Styles in</a:t>
            </a:r>
            <a:endParaRPr lang="en-US" sz="4800" dirty="0"/>
          </a:p>
          <a:p>
            <a:pPr indent="0" marL="0">
              <a:buNone/>
            </a:pPr>
            <a:r>
              <a:rPr lang="en-US" sz="4800" b="1" dirty="0">
                <a:solidFill>
                  <a:srgbClr val="FFFFFF"/>
                </a:solidFill>
                <a:latin typeface="Arial" pitchFamily="34" charset="0"/>
                <a:ea typeface="Arial" pitchFamily="34" charset="-122"/>
                <a:cs typeface="Arial" pitchFamily="34" charset="-120"/>
              </a:rPr>
              <a:t>Jetpack Compose</a:t>
            </a:r>
            <a:endParaRPr lang="en-US" sz="4800" dirty="0"/>
          </a:p>
        </p:txBody>
      </p:sp>
      <p:sp>
        <p:nvSpPr>
          <p:cNvPr id="5" name="Text 3"/>
          <p:cNvSpPr txBox="1"/>
          <p:nvPr/>
        </p:nvSpPr>
        <p:spPr>
          <a:xfrm>
            <a:off x="731520" y="3657600"/>
            <a:ext cx="6035040" cy="914400"/>
          </a:xfrm>
          <a:prstGeom prst="rect">
            <a:avLst/>
          </a:prstGeom>
          <a:noFill/>
          <a:ln/>
        </p:spPr>
        <p:txBody>
          <a:bodyPr wrap="square" lIns="0" tIns="0" rIns="0" bIns="0" rtlCol="0" anchor="t"/>
          <a:lstStyle/>
          <a:p>
            <a:pPr indent="0" marL="0">
              <a:buNone/>
            </a:pPr>
            <a:r>
              <a:rPr lang="en-US" sz="1900" dirty="0">
                <a:solidFill>
                  <a:srgbClr val="C9D3E3"/>
                </a:solidFill>
                <a:latin typeface="Calibri" pitchFamily="34" charset="0"/>
                <a:ea typeface="Calibri" pitchFamily="34" charset="-122"/>
                <a:cs typeface="Calibri" pitchFamily="34" charset="-120"/>
              </a:rPr>
              <a:t>Separate form from function: one style parameter for state-based, animated, themeable components.</a:t>
            </a:r>
            <a:endParaRPr lang="en-US" sz="1900" dirty="0"/>
          </a:p>
        </p:txBody>
      </p:sp>
      <p:sp>
        <p:nvSpPr>
          <p:cNvPr id="6" name="Text 4"/>
          <p:cNvSpPr txBox="1"/>
          <p:nvPr/>
        </p:nvSpPr>
        <p:spPr>
          <a:xfrm>
            <a:off x="731520" y="5120640"/>
            <a:ext cx="594360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Ram  ·  3-minute lightning talk</a:t>
            </a:r>
            <a:endParaRPr lang="en-US" sz="1600" dirty="0"/>
          </a:p>
        </p:txBody>
      </p:sp>
      <p:sp>
        <p:nvSpPr>
          <p:cNvPr id="7" name="Text 5"/>
          <p:cNvSpPr txBox="1"/>
          <p:nvPr/>
        </p:nvSpPr>
        <p:spPr>
          <a:xfrm>
            <a:off x="731520" y="5532120"/>
            <a:ext cx="6583680" cy="320040"/>
          </a:xfrm>
          <a:prstGeom prst="rect">
            <a:avLst/>
          </a:prstGeom>
          <a:noFill/>
          <a:ln/>
        </p:spPr>
        <p:txBody>
          <a:bodyPr wrap="square" lIns="0" tIns="0" rIns="0" bIns="0" rtlCol="0" anchor="t"/>
          <a:lstStyle/>
          <a:p>
            <a:pPr indent="0" marL="0">
              <a:buNone/>
            </a:pPr>
            <a:r>
              <a:rPr lang="en-US" sz="1200" dirty="0">
                <a:solidFill>
                  <a:srgbClr val="9AA8BD"/>
                </a:solidFill>
                <a:latin typeface="Calibri" pitchFamily="34" charset="0"/>
                <a:ea typeface="Calibri" pitchFamily="34" charset="-122"/>
                <a:cs typeface="Calibri" pitchFamily="34" charset="-120"/>
              </a:rPr>
              <a:t>Adapted from “Building custom design systems with Jetpack Compose’s new Styles API” (droidcon)</a:t>
            </a:r>
            <a:endParaRPr lang="en-US" sz="1200" dirty="0"/>
          </a:p>
        </p:txBody>
      </p:sp>
      <p:sp>
        <p:nvSpPr>
          <p:cNvPr id="8" name="Shape 6"/>
          <p:cNvSpPr/>
          <p:nvPr/>
        </p:nvSpPr>
        <p:spPr>
          <a:xfrm>
            <a:off x="7863840" y="1463040"/>
            <a:ext cx="3749040" cy="3840480"/>
          </a:xfrm>
          <a:prstGeom prst="roundRect">
            <a:avLst>
              <a:gd name="adj" fmla="val 3415"/>
            </a:avLst>
          </a:prstGeom>
          <a:solidFill>
            <a:srgbClr val="F7F7F4"/>
          </a:solidFill>
          <a:ln w="9525">
            <a:solidFill>
              <a:srgbClr val="D9DCE3"/>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8028432" y="1554480"/>
            <a:ext cx="3474720" cy="228600"/>
          </a:xfrm>
          <a:prstGeom prst="rect">
            <a:avLst/>
          </a:prstGeom>
          <a:noFill/>
          <a:ln/>
        </p:spPr>
        <p:txBody>
          <a:bodyPr wrap="square" lIns="0" tIns="0" rIns="0" bIns="0" rtlCol="0" anchor="t"/>
          <a:lstStyle/>
          <a:p>
            <a:pPr indent="0" marL="0">
              <a:buNone/>
            </a:pPr>
            <a:r>
              <a:rPr lang="en-US" sz="1000" dirty="0">
                <a:solidFill>
                  <a:srgbClr val="5B6472"/>
                </a:solidFill>
                <a:latin typeface="Calibri" pitchFamily="34" charset="0"/>
                <a:ea typeface="Calibri" pitchFamily="34" charset="-122"/>
                <a:cs typeface="Calibri" pitchFamily="34" charset="-120"/>
              </a:rPr>
              <a:t>AddToCartButton</a:t>
            </a:r>
            <a:endParaRPr lang="en-US" sz="1000" dirty="0"/>
          </a:p>
        </p:txBody>
      </p:sp>
      <p:pic>
        <p:nvPicPr>
          <p:cNvPr id="10" name="Image 0" descr="preencoded.png">    </p:cNvPr>
          <p:cNvPicPr>
            <a:picLocks noChangeAspect="1"/>
          </p:cNvPicPr>
          <p:nvPr/>
        </p:nvPicPr>
        <p:blipFill>
          <a:blip r:embed="rId1"/>
          <a:stretch>
            <a:fillRect/>
          </a:stretch>
        </p:blipFill>
        <p:spPr>
          <a:xfrm>
            <a:off x="8183880" y="1828800"/>
            <a:ext cx="3108960" cy="1137424"/>
          </a:xfrm>
          <a:prstGeom prst="rect">
            <a:avLst/>
          </a:prstGeom>
        </p:spPr>
      </p:pic>
      <p:pic>
        <p:nvPicPr>
          <p:cNvPr id="11" name="Image 1" descr="preencoded.png">    </p:cNvPr>
          <p:cNvPicPr>
            <a:picLocks noChangeAspect="1"/>
          </p:cNvPicPr>
          <p:nvPr/>
        </p:nvPicPr>
        <p:blipFill>
          <a:blip r:embed="rId2"/>
          <a:stretch>
            <a:fillRect/>
          </a:stretch>
        </p:blipFill>
        <p:spPr>
          <a:xfrm>
            <a:off x="8183880" y="2971800"/>
            <a:ext cx="3108960" cy="1137424"/>
          </a:xfrm>
          <a:prstGeom prst="rect">
            <a:avLst/>
          </a:prstGeom>
        </p:spPr>
      </p:pic>
      <p:pic>
        <p:nvPicPr>
          <p:cNvPr id="12" name="Image 2" descr="preencoded.png">    </p:cNvPr>
          <p:cNvPicPr>
            <a:picLocks noChangeAspect="1"/>
          </p:cNvPicPr>
          <p:nvPr/>
        </p:nvPicPr>
        <p:blipFill>
          <a:blip r:embed="rId3"/>
          <a:stretch>
            <a:fillRect/>
          </a:stretch>
        </p:blipFill>
        <p:spPr>
          <a:xfrm>
            <a:off x="8183880" y="4114800"/>
            <a:ext cx="3108960" cy="11374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2356" cy="329184"/>
          </a:xfrm>
          <a:prstGeom prst="roundRect">
            <a:avLst>
              <a:gd name="adj" fmla="val 50000"/>
            </a:avLst>
          </a:prstGeom>
          <a:solidFill>
            <a:srgbClr val="EEEAFB"/>
          </a:solidFill>
          <a:ln w="12700">
            <a:solidFill>
              <a:srgbClr val="EEEAFB"/>
            </a:solidFill>
            <a:prstDash val="solid"/>
          </a:ln>
        </p:spPr>
      </p:sp>
      <p:sp>
        <p:nvSpPr>
          <p:cNvPr id="3" name="Text 1"/>
          <p:cNvSpPr txBox="1"/>
          <p:nvPr/>
        </p:nvSpPr>
        <p:spPr>
          <a:xfrm>
            <a:off x="548640" y="384048"/>
            <a:ext cx="562356" cy="329184"/>
          </a:xfrm>
          <a:prstGeom prst="rect">
            <a:avLst/>
          </a:prstGeom>
          <a:noFill/>
          <a:ln/>
        </p:spPr>
        <p:txBody>
          <a:bodyPr wrap="square" lIns="0" tIns="0" rIns="0" bIns="0" rtlCol="0" anchor="ctr"/>
          <a:lstStyle/>
          <a:p>
            <a:pPr algn="ctr" indent="0" marL="0">
              <a:buNone/>
            </a:pPr>
            <a:r>
              <a:rPr lang="en-US" sz="1100" b="1" spc="200" kern="0" dirty="0">
                <a:solidFill>
                  <a:srgbClr val="5B3FD6"/>
                </a:solidFill>
                <a:latin typeface="Calibri" pitchFamily="34" charset="0"/>
                <a:ea typeface="Calibri" pitchFamily="34" charset="-122"/>
                <a:cs typeface="Calibri" pitchFamily="34" charset="-120"/>
              </a:rPr>
              <a:t>WHY</a:t>
            </a:r>
            <a:endParaRPr lang="en-US" sz="1100" dirty="0"/>
          </a:p>
        </p:txBody>
      </p:sp>
      <p:sp>
        <p:nvSpPr>
          <p:cNvPr id="4" name="Text 2"/>
          <p:cNvSpPr txBox="1"/>
          <p:nvPr/>
        </p:nvSpPr>
        <p:spPr>
          <a:xfrm>
            <a:off x="548640" y="868680"/>
            <a:ext cx="11064240" cy="731520"/>
          </a:xfrm>
          <a:prstGeom prst="rect">
            <a:avLst/>
          </a:prstGeom>
          <a:noFill/>
          <a:ln/>
        </p:spPr>
        <p:txBody>
          <a:bodyPr wrap="square" lIns="0" tIns="0" rIns="0" bIns="0" rtlCol="0" anchor="t"/>
          <a:lstStyle/>
          <a:p>
            <a:pPr indent="0" marL="0">
              <a:buNone/>
            </a:pPr>
            <a:r>
              <a:rPr lang="en-US" sz="3200" b="1" dirty="0">
                <a:solidFill>
                  <a:srgbClr val="1B2330"/>
                </a:solidFill>
                <a:latin typeface="Arial" pitchFamily="34" charset="0"/>
                <a:ea typeface="Arial" pitchFamily="34" charset="-122"/>
                <a:cs typeface="Arial" pitchFamily="34" charset="-120"/>
              </a:rPr>
              <a:t>Custom design systems fight component APIs</a:t>
            </a:r>
            <a:endParaRPr lang="en-US" sz="3200" dirty="0"/>
          </a:p>
        </p:txBody>
      </p:sp>
      <p:sp>
        <p:nvSpPr>
          <p:cNvPr id="5" name="Shape 3"/>
          <p:cNvSpPr/>
          <p:nvPr/>
        </p:nvSpPr>
        <p:spPr>
          <a:xfrm>
            <a:off x="548640" y="1828800"/>
            <a:ext cx="640080" cy="640080"/>
          </a:xfrm>
          <a:prstGeom prst="ellipse">
            <a:avLst/>
          </a:prstGeom>
          <a:solidFill>
            <a:srgbClr val="EEEAFB"/>
          </a:solidFill>
          <a:ln w="12700">
            <a:solidFill>
              <a:srgbClr val="EEEAFB"/>
            </a:solidFill>
            <a:prstDash val="solid"/>
          </a:ln>
        </p:spPr>
      </p:sp>
      <p:pic>
        <p:nvPicPr>
          <p:cNvPr id="6" name="Image 0" descr="preencoded.png">    </p:cNvPr>
          <p:cNvPicPr>
            <a:picLocks noChangeAspect="1"/>
          </p:cNvPicPr>
          <p:nvPr/>
        </p:nvPicPr>
        <p:blipFill>
          <a:blip r:embed="rId1"/>
          <a:stretch>
            <a:fillRect/>
          </a:stretch>
        </p:blipFill>
        <p:spPr>
          <a:xfrm>
            <a:off x="689458" y="1969618"/>
            <a:ext cx="358445" cy="358445"/>
          </a:xfrm>
          <a:prstGeom prst="rect">
            <a:avLst/>
          </a:prstGeom>
        </p:spPr>
      </p:pic>
      <p:sp>
        <p:nvSpPr>
          <p:cNvPr id="7" name="Text 4"/>
          <p:cNvSpPr txBox="1"/>
          <p:nvPr/>
        </p:nvSpPr>
        <p:spPr>
          <a:xfrm>
            <a:off x="1371600" y="1810512"/>
            <a:ext cx="4023360" cy="347472"/>
          </a:xfrm>
          <a:prstGeom prst="rect">
            <a:avLst/>
          </a:prstGeom>
          <a:noFill/>
          <a:ln/>
        </p:spPr>
        <p:txBody>
          <a:bodyPr wrap="square" lIns="0" tIns="0" rIns="0" bIns="0" rtlCol="0" anchor="t"/>
          <a:lstStyle/>
          <a:p>
            <a:pPr indent="0" marL="0">
              <a:buNone/>
            </a:pPr>
            <a:r>
              <a:rPr lang="en-US" sz="1700" b="1" dirty="0">
                <a:solidFill>
                  <a:srgbClr val="1B2330"/>
                </a:solidFill>
                <a:latin typeface="Calibri" pitchFamily="34" charset="0"/>
                <a:ea typeface="Calibri" pitchFamily="34" charset="-122"/>
                <a:cs typeface="Calibri" pitchFamily="34" charset="-120"/>
              </a:rPr>
              <a:t>Your design wants a gradient</a:t>
            </a:r>
            <a:endParaRPr lang="en-US" sz="1700" dirty="0"/>
          </a:p>
        </p:txBody>
      </p:sp>
      <p:sp>
        <p:nvSpPr>
          <p:cNvPr id="8" name="Text 5"/>
          <p:cNvSpPr txBox="1"/>
          <p:nvPr/>
        </p:nvSpPr>
        <p:spPr>
          <a:xfrm>
            <a:off x="1371600" y="2176272"/>
            <a:ext cx="4023360" cy="68580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Material’s FilterChip takes a single Color, not a Brush.</a:t>
            </a:r>
            <a:endParaRPr lang="en-US" sz="1350" dirty="0"/>
          </a:p>
        </p:txBody>
      </p:sp>
      <p:sp>
        <p:nvSpPr>
          <p:cNvPr id="9" name="Shape 6"/>
          <p:cNvSpPr/>
          <p:nvPr/>
        </p:nvSpPr>
        <p:spPr>
          <a:xfrm>
            <a:off x="548640" y="3035808"/>
            <a:ext cx="640080" cy="640080"/>
          </a:xfrm>
          <a:prstGeom prst="ellipse">
            <a:avLst/>
          </a:prstGeom>
          <a:solidFill>
            <a:srgbClr val="EEEAFB"/>
          </a:solidFill>
          <a:ln w="12700">
            <a:solidFill>
              <a:srgbClr val="EEEAFB"/>
            </a:solidFill>
            <a:prstDash val="solid"/>
          </a:ln>
        </p:spPr>
      </p:sp>
      <p:pic>
        <p:nvPicPr>
          <p:cNvPr id="10" name="Image 1" descr="preencoded.png">    </p:cNvPr>
          <p:cNvPicPr>
            <a:picLocks noChangeAspect="1"/>
          </p:cNvPicPr>
          <p:nvPr/>
        </p:nvPicPr>
        <p:blipFill>
          <a:blip r:embed="rId2"/>
          <a:stretch>
            <a:fillRect/>
          </a:stretch>
        </p:blipFill>
        <p:spPr>
          <a:xfrm>
            <a:off x="689458" y="3176626"/>
            <a:ext cx="358445" cy="358445"/>
          </a:xfrm>
          <a:prstGeom prst="rect">
            <a:avLst/>
          </a:prstGeom>
        </p:spPr>
      </p:pic>
      <p:sp>
        <p:nvSpPr>
          <p:cNvPr id="11" name="Text 7"/>
          <p:cNvSpPr txBox="1"/>
          <p:nvPr/>
        </p:nvSpPr>
        <p:spPr>
          <a:xfrm>
            <a:off x="1371600" y="3017520"/>
            <a:ext cx="4023360" cy="347472"/>
          </a:xfrm>
          <a:prstGeom prst="rect">
            <a:avLst/>
          </a:prstGeom>
          <a:noFill/>
          <a:ln/>
        </p:spPr>
        <p:txBody>
          <a:bodyPr wrap="square" lIns="0" tIns="0" rIns="0" bIns="0" rtlCol="0" anchor="t"/>
          <a:lstStyle/>
          <a:p>
            <a:pPr indent="0" marL="0">
              <a:buNone/>
            </a:pPr>
            <a:r>
              <a:rPr lang="en-US" sz="1700" b="1" dirty="0">
                <a:solidFill>
                  <a:srgbClr val="1B2330"/>
                </a:solidFill>
                <a:latin typeface="Calibri" pitchFamily="34" charset="0"/>
                <a:ea typeface="Calibri" pitchFamily="34" charset="-122"/>
                <a:cs typeface="Calibri" pitchFamily="34" charset="-120"/>
              </a:rPr>
              <a:t>So you hack around it</a:t>
            </a:r>
            <a:endParaRPr lang="en-US" sz="1700" dirty="0"/>
          </a:p>
        </p:txBody>
      </p:sp>
      <p:sp>
        <p:nvSpPr>
          <p:cNvPr id="12" name="Text 8"/>
          <p:cNvSpPr txBox="1"/>
          <p:nvPr/>
        </p:nvSpPr>
        <p:spPr>
          <a:xfrm>
            <a:off x="1371600" y="3383280"/>
            <a:ext cx="4023360" cy="68580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Transparent chip inside a Box, re-apply the shape, hand-roll pressed / selected logic.</a:t>
            </a:r>
            <a:endParaRPr lang="en-US" sz="1350" dirty="0"/>
          </a:p>
        </p:txBody>
      </p:sp>
      <p:sp>
        <p:nvSpPr>
          <p:cNvPr id="13" name="Shape 9"/>
          <p:cNvSpPr/>
          <p:nvPr/>
        </p:nvSpPr>
        <p:spPr>
          <a:xfrm>
            <a:off x="548640" y="4242816"/>
            <a:ext cx="640080" cy="640080"/>
          </a:xfrm>
          <a:prstGeom prst="ellipse">
            <a:avLst/>
          </a:prstGeom>
          <a:solidFill>
            <a:srgbClr val="FDECEC"/>
          </a:solidFill>
          <a:ln w="12700">
            <a:solidFill>
              <a:srgbClr val="FDECEC"/>
            </a:solidFill>
            <a:prstDash val="solid"/>
          </a:ln>
        </p:spPr>
      </p:sp>
      <p:pic>
        <p:nvPicPr>
          <p:cNvPr id="14" name="Image 2" descr="preencoded.png">    </p:cNvPr>
          <p:cNvPicPr>
            <a:picLocks noChangeAspect="1"/>
          </p:cNvPicPr>
          <p:nvPr/>
        </p:nvPicPr>
        <p:blipFill>
          <a:blip r:embed="rId3"/>
          <a:stretch>
            <a:fillRect/>
          </a:stretch>
        </p:blipFill>
        <p:spPr>
          <a:xfrm>
            <a:off x="689458" y="4383634"/>
            <a:ext cx="358445" cy="358445"/>
          </a:xfrm>
          <a:prstGeom prst="rect">
            <a:avLst/>
          </a:prstGeom>
        </p:spPr>
      </p:pic>
      <p:sp>
        <p:nvSpPr>
          <p:cNvPr id="15" name="Text 10"/>
          <p:cNvSpPr txBox="1"/>
          <p:nvPr/>
        </p:nvSpPr>
        <p:spPr>
          <a:xfrm>
            <a:off x="1371600" y="4224528"/>
            <a:ext cx="4023360" cy="347472"/>
          </a:xfrm>
          <a:prstGeom prst="rect">
            <a:avLst/>
          </a:prstGeom>
          <a:noFill/>
          <a:ln/>
        </p:spPr>
        <p:txBody>
          <a:bodyPr wrap="square" lIns="0" tIns="0" rIns="0" bIns="0" rtlCol="0" anchor="t"/>
          <a:lstStyle/>
          <a:p>
            <a:pPr indent="0" marL="0">
              <a:buNone/>
            </a:pPr>
            <a:r>
              <a:rPr lang="en-US" sz="1700" b="1" dirty="0">
                <a:solidFill>
                  <a:srgbClr val="1B2330"/>
                </a:solidFill>
                <a:latin typeface="Calibri" pitchFamily="34" charset="0"/>
                <a:ea typeface="Calibri" pitchFamily="34" charset="-122"/>
                <a:cs typeface="Calibri" pitchFamily="34" charset="-120"/>
              </a:rPr>
              <a:t>…or fork the component</a:t>
            </a:r>
            <a:endParaRPr lang="en-US" sz="1700" dirty="0"/>
          </a:p>
        </p:txBody>
      </p:sp>
      <p:sp>
        <p:nvSpPr>
          <p:cNvPr id="16" name="Text 11"/>
          <p:cNvSpPr txBox="1"/>
          <p:nvPr/>
        </p:nvSpPr>
        <p:spPr>
          <a:xfrm>
            <a:off x="1371600" y="4590288"/>
            <a:ext cx="4023360" cy="68580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And lose Material’s accessibility, RTL and interaction-state defaults.</a:t>
            </a:r>
            <a:endParaRPr lang="en-US" sz="1350" dirty="0"/>
          </a:p>
        </p:txBody>
      </p:sp>
      <p:sp>
        <p:nvSpPr>
          <p:cNvPr id="17" name="Shape 12"/>
          <p:cNvSpPr/>
          <p:nvPr/>
        </p:nvSpPr>
        <p:spPr>
          <a:xfrm>
            <a:off x="5852160" y="1600200"/>
            <a:ext cx="2194560" cy="292608"/>
          </a:xfrm>
          <a:prstGeom prst="roundRect">
            <a:avLst>
              <a:gd name="adj" fmla="val 50000"/>
            </a:avLst>
          </a:prstGeom>
          <a:solidFill>
            <a:srgbClr val="FDECEC"/>
          </a:solidFill>
          <a:ln w="12700">
            <a:solidFill>
              <a:srgbClr val="FDECEC"/>
            </a:solidFill>
            <a:prstDash val="solid"/>
          </a:ln>
        </p:spPr>
      </p:sp>
      <p:sp>
        <p:nvSpPr>
          <p:cNvPr id="18" name="Text 13"/>
          <p:cNvSpPr txBox="1"/>
          <p:nvPr/>
        </p:nvSpPr>
        <p:spPr>
          <a:xfrm>
            <a:off x="5852160" y="1600200"/>
            <a:ext cx="2194560" cy="292608"/>
          </a:xfrm>
          <a:prstGeom prst="rect">
            <a:avLst/>
          </a:prstGeom>
          <a:noFill/>
          <a:ln/>
        </p:spPr>
        <p:txBody>
          <a:bodyPr wrap="square" lIns="0" tIns="0" rIns="0" bIns="0" rtlCol="0" anchor="ctr"/>
          <a:lstStyle/>
          <a:p>
            <a:pPr algn="ctr" indent="0" marL="0">
              <a:buNone/>
            </a:pPr>
            <a:r>
              <a:rPr lang="en-US" sz="1100" b="1" dirty="0">
                <a:solidFill>
                  <a:srgbClr val="C62828"/>
                </a:solidFill>
                <a:latin typeface="Calibri" pitchFamily="34" charset="0"/>
                <a:ea typeface="Calibri" pitchFamily="34" charset="-122"/>
                <a:cs typeface="Calibri" pitchFamily="34" charset="-120"/>
              </a:rPr>
              <a:t>BEFORE · Jetsnack Button</a:t>
            </a:r>
            <a:endParaRPr lang="en-US" sz="1100" dirty="0"/>
          </a:p>
        </p:txBody>
      </p:sp>
      <p:sp>
        <p:nvSpPr>
          <p:cNvPr id="19" name="Shape 14"/>
          <p:cNvSpPr/>
          <p:nvPr/>
        </p:nvSpPr>
        <p:spPr>
          <a:xfrm>
            <a:off x="5852160" y="1965960"/>
            <a:ext cx="5760720" cy="3200400"/>
          </a:xfrm>
          <a:prstGeom prst="roundRect">
            <a:avLst>
              <a:gd name="adj" fmla="val 3429"/>
            </a:avLst>
          </a:prstGeom>
          <a:solidFill>
            <a:srgbClr val="182235"/>
          </a:solidFill>
          <a:ln w="12700">
            <a:solidFill>
              <a:srgbClr val="182235"/>
            </a:solidFill>
            <a:prstDash val="solid"/>
          </a:ln>
        </p:spPr>
      </p:sp>
      <p:sp>
        <p:nvSpPr>
          <p:cNvPr id="20" name="Text 15"/>
          <p:cNvSpPr txBox="1"/>
          <p:nvPr/>
        </p:nvSpPr>
        <p:spPr>
          <a:xfrm>
            <a:off x="6080760" y="2167128"/>
            <a:ext cx="5394960" cy="2880360"/>
          </a:xfrm>
          <a:prstGeom prst="rect">
            <a:avLst/>
          </a:prstGeom>
          <a:noFill/>
          <a:ln/>
        </p:spPr>
        <p:txBody>
          <a:bodyPr wrap="square" lIns="0" tIns="0" rIns="0" bIns="0" rtlCol="0" anchor="t"/>
          <a:lstStyle/>
          <a:p>
            <a:pPr indent="0" marL="0">
              <a:lnSpc>
                <a:spcPct val="105000"/>
              </a:lnSpc>
              <a:buNone/>
            </a:pPr>
            <a:r>
              <a:rPr lang="en-US" sz="1150" dirty="0">
                <a:solidFill>
                  <a:srgbClr val="FF8FC7"/>
                </a:solidFill>
                <a:latin typeface="Consolas" pitchFamily="34" charset="0"/>
                <a:ea typeface="Consolas" pitchFamily="34" charset="-122"/>
                <a:cs typeface="Consolas" pitchFamily="34" charset="-120"/>
              </a:rPr>
              <a:t>fun</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Button</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onClick</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&gt;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Unit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modifier</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Modifier</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Modifier</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b="1" dirty="0">
                <a:solidFill>
                  <a:srgbClr val="3DDC84"/>
                </a:solidFill>
                <a:latin typeface="Consolas" pitchFamily="34" charset="0"/>
                <a:ea typeface="Consolas" pitchFamily="34" charset="-122"/>
                <a:cs typeface="Consolas" pitchFamily="34" charset="-120"/>
              </a:rPr>
              <a:t>shape</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Shape</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ButtonShape</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b="1" dirty="0">
                <a:solidFill>
                  <a:srgbClr val="3DDC84"/>
                </a:solidFill>
                <a:latin typeface="Consolas" pitchFamily="34" charset="0"/>
                <a:ea typeface="Consolas" pitchFamily="34" charset="-122"/>
                <a:cs typeface="Consolas" pitchFamily="34" charset="-120"/>
              </a:rPr>
              <a:t>border</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BorderStroke</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FF8FC7"/>
                </a:solidFill>
                <a:latin typeface="Consolas" pitchFamily="34" charset="0"/>
                <a:ea typeface="Consolas" pitchFamily="34" charset="-122"/>
                <a:cs typeface="Consolas" pitchFamily="34" charset="-120"/>
              </a:rPr>
              <a:t>null</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backgroundGradient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List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&lt;</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Color</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&gt;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disabledBackgroundGradient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List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&lt;</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Color</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&gt;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contentColor</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Color</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disabledContentColor</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Color</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contentPadding</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PaddingValues</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enabled</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Boolean</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FF8FC7"/>
                </a:solidFill>
                <a:latin typeface="Consolas" pitchFamily="34" charset="0"/>
                <a:ea typeface="Consolas" pitchFamily="34" charset="-122"/>
                <a:cs typeface="Consolas" pitchFamily="34" charset="-120"/>
              </a:rPr>
              <a:t>true</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content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Composable</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RowScope</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&gt;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Unit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p:txBody>
      </p:sp>
      <p:sp>
        <p:nvSpPr>
          <p:cNvPr id="21" name="Text 16"/>
          <p:cNvSpPr txBox="1"/>
          <p:nvPr/>
        </p:nvSpPr>
        <p:spPr>
          <a:xfrm>
            <a:off x="10149840" y="2039112"/>
            <a:ext cx="1325880" cy="201168"/>
          </a:xfrm>
          <a:prstGeom prst="rect">
            <a:avLst/>
          </a:prstGeom>
          <a:noFill/>
          <a:ln/>
        </p:spPr>
        <p:txBody>
          <a:bodyPr wrap="square" lIns="0" tIns="0" rIns="0" bIns="0" rtlCol="0" anchor="t"/>
          <a:lstStyle/>
          <a:p>
            <a:pPr algn="r" indent="0" marL="0">
              <a:buNone/>
            </a:pPr>
            <a:r>
              <a:rPr lang="en-US" sz="900" dirty="0">
                <a:solidFill>
                  <a:srgbClr val="6F7D93"/>
                </a:solidFill>
                <a:latin typeface="Calibri" pitchFamily="34" charset="0"/>
                <a:ea typeface="Calibri" pitchFamily="34" charset="-122"/>
                <a:cs typeface="Calibri" pitchFamily="34" charset="-120"/>
              </a:rPr>
              <a:t>Kotlin</a:t>
            </a:r>
            <a:endParaRPr lang="en-US" sz="900" dirty="0"/>
          </a:p>
        </p:txBody>
      </p:sp>
      <p:sp>
        <p:nvSpPr>
          <p:cNvPr id="22" name="Shape 17"/>
          <p:cNvSpPr/>
          <p:nvPr/>
        </p:nvSpPr>
        <p:spPr>
          <a:xfrm>
            <a:off x="5852160" y="5349240"/>
            <a:ext cx="914400" cy="292608"/>
          </a:xfrm>
          <a:prstGeom prst="roundRect">
            <a:avLst>
              <a:gd name="adj" fmla="val 50000"/>
            </a:avLst>
          </a:prstGeom>
          <a:solidFill>
            <a:srgbClr val="E6F8EE"/>
          </a:solidFill>
          <a:ln w="12700">
            <a:solidFill>
              <a:srgbClr val="E6F8EE"/>
            </a:solidFill>
            <a:prstDash val="solid"/>
          </a:ln>
        </p:spPr>
      </p:sp>
      <p:sp>
        <p:nvSpPr>
          <p:cNvPr id="23" name="Text 18"/>
          <p:cNvSpPr txBox="1"/>
          <p:nvPr/>
        </p:nvSpPr>
        <p:spPr>
          <a:xfrm>
            <a:off x="5852160" y="5349240"/>
            <a:ext cx="914400" cy="292608"/>
          </a:xfrm>
          <a:prstGeom prst="rect">
            <a:avLst/>
          </a:prstGeom>
          <a:noFill/>
          <a:ln/>
        </p:spPr>
        <p:txBody>
          <a:bodyPr wrap="square" lIns="0" tIns="0" rIns="0" bIns="0" rtlCol="0" anchor="ctr"/>
          <a:lstStyle/>
          <a:p>
            <a:pPr algn="ctr" indent="0" marL="0">
              <a:buNone/>
            </a:pPr>
            <a:r>
              <a:rPr lang="en-US" sz="1100" b="1" dirty="0">
                <a:solidFill>
                  <a:srgbClr val="0A7D43"/>
                </a:solidFill>
                <a:latin typeface="Calibri" pitchFamily="34" charset="0"/>
                <a:ea typeface="Calibri" pitchFamily="34" charset="-122"/>
                <a:cs typeface="Calibri" pitchFamily="34" charset="-120"/>
              </a:rPr>
              <a:t>AFTER</a:t>
            </a:r>
            <a:endParaRPr lang="en-US" sz="1100" dirty="0"/>
          </a:p>
        </p:txBody>
      </p:sp>
      <p:sp>
        <p:nvSpPr>
          <p:cNvPr id="24" name="Shape 19"/>
          <p:cNvSpPr/>
          <p:nvPr/>
        </p:nvSpPr>
        <p:spPr>
          <a:xfrm>
            <a:off x="6903720" y="5257800"/>
            <a:ext cx="4709160" cy="548640"/>
          </a:xfrm>
          <a:prstGeom prst="roundRect">
            <a:avLst>
              <a:gd name="adj" fmla="val 20000"/>
            </a:avLst>
          </a:prstGeom>
          <a:solidFill>
            <a:srgbClr val="182235"/>
          </a:solidFill>
          <a:ln w="12700">
            <a:solidFill>
              <a:srgbClr val="182235"/>
            </a:solidFill>
            <a:prstDash val="solid"/>
          </a:ln>
        </p:spPr>
      </p:sp>
      <p:sp>
        <p:nvSpPr>
          <p:cNvPr id="25" name="Text 20"/>
          <p:cNvSpPr txBox="1"/>
          <p:nvPr/>
        </p:nvSpPr>
        <p:spPr>
          <a:xfrm>
            <a:off x="7132320" y="5458968"/>
            <a:ext cx="4343400" cy="228600"/>
          </a:xfrm>
          <a:prstGeom prst="rect">
            <a:avLst/>
          </a:prstGeom>
          <a:noFill/>
          <a:ln/>
        </p:spPr>
        <p:txBody>
          <a:bodyPr wrap="square" lIns="0" tIns="0" rIns="0" bIns="0" rtlCol="0" anchor="t"/>
          <a:lstStyle/>
          <a:p>
            <a:pPr indent="0" marL="0">
              <a:lnSpc>
                <a:spcPct val="105000"/>
              </a:lnSpc>
              <a:buNone/>
            </a:pPr>
            <a:r>
              <a:rPr lang="en-US" sz="1300" b="1" dirty="0">
                <a:solidFill>
                  <a:srgbClr val="3DDC84"/>
                </a:solidFill>
                <a:latin typeface="Consolas" pitchFamily="34" charset="0"/>
                <a:ea typeface="Consolas" pitchFamily="34" charset="-122"/>
                <a:cs typeface="Consolas" pitchFamily="34" charset="-120"/>
              </a:rPr>
              <a:t>style</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3DDC84"/>
                </a:solidFill>
                <a:latin typeface="Consolas" pitchFamily="34" charset="0"/>
                <a:ea typeface="Consolas" pitchFamily="34" charset="-122"/>
                <a:cs typeface="Consolas" pitchFamily="34" charset="-120"/>
              </a:rPr>
              <a:t>Style</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3DDC84"/>
                </a:solidFill>
                <a:latin typeface="Consolas" pitchFamily="34" charset="0"/>
                <a:ea typeface="Consolas" pitchFamily="34" charset="-122"/>
                <a:cs typeface="Consolas" pitchFamily="34" charset="-120"/>
              </a:rPr>
              <a:t>Style</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endParaRPr lang="en-US" sz="1300" dirty="0"/>
          </a:p>
        </p:txBody>
      </p:sp>
      <p:sp>
        <p:nvSpPr>
          <p:cNvPr id="26" name="Text 21"/>
          <p:cNvSpPr txBox="1"/>
          <p:nvPr/>
        </p:nvSpPr>
        <p:spPr>
          <a:xfrm>
            <a:off x="5852160" y="5989320"/>
            <a:ext cx="5760720" cy="365760"/>
          </a:xfrm>
          <a:prstGeom prst="rect">
            <a:avLst/>
          </a:prstGeom>
          <a:noFill/>
          <a:ln/>
        </p:spPr>
        <p:txBody>
          <a:bodyPr wrap="square" lIns="0" tIns="0" rIns="0" bIns="0" rtlCol="0" anchor="t"/>
          <a:lstStyle/>
          <a:p>
            <a:pPr indent="0" marL="0">
              <a:buNone/>
            </a:pPr>
            <a:r>
              <a:rPr lang="en-US" sz="1500" b="1" dirty="0">
                <a:solidFill>
                  <a:srgbClr val="5B3FD6"/>
                </a:solidFill>
                <a:latin typeface="Calibri" pitchFamily="34" charset="0"/>
                <a:ea typeface="Calibri" pitchFamily="34" charset="-122"/>
                <a:cs typeface="Calibri" pitchFamily="34" charset="-120"/>
              </a:rPr>
              <a:t>7 visual parameters → 1</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58368" cy="329184"/>
          </a:xfrm>
          <a:prstGeom prst="roundRect">
            <a:avLst>
              <a:gd name="adj" fmla="val 50000"/>
            </a:avLst>
          </a:prstGeom>
          <a:solidFill>
            <a:srgbClr val="EEEAFB"/>
          </a:solidFill>
          <a:ln w="12700">
            <a:solidFill>
              <a:srgbClr val="EEEAFB"/>
            </a:solidFill>
            <a:prstDash val="solid"/>
          </a:ln>
        </p:spPr>
      </p:sp>
      <p:sp>
        <p:nvSpPr>
          <p:cNvPr id="3" name="Text 1"/>
          <p:cNvSpPr txBox="1"/>
          <p:nvPr/>
        </p:nvSpPr>
        <p:spPr>
          <a:xfrm>
            <a:off x="548640" y="384048"/>
            <a:ext cx="658368" cy="329184"/>
          </a:xfrm>
          <a:prstGeom prst="rect">
            <a:avLst/>
          </a:prstGeom>
          <a:noFill/>
          <a:ln/>
        </p:spPr>
        <p:txBody>
          <a:bodyPr wrap="square" lIns="0" tIns="0" rIns="0" bIns="0" rtlCol="0" anchor="ctr"/>
          <a:lstStyle/>
          <a:p>
            <a:pPr algn="ctr" indent="0" marL="0">
              <a:buNone/>
            </a:pPr>
            <a:r>
              <a:rPr lang="en-US" sz="1100" b="1" spc="200" kern="0" dirty="0">
                <a:solidFill>
                  <a:srgbClr val="5B3FD6"/>
                </a:solidFill>
                <a:latin typeface="Calibri" pitchFamily="34" charset="0"/>
                <a:ea typeface="Calibri" pitchFamily="34" charset="-122"/>
                <a:cs typeface="Calibri" pitchFamily="34" charset="-120"/>
              </a:rPr>
              <a:t>WHAT</a:t>
            </a:r>
            <a:endParaRPr lang="en-US" sz="1100" dirty="0"/>
          </a:p>
        </p:txBody>
      </p:sp>
      <p:sp>
        <p:nvSpPr>
          <p:cNvPr id="4" name="Text 2"/>
          <p:cNvSpPr txBox="1"/>
          <p:nvPr/>
        </p:nvSpPr>
        <p:spPr>
          <a:xfrm>
            <a:off x="548640" y="868680"/>
            <a:ext cx="11064240" cy="731520"/>
          </a:xfrm>
          <a:prstGeom prst="rect">
            <a:avLst/>
          </a:prstGeom>
          <a:noFill/>
          <a:ln/>
        </p:spPr>
        <p:txBody>
          <a:bodyPr wrap="square" lIns="0" tIns="0" rIns="0" bIns="0" rtlCol="0" anchor="t"/>
          <a:lstStyle/>
          <a:p>
            <a:pPr indent="0" marL="0">
              <a:buNone/>
            </a:pPr>
            <a:r>
              <a:rPr lang="en-US" sz="3200" b="1" dirty="0">
                <a:solidFill>
                  <a:srgbClr val="1B2330"/>
                </a:solidFill>
                <a:latin typeface="Arial" pitchFamily="34" charset="0"/>
                <a:ea typeface="Arial" pitchFamily="34" charset="-122"/>
                <a:cs typeface="Arial" pitchFamily="34" charset="-120"/>
              </a:rPr>
              <a:t>A Style defines how a component looks</a:t>
            </a:r>
            <a:endParaRPr lang="en-US" sz="3200" dirty="0"/>
          </a:p>
        </p:txBody>
      </p:sp>
      <p:sp>
        <p:nvSpPr>
          <p:cNvPr id="5" name="Text 3"/>
          <p:cNvSpPr txBox="1"/>
          <p:nvPr/>
        </p:nvSpPr>
        <p:spPr>
          <a:xfrm>
            <a:off x="548640" y="1600200"/>
            <a:ext cx="11064240" cy="411480"/>
          </a:xfrm>
          <a:prstGeom prst="rect">
            <a:avLst/>
          </a:prstGeom>
          <a:noFill/>
          <a:ln/>
        </p:spPr>
        <p:txBody>
          <a:bodyPr wrap="square" lIns="0" tIns="0" rIns="0" bIns="0" rtlCol="0" anchor="t"/>
          <a:lstStyle/>
          <a:p>
            <a:pPr indent="0" marL="0">
              <a:buNone/>
            </a:pPr>
            <a:r>
              <a:rPr lang="en-US" sz="1700" b="1" dirty="0">
                <a:solidFill>
                  <a:srgbClr val="5B3FD6"/>
                </a:solidFill>
                <a:latin typeface="Calibri" pitchFamily="34" charset="0"/>
                <a:ea typeface="Calibri" pitchFamily="34" charset="-122"/>
                <a:cs typeface="Calibri" pitchFamily="34" charset="-120"/>
              </a:rPr>
              <a:t>A specialized Modifier </a:t>
            </a:r>
            <a:pPr indent="0" marL="0">
              <a:buNone/>
            </a:pPr>
            <a:r>
              <a:rPr lang="en-US" sz="1700" dirty="0">
                <a:solidFill>
                  <a:srgbClr val="333B48"/>
                </a:solidFill>
                <a:latin typeface="Calibri" pitchFamily="34" charset="0"/>
                <a:ea typeface="Calibri" pitchFamily="34" charset="-122"/>
                <a:cs typeface="Calibri" pitchFamily="34" charset="-120"/>
              </a:rPr>
              <a:t>with built-in performance and reusability. It replaces visual parameters, not Modifiers.</a:t>
            </a:r>
            <a:endParaRPr lang="en-US" sz="1700" dirty="0"/>
          </a:p>
        </p:txBody>
      </p:sp>
      <p:sp>
        <p:nvSpPr>
          <p:cNvPr id="6" name="Shape 4"/>
          <p:cNvSpPr/>
          <p:nvPr/>
        </p:nvSpPr>
        <p:spPr>
          <a:xfrm>
            <a:off x="548640" y="2240280"/>
            <a:ext cx="3520440" cy="2194560"/>
          </a:xfrm>
          <a:prstGeom prst="roundRect">
            <a:avLst>
              <a:gd name="adj" fmla="val 5833"/>
            </a:avLst>
          </a:prstGeom>
          <a:solidFill>
            <a:srgbClr val="F3F5F8"/>
          </a:solidFill>
          <a:ln w="12700">
            <a:solidFill>
              <a:srgbClr val="F3F5F8"/>
            </a:solidFill>
            <a:prstDash val="solid"/>
          </a:ln>
        </p:spPr>
      </p:sp>
      <p:sp>
        <p:nvSpPr>
          <p:cNvPr id="7" name="Text 5"/>
          <p:cNvSpPr txBox="1"/>
          <p:nvPr/>
        </p:nvSpPr>
        <p:spPr>
          <a:xfrm>
            <a:off x="749808" y="2377440"/>
            <a:ext cx="457200" cy="457200"/>
          </a:xfrm>
          <a:prstGeom prst="rect">
            <a:avLst/>
          </a:prstGeom>
          <a:noFill/>
          <a:ln/>
        </p:spPr>
        <p:txBody>
          <a:bodyPr wrap="square" lIns="0" tIns="0" rIns="0" bIns="0" rtlCol="0" anchor="t"/>
          <a:lstStyle/>
          <a:p>
            <a:pPr indent="0" marL="0">
              <a:buNone/>
            </a:pPr>
            <a:r>
              <a:rPr lang="en-US" sz="2400" b="1" dirty="0">
                <a:solidFill>
                  <a:srgbClr val="5B3FD6"/>
                </a:solidFill>
                <a:latin typeface="Arial" pitchFamily="34" charset="0"/>
                <a:ea typeface="Arial" pitchFamily="34" charset="-122"/>
                <a:cs typeface="Arial" pitchFamily="34" charset="-120"/>
              </a:rPr>
              <a:t>1</a:t>
            </a:r>
            <a:endParaRPr lang="en-US" sz="2400" dirty="0"/>
          </a:p>
        </p:txBody>
      </p:sp>
      <p:sp>
        <p:nvSpPr>
          <p:cNvPr id="8" name="Text 6"/>
          <p:cNvSpPr txBox="1"/>
          <p:nvPr/>
        </p:nvSpPr>
        <p:spPr>
          <a:xfrm>
            <a:off x="1188720" y="2423160"/>
            <a:ext cx="2697480" cy="384048"/>
          </a:xfrm>
          <a:prstGeom prst="rect">
            <a:avLst/>
          </a:prstGeom>
          <a:noFill/>
          <a:ln/>
        </p:spPr>
        <p:txBody>
          <a:bodyPr wrap="square" lIns="0" tIns="0" rIns="0" bIns="0" rtlCol="0" anchor="t"/>
          <a:lstStyle/>
          <a:p>
            <a:pPr indent="0" marL="0">
              <a:buNone/>
            </a:pPr>
            <a:r>
              <a:rPr lang="en-US" sz="1800" b="1" dirty="0">
                <a:solidFill>
                  <a:srgbClr val="1B2330"/>
                </a:solidFill>
                <a:latin typeface="Calibri" pitchFamily="34" charset="0"/>
                <a:ea typeface="Calibri" pitchFamily="34" charset="-122"/>
                <a:cs typeface="Calibri" pitchFamily="34" charset="-120"/>
              </a:rPr>
              <a:t>Override</a:t>
            </a:r>
            <a:endParaRPr lang="en-US" sz="1800" dirty="0"/>
          </a:p>
        </p:txBody>
      </p:sp>
      <p:sp>
        <p:nvSpPr>
          <p:cNvPr id="9" name="Text 7"/>
          <p:cNvSpPr txBox="1"/>
          <p:nvPr/>
        </p:nvSpPr>
        <p:spPr>
          <a:xfrm>
            <a:off x="749808" y="2880360"/>
            <a:ext cx="3118104" cy="36576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Same property twice → last one wins.</a:t>
            </a:r>
            <a:endParaRPr lang="en-US" sz="1300" dirty="0"/>
          </a:p>
        </p:txBody>
      </p:sp>
      <p:sp>
        <p:nvSpPr>
          <p:cNvPr id="10" name="Shape 8"/>
          <p:cNvSpPr/>
          <p:nvPr/>
        </p:nvSpPr>
        <p:spPr>
          <a:xfrm>
            <a:off x="731520" y="3337560"/>
            <a:ext cx="3154680" cy="960120"/>
          </a:xfrm>
          <a:prstGeom prst="roundRect">
            <a:avLst>
              <a:gd name="adj" fmla="val 7619"/>
            </a:avLst>
          </a:prstGeom>
          <a:solidFill>
            <a:srgbClr val="182235"/>
          </a:solidFill>
          <a:ln w="12700">
            <a:solidFill>
              <a:srgbClr val="182235"/>
            </a:solidFill>
            <a:prstDash val="solid"/>
          </a:ln>
        </p:spPr>
      </p:sp>
      <p:sp>
        <p:nvSpPr>
          <p:cNvPr id="11" name="Text 9"/>
          <p:cNvSpPr txBox="1"/>
          <p:nvPr/>
        </p:nvSpPr>
        <p:spPr>
          <a:xfrm>
            <a:off x="841248" y="3401568"/>
            <a:ext cx="2971800" cy="822960"/>
          </a:xfrm>
          <a:prstGeom prst="rect">
            <a:avLst/>
          </a:prstGeom>
          <a:noFill/>
          <a:ln/>
        </p:spPr>
        <p:txBody>
          <a:bodyPr wrap="square" lIns="0" tIns="0" rIns="0" bIns="0" rtlCol="0" anchor="ctr"/>
          <a:lstStyle/>
          <a:p>
            <a:pPr indent="0" marL="0">
              <a:buNone/>
            </a:pPr>
            <a:r>
              <a:rPr lang="en-US" sz="1000" b="1" dirty="0">
                <a:solidFill>
                  <a:srgbClr val="3DDC84"/>
                </a:solidFill>
                <a:latin typeface="Consolas" pitchFamily="34" charset="0"/>
                <a:ea typeface="Consolas" pitchFamily="34" charset="-122"/>
                <a:cs typeface="Consolas" pitchFamily="34" charset="-120"/>
              </a:rPr>
              <a:t>Style</a:t>
            </a:r>
            <a:pPr indent="0" marL="0">
              <a:buNone/>
            </a:pPr>
            <a:r>
              <a:rPr lang="en-US" sz="1000" dirty="0">
                <a:solidFill>
                  <a:srgbClr val="DCE3EC"/>
                </a:solidFill>
                <a:latin typeface="Consolas" pitchFamily="34" charset="0"/>
                <a:ea typeface="Consolas" pitchFamily="34" charset="-122"/>
                <a:cs typeface="Consolas" pitchFamily="34" charset="-120"/>
              </a:rPr>
              <a:t>(</a:t>
            </a:r>
            <a:pPr indent="0" marL="0">
              <a:buNone/>
            </a:pPr>
            <a:r>
              <a:rPr lang="en-US" sz="1000" dirty="0">
                <a:solidFill>
                  <a:srgbClr val="DCE3EC"/>
                </a:solidFill>
                <a:latin typeface="Consolas" pitchFamily="34" charset="0"/>
                <a:ea typeface="Consolas" pitchFamily="34" charset="-122"/>
                <a:cs typeface="Consolas" pitchFamily="34" charset="-120"/>
              </a:rPr>
              <a:t>buttonStyle</a:t>
            </a:r>
            <a:pPr indent="0" marL="0">
              <a:buNone/>
            </a:pPr>
            <a:r>
              <a:rPr lang="en-US" sz="1000" dirty="0">
                <a:solidFill>
                  <a:srgbClr val="DCE3EC"/>
                </a:solidFill>
                <a:latin typeface="Consolas" pitchFamily="34" charset="0"/>
                <a:ea typeface="Consolas" pitchFamily="34" charset="-122"/>
                <a:cs typeface="Consolas" pitchFamily="34" charset="-120"/>
              </a:rPr>
              <a:t>,</a:t>
            </a:r>
            <a:pPr indent="0" marL="0">
              <a:buNone/>
            </a:pPr>
            <a:r>
              <a:rPr lang="en-US" sz="1000" dirty="0">
                <a:solidFill>
                  <a:srgbClr val="DCE3EC"/>
                </a:solidFill>
                <a:latin typeface="Consolas" pitchFamily="34" charset="0"/>
                <a:ea typeface="Consolas" pitchFamily="34" charset="-122"/>
                <a:cs typeface="Consolas" pitchFamily="34" charset="-120"/>
              </a:rPr>
              <a:t> </a:t>
            </a:r>
            <a:pPr indent="0" marL="0">
              <a:buNone/>
            </a:pPr>
            <a:r>
              <a:rPr lang="en-US" sz="1000" dirty="0">
                <a:solidFill>
                  <a:srgbClr val="DCE3EC"/>
                </a:solidFill>
                <a:latin typeface="Consolas" pitchFamily="34" charset="0"/>
                <a:ea typeface="Consolas" pitchFamily="34" charset="-122"/>
                <a:cs typeface="Consolas" pitchFamily="34" charset="-120"/>
              </a:rPr>
              <a:t>gradientStyle</a:t>
            </a:r>
            <a:pPr indent="0" marL="0">
              <a:buNone/>
            </a:pPr>
            <a:r>
              <a:rPr lang="en-US" sz="1000" dirty="0">
                <a:solidFill>
                  <a:srgbClr val="DCE3EC"/>
                </a:solidFill>
                <a:latin typeface="Consolas" pitchFamily="34" charset="0"/>
                <a:ea typeface="Consolas" pitchFamily="34" charset="-122"/>
                <a:cs typeface="Consolas" pitchFamily="34" charset="-120"/>
              </a:rPr>
              <a:t>)</a:t>
            </a:r>
            <a:endParaRPr lang="en-US" sz="1000" dirty="0"/>
          </a:p>
          <a:p>
            <a:pPr indent="0" marL="0">
              <a:buNone/>
            </a:pPr>
            <a:r>
              <a:rPr lang="en-US" sz="1000" i="1" dirty="0">
                <a:solidFill>
                  <a:srgbClr val="8B98AD"/>
                </a:solidFill>
                <a:latin typeface="Consolas" pitchFamily="34" charset="0"/>
                <a:ea typeface="Consolas" pitchFamily="34" charset="-122"/>
                <a:cs typeface="Consolas" pitchFamily="34" charset="-120"/>
              </a:rPr>
              <a:t>// gradient background wins</a:t>
            </a:r>
            <a:endParaRPr lang="en-US" sz="1000" dirty="0"/>
          </a:p>
        </p:txBody>
      </p:sp>
      <p:sp>
        <p:nvSpPr>
          <p:cNvPr id="12" name="Shape 10"/>
          <p:cNvSpPr/>
          <p:nvPr/>
        </p:nvSpPr>
        <p:spPr>
          <a:xfrm>
            <a:off x="4297680" y="2240280"/>
            <a:ext cx="3520440" cy="2194560"/>
          </a:xfrm>
          <a:prstGeom prst="roundRect">
            <a:avLst>
              <a:gd name="adj" fmla="val 5833"/>
            </a:avLst>
          </a:prstGeom>
          <a:solidFill>
            <a:srgbClr val="F3F5F8"/>
          </a:solidFill>
          <a:ln w="12700">
            <a:solidFill>
              <a:srgbClr val="F3F5F8"/>
            </a:solidFill>
            <a:prstDash val="solid"/>
          </a:ln>
        </p:spPr>
      </p:sp>
      <p:sp>
        <p:nvSpPr>
          <p:cNvPr id="13" name="Text 11"/>
          <p:cNvSpPr txBox="1"/>
          <p:nvPr/>
        </p:nvSpPr>
        <p:spPr>
          <a:xfrm>
            <a:off x="4498848" y="2377440"/>
            <a:ext cx="457200" cy="457200"/>
          </a:xfrm>
          <a:prstGeom prst="rect">
            <a:avLst/>
          </a:prstGeom>
          <a:noFill/>
          <a:ln/>
        </p:spPr>
        <p:txBody>
          <a:bodyPr wrap="square" lIns="0" tIns="0" rIns="0" bIns="0" rtlCol="0" anchor="t"/>
          <a:lstStyle/>
          <a:p>
            <a:pPr indent="0" marL="0">
              <a:buNone/>
            </a:pPr>
            <a:r>
              <a:rPr lang="en-US" sz="2400" b="1" dirty="0">
                <a:solidFill>
                  <a:srgbClr val="5B3FD6"/>
                </a:solidFill>
                <a:latin typeface="Arial" pitchFamily="34" charset="0"/>
                <a:ea typeface="Arial" pitchFamily="34" charset="-122"/>
                <a:cs typeface="Arial" pitchFamily="34" charset="-120"/>
              </a:rPr>
              <a:t>2</a:t>
            </a:r>
            <a:endParaRPr lang="en-US" sz="2400" dirty="0"/>
          </a:p>
        </p:txBody>
      </p:sp>
      <p:sp>
        <p:nvSpPr>
          <p:cNvPr id="14" name="Text 12"/>
          <p:cNvSpPr txBox="1"/>
          <p:nvPr/>
        </p:nvSpPr>
        <p:spPr>
          <a:xfrm>
            <a:off x="4937760" y="2423160"/>
            <a:ext cx="2697480" cy="384048"/>
          </a:xfrm>
          <a:prstGeom prst="rect">
            <a:avLst/>
          </a:prstGeom>
          <a:noFill/>
          <a:ln/>
        </p:spPr>
        <p:txBody>
          <a:bodyPr wrap="square" lIns="0" tIns="0" rIns="0" bIns="0" rtlCol="0" anchor="t"/>
          <a:lstStyle/>
          <a:p>
            <a:pPr indent="0" marL="0">
              <a:buNone/>
            </a:pPr>
            <a:r>
              <a:rPr lang="en-US" sz="1800" b="1" dirty="0">
                <a:solidFill>
                  <a:srgbClr val="1B2330"/>
                </a:solidFill>
                <a:latin typeface="Calibri" pitchFamily="34" charset="0"/>
                <a:ea typeface="Calibri" pitchFamily="34" charset="-122"/>
                <a:cs typeface="Calibri" pitchFamily="34" charset="-120"/>
              </a:rPr>
              <a:t>Reusable</a:t>
            </a:r>
            <a:endParaRPr lang="en-US" sz="1800" dirty="0"/>
          </a:p>
        </p:txBody>
      </p:sp>
      <p:sp>
        <p:nvSpPr>
          <p:cNvPr id="15" name="Text 13"/>
          <p:cNvSpPr txBox="1"/>
          <p:nvPr/>
        </p:nvSpPr>
        <p:spPr>
          <a:xfrm>
            <a:off x="4498848" y="2880360"/>
            <a:ext cx="3118104" cy="36576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Define once, pass to any styleable component.</a:t>
            </a:r>
            <a:endParaRPr lang="en-US" sz="1300" dirty="0"/>
          </a:p>
        </p:txBody>
      </p:sp>
      <p:sp>
        <p:nvSpPr>
          <p:cNvPr id="16" name="Shape 14"/>
          <p:cNvSpPr/>
          <p:nvPr/>
        </p:nvSpPr>
        <p:spPr>
          <a:xfrm>
            <a:off x="4480560" y="3337560"/>
            <a:ext cx="3154680" cy="960120"/>
          </a:xfrm>
          <a:prstGeom prst="roundRect">
            <a:avLst>
              <a:gd name="adj" fmla="val 7619"/>
            </a:avLst>
          </a:prstGeom>
          <a:solidFill>
            <a:srgbClr val="182235"/>
          </a:solidFill>
          <a:ln w="12700">
            <a:solidFill>
              <a:srgbClr val="182235"/>
            </a:solidFill>
            <a:prstDash val="solid"/>
          </a:ln>
        </p:spPr>
      </p:sp>
      <p:sp>
        <p:nvSpPr>
          <p:cNvPr id="17" name="Text 15"/>
          <p:cNvSpPr txBox="1"/>
          <p:nvPr/>
        </p:nvSpPr>
        <p:spPr>
          <a:xfrm>
            <a:off x="4590288" y="3401568"/>
            <a:ext cx="2971800" cy="822960"/>
          </a:xfrm>
          <a:prstGeom prst="rect">
            <a:avLst/>
          </a:prstGeom>
          <a:noFill/>
          <a:ln/>
        </p:spPr>
        <p:txBody>
          <a:bodyPr wrap="square" lIns="0" tIns="0" rIns="0" bIns="0" rtlCol="0" anchor="ctr"/>
          <a:lstStyle/>
          <a:p>
            <a:pPr indent="0" marL="0">
              <a:buNone/>
            </a:pPr>
            <a:r>
              <a:rPr lang="en-US" sz="1000" dirty="0">
                <a:solidFill>
                  <a:srgbClr val="FF8FC7"/>
                </a:solidFill>
                <a:latin typeface="Consolas" pitchFamily="34" charset="0"/>
                <a:ea typeface="Consolas" pitchFamily="34" charset="-122"/>
                <a:cs typeface="Consolas" pitchFamily="34" charset="-120"/>
              </a:rPr>
              <a:t>val</a:t>
            </a:r>
            <a:pPr indent="0" marL="0">
              <a:buNone/>
            </a:pPr>
            <a:r>
              <a:rPr lang="en-US" sz="1000" dirty="0">
                <a:solidFill>
                  <a:srgbClr val="DCE3EC"/>
                </a:solidFill>
                <a:latin typeface="Consolas" pitchFamily="34" charset="0"/>
                <a:ea typeface="Consolas" pitchFamily="34" charset="-122"/>
                <a:cs typeface="Consolas" pitchFamily="34" charset="-120"/>
              </a:rPr>
              <a:t> </a:t>
            </a:r>
            <a:pPr indent="0" marL="0">
              <a:buNone/>
            </a:pPr>
            <a:r>
              <a:rPr lang="en-US" sz="1000" dirty="0">
                <a:solidFill>
                  <a:srgbClr val="DCE3EC"/>
                </a:solidFill>
                <a:latin typeface="Consolas" pitchFamily="34" charset="0"/>
                <a:ea typeface="Consolas" pitchFamily="34" charset="-122"/>
                <a:cs typeface="Consolas" pitchFamily="34" charset="-120"/>
              </a:rPr>
              <a:t>buttonStyle</a:t>
            </a:r>
            <a:pPr indent="0" marL="0">
              <a:buNone/>
            </a:pPr>
            <a:r>
              <a:rPr lang="en-US" sz="1000" dirty="0">
                <a:solidFill>
                  <a:srgbClr val="DCE3EC"/>
                </a:solidFill>
                <a:latin typeface="Consolas" pitchFamily="34" charset="0"/>
                <a:ea typeface="Consolas" pitchFamily="34" charset="-122"/>
                <a:cs typeface="Consolas" pitchFamily="34" charset="-120"/>
              </a:rPr>
              <a:t> </a:t>
            </a:r>
            <a:pPr indent="0" marL="0">
              <a:buNone/>
            </a:pPr>
            <a:r>
              <a:rPr lang="en-US" sz="1000" dirty="0">
                <a:solidFill>
                  <a:srgbClr val="DCE3EC"/>
                </a:solidFill>
                <a:latin typeface="Consolas" pitchFamily="34" charset="0"/>
                <a:ea typeface="Consolas" pitchFamily="34" charset="-122"/>
                <a:cs typeface="Consolas" pitchFamily="34" charset="-120"/>
              </a:rPr>
              <a:t>=</a:t>
            </a:r>
            <a:pPr indent="0" marL="0">
              <a:buNone/>
            </a:pPr>
            <a:r>
              <a:rPr lang="en-US" sz="1000" dirty="0">
                <a:solidFill>
                  <a:srgbClr val="DCE3EC"/>
                </a:solidFill>
                <a:latin typeface="Consolas" pitchFamily="34" charset="0"/>
                <a:ea typeface="Consolas" pitchFamily="34" charset="-122"/>
                <a:cs typeface="Consolas" pitchFamily="34" charset="-120"/>
              </a:rPr>
              <a:t> </a:t>
            </a:r>
            <a:pPr indent="0" marL="0">
              <a:buNone/>
            </a:pPr>
            <a:r>
              <a:rPr lang="en-US" sz="1000" b="1" dirty="0">
                <a:solidFill>
                  <a:srgbClr val="3DDC84"/>
                </a:solidFill>
                <a:latin typeface="Consolas" pitchFamily="34" charset="0"/>
                <a:ea typeface="Consolas" pitchFamily="34" charset="-122"/>
                <a:cs typeface="Consolas" pitchFamily="34" charset="-120"/>
              </a:rPr>
              <a:t>Style</a:t>
            </a:r>
            <a:pPr indent="0" marL="0">
              <a:buNone/>
            </a:pPr>
            <a:r>
              <a:rPr lang="en-US" sz="1000" dirty="0">
                <a:solidFill>
                  <a:srgbClr val="DCE3EC"/>
                </a:solidFill>
                <a:latin typeface="Consolas" pitchFamily="34" charset="0"/>
                <a:ea typeface="Consolas" pitchFamily="34" charset="-122"/>
                <a:cs typeface="Consolas" pitchFamily="34" charset="-120"/>
              </a:rPr>
              <a:t> </a:t>
            </a:r>
            <a:pPr indent="0" marL="0">
              <a:buNone/>
            </a:pPr>
            <a:r>
              <a:rPr lang="en-US" sz="1000" dirty="0">
                <a:solidFill>
                  <a:srgbClr val="DCE3EC"/>
                </a:solidFill>
                <a:latin typeface="Consolas" pitchFamily="34" charset="0"/>
                <a:ea typeface="Consolas" pitchFamily="34" charset="-122"/>
                <a:cs typeface="Consolas" pitchFamily="34" charset="-120"/>
              </a:rPr>
              <a:t>{</a:t>
            </a:r>
            <a:endParaRPr lang="en-US" sz="1000" dirty="0"/>
          </a:p>
          <a:p>
            <a:pPr indent="0" marL="0">
              <a:buNone/>
            </a:pPr>
            <a:r>
              <a:rPr lang="en-US" sz="1000" dirty="0">
                <a:solidFill>
                  <a:srgbClr val="DCE3EC"/>
                </a:solidFill>
                <a:latin typeface="Consolas" pitchFamily="34" charset="0"/>
                <a:ea typeface="Consolas" pitchFamily="34" charset="-122"/>
                <a:cs typeface="Consolas" pitchFamily="34" charset="-120"/>
              </a:rPr>
              <a:t>    </a:t>
            </a:r>
            <a:pPr indent="0" marL="0">
              <a:buNone/>
            </a:pPr>
            <a:r>
              <a:rPr lang="en-US" sz="1000" b="1" dirty="0">
                <a:solidFill>
                  <a:srgbClr val="3DDC84"/>
                </a:solidFill>
                <a:latin typeface="Consolas" pitchFamily="34" charset="0"/>
                <a:ea typeface="Consolas" pitchFamily="34" charset="-122"/>
                <a:cs typeface="Consolas" pitchFamily="34" charset="-120"/>
              </a:rPr>
              <a:t>background</a:t>
            </a:r>
            <a:pPr indent="0" marL="0">
              <a:buNone/>
            </a:pPr>
            <a:r>
              <a:rPr lang="en-US" sz="1000" dirty="0">
                <a:solidFill>
                  <a:srgbClr val="DCE3EC"/>
                </a:solidFill>
                <a:latin typeface="Consolas" pitchFamily="34" charset="0"/>
                <a:ea typeface="Consolas" pitchFamily="34" charset="-122"/>
                <a:cs typeface="Consolas" pitchFamily="34" charset="-120"/>
              </a:rPr>
              <a:t>(</a:t>
            </a:r>
            <a:pPr indent="0" marL="0">
              <a:buNone/>
            </a:pPr>
            <a:r>
              <a:rPr lang="en-US" sz="1000" dirty="0">
                <a:solidFill>
                  <a:srgbClr val="8AB4F8"/>
                </a:solidFill>
                <a:latin typeface="Consolas" pitchFamily="34" charset="0"/>
                <a:ea typeface="Consolas" pitchFamily="34" charset="-122"/>
                <a:cs typeface="Consolas" pitchFamily="34" charset="-120"/>
              </a:rPr>
              <a:t>Color</a:t>
            </a:r>
            <a:pPr indent="0" marL="0">
              <a:buNone/>
            </a:pPr>
            <a:r>
              <a:rPr lang="en-US" sz="1000" dirty="0">
                <a:solidFill>
                  <a:srgbClr val="DCE3EC"/>
                </a:solidFill>
                <a:latin typeface="Consolas" pitchFamily="34" charset="0"/>
                <a:ea typeface="Consolas" pitchFamily="34" charset="-122"/>
                <a:cs typeface="Consolas" pitchFamily="34" charset="-120"/>
              </a:rPr>
              <a:t>.</a:t>
            </a:r>
            <a:pPr indent="0" marL="0">
              <a:buNone/>
            </a:pPr>
            <a:r>
              <a:rPr lang="en-US" sz="1000" dirty="0">
                <a:solidFill>
                  <a:srgbClr val="8AB4F8"/>
                </a:solidFill>
                <a:latin typeface="Consolas" pitchFamily="34" charset="0"/>
                <a:ea typeface="Consolas" pitchFamily="34" charset="-122"/>
                <a:cs typeface="Consolas" pitchFamily="34" charset="-120"/>
              </a:rPr>
              <a:t>LightGray</a:t>
            </a:r>
            <a:pPr indent="0" marL="0">
              <a:buNone/>
            </a:pPr>
            <a:r>
              <a:rPr lang="en-US" sz="1000" dirty="0">
                <a:solidFill>
                  <a:srgbClr val="DCE3EC"/>
                </a:solidFill>
                <a:latin typeface="Consolas" pitchFamily="34" charset="0"/>
                <a:ea typeface="Consolas" pitchFamily="34" charset="-122"/>
                <a:cs typeface="Consolas" pitchFamily="34" charset="-120"/>
              </a:rPr>
              <a:t>)</a:t>
            </a:r>
            <a:endParaRPr lang="en-US" sz="1000" dirty="0"/>
          </a:p>
          <a:p>
            <a:pPr indent="0" marL="0">
              <a:buNone/>
            </a:pPr>
            <a:r>
              <a:rPr lang="en-US" sz="1000" dirty="0">
                <a:solidFill>
                  <a:srgbClr val="DCE3EC"/>
                </a:solidFill>
                <a:latin typeface="Consolas" pitchFamily="34" charset="0"/>
                <a:ea typeface="Consolas" pitchFamily="34" charset="-122"/>
                <a:cs typeface="Consolas" pitchFamily="34" charset="-120"/>
              </a:rPr>
              <a:t>    </a:t>
            </a:r>
            <a:pPr indent="0" marL="0">
              <a:buNone/>
            </a:pPr>
            <a:r>
              <a:rPr lang="en-US" sz="1000" b="1" dirty="0">
                <a:solidFill>
                  <a:srgbClr val="3DDC84"/>
                </a:solidFill>
                <a:latin typeface="Consolas" pitchFamily="34" charset="0"/>
                <a:ea typeface="Consolas" pitchFamily="34" charset="-122"/>
                <a:cs typeface="Consolas" pitchFamily="34" charset="-120"/>
              </a:rPr>
              <a:t>shape</a:t>
            </a:r>
            <a:pPr indent="0" marL="0">
              <a:buNone/>
            </a:pPr>
            <a:r>
              <a:rPr lang="en-US" sz="1000" dirty="0">
                <a:solidFill>
                  <a:srgbClr val="DCE3EC"/>
                </a:solidFill>
                <a:latin typeface="Consolas" pitchFamily="34" charset="0"/>
                <a:ea typeface="Consolas" pitchFamily="34" charset="-122"/>
                <a:cs typeface="Consolas" pitchFamily="34" charset="-120"/>
              </a:rPr>
              <a:t>(</a:t>
            </a:r>
            <a:pPr indent="0" marL="0">
              <a:buNone/>
            </a:pPr>
            <a:r>
              <a:rPr lang="en-US" sz="1000" dirty="0">
                <a:solidFill>
                  <a:srgbClr val="8AB4F8"/>
                </a:solidFill>
                <a:latin typeface="Consolas" pitchFamily="34" charset="0"/>
                <a:ea typeface="Consolas" pitchFamily="34" charset="-122"/>
                <a:cs typeface="Consolas" pitchFamily="34" charset="-120"/>
              </a:rPr>
              <a:t>RoundedCornerShape</a:t>
            </a:r>
            <a:pPr indent="0" marL="0">
              <a:buNone/>
            </a:pPr>
            <a:r>
              <a:rPr lang="en-US" sz="1000" dirty="0">
                <a:solidFill>
                  <a:srgbClr val="DCE3EC"/>
                </a:solidFill>
                <a:latin typeface="Consolas" pitchFamily="34" charset="0"/>
                <a:ea typeface="Consolas" pitchFamily="34" charset="-122"/>
                <a:cs typeface="Consolas" pitchFamily="34" charset="-120"/>
              </a:rPr>
              <a:t>(</a:t>
            </a:r>
            <a:pPr indent="0" marL="0">
              <a:buNone/>
            </a:pPr>
            <a:r>
              <a:rPr lang="en-US" sz="1000" dirty="0">
                <a:solidFill>
                  <a:srgbClr val="F6C177"/>
                </a:solidFill>
                <a:latin typeface="Consolas" pitchFamily="34" charset="0"/>
                <a:ea typeface="Consolas" pitchFamily="34" charset="-122"/>
                <a:cs typeface="Consolas" pitchFamily="34" charset="-120"/>
              </a:rPr>
              <a:t>28</a:t>
            </a:r>
            <a:pPr indent="0" marL="0">
              <a:buNone/>
            </a:pPr>
            <a:r>
              <a:rPr lang="en-US" sz="1000" dirty="0">
                <a:solidFill>
                  <a:srgbClr val="DCE3EC"/>
                </a:solidFill>
                <a:latin typeface="Consolas" pitchFamily="34" charset="0"/>
                <a:ea typeface="Consolas" pitchFamily="34" charset="-122"/>
                <a:cs typeface="Consolas" pitchFamily="34" charset="-120"/>
              </a:rPr>
              <a:t>.</a:t>
            </a:r>
            <a:pPr indent="0" marL="0">
              <a:buNone/>
            </a:pPr>
            <a:r>
              <a:rPr lang="en-US" sz="1000" dirty="0">
                <a:solidFill>
                  <a:srgbClr val="DCE3EC"/>
                </a:solidFill>
                <a:latin typeface="Consolas" pitchFamily="34" charset="0"/>
                <a:ea typeface="Consolas" pitchFamily="34" charset="-122"/>
                <a:cs typeface="Consolas" pitchFamily="34" charset="-120"/>
              </a:rPr>
              <a:t>dp</a:t>
            </a:r>
            <a:pPr indent="0" marL="0">
              <a:buNone/>
            </a:pPr>
            <a:r>
              <a:rPr lang="en-US" sz="1000" dirty="0">
                <a:solidFill>
                  <a:srgbClr val="DCE3EC"/>
                </a:solidFill>
                <a:latin typeface="Consolas" pitchFamily="34" charset="0"/>
                <a:ea typeface="Consolas" pitchFamily="34" charset="-122"/>
                <a:cs typeface="Consolas" pitchFamily="34" charset="-120"/>
              </a:rPr>
              <a:t>)</a:t>
            </a:r>
            <a:pPr indent="0" marL="0">
              <a:buNone/>
            </a:pPr>
            <a:r>
              <a:rPr lang="en-US" sz="1000" dirty="0">
                <a:solidFill>
                  <a:srgbClr val="DCE3EC"/>
                </a:solidFill>
                <a:latin typeface="Consolas" pitchFamily="34" charset="0"/>
                <a:ea typeface="Consolas" pitchFamily="34" charset="-122"/>
                <a:cs typeface="Consolas" pitchFamily="34" charset="-120"/>
              </a:rPr>
              <a:t>)</a:t>
            </a:r>
            <a:endParaRPr lang="en-US" sz="1000" dirty="0"/>
          </a:p>
          <a:p>
            <a:pPr indent="0" marL="0">
              <a:buNone/>
            </a:pPr>
            <a:r>
              <a:rPr lang="en-US" sz="1000" dirty="0">
                <a:solidFill>
                  <a:srgbClr val="DCE3EC"/>
                </a:solidFill>
                <a:latin typeface="Consolas" pitchFamily="34" charset="0"/>
                <a:ea typeface="Consolas" pitchFamily="34" charset="-122"/>
                <a:cs typeface="Consolas" pitchFamily="34" charset="-120"/>
              </a:rPr>
              <a:t>}</a:t>
            </a:r>
            <a:endParaRPr lang="en-US" sz="1000" dirty="0"/>
          </a:p>
        </p:txBody>
      </p:sp>
      <p:sp>
        <p:nvSpPr>
          <p:cNvPr id="18" name="Shape 16"/>
          <p:cNvSpPr/>
          <p:nvPr/>
        </p:nvSpPr>
        <p:spPr>
          <a:xfrm>
            <a:off x="8046720" y="2240280"/>
            <a:ext cx="3520440" cy="2194560"/>
          </a:xfrm>
          <a:prstGeom prst="roundRect">
            <a:avLst>
              <a:gd name="adj" fmla="val 5833"/>
            </a:avLst>
          </a:prstGeom>
          <a:solidFill>
            <a:srgbClr val="F3F5F8"/>
          </a:solidFill>
          <a:ln w="12700">
            <a:solidFill>
              <a:srgbClr val="F3F5F8"/>
            </a:solidFill>
            <a:prstDash val="solid"/>
          </a:ln>
        </p:spPr>
      </p:sp>
      <p:sp>
        <p:nvSpPr>
          <p:cNvPr id="19" name="Text 17"/>
          <p:cNvSpPr txBox="1"/>
          <p:nvPr/>
        </p:nvSpPr>
        <p:spPr>
          <a:xfrm>
            <a:off x="8247888" y="2377440"/>
            <a:ext cx="457200" cy="457200"/>
          </a:xfrm>
          <a:prstGeom prst="rect">
            <a:avLst/>
          </a:prstGeom>
          <a:noFill/>
          <a:ln/>
        </p:spPr>
        <p:txBody>
          <a:bodyPr wrap="square" lIns="0" tIns="0" rIns="0" bIns="0" rtlCol="0" anchor="t"/>
          <a:lstStyle/>
          <a:p>
            <a:pPr indent="0" marL="0">
              <a:buNone/>
            </a:pPr>
            <a:r>
              <a:rPr lang="en-US" sz="2400" b="1" dirty="0">
                <a:solidFill>
                  <a:srgbClr val="5B3FD6"/>
                </a:solidFill>
                <a:latin typeface="Arial" pitchFamily="34" charset="0"/>
                <a:ea typeface="Arial" pitchFamily="34" charset="-122"/>
                <a:cs typeface="Arial" pitchFamily="34" charset="-120"/>
              </a:rPr>
              <a:t>3</a:t>
            </a:r>
            <a:endParaRPr lang="en-US" sz="2400" dirty="0"/>
          </a:p>
        </p:txBody>
      </p:sp>
      <p:sp>
        <p:nvSpPr>
          <p:cNvPr id="20" name="Text 18"/>
          <p:cNvSpPr txBox="1"/>
          <p:nvPr/>
        </p:nvSpPr>
        <p:spPr>
          <a:xfrm>
            <a:off x="8686800" y="2423160"/>
            <a:ext cx="2697480" cy="384048"/>
          </a:xfrm>
          <a:prstGeom prst="rect">
            <a:avLst/>
          </a:prstGeom>
          <a:noFill/>
          <a:ln/>
        </p:spPr>
        <p:txBody>
          <a:bodyPr wrap="square" lIns="0" tIns="0" rIns="0" bIns="0" rtlCol="0" anchor="t"/>
          <a:lstStyle/>
          <a:p>
            <a:pPr indent="0" marL="0">
              <a:buNone/>
            </a:pPr>
            <a:r>
              <a:rPr lang="en-US" sz="1800" b="1" dirty="0">
                <a:solidFill>
                  <a:srgbClr val="1B2330"/>
                </a:solidFill>
                <a:latin typeface="Calibri" pitchFamily="34" charset="0"/>
                <a:ea typeface="Calibri" pitchFamily="34" charset="-122"/>
                <a:cs typeface="Calibri" pitchFamily="34" charset="-120"/>
              </a:rPr>
              <a:t>Mergeable</a:t>
            </a:r>
            <a:endParaRPr lang="en-US" sz="1800" dirty="0"/>
          </a:p>
        </p:txBody>
      </p:sp>
      <p:sp>
        <p:nvSpPr>
          <p:cNvPr id="21" name="Text 19"/>
          <p:cNvSpPr txBox="1"/>
          <p:nvPr/>
        </p:nvSpPr>
        <p:spPr>
          <a:xfrm>
            <a:off x="8247888" y="2880360"/>
            <a:ext cx="3118104" cy="36576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Combine with Style(a, b) or a then b.</a:t>
            </a:r>
            <a:endParaRPr lang="en-US" sz="1300" dirty="0"/>
          </a:p>
        </p:txBody>
      </p:sp>
      <p:sp>
        <p:nvSpPr>
          <p:cNvPr id="22" name="Shape 20"/>
          <p:cNvSpPr/>
          <p:nvPr/>
        </p:nvSpPr>
        <p:spPr>
          <a:xfrm>
            <a:off x="8229600" y="3337560"/>
            <a:ext cx="3154680" cy="960120"/>
          </a:xfrm>
          <a:prstGeom prst="roundRect">
            <a:avLst>
              <a:gd name="adj" fmla="val 7619"/>
            </a:avLst>
          </a:prstGeom>
          <a:solidFill>
            <a:srgbClr val="182235"/>
          </a:solidFill>
          <a:ln w="12700">
            <a:solidFill>
              <a:srgbClr val="182235"/>
            </a:solidFill>
            <a:prstDash val="solid"/>
          </a:ln>
        </p:spPr>
      </p:sp>
      <p:sp>
        <p:nvSpPr>
          <p:cNvPr id="23" name="Text 21"/>
          <p:cNvSpPr txBox="1"/>
          <p:nvPr/>
        </p:nvSpPr>
        <p:spPr>
          <a:xfrm>
            <a:off x="8339328" y="3401568"/>
            <a:ext cx="2971800" cy="822960"/>
          </a:xfrm>
          <a:prstGeom prst="rect">
            <a:avLst/>
          </a:prstGeom>
          <a:noFill/>
          <a:ln/>
        </p:spPr>
        <p:txBody>
          <a:bodyPr wrap="square" lIns="0" tIns="0" rIns="0" bIns="0" rtlCol="0" anchor="ctr"/>
          <a:lstStyle/>
          <a:p>
            <a:pPr indent="0" marL="0">
              <a:buNone/>
            </a:pPr>
            <a:r>
              <a:rPr lang="en-US" sz="1000" b="1" dirty="0">
                <a:solidFill>
                  <a:srgbClr val="3DDC84"/>
                </a:solidFill>
                <a:latin typeface="Consolas" pitchFamily="34" charset="0"/>
                <a:ea typeface="Consolas" pitchFamily="34" charset="-122"/>
                <a:cs typeface="Consolas" pitchFamily="34" charset="-120"/>
              </a:rPr>
              <a:t>style</a:t>
            </a:r>
            <a:pPr indent="0" marL="0">
              <a:buNone/>
            </a:pPr>
            <a:r>
              <a:rPr lang="en-US" sz="1000" dirty="0">
                <a:solidFill>
                  <a:srgbClr val="DCE3EC"/>
                </a:solidFill>
                <a:latin typeface="Consolas" pitchFamily="34" charset="0"/>
                <a:ea typeface="Consolas" pitchFamily="34" charset="-122"/>
                <a:cs typeface="Consolas" pitchFamily="34" charset="-120"/>
              </a:rPr>
              <a:t> </a:t>
            </a:r>
            <a:pPr indent="0" marL="0">
              <a:buNone/>
            </a:pPr>
            <a:r>
              <a:rPr lang="en-US" sz="1000" dirty="0">
                <a:solidFill>
                  <a:srgbClr val="DCE3EC"/>
                </a:solidFill>
                <a:latin typeface="Consolas" pitchFamily="34" charset="0"/>
                <a:ea typeface="Consolas" pitchFamily="34" charset="-122"/>
                <a:cs typeface="Consolas" pitchFamily="34" charset="-120"/>
              </a:rPr>
              <a:t>=</a:t>
            </a:r>
            <a:pPr indent="0" marL="0">
              <a:buNone/>
            </a:pPr>
            <a:r>
              <a:rPr lang="en-US" sz="1000" dirty="0">
                <a:solidFill>
                  <a:srgbClr val="DCE3EC"/>
                </a:solidFill>
                <a:latin typeface="Consolas" pitchFamily="34" charset="0"/>
                <a:ea typeface="Consolas" pitchFamily="34" charset="-122"/>
                <a:cs typeface="Consolas" pitchFamily="34" charset="-120"/>
              </a:rPr>
              <a:t> </a:t>
            </a:r>
            <a:pPr indent="0" marL="0">
              <a:buNone/>
            </a:pPr>
            <a:r>
              <a:rPr lang="en-US" sz="1000" dirty="0">
                <a:solidFill>
                  <a:srgbClr val="DCE3EC"/>
                </a:solidFill>
                <a:latin typeface="Consolas" pitchFamily="34" charset="0"/>
                <a:ea typeface="Consolas" pitchFamily="34" charset="-122"/>
                <a:cs typeface="Consolas" pitchFamily="34" charset="-120"/>
              </a:rPr>
              <a:t>buttonStyle</a:t>
            </a:r>
            <a:pPr indent="0" marL="0">
              <a:buNone/>
            </a:pPr>
            <a:r>
              <a:rPr lang="en-US" sz="1000" dirty="0">
                <a:solidFill>
                  <a:srgbClr val="DCE3EC"/>
                </a:solidFill>
                <a:latin typeface="Consolas" pitchFamily="34" charset="0"/>
                <a:ea typeface="Consolas" pitchFamily="34" charset="-122"/>
                <a:cs typeface="Consolas" pitchFamily="34" charset="-120"/>
              </a:rPr>
              <a:t> </a:t>
            </a:r>
            <a:pPr indent="0" marL="0">
              <a:buNone/>
            </a:pPr>
            <a:r>
              <a:rPr lang="en-US" sz="1000" dirty="0">
                <a:solidFill>
                  <a:srgbClr val="FF8FC7"/>
                </a:solidFill>
                <a:latin typeface="Consolas" pitchFamily="34" charset="0"/>
                <a:ea typeface="Consolas" pitchFamily="34" charset="-122"/>
                <a:cs typeface="Consolas" pitchFamily="34" charset="-120"/>
              </a:rPr>
              <a:t>then</a:t>
            </a:r>
            <a:pPr indent="0" marL="0">
              <a:buNone/>
            </a:pPr>
            <a:r>
              <a:rPr lang="en-US" sz="1000" dirty="0">
                <a:solidFill>
                  <a:srgbClr val="DCE3EC"/>
                </a:solidFill>
                <a:latin typeface="Consolas" pitchFamily="34" charset="0"/>
                <a:ea typeface="Consolas" pitchFamily="34" charset="-122"/>
                <a:cs typeface="Consolas" pitchFamily="34" charset="-120"/>
              </a:rPr>
              <a:t> </a:t>
            </a:r>
            <a:pPr indent="0" marL="0">
              <a:buNone/>
            </a:pPr>
            <a:r>
              <a:rPr lang="en-US" sz="1000" dirty="0">
                <a:solidFill>
                  <a:srgbClr val="DCE3EC"/>
                </a:solidFill>
                <a:latin typeface="Consolas" pitchFamily="34" charset="0"/>
                <a:ea typeface="Consolas" pitchFamily="34" charset="-122"/>
                <a:cs typeface="Consolas" pitchFamily="34" charset="-120"/>
              </a:rPr>
              <a:t>gradientStyle</a:t>
            </a:r>
            <a:endParaRPr lang="en-US" sz="1000" dirty="0"/>
          </a:p>
        </p:txBody>
      </p:sp>
      <p:sp>
        <p:nvSpPr>
          <p:cNvPr id="24" name="Shape 22"/>
          <p:cNvSpPr/>
          <p:nvPr/>
        </p:nvSpPr>
        <p:spPr>
          <a:xfrm>
            <a:off x="548640" y="4709160"/>
            <a:ext cx="5440680" cy="1691640"/>
          </a:xfrm>
          <a:prstGeom prst="roundRect">
            <a:avLst>
              <a:gd name="adj" fmla="val 6486"/>
            </a:avLst>
          </a:prstGeom>
          <a:solidFill>
            <a:srgbClr val="FFF4DD"/>
          </a:solidFill>
          <a:ln w="12700">
            <a:solidFill>
              <a:srgbClr val="FFF4DD"/>
            </a:solidFill>
            <a:prstDash val="solid"/>
          </a:ln>
        </p:spPr>
      </p:sp>
      <p:sp>
        <p:nvSpPr>
          <p:cNvPr id="25" name="Text 23"/>
          <p:cNvSpPr txBox="1"/>
          <p:nvPr/>
        </p:nvSpPr>
        <p:spPr>
          <a:xfrm>
            <a:off x="777240" y="4846320"/>
            <a:ext cx="5029200" cy="320040"/>
          </a:xfrm>
          <a:prstGeom prst="rect">
            <a:avLst/>
          </a:prstGeom>
          <a:noFill/>
          <a:ln/>
        </p:spPr>
        <p:txBody>
          <a:bodyPr wrap="square" lIns="0" tIns="0" rIns="0" bIns="0" rtlCol="0" anchor="t"/>
          <a:lstStyle/>
          <a:p>
            <a:pPr indent="0" marL="0">
              <a:buNone/>
            </a:pPr>
            <a:r>
              <a:rPr lang="en-US" sz="1500" b="1" dirty="0">
                <a:solidFill>
                  <a:srgbClr val="B26A00"/>
                </a:solidFill>
                <a:latin typeface="Calibri" pitchFamily="34" charset="0"/>
                <a:ea typeface="Calibri" pitchFamily="34" charset="-122"/>
                <a:cs typeface="Calibri" pitchFamily="34" charset="-120"/>
              </a:rPr>
              <a:t>Modifier = additive</a:t>
            </a:r>
            <a:endParaRPr lang="en-US" sz="1500" dirty="0"/>
          </a:p>
        </p:txBody>
      </p:sp>
      <p:sp>
        <p:nvSpPr>
          <p:cNvPr id="26" name="Text 24"/>
          <p:cNvSpPr txBox="1"/>
          <p:nvPr/>
        </p:nvSpPr>
        <p:spPr>
          <a:xfrm>
            <a:off x="777240" y="5257800"/>
            <a:ext cx="5029200" cy="320040"/>
          </a:xfrm>
          <a:prstGeom prst="rect">
            <a:avLst/>
          </a:prstGeom>
          <a:noFill/>
          <a:ln/>
        </p:spPr>
        <p:txBody>
          <a:bodyPr wrap="square" lIns="0" tIns="0" rIns="0" bIns="0" rtlCol="0" anchor="t"/>
          <a:lstStyle/>
          <a:p>
            <a:pPr indent="0" marL="0">
              <a:buNone/>
            </a:pPr>
            <a:r>
              <a:rPr lang="en-US" sz="1250" dirty="0">
                <a:solidFill>
                  <a:srgbClr val="1B2330"/>
                </a:solidFill>
                <a:latin typeface="Consolas" pitchFamily="34" charset="0"/>
                <a:ea typeface="Consolas" pitchFamily="34" charset="-122"/>
                <a:cs typeface="Consolas" pitchFamily="34" charset="-120"/>
              </a:rPr>
              <a:t>.padding(32.dp).padding(top = 16.dp)</a:t>
            </a:r>
            <a:endParaRPr lang="en-US" sz="1250" dirty="0"/>
          </a:p>
        </p:txBody>
      </p:sp>
      <p:sp>
        <p:nvSpPr>
          <p:cNvPr id="27" name="Text 25"/>
          <p:cNvSpPr txBox="1"/>
          <p:nvPr/>
        </p:nvSpPr>
        <p:spPr>
          <a:xfrm>
            <a:off x="777240" y="5715000"/>
            <a:ext cx="5029200" cy="457200"/>
          </a:xfrm>
          <a:prstGeom prst="rect">
            <a:avLst/>
          </a:prstGeom>
          <a:noFill/>
          <a:ln/>
        </p:spPr>
        <p:txBody>
          <a:bodyPr wrap="square" lIns="0" tIns="0" rIns="0" bIns="0" rtlCol="0" anchor="t"/>
          <a:lstStyle/>
          <a:p>
            <a:pPr indent="0" marL="0">
              <a:buNone/>
            </a:pPr>
            <a:r>
              <a:rPr lang="en-US" sz="2000" dirty="0">
                <a:solidFill>
                  <a:srgbClr val="1B2330"/>
                </a:solidFill>
                <a:latin typeface="Calibri" pitchFamily="34" charset="0"/>
                <a:ea typeface="Calibri" pitchFamily="34" charset="-122"/>
                <a:cs typeface="Calibri" pitchFamily="34" charset="-120"/>
              </a:rPr>
              <a:t>top = 32 + 16 = </a:t>
            </a:r>
            <a:pPr indent="0" marL="0">
              <a:buNone/>
            </a:pPr>
            <a:r>
              <a:rPr lang="en-US" sz="2000" b="1" dirty="0">
                <a:solidFill>
                  <a:srgbClr val="B26A00"/>
                </a:solidFill>
                <a:latin typeface="Calibri" pitchFamily="34" charset="0"/>
                <a:ea typeface="Calibri" pitchFamily="34" charset="-122"/>
                <a:cs typeface="Calibri" pitchFamily="34" charset="-120"/>
              </a:rPr>
              <a:t>48 dp</a:t>
            </a:r>
            <a:endParaRPr lang="en-US" sz="2000" dirty="0"/>
          </a:p>
        </p:txBody>
      </p:sp>
      <p:sp>
        <p:nvSpPr>
          <p:cNvPr id="28" name="Shape 26"/>
          <p:cNvSpPr/>
          <p:nvPr/>
        </p:nvSpPr>
        <p:spPr>
          <a:xfrm>
            <a:off x="6172200" y="4709160"/>
            <a:ext cx="5440680" cy="1691640"/>
          </a:xfrm>
          <a:prstGeom prst="roundRect">
            <a:avLst>
              <a:gd name="adj" fmla="val 6486"/>
            </a:avLst>
          </a:prstGeom>
          <a:solidFill>
            <a:srgbClr val="E6F8EE"/>
          </a:solidFill>
          <a:ln w="12700">
            <a:solidFill>
              <a:srgbClr val="E6F8EE"/>
            </a:solidFill>
            <a:prstDash val="solid"/>
          </a:ln>
        </p:spPr>
      </p:sp>
      <p:sp>
        <p:nvSpPr>
          <p:cNvPr id="29" name="Text 27"/>
          <p:cNvSpPr txBox="1"/>
          <p:nvPr/>
        </p:nvSpPr>
        <p:spPr>
          <a:xfrm>
            <a:off x="6400800" y="4846320"/>
            <a:ext cx="5029200" cy="320040"/>
          </a:xfrm>
          <a:prstGeom prst="rect">
            <a:avLst/>
          </a:prstGeom>
          <a:noFill/>
          <a:ln/>
        </p:spPr>
        <p:txBody>
          <a:bodyPr wrap="square" lIns="0" tIns="0" rIns="0" bIns="0" rtlCol="0" anchor="t"/>
          <a:lstStyle/>
          <a:p>
            <a:pPr indent="0" marL="0">
              <a:buNone/>
            </a:pPr>
            <a:r>
              <a:rPr lang="en-US" sz="1500" b="1" dirty="0">
                <a:solidFill>
                  <a:srgbClr val="0A7D43"/>
                </a:solidFill>
                <a:latin typeface="Calibri" pitchFamily="34" charset="0"/>
                <a:ea typeface="Calibri" pitchFamily="34" charset="-122"/>
                <a:cs typeface="Calibri" pitchFamily="34" charset="-120"/>
              </a:rPr>
              <a:t>Style = override</a:t>
            </a:r>
            <a:endParaRPr lang="en-US" sz="1500" dirty="0"/>
          </a:p>
        </p:txBody>
      </p:sp>
      <p:sp>
        <p:nvSpPr>
          <p:cNvPr id="30" name="Text 28"/>
          <p:cNvSpPr txBox="1"/>
          <p:nvPr/>
        </p:nvSpPr>
        <p:spPr>
          <a:xfrm>
            <a:off x="6400800" y="5257800"/>
            <a:ext cx="5029200" cy="320040"/>
          </a:xfrm>
          <a:prstGeom prst="rect">
            <a:avLst/>
          </a:prstGeom>
          <a:noFill/>
          <a:ln/>
        </p:spPr>
        <p:txBody>
          <a:bodyPr wrap="square" lIns="0" tIns="0" rIns="0" bIns="0" rtlCol="0" anchor="t"/>
          <a:lstStyle/>
          <a:p>
            <a:pPr indent="0" marL="0">
              <a:buNone/>
            </a:pPr>
            <a:r>
              <a:rPr lang="en-US" sz="1250" dirty="0">
                <a:solidFill>
                  <a:srgbClr val="1B2330"/>
                </a:solidFill>
                <a:latin typeface="Consolas" pitchFamily="34" charset="0"/>
                <a:ea typeface="Consolas" pitchFamily="34" charset="-122"/>
                <a:cs typeface="Consolas" pitchFamily="34" charset="-120"/>
              </a:rPr>
              <a:t>external padding 32 dp, then top 16 dp</a:t>
            </a:r>
            <a:endParaRPr lang="en-US" sz="1250" dirty="0"/>
          </a:p>
        </p:txBody>
      </p:sp>
      <p:sp>
        <p:nvSpPr>
          <p:cNvPr id="31" name="Text 29"/>
          <p:cNvSpPr txBox="1"/>
          <p:nvPr/>
        </p:nvSpPr>
        <p:spPr>
          <a:xfrm>
            <a:off x="6400800" y="5715000"/>
            <a:ext cx="5029200" cy="457200"/>
          </a:xfrm>
          <a:prstGeom prst="rect">
            <a:avLst/>
          </a:prstGeom>
          <a:noFill/>
          <a:ln/>
        </p:spPr>
        <p:txBody>
          <a:bodyPr wrap="square" lIns="0" tIns="0" rIns="0" bIns="0" rtlCol="0" anchor="t"/>
          <a:lstStyle/>
          <a:p>
            <a:pPr indent="0" marL="0">
              <a:buNone/>
            </a:pPr>
            <a:r>
              <a:rPr lang="en-US" sz="2000" dirty="0">
                <a:solidFill>
                  <a:srgbClr val="1B2330"/>
                </a:solidFill>
                <a:latin typeface="Calibri" pitchFamily="34" charset="0"/>
                <a:ea typeface="Calibri" pitchFamily="34" charset="-122"/>
                <a:cs typeface="Calibri" pitchFamily="34" charset="-120"/>
              </a:rPr>
              <a:t>top = last value = </a:t>
            </a:r>
            <a:pPr indent="0" marL="0">
              <a:buNone/>
            </a:pPr>
            <a:r>
              <a:rPr lang="en-US" sz="2000" b="1" dirty="0">
                <a:solidFill>
                  <a:srgbClr val="0A7D43"/>
                </a:solidFill>
                <a:latin typeface="Calibri" pitchFamily="34" charset="0"/>
                <a:ea typeface="Calibri" pitchFamily="34" charset="-122"/>
                <a:cs typeface="Calibri" pitchFamily="34" charset="-120"/>
              </a:rPr>
              <a:t>16 dp</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754380" cy="329184"/>
          </a:xfrm>
          <a:prstGeom prst="roundRect">
            <a:avLst>
              <a:gd name="adj" fmla="val 50000"/>
            </a:avLst>
          </a:prstGeom>
          <a:solidFill>
            <a:srgbClr val="EEEAFB"/>
          </a:solidFill>
          <a:ln w="12700">
            <a:solidFill>
              <a:srgbClr val="EEEAFB"/>
            </a:solidFill>
            <a:prstDash val="solid"/>
          </a:ln>
        </p:spPr>
      </p:sp>
      <p:sp>
        <p:nvSpPr>
          <p:cNvPr id="3" name="Text 1"/>
          <p:cNvSpPr txBox="1"/>
          <p:nvPr/>
        </p:nvSpPr>
        <p:spPr>
          <a:xfrm>
            <a:off x="548640" y="384048"/>
            <a:ext cx="754380" cy="329184"/>
          </a:xfrm>
          <a:prstGeom prst="rect">
            <a:avLst/>
          </a:prstGeom>
          <a:noFill/>
          <a:ln/>
        </p:spPr>
        <p:txBody>
          <a:bodyPr wrap="square" lIns="0" tIns="0" rIns="0" bIns="0" rtlCol="0" anchor="ctr"/>
          <a:lstStyle/>
          <a:p>
            <a:pPr algn="ctr" indent="0" marL="0">
              <a:buNone/>
            </a:pPr>
            <a:r>
              <a:rPr lang="en-US" sz="1100" b="1" spc="200" kern="0" dirty="0">
                <a:solidFill>
                  <a:srgbClr val="5B3FD6"/>
                </a:solidFill>
                <a:latin typeface="Calibri" pitchFamily="34" charset="0"/>
                <a:ea typeface="Calibri" pitchFamily="34" charset="-122"/>
                <a:cs typeface="Calibri" pitchFamily="34" charset="-120"/>
              </a:rPr>
              <a:t>USAGE</a:t>
            </a:r>
            <a:endParaRPr lang="en-US" sz="1100" dirty="0"/>
          </a:p>
        </p:txBody>
      </p:sp>
      <p:sp>
        <p:nvSpPr>
          <p:cNvPr id="4" name="Text 2"/>
          <p:cNvSpPr txBox="1"/>
          <p:nvPr/>
        </p:nvSpPr>
        <p:spPr>
          <a:xfrm>
            <a:off x="548640" y="868680"/>
            <a:ext cx="11064240" cy="731520"/>
          </a:xfrm>
          <a:prstGeom prst="rect">
            <a:avLst/>
          </a:prstGeom>
          <a:noFill/>
          <a:ln/>
        </p:spPr>
        <p:txBody>
          <a:bodyPr wrap="square" lIns="0" tIns="0" rIns="0" bIns="0" rtlCol="0" anchor="t"/>
          <a:lstStyle/>
          <a:p>
            <a:pPr indent="0" marL="0">
              <a:buNone/>
            </a:pPr>
            <a:r>
              <a:rPr lang="en-US" sz="3200" b="1" dirty="0">
                <a:solidFill>
                  <a:srgbClr val="1B2330"/>
                </a:solidFill>
                <a:latin typeface="Arial" pitchFamily="34" charset="0"/>
                <a:ea typeface="Arial" pitchFamily="34" charset="-122"/>
                <a:cs typeface="Arial" pitchFamily="34" charset="-120"/>
              </a:rPr>
              <a:t>Two ways to use Styles</a:t>
            </a:r>
            <a:endParaRPr lang="en-US" sz="3200" dirty="0"/>
          </a:p>
        </p:txBody>
      </p:sp>
      <p:sp>
        <p:nvSpPr>
          <p:cNvPr id="5" name="Shape 3"/>
          <p:cNvSpPr/>
          <p:nvPr/>
        </p:nvSpPr>
        <p:spPr>
          <a:xfrm>
            <a:off x="548640" y="1645920"/>
            <a:ext cx="3017520" cy="292608"/>
          </a:xfrm>
          <a:prstGeom prst="roundRect">
            <a:avLst>
              <a:gd name="adj" fmla="val 50000"/>
            </a:avLst>
          </a:prstGeom>
          <a:solidFill>
            <a:srgbClr val="EEEAFB"/>
          </a:solidFill>
          <a:ln w="12700">
            <a:solidFill>
              <a:srgbClr val="EEEAFB"/>
            </a:solidFill>
            <a:prstDash val="solid"/>
          </a:ln>
        </p:spPr>
      </p:sp>
      <p:sp>
        <p:nvSpPr>
          <p:cNvPr id="6" name="Text 4"/>
          <p:cNvSpPr txBox="1"/>
          <p:nvPr/>
        </p:nvSpPr>
        <p:spPr>
          <a:xfrm>
            <a:off x="548640" y="1645920"/>
            <a:ext cx="3017520" cy="292608"/>
          </a:xfrm>
          <a:prstGeom prst="rect">
            <a:avLst/>
          </a:prstGeom>
          <a:noFill/>
          <a:ln/>
        </p:spPr>
        <p:txBody>
          <a:bodyPr wrap="square" lIns="0" tIns="0" rIns="0" bIns="0" rtlCol="0" anchor="ctr"/>
          <a:lstStyle/>
          <a:p>
            <a:pPr algn="ctr" indent="0" marL="0">
              <a:buNone/>
            </a:pPr>
            <a:r>
              <a:rPr lang="en-US" sz="1100" b="1" dirty="0">
                <a:solidFill>
                  <a:srgbClr val="5B3FD6"/>
                </a:solidFill>
                <a:latin typeface="Calibri" pitchFamily="34" charset="0"/>
                <a:ea typeface="Calibri" pitchFamily="34" charset="-122"/>
                <a:cs typeface="Calibri" pitchFamily="34" charset="-120"/>
              </a:rPr>
              <a:t>1 · Make your component styleable</a:t>
            </a:r>
            <a:endParaRPr lang="en-US" sz="1100" dirty="0"/>
          </a:p>
        </p:txBody>
      </p:sp>
      <p:sp>
        <p:nvSpPr>
          <p:cNvPr id="7" name="Shape 5"/>
          <p:cNvSpPr/>
          <p:nvPr/>
        </p:nvSpPr>
        <p:spPr>
          <a:xfrm>
            <a:off x="548640" y="2011680"/>
            <a:ext cx="5532120" cy="4434840"/>
          </a:xfrm>
          <a:prstGeom prst="roundRect">
            <a:avLst>
              <a:gd name="adj" fmla="val 2474"/>
            </a:avLst>
          </a:prstGeom>
          <a:solidFill>
            <a:srgbClr val="182235"/>
          </a:solidFill>
          <a:ln w="12700">
            <a:solidFill>
              <a:srgbClr val="182235"/>
            </a:solidFill>
            <a:prstDash val="solid"/>
          </a:ln>
        </p:spPr>
      </p:sp>
      <p:sp>
        <p:nvSpPr>
          <p:cNvPr id="8" name="Text 6"/>
          <p:cNvSpPr txBox="1"/>
          <p:nvPr/>
        </p:nvSpPr>
        <p:spPr>
          <a:xfrm>
            <a:off x="777240" y="2212848"/>
            <a:ext cx="5166360" cy="4114800"/>
          </a:xfrm>
          <a:prstGeom prst="rect">
            <a:avLst/>
          </a:prstGeom>
          <a:noFill/>
          <a:ln/>
        </p:spPr>
        <p:txBody>
          <a:bodyPr wrap="square" lIns="0" tIns="0" rIns="0" bIns="0" rtlCol="0" anchor="t"/>
          <a:lstStyle/>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Composable</a:t>
            </a:r>
            <a:endParaRPr lang="en-US" sz="1150" dirty="0"/>
          </a:p>
          <a:p>
            <a:pPr indent="0" marL="0">
              <a:lnSpc>
                <a:spcPct val="105000"/>
              </a:lnSpc>
              <a:buNone/>
            </a:pPr>
            <a:r>
              <a:rPr lang="en-US" sz="1150" dirty="0">
                <a:solidFill>
                  <a:srgbClr val="FF8FC7"/>
                </a:solidFill>
                <a:latin typeface="Consolas" pitchFamily="34" charset="0"/>
                <a:ea typeface="Consolas" pitchFamily="34" charset="-122"/>
                <a:cs typeface="Consolas" pitchFamily="34" charset="-120"/>
              </a:rPr>
              <a:t>fun</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GradientButton</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onClick</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&gt;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Unit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modifier</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Modifier</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Modifier</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b="1" dirty="0">
                <a:solidFill>
                  <a:srgbClr val="3DDC84"/>
                </a:solidFill>
                <a:latin typeface="Consolas" pitchFamily="34" charset="0"/>
                <a:ea typeface="Consolas" pitchFamily="34" charset="-122"/>
                <a:cs typeface="Consolas" pitchFamily="34" charset="-120"/>
              </a:rPr>
              <a:t>style</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b="1" dirty="0">
                <a:solidFill>
                  <a:srgbClr val="3DDC84"/>
                </a:solidFill>
                <a:latin typeface="Consolas" pitchFamily="34" charset="0"/>
                <a:ea typeface="Consolas" pitchFamily="34" charset="-122"/>
                <a:cs typeface="Consolas" pitchFamily="34" charset="-120"/>
              </a:rPr>
              <a:t>Style</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b="1" dirty="0">
                <a:solidFill>
                  <a:srgbClr val="3DDC84"/>
                </a:solidFill>
                <a:latin typeface="Consolas" pitchFamily="34" charset="0"/>
                <a:ea typeface="Consolas" pitchFamily="34" charset="-122"/>
                <a:cs typeface="Consolas" pitchFamily="34" charset="-120"/>
              </a:rPr>
              <a:t>Style</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i="1" dirty="0">
                <a:solidFill>
                  <a:srgbClr val="8B98AD"/>
                </a:solidFill>
                <a:latin typeface="Consolas" pitchFamily="34" charset="0"/>
                <a:ea typeface="Consolas" pitchFamily="34" charset="-122"/>
                <a:cs typeface="Consolas" pitchFamily="34" charset="-120"/>
              </a:rPr>
              <a:t>// like modifier</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content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Composable</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RowScope</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&gt;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Unit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FF8FC7"/>
                </a:solidFill>
                <a:latin typeface="Consolas" pitchFamily="34" charset="0"/>
                <a:ea typeface="Consolas" pitchFamily="34" charset="-122"/>
                <a:cs typeface="Consolas" pitchFamily="34" charset="-120"/>
              </a:rPr>
              <a:t>val</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source</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remember</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MutableInteractionSource</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FF8FC7"/>
                </a:solidFill>
                <a:latin typeface="Consolas" pitchFamily="34" charset="0"/>
                <a:ea typeface="Consolas" pitchFamily="34" charset="-122"/>
                <a:cs typeface="Consolas" pitchFamily="34" charset="-120"/>
              </a:rPr>
              <a:t>val</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styleState</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b="1" dirty="0">
                <a:solidFill>
                  <a:srgbClr val="3DDC84"/>
                </a:solidFill>
                <a:latin typeface="Consolas" pitchFamily="34" charset="0"/>
                <a:ea typeface="Consolas" pitchFamily="34" charset="-122"/>
                <a:cs typeface="Consolas" pitchFamily="34" charset="-120"/>
              </a:rPr>
              <a:t>rememberUpdatedStyleState</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source</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8AB4F8"/>
                </a:solidFill>
                <a:latin typeface="Consolas" pitchFamily="34" charset="0"/>
                <a:ea typeface="Consolas" pitchFamily="34" charset="-122"/>
                <a:cs typeface="Consolas" pitchFamily="34" charset="-120"/>
              </a:rPr>
              <a:t>Row</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modifier</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clickable</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source</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indication</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FF8FC7"/>
                </a:solidFill>
                <a:latin typeface="Consolas" pitchFamily="34" charset="0"/>
                <a:ea typeface="Consolas" pitchFamily="34" charset="-122"/>
                <a:cs typeface="Consolas" pitchFamily="34" charset="-120"/>
              </a:rPr>
              <a:t>null</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onClick</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onClick</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b="1" dirty="0">
                <a:solidFill>
                  <a:srgbClr val="3DDC84"/>
                </a:solidFill>
                <a:latin typeface="Consolas" pitchFamily="34" charset="0"/>
                <a:ea typeface="Consolas" pitchFamily="34" charset="-122"/>
                <a:cs typeface="Consolas" pitchFamily="34" charset="-120"/>
              </a:rPr>
              <a:t>styleable</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styleState</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b="1" dirty="0">
                <a:solidFill>
                  <a:srgbClr val="3DDC84"/>
                </a:solidFill>
                <a:latin typeface="Consolas" pitchFamily="34" charset="0"/>
                <a:ea typeface="Consolas" pitchFamily="34" charset="-122"/>
                <a:cs typeface="Consolas" pitchFamily="34" charset="-120"/>
              </a:rPr>
              <a:t>style</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content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content</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DCE3EC"/>
                </a:solidFill>
                <a:latin typeface="Consolas" pitchFamily="34" charset="0"/>
                <a:ea typeface="Consolas" pitchFamily="34" charset="-122"/>
                <a:cs typeface="Consolas" pitchFamily="34" charset="-120"/>
              </a:rPr>
              <a:t>}</a:t>
            </a:r>
            <a:endParaRPr lang="en-US" sz="1150" dirty="0"/>
          </a:p>
        </p:txBody>
      </p:sp>
      <p:sp>
        <p:nvSpPr>
          <p:cNvPr id="9" name="Text 7"/>
          <p:cNvSpPr txBox="1"/>
          <p:nvPr/>
        </p:nvSpPr>
        <p:spPr>
          <a:xfrm>
            <a:off x="4617720" y="2084832"/>
            <a:ext cx="1325880" cy="201168"/>
          </a:xfrm>
          <a:prstGeom prst="rect">
            <a:avLst/>
          </a:prstGeom>
          <a:noFill/>
          <a:ln/>
        </p:spPr>
        <p:txBody>
          <a:bodyPr wrap="square" lIns="0" tIns="0" rIns="0" bIns="0" rtlCol="0" anchor="t"/>
          <a:lstStyle/>
          <a:p>
            <a:pPr algn="r" indent="0" marL="0">
              <a:buNone/>
            </a:pPr>
            <a:r>
              <a:rPr lang="en-US" sz="900" dirty="0">
                <a:solidFill>
                  <a:srgbClr val="6F7D93"/>
                </a:solidFill>
                <a:latin typeface="Calibri" pitchFamily="34" charset="0"/>
                <a:ea typeface="Calibri" pitchFamily="34" charset="-122"/>
                <a:cs typeface="Calibri" pitchFamily="34" charset="-120"/>
              </a:rPr>
              <a:t>Kotlin</a:t>
            </a:r>
            <a:endParaRPr lang="en-US" sz="900" dirty="0"/>
          </a:p>
        </p:txBody>
      </p:sp>
      <p:sp>
        <p:nvSpPr>
          <p:cNvPr id="10" name="Shape 8"/>
          <p:cNvSpPr/>
          <p:nvPr/>
        </p:nvSpPr>
        <p:spPr>
          <a:xfrm>
            <a:off x="6355080" y="1645920"/>
            <a:ext cx="2743200" cy="292608"/>
          </a:xfrm>
          <a:prstGeom prst="roundRect">
            <a:avLst>
              <a:gd name="adj" fmla="val 50000"/>
            </a:avLst>
          </a:prstGeom>
          <a:solidFill>
            <a:srgbClr val="EEEAFB"/>
          </a:solidFill>
          <a:ln w="12700">
            <a:solidFill>
              <a:srgbClr val="EEEAFB"/>
            </a:solidFill>
            <a:prstDash val="solid"/>
          </a:ln>
        </p:spPr>
      </p:sp>
      <p:sp>
        <p:nvSpPr>
          <p:cNvPr id="11" name="Text 9"/>
          <p:cNvSpPr txBox="1"/>
          <p:nvPr/>
        </p:nvSpPr>
        <p:spPr>
          <a:xfrm>
            <a:off x="6355080" y="1645920"/>
            <a:ext cx="2743200" cy="292608"/>
          </a:xfrm>
          <a:prstGeom prst="rect">
            <a:avLst/>
          </a:prstGeom>
          <a:noFill/>
          <a:ln/>
        </p:spPr>
        <p:txBody>
          <a:bodyPr wrap="square" lIns="0" tIns="0" rIns="0" bIns="0" rtlCol="0" anchor="ctr"/>
          <a:lstStyle/>
          <a:p>
            <a:pPr algn="ctr" indent="0" marL="0">
              <a:buNone/>
            </a:pPr>
            <a:r>
              <a:rPr lang="en-US" sz="1100" b="1" dirty="0">
                <a:solidFill>
                  <a:srgbClr val="5B3FD6"/>
                </a:solidFill>
                <a:latin typeface="Calibri" pitchFamily="34" charset="0"/>
                <a:ea typeface="Calibri" pitchFamily="34" charset="-122"/>
                <a:cs typeface="Calibri" pitchFamily="34" charset="-120"/>
              </a:rPr>
              <a:t>2 · Pass a style to a component</a:t>
            </a:r>
            <a:endParaRPr lang="en-US" sz="1100" dirty="0"/>
          </a:p>
        </p:txBody>
      </p:sp>
      <p:sp>
        <p:nvSpPr>
          <p:cNvPr id="12" name="Shape 10"/>
          <p:cNvSpPr/>
          <p:nvPr/>
        </p:nvSpPr>
        <p:spPr>
          <a:xfrm>
            <a:off x="6355080" y="2011680"/>
            <a:ext cx="5257800" cy="3246120"/>
          </a:xfrm>
          <a:prstGeom prst="roundRect">
            <a:avLst>
              <a:gd name="adj" fmla="val 3380"/>
            </a:avLst>
          </a:prstGeom>
          <a:solidFill>
            <a:srgbClr val="182235"/>
          </a:solidFill>
          <a:ln w="12700">
            <a:solidFill>
              <a:srgbClr val="182235"/>
            </a:solidFill>
            <a:prstDash val="solid"/>
          </a:ln>
        </p:spPr>
      </p:sp>
      <p:sp>
        <p:nvSpPr>
          <p:cNvPr id="13" name="Text 11"/>
          <p:cNvSpPr txBox="1"/>
          <p:nvPr/>
        </p:nvSpPr>
        <p:spPr>
          <a:xfrm>
            <a:off x="6583680" y="2212848"/>
            <a:ext cx="4892040" cy="2926080"/>
          </a:xfrm>
          <a:prstGeom prst="rect">
            <a:avLst/>
          </a:prstGeom>
          <a:noFill/>
          <a:ln/>
        </p:spPr>
        <p:txBody>
          <a:bodyPr wrap="square" lIns="0" tIns="0" rIns="0" bIns="0" rtlCol="0" anchor="t"/>
          <a:lstStyle/>
          <a:p>
            <a:pPr indent="0" marL="0">
              <a:lnSpc>
                <a:spcPct val="105000"/>
              </a:lnSpc>
              <a:buNone/>
            </a:pPr>
            <a:r>
              <a:rPr lang="en-US" sz="1050" dirty="0">
                <a:solidFill>
                  <a:srgbClr val="FF8FC7"/>
                </a:solidFill>
                <a:latin typeface="Consolas" pitchFamily="34" charset="0"/>
                <a:ea typeface="Consolas" pitchFamily="34" charset="-122"/>
                <a:cs typeface="Consolas" pitchFamily="34" charset="-120"/>
              </a:rPr>
              <a:t>val</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buttonStyle</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b="1" dirty="0">
                <a:solidFill>
                  <a:srgbClr val="3DDC84"/>
                </a:solidFill>
                <a:latin typeface="Consolas" pitchFamily="34" charset="0"/>
                <a:ea typeface="Consolas" pitchFamily="34" charset="-122"/>
                <a:cs typeface="Consolas" pitchFamily="34" charset="-120"/>
              </a:rPr>
              <a:t>Style</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b="1" dirty="0">
                <a:solidFill>
                  <a:srgbClr val="3DDC84"/>
                </a:solidFill>
                <a:latin typeface="Consolas" pitchFamily="34" charset="0"/>
                <a:ea typeface="Consolas" pitchFamily="34" charset="-122"/>
                <a:cs typeface="Consolas" pitchFamily="34" charset="-120"/>
              </a:rPr>
              <a:t>background</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8AB4F8"/>
                </a:solidFill>
                <a:latin typeface="Consolas" pitchFamily="34" charset="0"/>
                <a:ea typeface="Consolas" pitchFamily="34" charset="-122"/>
                <a:cs typeface="Consolas" pitchFamily="34" charset="-120"/>
              </a:rPr>
              <a:t>Color</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8AB4F8"/>
                </a:solidFill>
                <a:latin typeface="Consolas" pitchFamily="34" charset="0"/>
                <a:ea typeface="Consolas" pitchFamily="34" charset="-122"/>
                <a:cs typeface="Consolas" pitchFamily="34" charset="-120"/>
              </a:rPr>
              <a:t>LightGray</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b="1" dirty="0">
                <a:solidFill>
                  <a:srgbClr val="3DDC84"/>
                </a:solidFill>
                <a:latin typeface="Consolas" pitchFamily="34" charset="0"/>
                <a:ea typeface="Consolas" pitchFamily="34" charset="-122"/>
                <a:cs typeface="Consolas" pitchFamily="34" charset="-120"/>
              </a:rPr>
              <a:t>width</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F6C177"/>
                </a:solidFill>
                <a:latin typeface="Consolas" pitchFamily="34" charset="0"/>
                <a:ea typeface="Consolas" pitchFamily="34" charset="-122"/>
                <a:cs typeface="Consolas" pitchFamily="34" charset="-120"/>
              </a:rPr>
              <a:t>200</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dp</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b="1" dirty="0">
                <a:solidFill>
                  <a:srgbClr val="3DDC84"/>
                </a:solidFill>
                <a:latin typeface="Consolas" pitchFamily="34" charset="0"/>
                <a:ea typeface="Consolas" pitchFamily="34" charset="-122"/>
                <a:cs typeface="Consolas" pitchFamily="34" charset="-120"/>
              </a:rPr>
              <a:t>height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F6C177"/>
                </a:solidFill>
                <a:latin typeface="Consolas" pitchFamily="34" charset="0"/>
                <a:ea typeface="Consolas" pitchFamily="34" charset="-122"/>
                <a:cs typeface="Consolas" pitchFamily="34" charset="-120"/>
              </a:rPr>
              <a:t>50</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dp</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b="1" dirty="0">
                <a:solidFill>
                  <a:srgbClr val="3DDC84"/>
                </a:solidFill>
                <a:latin typeface="Consolas" pitchFamily="34" charset="0"/>
                <a:ea typeface="Consolas" pitchFamily="34" charset="-122"/>
                <a:cs typeface="Consolas" pitchFamily="34" charset="-120"/>
              </a:rPr>
              <a:t>shape</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8AB4F8"/>
                </a:solidFill>
                <a:latin typeface="Consolas" pitchFamily="34" charset="0"/>
                <a:ea typeface="Consolas" pitchFamily="34" charset="-122"/>
                <a:cs typeface="Consolas" pitchFamily="34" charset="-120"/>
              </a:rPr>
              <a:t>RoundedCornerShape</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F6C177"/>
                </a:solidFill>
                <a:latin typeface="Consolas" pitchFamily="34" charset="0"/>
                <a:ea typeface="Consolas" pitchFamily="34" charset="-122"/>
                <a:cs typeface="Consolas" pitchFamily="34" charset="-120"/>
              </a:rPr>
              <a:t>28</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dp</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b="1" dirty="0">
                <a:solidFill>
                  <a:srgbClr val="3DDC84"/>
                </a:solidFill>
                <a:latin typeface="Consolas" pitchFamily="34" charset="0"/>
                <a:ea typeface="Consolas" pitchFamily="34" charset="-122"/>
                <a:cs typeface="Consolas" pitchFamily="34" charset="-120"/>
              </a:rPr>
              <a:t>externalPadding</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F6C177"/>
                </a:solidFill>
                <a:latin typeface="Consolas" pitchFamily="34" charset="0"/>
                <a:ea typeface="Consolas" pitchFamily="34" charset="-122"/>
                <a:cs typeface="Consolas" pitchFamily="34" charset="-120"/>
              </a:rPr>
              <a:t>16</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dp</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FF8FC7"/>
                </a:solidFill>
                <a:latin typeface="Consolas" pitchFamily="34" charset="0"/>
                <a:ea typeface="Consolas" pitchFamily="34" charset="-122"/>
                <a:cs typeface="Consolas" pitchFamily="34" charset="-120"/>
              </a:rPr>
              <a:t>val</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gradientStyle</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b="1" dirty="0">
                <a:solidFill>
                  <a:srgbClr val="3DDC84"/>
                </a:solidFill>
                <a:latin typeface="Consolas" pitchFamily="34" charset="0"/>
                <a:ea typeface="Consolas" pitchFamily="34" charset="-122"/>
                <a:cs typeface="Consolas" pitchFamily="34" charset="-120"/>
              </a:rPr>
              <a:t>Style</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b="1" dirty="0">
                <a:solidFill>
                  <a:srgbClr val="3DDC84"/>
                </a:solidFill>
                <a:latin typeface="Consolas" pitchFamily="34" charset="0"/>
                <a:ea typeface="Consolas" pitchFamily="34" charset="-122"/>
                <a:cs typeface="Consolas" pitchFamily="34" charset="-120"/>
              </a:rPr>
              <a:t>background</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8AB4F8"/>
                </a:solidFill>
                <a:latin typeface="Consolas" pitchFamily="34" charset="0"/>
                <a:ea typeface="Consolas" pitchFamily="34" charset="-122"/>
                <a:cs typeface="Consolas" pitchFamily="34" charset="-120"/>
              </a:rPr>
              <a:t>Brush</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linearGradient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listOf</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8AB4F8"/>
                </a:solidFill>
                <a:latin typeface="Consolas" pitchFamily="34" charset="0"/>
                <a:ea typeface="Consolas" pitchFamily="34" charset="-122"/>
                <a:cs typeface="Consolas" pitchFamily="34" charset="-120"/>
              </a:rPr>
              <a:t>LightOrange</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dirty="0">
                <a:solidFill>
                  <a:srgbClr val="8AB4F8"/>
                </a:solidFill>
                <a:latin typeface="Consolas" pitchFamily="34" charset="0"/>
                <a:ea typeface="Consolas" pitchFamily="34" charset="-122"/>
                <a:cs typeface="Consolas" pitchFamily="34" charset="-120"/>
              </a:rPr>
              <a:t>LightPurple</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dirty="0">
                <a:solidFill>
                  <a:srgbClr val="8AB4F8"/>
                </a:solidFill>
                <a:latin typeface="Consolas" pitchFamily="34" charset="0"/>
                <a:ea typeface="Consolas" pitchFamily="34" charset="-122"/>
                <a:cs typeface="Consolas" pitchFamily="34" charset="-120"/>
              </a:rPr>
              <a:t>LightOrange</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b="1" dirty="0">
                <a:solidFill>
                  <a:srgbClr val="3DDC84"/>
                </a:solidFill>
                <a:latin typeface="Consolas" pitchFamily="34" charset="0"/>
                <a:ea typeface="Consolas" pitchFamily="34" charset="-122"/>
                <a:cs typeface="Consolas" pitchFamily="34" charset="-120"/>
              </a:rPr>
              <a:t>dropShadow</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b="1" dirty="0">
                <a:solidFill>
                  <a:srgbClr val="3DDC84"/>
                </a:solidFill>
                <a:latin typeface="Consolas" pitchFamily="34" charset="0"/>
                <a:ea typeface="Consolas" pitchFamily="34" charset="-122"/>
                <a:cs typeface="Consolas" pitchFamily="34" charset="-120"/>
              </a:rPr>
              <a:t>innerShadow</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000000"/>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8AB4F8"/>
                </a:solidFill>
                <a:latin typeface="Consolas" pitchFamily="34" charset="0"/>
                <a:ea typeface="Consolas" pitchFamily="34" charset="-122"/>
                <a:cs typeface="Consolas" pitchFamily="34" charset="-120"/>
              </a:rPr>
              <a:t>GradientButton</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onClick</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b="1" dirty="0">
                <a:solidFill>
                  <a:srgbClr val="3DDC84"/>
                </a:solidFill>
                <a:latin typeface="Consolas" pitchFamily="34" charset="0"/>
                <a:ea typeface="Consolas" pitchFamily="34" charset="-122"/>
                <a:cs typeface="Consolas" pitchFamily="34" charset="-120"/>
              </a:rPr>
              <a:t>style</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b="1" dirty="0">
                <a:solidFill>
                  <a:srgbClr val="3DDC84"/>
                </a:solidFill>
                <a:latin typeface="Consolas" pitchFamily="34" charset="0"/>
                <a:ea typeface="Consolas" pitchFamily="34" charset="-122"/>
                <a:cs typeface="Consolas" pitchFamily="34" charset="-120"/>
              </a:rPr>
              <a:t>Style</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buttonStyle</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gradientStyle</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050" dirty="0">
                <a:solidFill>
                  <a:srgbClr val="DCE3EC"/>
                </a:solidFill>
                <a:latin typeface="Consolas" pitchFamily="34" charset="0"/>
                <a:ea typeface="Consolas" pitchFamily="34" charset="-122"/>
                <a:cs typeface="Consolas" pitchFamily="34" charset="-120"/>
              </a:rPr>
              <a:t>}</a:t>
            </a:r>
            <a:endParaRPr lang="en-US" sz="1050" dirty="0"/>
          </a:p>
        </p:txBody>
      </p:sp>
      <p:sp>
        <p:nvSpPr>
          <p:cNvPr id="14" name="Text 12"/>
          <p:cNvSpPr txBox="1"/>
          <p:nvPr/>
        </p:nvSpPr>
        <p:spPr>
          <a:xfrm>
            <a:off x="10149840" y="2084832"/>
            <a:ext cx="1325880" cy="201168"/>
          </a:xfrm>
          <a:prstGeom prst="rect">
            <a:avLst/>
          </a:prstGeom>
          <a:noFill/>
          <a:ln/>
        </p:spPr>
        <p:txBody>
          <a:bodyPr wrap="square" lIns="0" tIns="0" rIns="0" bIns="0" rtlCol="0" anchor="t"/>
          <a:lstStyle/>
          <a:p>
            <a:pPr algn="r" indent="0" marL="0">
              <a:buNone/>
            </a:pPr>
            <a:r>
              <a:rPr lang="en-US" sz="900" dirty="0">
                <a:solidFill>
                  <a:srgbClr val="6F7D93"/>
                </a:solidFill>
                <a:latin typeface="Calibri" pitchFamily="34" charset="0"/>
                <a:ea typeface="Calibri" pitchFamily="34" charset="-122"/>
                <a:cs typeface="Calibri" pitchFamily="34" charset="-120"/>
              </a:rPr>
              <a:t>Kotlin</a:t>
            </a:r>
            <a:endParaRPr lang="en-US" sz="900" dirty="0"/>
          </a:p>
        </p:txBody>
      </p:sp>
      <p:sp>
        <p:nvSpPr>
          <p:cNvPr id="15" name="Text 13"/>
          <p:cNvSpPr txBox="1"/>
          <p:nvPr/>
        </p:nvSpPr>
        <p:spPr>
          <a:xfrm>
            <a:off x="6355080" y="5440680"/>
            <a:ext cx="2514600" cy="274320"/>
          </a:xfrm>
          <a:prstGeom prst="rect">
            <a:avLst/>
          </a:prstGeom>
          <a:noFill/>
          <a:ln/>
        </p:spPr>
        <p:txBody>
          <a:bodyPr wrap="square" lIns="0" tIns="0" rIns="0" bIns="0" rtlCol="0" anchor="t"/>
          <a:lstStyle/>
          <a:p>
            <a:pPr indent="0" marL="0">
              <a:buNone/>
            </a:pPr>
            <a:r>
              <a:rPr lang="en-US" sz="1050" b="1" dirty="0">
                <a:solidFill>
                  <a:srgbClr val="0A7D43"/>
                </a:solidFill>
                <a:latin typeface="Consolas" pitchFamily="34" charset="0"/>
                <a:ea typeface="Consolas" pitchFamily="34" charset="-122"/>
                <a:cs typeface="Consolas" pitchFamily="34" charset="-120"/>
              </a:rPr>
              <a:t>Style(button, gradient)</a:t>
            </a:r>
            <a:endParaRPr lang="en-US" sz="1050" dirty="0"/>
          </a:p>
        </p:txBody>
      </p:sp>
      <p:pic>
        <p:nvPicPr>
          <p:cNvPr id="16" name="Image 0" descr="preencoded.png">    </p:cNvPr>
          <p:cNvPicPr>
            <a:picLocks noChangeAspect="1"/>
          </p:cNvPicPr>
          <p:nvPr/>
        </p:nvPicPr>
        <p:blipFill>
          <a:blip r:embed="rId1"/>
          <a:stretch>
            <a:fillRect/>
          </a:stretch>
        </p:blipFill>
        <p:spPr>
          <a:xfrm>
            <a:off x="6355080" y="5715000"/>
            <a:ext cx="2377440" cy="869795"/>
          </a:xfrm>
          <a:prstGeom prst="rect">
            <a:avLst/>
          </a:prstGeom>
        </p:spPr>
      </p:pic>
      <p:sp>
        <p:nvSpPr>
          <p:cNvPr id="17" name="Text 14"/>
          <p:cNvSpPr txBox="1"/>
          <p:nvPr/>
        </p:nvSpPr>
        <p:spPr>
          <a:xfrm>
            <a:off x="9098280" y="5440680"/>
            <a:ext cx="2514600" cy="274320"/>
          </a:xfrm>
          <a:prstGeom prst="rect">
            <a:avLst/>
          </a:prstGeom>
          <a:noFill/>
          <a:ln/>
        </p:spPr>
        <p:txBody>
          <a:bodyPr wrap="square" lIns="0" tIns="0" rIns="0" bIns="0" rtlCol="0" anchor="t"/>
          <a:lstStyle/>
          <a:p>
            <a:pPr indent="0" marL="0">
              <a:buNone/>
            </a:pPr>
            <a:r>
              <a:rPr lang="en-US" sz="1050" b="1" dirty="0">
                <a:solidFill>
                  <a:srgbClr val="B26A00"/>
                </a:solidFill>
                <a:latin typeface="Consolas" pitchFamily="34" charset="0"/>
                <a:ea typeface="Consolas" pitchFamily="34" charset="-122"/>
                <a:cs typeface="Consolas" pitchFamily="34" charset="-120"/>
              </a:rPr>
              <a:t>Style(gradient, button)</a:t>
            </a:r>
            <a:endParaRPr lang="en-US" sz="1050" dirty="0"/>
          </a:p>
        </p:txBody>
      </p:sp>
      <p:pic>
        <p:nvPicPr>
          <p:cNvPr id="18" name="Image 1" descr="preencoded.png">    </p:cNvPr>
          <p:cNvPicPr>
            <a:picLocks noChangeAspect="1"/>
          </p:cNvPicPr>
          <p:nvPr/>
        </p:nvPicPr>
        <p:blipFill>
          <a:blip r:embed="rId2"/>
          <a:stretch>
            <a:fillRect/>
          </a:stretch>
        </p:blipFill>
        <p:spPr>
          <a:xfrm>
            <a:off x="9098280" y="5715000"/>
            <a:ext cx="2377440" cy="8697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46404" cy="329184"/>
          </a:xfrm>
          <a:prstGeom prst="roundRect">
            <a:avLst>
              <a:gd name="adj" fmla="val 50000"/>
            </a:avLst>
          </a:prstGeom>
          <a:solidFill>
            <a:srgbClr val="EEEAFB"/>
          </a:solidFill>
          <a:ln w="12700">
            <a:solidFill>
              <a:srgbClr val="EEEAFB"/>
            </a:solidFill>
            <a:prstDash val="solid"/>
          </a:ln>
        </p:spPr>
      </p:sp>
      <p:sp>
        <p:nvSpPr>
          <p:cNvPr id="3" name="Text 1"/>
          <p:cNvSpPr txBox="1"/>
          <p:nvPr/>
        </p:nvSpPr>
        <p:spPr>
          <a:xfrm>
            <a:off x="548640" y="384048"/>
            <a:ext cx="946404" cy="329184"/>
          </a:xfrm>
          <a:prstGeom prst="rect">
            <a:avLst/>
          </a:prstGeom>
          <a:noFill/>
          <a:ln/>
        </p:spPr>
        <p:txBody>
          <a:bodyPr wrap="square" lIns="0" tIns="0" rIns="0" bIns="0" rtlCol="0" anchor="ctr"/>
          <a:lstStyle/>
          <a:p>
            <a:pPr algn="ctr" indent="0" marL="0">
              <a:buNone/>
            </a:pPr>
            <a:r>
              <a:rPr lang="en-US" sz="1100" b="1" spc="200" kern="0" dirty="0">
                <a:solidFill>
                  <a:srgbClr val="5B3FD6"/>
                </a:solidFill>
                <a:latin typeface="Calibri" pitchFamily="34" charset="0"/>
                <a:ea typeface="Calibri" pitchFamily="34" charset="-122"/>
                <a:cs typeface="Calibri" pitchFamily="34" charset="-120"/>
              </a:rPr>
              <a:t>EXAMPLE</a:t>
            </a:r>
            <a:endParaRPr lang="en-US" sz="1100" dirty="0"/>
          </a:p>
        </p:txBody>
      </p:sp>
      <p:sp>
        <p:nvSpPr>
          <p:cNvPr id="4" name="Text 2"/>
          <p:cNvSpPr txBox="1"/>
          <p:nvPr/>
        </p:nvSpPr>
        <p:spPr>
          <a:xfrm>
            <a:off x="548640" y="868680"/>
            <a:ext cx="11064240" cy="731520"/>
          </a:xfrm>
          <a:prstGeom prst="rect">
            <a:avLst/>
          </a:prstGeom>
          <a:noFill/>
          <a:ln/>
        </p:spPr>
        <p:txBody>
          <a:bodyPr wrap="square" lIns="0" tIns="0" rIns="0" bIns="0" rtlCol="0" anchor="t"/>
          <a:lstStyle/>
          <a:p>
            <a:pPr indent="0" marL="0">
              <a:buNone/>
            </a:pPr>
            <a:r>
              <a:rPr lang="en-US" sz="3200" b="1" dirty="0">
                <a:solidFill>
                  <a:srgbClr val="1B2330"/>
                </a:solidFill>
                <a:latin typeface="Arial" pitchFamily="34" charset="0"/>
                <a:ea typeface="Arial" pitchFamily="34" charset="-122"/>
                <a:cs typeface="Arial" pitchFamily="34" charset="-120"/>
              </a:rPr>
              <a:t>State-based styling and animation, built in</a:t>
            </a:r>
            <a:endParaRPr lang="en-US" sz="3200" dirty="0"/>
          </a:p>
        </p:txBody>
      </p:sp>
      <p:sp>
        <p:nvSpPr>
          <p:cNvPr id="5" name="Shape 3"/>
          <p:cNvSpPr/>
          <p:nvPr/>
        </p:nvSpPr>
        <p:spPr>
          <a:xfrm>
            <a:off x="548640" y="1691640"/>
            <a:ext cx="6035040" cy="4754880"/>
          </a:xfrm>
          <a:prstGeom prst="roundRect">
            <a:avLst>
              <a:gd name="adj" fmla="val 2308"/>
            </a:avLst>
          </a:prstGeom>
          <a:solidFill>
            <a:srgbClr val="182235"/>
          </a:solidFill>
          <a:ln w="12700">
            <a:solidFill>
              <a:srgbClr val="182235"/>
            </a:solidFill>
            <a:prstDash val="solid"/>
          </a:ln>
        </p:spPr>
      </p:sp>
      <p:sp>
        <p:nvSpPr>
          <p:cNvPr id="6" name="Text 4"/>
          <p:cNvSpPr txBox="1"/>
          <p:nvPr/>
        </p:nvSpPr>
        <p:spPr>
          <a:xfrm>
            <a:off x="777240" y="1892808"/>
            <a:ext cx="5669280" cy="4434840"/>
          </a:xfrm>
          <a:prstGeom prst="rect">
            <a:avLst/>
          </a:prstGeom>
          <a:noFill/>
          <a:ln/>
        </p:spPr>
        <p:txBody>
          <a:bodyPr wrap="square" lIns="0" tIns="0" rIns="0" bIns="0" rtlCol="0" anchor="t"/>
          <a:lstStyle/>
          <a:p>
            <a:pPr indent="0" marL="0">
              <a:lnSpc>
                <a:spcPct val="105000"/>
              </a:lnSpc>
              <a:buNone/>
            </a:pPr>
            <a:r>
              <a:rPr lang="en-US" sz="1300" dirty="0">
                <a:solidFill>
                  <a:srgbClr val="8AB4F8"/>
                </a:solidFill>
                <a:latin typeface="Consolas" pitchFamily="34" charset="0"/>
                <a:ea typeface="Consolas" pitchFamily="34" charset="-122"/>
                <a:cs typeface="Consolas" pitchFamily="34" charset="-120"/>
              </a:rPr>
              <a:t>GradientButton</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onClick</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3DDC84"/>
                </a:solidFill>
                <a:latin typeface="Consolas" pitchFamily="34" charset="0"/>
                <a:ea typeface="Consolas" pitchFamily="34" charset="-122"/>
                <a:cs typeface="Consolas" pitchFamily="34" charset="-120"/>
              </a:rPr>
              <a:t>style</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3DDC84"/>
                </a:solidFill>
                <a:latin typeface="Consolas" pitchFamily="34" charset="0"/>
                <a:ea typeface="Consolas" pitchFamily="34" charset="-122"/>
                <a:cs typeface="Consolas" pitchFamily="34" charset="-120"/>
              </a:rPr>
              <a:t>Style</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buttonStyle</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gradientStyle</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3DDC84"/>
                </a:solidFill>
                <a:latin typeface="Consolas" pitchFamily="34" charset="0"/>
                <a:ea typeface="Consolas" pitchFamily="34" charset="-122"/>
                <a:cs typeface="Consolas" pitchFamily="34" charset="-120"/>
              </a:rPr>
              <a:t>pressed</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3DDC84"/>
                </a:solidFill>
                <a:latin typeface="Consolas" pitchFamily="34" charset="0"/>
                <a:ea typeface="Consolas" pitchFamily="34" charset="-122"/>
                <a:cs typeface="Consolas" pitchFamily="34" charset="-120"/>
              </a:rPr>
              <a:t>background</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8AB4F8"/>
                </a:solidFill>
                <a:latin typeface="Consolas" pitchFamily="34" charset="0"/>
                <a:ea typeface="Consolas" pitchFamily="34" charset="-122"/>
                <a:cs typeface="Consolas" pitchFamily="34" charset="-120"/>
              </a:rPr>
              <a:t>LightPurple</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3DDC84"/>
                </a:solidFill>
                <a:latin typeface="Consolas" pitchFamily="34" charset="0"/>
                <a:ea typeface="Consolas" pitchFamily="34" charset="-122"/>
                <a:cs typeface="Consolas" pitchFamily="34" charset="-120"/>
              </a:rPr>
              <a:t>hovered</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3DDC84"/>
                </a:solidFill>
                <a:latin typeface="Consolas" pitchFamily="34" charset="0"/>
                <a:ea typeface="Consolas" pitchFamily="34" charset="-122"/>
                <a:cs typeface="Consolas" pitchFamily="34" charset="-120"/>
              </a:rPr>
              <a:t>animate</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tween</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F6C177"/>
                </a:solidFill>
                <a:latin typeface="Consolas" pitchFamily="34" charset="0"/>
                <a:ea typeface="Consolas" pitchFamily="34" charset="-122"/>
                <a:cs typeface="Consolas" pitchFamily="34" charset="-120"/>
              </a:rPr>
              <a:t>300</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3DDC84"/>
                </a:solidFill>
                <a:latin typeface="Consolas" pitchFamily="34" charset="0"/>
                <a:ea typeface="Consolas" pitchFamily="34" charset="-122"/>
                <a:cs typeface="Consolas" pitchFamily="34" charset="-120"/>
              </a:rPr>
              <a:t>background</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8AB4F8"/>
                </a:solidFill>
                <a:latin typeface="Consolas" pitchFamily="34" charset="0"/>
                <a:ea typeface="Consolas" pitchFamily="34" charset="-122"/>
                <a:cs typeface="Consolas" pitchFamily="34" charset="-120"/>
              </a:rPr>
              <a:t>Lavender</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3DDC84"/>
                </a:solidFill>
                <a:latin typeface="Consolas" pitchFamily="34" charset="0"/>
                <a:ea typeface="Consolas" pitchFamily="34" charset="-122"/>
                <a:cs typeface="Consolas" pitchFamily="34" charset="-120"/>
              </a:rPr>
              <a:t>innerShadow</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8AB4F8"/>
                </a:solidFill>
                <a:latin typeface="Consolas" pitchFamily="34" charset="0"/>
                <a:ea typeface="Consolas" pitchFamily="34" charset="-122"/>
                <a:cs typeface="Consolas" pitchFamily="34" charset="-120"/>
              </a:rPr>
              <a:t>Shadow</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8AB4F8"/>
                </a:solidFill>
                <a:latin typeface="Consolas" pitchFamily="34" charset="0"/>
                <a:ea typeface="Consolas" pitchFamily="34" charset="-122"/>
                <a:cs typeface="Consolas" pitchFamily="34" charset="-120"/>
              </a:rPr>
              <a:t>LightPurple</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offset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8AB4F8"/>
                </a:solidFill>
                <a:latin typeface="Consolas" pitchFamily="34" charset="0"/>
                <a:ea typeface="Consolas" pitchFamily="34" charset="-122"/>
                <a:cs typeface="Consolas" pitchFamily="34" charset="-120"/>
              </a:rPr>
              <a:t>DpOffset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F6C177"/>
                </a:solidFill>
                <a:latin typeface="Consolas" pitchFamily="34" charset="0"/>
                <a:ea typeface="Consolas" pitchFamily="34" charset="-122"/>
                <a:cs typeface="Consolas" pitchFamily="34" charset="-120"/>
              </a:rPr>
              <a:t>6</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dp</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F6C177"/>
                </a:solidFill>
                <a:latin typeface="Consolas" pitchFamily="34" charset="0"/>
                <a:ea typeface="Consolas" pitchFamily="34" charset="-122"/>
                <a:cs typeface="Consolas" pitchFamily="34" charset="-120"/>
              </a:rPr>
              <a:t>2</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dp</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3DDC84"/>
                </a:solidFill>
                <a:latin typeface="Consolas" pitchFamily="34" charset="0"/>
                <a:ea typeface="Consolas" pitchFamily="34" charset="-122"/>
                <a:cs typeface="Consolas" pitchFamily="34" charset="-120"/>
              </a:rPr>
              <a:t>focused</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3DDC84"/>
                </a:solidFill>
                <a:latin typeface="Consolas" pitchFamily="34" charset="0"/>
                <a:ea typeface="Consolas" pitchFamily="34" charset="-122"/>
                <a:cs typeface="Consolas" pitchFamily="34" charset="-120"/>
              </a:rPr>
              <a:t>border</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F6C177"/>
                </a:solidFill>
                <a:latin typeface="Consolas" pitchFamily="34" charset="0"/>
                <a:ea typeface="Consolas" pitchFamily="34" charset="-122"/>
                <a:cs typeface="Consolas" pitchFamily="34" charset="-120"/>
              </a:rPr>
              <a:t>8</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dp</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8AB4F8"/>
                </a:solidFill>
                <a:latin typeface="Consolas" pitchFamily="34" charset="0"/>
                <a:ea typeface="Consolas" pitchFamily="34" charset="-122"/>
                <a:cs typeface="Consolas" pitchFamily="34" charset="-120"/>
              </a:rPr>
              <a:t>LightPurple</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8AB4F8"/>
                </a:solidFill>
                <a:latin typeface="Consolas" pitchFamily="34" charset="0"/>
                <a:ea typeface="Consolas" pitchFamily="34" charset="-122"/>
                <a:cs typeface="Consolas" pitchFamily="34" charset="-120"/>
              </a:rPr>
              <a:t>Text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B5E48C"/>
                </a:solidFill>
                <a:latin typeface="Consolas" pitchFamily="34" charset="0"/>
                <a:ea typeface="Consolas" pitchFamily="34" charset="-122"/>
                <a:cs typeface="Consolas" pitchFamily="34" charset="-120"/>
              </a:rPr>
              <a:t>"Add to cart"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DCE3EC"/>
                </a:solidFill>
                <a:latin typeface="Consolas" pitchFamily="34" charset="0"/>
                <a:ea typeface="Consolas" pitchFamily="34" charset="-122"/>
                <a:cs typeface="Consolas" pitchFamily="34" charset="-120"/>
              </a:rPr>
              <a:t>}</a:t>
            </a:r>
            <a:endParaRPr lang="en-US" sz="1300" dirty="0"/>
          </a:p>
        </p:txBody>
      </p:sp>
      <p:sp>
        <p:nvSpPr>
          <p:cNvPr id="7" name="Text 5"/>
          <p:cNvSpPr txBox="1"/>
          <p:nvPr/>
        </p:nvSpPr>
        <p:spPr>
          <a:xfrm>
            <a:off x="5120640" y="1764792"/>
            <a:ext cx="1325880" cy="201168"/>
          </a:xfrm>
          <a:prstGeom prst="rect">
            <a:avLst/>
          </a:prstGeom>
          <a:noFill/>
          <a:ln/>
        </p:spPr>
        <p:txBody>
          <a:bodyPr wrap="square" lIns="0" tIns="0" rIns="0" bIns="0" rtlCol="0" anchor="t"/>
          <a:lstStyle/>
          <a:p>
            <a:pPr algn="r" indent="0" marL="0">
              <a:buNone/>
            </a:pPr>
            <a:r>
              <a:rPr lang="en-US" sz="900" dirty="0">
                <a:solidFill>
                  <a:srgbClr val="6F7D93"/>
                </a:solidFill>
                <a:latin typeface="Calibri" pitchFamily="34" charset="0"/>
                <a:ea typeface="Calibri" pitchFamily="34" charset="-122"/>
                <a:cs typeface="Calibri" pitchFamily="34" charset="-120"/>
              </a:rPr>
              <a:t>Kotlin</a:t>
            </a:r>
            <a:endParaRPr lang="en-US" sz="900" dirty="0"/>
          </a:p>
        </p:txBody>
      </p:sp>
      <p:sp>
        <p:nvSpPr>
          <p:cNvPr id="8" name="Shape 6"/>
          <p:cNvSpPr/>
          <p:nvPr/>
        </p:nvSpPr>
        <p:spPr>
          <a:xfrm>
            <a:off x="6949440" y="1691640"/>
            <a:ext cx="4663440" cy="4754880"/>
          </a:xfrm>
          <a:prstGeom prst="roundRect">
            <a:avLst>
              <a:gd name="adj" fmla="val 2745"/>
            </a:avLst>
          </a:prstGeom>
          <a:solidFill>
            <a:srgbClr val="F7F7F4"/>
          </a:solidFill>
          <a:ln w="9525">
            <a:solidFill>
              <a:srgbClr val="D9DCE3"/>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7114032" y="1783080"/>
            <a:ext cx="4389120" cy="228600"/>
          </a:xfrm>
          <a:prstGeom prst="rect">
            <a:avLst/>
          </a:prstGeom>
          <a:noFill/>
          <a:ln/>
        </p:spPr>
        <p:txBody>
          <a:bodyPr wrap="square" lIns="0" tIns="0" rIns="0" bIns="0" rtlCol="0" anchor="t"/>
          <a:lstStyle/>
          <a:p>
            <a:pPr indent="0" marL="0">
              <a:buNone/>
            </a:pPr>
            <a:r>
              <a:rPr lang="en-US" sz="1000" dirty="0">
                <a:solidFill>
                  <a:srgbClr val="5B6472"/>
                </a:solidFill>
                <a:latin typeface="Calibri" pitchFamily="34" charset="0"/>
                <a:ea typeface="Calibri" pitchFamily="34" charset="-122"/>
                <a:cs typeface="Calibri" pitchFamily="34" charset="-120"/>
              </a:rPr>
              <a:t>Button states</a:t>
            </a:r>
            <a:endParaRPr lang="en-US" sz="1000" dirty="0"/>
          </a:p>
        </p:txBody>
      </p:sp>
      <p:sp>
        <p:nvSpPr>
          <p:cNvPr id="10" name="Text 8"/>
          <p:cNvSpPr txBox="1"/>
          <p:nvPr/>
        </p:nvSpPr>
        <p:spPr>
          <a:xfrm>
            <a:off x="7178040" y="2377440"/>
            <a:ext cx="1188720" cy="365760"/>
          </a:xfrm>
          <a:prstGeom prst="rect">
            <a:avLst/>
          </a:prstGeom>
          <a:noFill/>
          <a:ln/>
        </p:spPr>
        <p:txBody>
          <a:bodyPr wrap="square" lIns="0" tIns="0" rIns="0" bIns="0" rtlCol="0" anchor="ctr"/>
          <a:lstStyle/>
          <a:p>
            <a:pPr indent="0" marL="0">
              <a:buNone/>
            </a:pPr>
            <a:r>
              <a:rPr lang="en-US" sz="1300" b="1" dirty="0">
                <a:solidFill>
                  <a:srgbClr val="5B6472"/>
                </a:solidFill>
                <a:latin typeface="Consolas" pitchFamily="34" charset="0"/>
                <a:ea typeface="Consolas" pitchFamily="34" charset="-122"/>
                <a:cs typeface="Consolas" pitchFamily="34" charset="-120"/>
              </a:rPr>
              <a:t>default</a:t>
            </a:r>
            <a:endParaRPr lang="en-US" sz="1300" dirty="0"/>
          </a:p>
        </p:txBody>
      </p:sp>
      <p:pic>
        <p:nvPicPr>
          <p:cNvPr id="11" name="Image 0" descr="preencoded.png">    </p:cNvPr>
          <p:cNvPicPr>
            <a:picLocks noChangeAspect="1"/>
          </p:cNvPicPr>
          <p:nvPr/>
        </p:nvPicPr>
        <p:blipFill>
          <a:blip r:embed="rId1"/>
          <a:stretch>
            <a:fillRect/>
          </a:stretch>
        </p:blipFill>
        <p:spPr>
          <a:xfrm>
            <a:off x="8412480" y="2103120"/>
            <a:ext cx="2926080" cy="1070517"/>
          </a:xfrm>
          <a:prstGeom prst="rect">
            <a:avLst/>
          </a:prstGeom>
        </p:spPr>
      </p:pic>
      <p:sp>
        <p:nvSpPr>
          <p:cNvPr id="12" name="Text 9"/>
          <p:cNvSpPr txBox="1"/>
          <p:nvPr/>
        </p:nvSpPr>
        <p:spPr>
          <a:xfrm>
            <a:off x="7178040" y="3447288"/>
            <a:ext cx="1188720" cy="365760"/>
          </a:xfrm>
          <a:prstGeom prst="rect">
            <a:avLst/>
          </a:prstGeom>
          <a:noFill/>
          <a:ln/>
        </p:spPr>
        <p:txBody>
          <a:bodyPr wrap="square" lIns="0" tIns="0" rIns="0" bIns="0" rtlCol="0" anchor="ctr"/>
          <a:lstStyle/>
          <a:p>
            <a:pPr indent="0" marL="0">
              <a:buNone/>
            </a:pPr>
            <a:r>
              <a:rPr lang="en-US" sz="1300" b="1" dirty="0">
                <a:solidFill>
                  <a:srgbClr val="5B3FD6"/>
                </a:solidFill>
                <a:latin typeface="Consolas" pitchFamily="34" charset="0"/>
                <a:ea typeface="Consolas" pitchFamily="34" charset="-122"/>
                <a:cs typeface="Consolas" pitchFamily="34" charset="-120"/>
              </a:rPr>
              <a:t>pressed</a:t>
            </a:r>
            <a:endParaRPr lang="en-US" sz="1300" dirty="0"/>
          </a:p>
        </p:txBody>
      </p:sp>
      <p:pic>
        <p:nvPicPr>
          <p:cNvPr id="13" name="Image 1" descr="preencoded.png">    </p:cNvPr>
          <p:cNvPicPr>
            <a:picLocks noChangeAspect="1"/>
          </p:cNvPicPr>
          <p:nvPr/>
        </p:nvPicPr>
        <p:blipFill>
          <a:blip r:embed="rId2"/>
          <a:stretch>
            <a:fillRect/>
          </a:stretch>
        </p:blipFill>
        <p:spPr>
          <a:xfrm>
            <a:off x="8412480" y="3172968"/>
            <a:ext cx="2926080" cy="1070517"/>
          </a:xfrm>
          <a:prstGeom prst="rect">
            <a:avLst/>
          </a:prstGeom>
        </p:spPr>
      </p:pic>
      <p:sp>
        <p:nvSpPr>
          <p:cNvPr id="14" name="Text 10"/>
          <p:cNvSpPr txBox="1"/>
          <p:nvPr/>
        </p:nvSpPr>
        <p:spPr>
          <a:xfrm>
            <a:off x="7178040" y="4517136"/>
            <a:ext cx="1188720" cy="365760"/>
          </a:xfrm>
          <a:prstGeom prst="rect">
            <a:avLst/>
          </a:prstGeom>
          <a:noFill/>
          <a:ln/>
        </p:spPr>
        <p:txBody>
          <a:bodyPr wrap="square" lIns="0" tIns="0" rIns="0" bIns="0" rtlCol="0" anchor="ctr"/>
          <a:lstStyle/>
          <a:p>
            <a:pPr indent="0" marL="0">
              <a:buNone/>
            </a:pPr>
            <a:r>
              <a:rPr lang="en-US" sz="1300" b="1" dirty="0">
                <a:solidFill>
                  <a:srgbClr val="5B3FD6"/>
                </a:solidFill>
                <a:latin typeface="Consolas" pitchFamily="34" charset="0"/>
                <a:ea typeface="Consolas" pitchFamily="34" charset="-122"/>
                <a:cs typeface="Consolas" pitchFamily="34" charset="-120"/>
              </a:rPr>
              <a:t>hovered</a:t>
            </a:r>
            <a:endParaRPr lang="en-US" sz="1300" dirty="0"/>
          </a:p>
        </p:txBody>
      </p:sp>
      <p:pic>
        <p:nvPicPr>
          <p:cNvPr id="15" name="Image 2" descr="preencoded.png">    </p:cNvPr>
          <p:cNvPicPr>
            <a:picLocks noChangeAspect="1"/>
          </p:cNvPicPr>
          <p:nvPr/>
        </p:nvPicPr>
        <p:blipFill>
          <a:blip r:embed="rId3"/>
          <a:stretch>
            <a:fillRect/>
          </a:stretch>
        </p:blipFill>
        <p:spPr>
          <a:xfrm>
            <a:off x="8412480" y="4242816"/>
            <a:ext cx="2926080" cy="1070517"/>
          </a:xfrm>
          <a:prstGeom prst="rect">
            <a:avLst/>
          </a:prstGeom>
        </p:spPr>
      </p:pic>
      <p:sp>
        <p:nvSpPr>
          <p:cNvPr id="16" name="Text 11"/>
          <p:cNvSpPr txBox="1"/>
          <p:nvPr/>
        </p:nvSpPr>
        <p:spPr>
          <a:xfrm>
            <a:off x="7178040" y="5586984"/>
            <a:ext cx="1188720" cy="365760"/>
          </a:xfrm>
          <a:prstGeom prst="rect">
            <a:avLst/>
          </a:prstGeom>
          <a:noFill/>
          <a:ln/>
        </p:spPr>
        <p:txBody>
          <a:bodyPr wrap="square" lIns="0" tIns="0" rIns="0" bIns="0" rtlCol="0" anchor="ctr"/>
          <a:lstStyle/>
          <a:p>
            <a:pPr indent="0" marL="0">
              <a:buNone/>
            </a:pPr>
            <a:r>
              <a:rPr lang="en-US" sz="1300" b="1" dirty="0">
                <a:solidFill>
                  <a:srgbClr val="5B3FD6"/>
                </a:solidFill>
                <a:latin typeface="Consolas" pitchFamily="34" charset="0"/>
                <a:ea typeface="Consolas" pitchFamily="34" charset="-122"/>
                <a:cs typeface="Consolas" pitchFamily="34" charset="-120"/>
              </a:rPr>
              <a:t>focused</a:t>
            </a:r>
            <a:endParaRPr lang="en-US" sz="1300" dirty="0"/>
          </a:p>
        </p:txBody>
      </p:sp>
      <p:pic>
        <p:nvPicPr>
          <p:cNvPr id="17" name="Image 3" descr="preencoded.png">    </p:cNvPr>
          <p:cNvPicPr>
            <a:picLocks noChangeAspect="1"/>
          </p:cNvPicPr>
          <p:nvPr/>
        </p:nvPicPr>
        <p:blipFill>
          <a:blip r:embed="rId4"/>
          <a:stretch>
            <a:fillRect/>
          </a:stretch>
        </p:blipFill>
        <p:spPr>
          <a:xfrm>
            <a:off x="8412480" y="5312664"/>
            <a:ext cx="2926080" cy="1070517"/>
          </a:xfrm>
          <a:prstGeom prst="rect">
            <a:avLst/>
          </a:prstGeom>
        </p:spPr>
      </p:pic>
      <p:sp>
        <p:nvSpPr>
          <p:cNvPr id="18" name="Text 12"/>
          <p:cNvSpPr txBox="1"/>
          <p:nvPr/>
        </p:nvSpPr>
        <p:spPr>
          <a:xfrm>
            <a:off x="6949440" y="6473952"/>
            <a:ext cx="4663440" cy="274320"/>
          </a:xfrm>
          <a:prstGeom prst="rect">
            <a:avLst/>
          </a:prstGeom>
          <a:noFill/>
          <a:ln/>
        </p:spPr>
        <p:txBody>
          <a:bodyPr wrap="square" lIns="0" tIns="0" rIns="0" bIns="0" rtlCol="0" anchor="t"/>
          <a:lstStyle/>
          <a:p>
            <a:pPr indent="0" marL="0">
              <a:buNone/>
            </a:pPr>
            <a:r>
              <a:rPr lang="en-US" sz="1150" i="1" dirty="0">
                <a:solidFill>
                  <a:srgbClr val="5B6472"/>
                </a:solidFill>
                <a:latin typeface="Calibri" pitchFamily="34" charset="0"/>
                <a:ea typeface="Calibri" pitchFamily="34" charset="-122"/>
                <a:cs typeface="Calibri" pitchFamily="34" charset="-120"/>
              </a:rPr>
              <a:t>No remember { }, no animate*AsState, no manual interaction tracking.</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548640" y="384048"/>
            <a:ext cx="1330452" cy="329184"/>
          </a:xfrm>
          <a:prstGeom prst="roundRect">
            <a:avLst>
              <a:gd name="adj" fmla="val 50000"/>
            </a:avLst>
          </a:prstGeom>
          <a:solidFill>
            <a:srgbClr val="1A2A42"/>
          </a:solidFill>
          <a:ln w="12700">
            <a:solidFill>
              <a:srgbClr val="1A2A42"/>
            </a:solidFill>
            <a:prstDash val="solid"/>
          </a:ln>
        </p:spPr>
      </p:sp>
      <p:sp>
        <p:nvSpPr>
          <p:cNvPr id="3" name="Text 1"/>
          <p:cNvSpPr txBox="1"/>
          <p:nvPr/>
        </p:nvSpPr>
        <p:spPr>
          <a:xfrm>
            <a:off x="548640" y="384048"/>
            <a:ext cx="1330452" cy="329184"/>
          </a:xfrm>
          <a:prstGeom prst="rect">
            <a:avLst/>
          </a:prstGeom>
          <a:noFill/>
          <a:ln/>
        </p:spPr>
        <p:txBody>
          <a:bodyPr wrap="square" lIns="0" tIns="0" rIns="0" bIns="0" rtlCol="0" anchor="ctr"/>
          <a:lstStyle/>
          <a:p>
            <a:pPr algn="ctr" indent="0" marL="0">
              <a:buNone/>
            </a:pPr>
            <a:r>
              <a:rPr lang="en-US" sz="1100" b="1" spc="200" kern="0" dirty="0">
                <a:solidFill>
                  <a:srgbClr val="3DDC84"/>
                </a:solidFill>
                <a:latin typeface="Calibri" pitchFamily="34" charset="0"/>
                <a:ea typeface="Calibri" pitchFamily="34" charset="-122"/>
                <a:cs typeface="Calibri" pitchFamily="34" charset="-120"/>
              </a:rPr>
              <a:t>PERFORMANCE</a:t>
            </a:r>
            <a:endParaRPr lang="en-US" sz="1100" dirty="0"/>
          </a:p>
        </p:txBody>
      </p:sp>
      <p:sp>
        <p:nvSpPr>
          <p:cNvPr id="4" name="Text 2"/>
          <p:cNvSpPr txBox="1"/>
          <p:nvPr/>
        </p:nvSpPr>
        <p:spPr>
          <a:xfrm>
            <a:off x="548640" y="868680"/>
            <a:ext cx="731520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Faster by design</a:t>
            </a:r>
            <a:endParaRPr lang="en-US" sz="3200" dirty="0"/>
          </a:p>
        </p:txBody>
      </p:sp>
      <p:sp>
        <p:nvSpPr>
          <p:cNvPr id="5" name="Text 3"/>
          <p:cNvSpPr txBox="1"/>
          <p:nvPr/>
        </p:nvSpPr>
        <p:spPr>
          <a:xfrm>
            <a:off x="548640" y="1737360"/>
            <a:ext cx="2926080" cy="1097280"/>
          </a:xfrm>
          <a:prstGeom prst="rect">
            <a:avLst/>
          </a:prstGeom>
          <a:noFill/>
          <a:ln/>
        </p:spPr>
        <p:txBody>
          <a:bodyPr wrap="square" lIns="0" tIns="0" rIns="0" bIns="0" rtlCol="0" anchor="t"/>
          <a:lstStyle/>
          <a:p>
            <a:pPr indent="0" marL="0">
              <a:buNone/>
            </a:pPr>
            <a:r>
              <a:rPr lang="en-US" sz="6400" b="1" dirty="0">
                <a:solidFill>
                  <a:srgbClr val="3DDC84"/>
                </a:solidFill>
                <a:latin typeface="Arial" pitchFamily="34" charset="0"/>
                <a:ea typeface="Arial" pitchFamily="34" charset="-122"/>
                <a:cs typeface="Arial" pitchFamily="34" charset="-120"/>
              </a:rPr>
              <a:t>70%</a:t>
            </a:r>
            <a:endParaRPr lang="en-US" sz="6400" dirty="0"/>
          </a:p>
        </p:txBody>
      </p:sp>
      <p:sp>
        <p:nvSpPr>
          <p:cNvPr id="6" name="Text 4"/>
          <p:cNvSpPr txBox="1"/>
          <p:nvPr/>
        </p:nvSpPr>
        <p:spPr>
          <a:xfrm>
            <a:off x="548640" y="2834640"/>
            <a:ext cx="2834640" cy="3657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fewer allocations</a:t>
            </a:r>
            <a:endParaRPr lang="en-US" sz="1600" dirty="0"/>
          </a:p>
        </p:txBody>
      </p:sp>
      <p:sp>
        <p:nvSpPr>
          <p:cNvPr id="7" name="Text 5"/>
          <p:cNvSpPr txBox="1"/>
          <p:nvPr/>
        </p:nvSpPr>
        <p:spPr>
          <a:xfrm>
            <a:off x="3657600" y="1737360"/>
            <a:ext cx="2926080" cy="1097280"/>
          </a:xfrm>
          <a:prstGeom prst="rect">
            <a:avLst/>
          </a:prstGeom>
          <a:noFill/>
          <a:ln/>
        </p:spPr>
        <p:txBody>
          <a:bodyPr wrap="square" lIns="0" tIns="0" rIns="0" bIns="0" rtlCol="0" anchor="t"/>
          <a:lstStyle/>
          <a:p>
            <a:pPr indent="0" marL="0">
              <a:buNone/>
            </a:pPr>
            <a:r>
              <a:rPr lang="en-US" sz="6400" b="1" dirty="0">
                <a:solidFill>
                  <a:srgbClr val="3DDC84"/>
                </a:solidFill>
                <a:latin typeface="Arial" pitchFamily="34" charset="0"/>
                <a:ea typeface="Arial" pitchFamily="34" charset="-122"/>
                <a:cs typeface="Arial" pitchFamily="34" charset="-120"/>
              </a:rPr>
              <a:t>2.3×</a:t>
            </a:r>
            <a:endParaRPr lang="en-US" sz="6400" dirty="0"/>
          </a:p>
        </p:txBody>
      </p:sp>
      <p:sp>
        <p:nvSpPr>
          <p:cNvPr id="8" name="Text 6"/>
          <p:cNvSpPr txBox="1"/>
          <p:nvPr/>
        </p:nvSpPr>
        <p:spPr>
          <a:xfrm>
            <a:off x="3657600" y="2834640"/>
            <a:ext cx="2834640" cy="3657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faster to the next frame</a:t>
            </a:r>
            <a:endParaRPr lang="en-US" sz="1600" dirty="0"/>
          </a:p>
        </p:txBody>
      </p:sp>
      <p:sp>
        <p:nvSpPr>
          <p:cNvPr id="9" name="Text 7"/>
          <p:cNvSpPr txBox="1"/>
          <p:nvPr/>
        </p:nvSpPr>
        <p:spPr>
          <a:xfrm>
            <a:off x="548640" y="3291840"/>
            <a:ext cx="6035040" cy="320040"/>
          </a:xfrm>
          <a:prstGeom prst="rect">
            <a:avLst/>
          </a:prstGeom>
          <a:noFill/>
          <a:ln/>
        </p:spPr>
        <p:txBody>
          <a:bodyPr wrap="square" lIns="0" tIns="0" rIns="0" bIns="0" rtlCol="0" anchor="t"/>
          <a:lstStyle/>
          <a:p>
            <a:pPr indent="0" marL="0">
              <a:buNone/>
            </a:pPr>
            <a:r>
              <a:rPr lang="en-US" sz="1200" i="1" dirty="0">
                <a:solidFill>
                  <a:srgbClr val="9AA8BD"/>
                </a:solidFill>
                <a:latin typeface="Calibri" pitchFamily="34" charset="0"/>
                <a:ea typeface="Calibri" pitchFamily="34" charset="-122"/>
                <a:cs typeface="Calibri" pitchFamily="34" charset="-120"/>
              </a:rPr>
              <a:t>Google benchmarks shown in the talk; details in the Styles docs.</a:t>
            </a:r>
            <a:endParaRPr lang="en-US" sz="1200" dirty="0"/>
          </a:p>
        </p:txBody>
      </p:sp>
      <p:sp>
        <p:nvSpPr>
          <p:cNvPr id="10" name="Shape 8"/>
          <p:cNvSpPr/>
          <p:nvPr/>
        </p:nvSpPr>
        <p:spPr>
          <a:xfrm>
            <a:off x="548640" y="3931920"/>
            <a:ext cx="3520440" cy="2377440"/>
          </a:xfrm>
          <a:prstGeom prst="roundRect">
            <a:avLst>
              <a:gd name="adj" fmla="val 5385"/>
            </a:avLst>
          </a:prstGeom>
          <a:solidFill>
            <a:srgbClr val="1A2A42"/>
          </a:solidFill>
          <a:ln w="12700">
            <a:solidFill>
              <a:srgbClr val="1A2A42"/>
            </a:solidFill>
            <a:prstDash val="solid"/>
          </a:ln>
        </p:spPr>
      </p:sp>
      <p:sp>
        <p:nvSpPr>
          <p:cNvPr id="11" name="Shape 9"/>
          <p:cNvSpPr/>
          <p:nvPr/>
        </p:nvSpPr>
        <p:spPr>
          <a:xfrm>
            <a:off x="777240" y="4160520"/>
            <a:ext cx="594360" cy="594360"/>
          </a:xfrm>
          <a:prstGeom prst="ellipse">
            <a:avLst/>
          </a:prstGeom>
          <a:solidFill>
            <a:srgbClr val="3DDC84"/>
          </a:solidFill>
          <a:ln w="12700">
            <a:solidFill>
              <a:srgbClr val="3DDC84"/>
            </a:solidFill>
            <a:prstDash val="solid"/>
          </a:ln>
        </p:spPr>
      </p:sp>
      <p:pic>
        <p:nvPicPr>
          <p:cNvPr id="12" name="Image 0" descr="preencoded.png">    </p:cNvPr>
          <p:cNvPicPr>
            <a:picLocks noChangeAspect="1"/>
          </p:cNvPicPr>
          <p:nvPr/>
        </p:nvPicPr>
        <p:blipFill>
          <a:blip r:embed="rId1"/>
          <a:stretch>
            <a:fillRect/>
          </a:stretch>
        </p:blipFill>
        <p:spPr>
          <a:xfrm>
            <a:off x="907999" y="4291279"/>
            <a:ext cx="332842" cy="332842"/>
          </a:xfrm>
          <a:prstGeom prst="rect">
            <a:avLst/>
          </a:prstGeom>
        </p:spPr>
      </p:pic>
      <p:sp>
        <p:nvSpPr>
          <p:cNvPr id="13" name="Text 10"/>
          <p:cNvSpPr txBox="1"/>
          <p:nvPr/>
        </p:nvSpPr>
        <p:spPr>
          <a:xfrm>
            <a:off x="777240" y="4892040"/>
            <a:ext cx="306324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Phase shifting</a:t>
            </a:r>
            <a:endParaRPr lang="en-US" sz="1700" dirty="0"/>
          </a:p>
        </p:txBody>
      </p:sp>
      <p:sp>
        <p:nvSpPr>
          <p:cNvPr id="14" name="Text 11"/>
          <p:cNvSpPr txBox="1"/>
          <p:nvPr/>
        </p:nvSpPr>
        <p:spPr>
          <a:xfrm>
            <a:off x="777240" y="5303520"/>
            <a:ext cx="3063240" cy="914400"/>
          </a:xfrm>
          <a:prstGeom prst="rect">
            <a:avLst/>
          </a:prstGeom>
          <a:noFill/>
          <a:ln/>
        </p:spPr>
        <p:txBody>
          <a:bodyPr wrap="square" lIns="0" tIns="0" rIns="0" bIns="0" rtlCol="0" anchor="t"/>
          <a:lstStyle/>
          <a:p>
            <a:pPr indent="0" marL="0">
              <a:buNone/>
            </a:pPr>
            <a:r>
              <a:rPr lang="en-US" sz="1350" dirty="0">
                <a:solidFill>
                  <a:srgbClr val="C9D3E3"/>
                </a:solidFill>
                <a:latin typeface="Calibri" pitchFamily="34" charset="0"/>
                <a:ea typeface="Calibri" pitchFamily="34" charset="-122"/>
                <a:cs typeface="Calibri" pitchFamily="34" charset="-120"/>
              </a:rPr>
              <a:t>Targets layout and draw. Value changes trigger a redraw, not a recomposition.</a:t>
            </a:r>
            <a:endParaRPr lang="en-US" sz="1350" dirty="0"/>
          </a:p>
        </p:txBody>
      </p:sp>
      <p:sp>
        <p:nvSpPr>
          <p:cNvPr id="15" name="Shape 12"/>
          <p:cNvSpPr/>
          <p:nvPr/>
        </p:nvSpPr>
        <p:spPr>
          <a:xfrm>
            <a:off x="4297680" y="3931920"/>
            <a:ext cx="3520440" cy="2377440"/>
          </a:xfrm>
          <a:prstGeom prst="roundRect">
            <a:avLst>
              <a:gd name="adj" fmla="val 5385"/>
            </a:avLst>
          </a:prstGeom>
          <a:solidFill>
            <a:srgbClr val="1A2A42"/>
          </a:solidFill>
          <a:ln w="12700">
            <a:solidFill>
              <a:srgbClr val="1A2A42"/>
            </a:solidFill>
            <a:prstDash val="solid"/>
          </a:ln>
        </p:spPr>
      </p:sp>
      <p:sp>
        <p:nvSpPr>
          <p:cNvPr id="16" name="Shape 13"/>
          <p:cNvSpPr/>
          <p:nvPr/>
        </p:nvSpPr>
        <p:spPr>
          <a:xfrm>
            <a:off x="4526280" y="4160520"/>
            <a:ext cx="594360" cy="594360"/>
          </a:xfrm>
          <a:prstGeom prst="ellipse">
            <a:avLst/>
          </a:prstGeom>
          <a:solidFill>
            <a:srgbClr val="3DDC84"/>
          </a:solidFill>
          <a:ln w="12700">
            <a:solidFill>
              <a:srgbClr val="3DDC84"/>
            </a:solidFill>
            <a:prstDash val="solid"/>
          </a:ln>
        </p:spPr>
      </p:sp>
      <p:pic>
        <p:nvPicPr>
          <p:cNvPr id="17" name="Image 1" descr="preencoded.png">    </p:cNvPr>
          <p:cNvPicPr>
            <a:picLocks noChangeAspect="1"/>
          </p:cNvPicPr>
          <p:nvPr/>
        </p:nvPicPr>
        <p:blipFill>
          <a:blip r:embed="rId2"/>
          <a:stretch>
            <a:fillRect/>
          </a:stretch>
        </p:blipFill>
        <p:spPr>
          <a:xfrm>
            <a:off x="4657039" y="4291279"/>
            <a:ext cx="332842" cy="332842"/>
          </a:xfrm>
          <a:prstGeom prst="rect">
            <a:avLst/>
          </a:prstGeom>
        </p:spPr>
      </p:pic>
      <p:sp>
        <p:nvSpPr>
          <p:cNvPr id="18" name="Text 14"/>
          <p:cNvSpPr txBox="1"/>
          <p:nvPr/>
        </p:nvSpPr>
        <p:spPr>
          <a:xfrm>
            <a:off x="4526280" y="4892040"/>
            <a:ext cx="306324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Reduced overhead</a:t>
            </a:r>
            <a:endParaRPr lang="en-US" sz="1700" dirty="0"/>
          </a:p>
        </p:txBody>
      </p:sp>
      <p:sp>
        <p:nvSpPr>
          <p:cNvPr id="19" name="Text 15"/>
          <p:cNvSpPr txBox="1"/>
          <p:nvPr/>
        </p:nvSpPr>
        <p:spPr>
          <a:xfrm>
            <a:off x="4526280" y="5303520"/>
            <a:ext cx="3063240" cy="914400"/>
          </a:xfrm>
          <a:prstGeom prst="rect">
            <a:avLst/>
          </a:prstGeom>
          <a:noFill/>
          <a:ln/>
        </p:spPr>
        <p:txBody>
          <a:bodyPr wrap="square" lIns="0" tIns="0" rIns="0" bIns="0" rtlCol="0" anchor="t"/>
          <a:lstStyle/>
          <a:p>
            <a:pPr indent="0" marL="0">
              <a:buNone/>
            </a:pPr>
            <a:r>
              <a:rPr lang="en-US" sz="1350" dirty="0">
                <a:solidFill>
                  <a:srgbClr val="C9D3E3"/>
                </a:solidFill>
                <a:latin typeface="Calibri" pitchFamily="34" charset="0"/>
                <a:ea typeface="Calibri" pitchFamily="34" charset="-122"/>
                <a:cs typeface="Calibri" pitchFamily="34" charset="-120"/>
              </a:rPr>
              <a:t>One lambda application replaces a chain of modifier objects.</a:t>
            </a:r>
            <a:endParaRPr lang="en-US" sz="1350" dirty="0"/>
          </a:p>
        </p:txBody>
      </p:sp>
      <p:sp>
        <p:nvSpPr>
          <p:cNvPr id="20" name="Shape 16"/>
          <p:cNvSpPr/>
          <p:nvPr/>
        </p:nvSpPr>
        <p:spPr>
          <a:xfrm>
            <a:off x="8046720" y="3931920"/>
            <a:ext cx="3520440" cy="2377440"/>
          </a:xfrm>
          <a:prstGeom prst="roundRect">
            <a:avLst>
              <a:gd name="adj" fmla="val 5385"/>
            </a:avLst>
          </a:prstGeom>
          <a:solidFill>
            <a:srgbClr val="1A2A42"/>
          </a:solidFill>
          <a:ln w="12700">
            <a:solidFill>
              <a:srgbClr val="1A2A42"/>
            </a:solidFill>
            <a:prstDash val="solid"/>
          </a:ln>
        </p:spPr>
      </p:sp>
      <p:sp>
        <p:nvSpPr>
          <p:cNvPr id="21" name="Shape 17"/>
          <p:cNvSpPr/>
          <p:nvPr/>
        </p:nvSpPr>
        <p:spPr>
          <a:xfrm>
            <a:off x="8275320" y="4160520"/>
            <a:ext cx="594360" cy="594360"/>
          </a:xfrm>
          <a:prstGeom prst="ellipse">
            <a:avLst/>
          </a:prstGeom>
          <a:solidFill>
            <a:srgbClr val="3DDC84"/>
          </a:solidFill>
          <a:ln w="12700">
            <a:solidFill>
              <a:srgbClr val="3DDC84"/>
            </a:solidFill>
            <a:prstDash val="solid"/>
          </a:ln>
        </p:spPr>
      </p:sp>
      <p:pic>
        <p:nvPicPr>
          <p:cNvPr id="22" name="Image 2" descr="preencoded.png">    </p:cNvPr>
          <p:cNvPicPr>
            <a:picLocks noChangeAspect="1"/>
          </p:cNvPicPr>
          <p:nvPr/>
        </p:nvPicPr>
        <p:blipFill>
          <a:blip r:embed="rId3"/>
          <a:stretch>
            <a:fillRect/>
          </a:stretch>
        </p:blipFill>
        <p:spPr>
          <a:xfrm>
            <a:off x="8406079" y="4291279"/>
            <a:ext cx="332842" cy="332842"/>
          </a:xfrm>
          <a:prstGeom prst="rect">
            <a:avLst/>
          </a:prstGeom>
        </p:spPr>
      </p:pic>
      <p:sp>
        <p:nvSpPr>
          <p:cNvPr id="23" name="Text 18"/>
          <p:cNvSpPr txBox="1"/>
          <p:nvPr/>
        </p:nvSpPr>
        <p:spPr>
          <a:xfrm>
            <a:off x="8275320" y="4892040"/>
            <a:ext cx="306324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Lazy allocation</a:t>
            </a:r>
            <a:endParaRPr lang="en-US" sz="1700" dirty="0"/>
          </a:p>
        </p:txBody>
      </p:sp>
      <p:sp>
        <p:nvSpPr>
          <p:cNvPr id="24" name="Text 19"/>
          <p:cNvSpPr txBox="1"/>
          <p:nvPr/>
        </p:nvSpPr>
        <p:spPr>
          <a:xfrm>
            <a:off x="8275320" y="5303520"/>
            <a:ext cx="3063240" cy="914400"/>
          </a:xfrm>
          <a:prstGeom prst="rect">
            <a:avLst/>
          </a:prstGeom>
          <a:noFill/>
          <a:ln/>
        </p:spPr>
        <p:txBody>
          <a:bodyPr wrap="square" lIns="0" tIns="0" rIns="0" bIns="0" rtlCol="0" anchor="t"/>
          <a:lstStyle/>
          <a:p>
            <a:pPr indent="0" marL="0">
              <a:buNone/>
            </a:pPr>
            <a:r>
              <a:rPr lang="en-US" sz="1350" dirty="0">
                <a:solidFill>
                  <a:srgbClr val="C9D3E3"/>
                </a:solidFill>
                <a:latin typeface="Calibri" pitchFamily="34" charset="0"/>
                <a:ea typeface="Calibri" pitchFamily="34" charset="-122"/>
                <a:cs typeface="Calibri" pitchFamily="34" charset="-120"/>
              </a:rPr>
              <a:t>Animation resources are allocated only when an animation starts.</a:t>
            </a:r>
            <a:endParaRPr lang="en-US" sz="1350" dirty="0"/>
          </a:p>
        </p:txBody>
      </p:sp>
      <p:sp>
        <p:nvSpPr>
          <p:cNvPr id="25" name="Text 20"/>
          <p:cNvSpPr txBox="1"/>
          <p:nvPr/>
        </p:nvSpPr>
        <p:spPr>
          <a:xfrm>
            <a:off x="7040880" y="1783080"/>
            <a:ext cx="4572000" cy="320040"/>
          </a:xfrm>
          <a:prstGeom prst="rect">
            <a:avLst/>
          </a:prstGeom>
          <a:noFill/>
          <a:ln/>
        </p:spPr>
        <p:txBody>
          <a:bodyPr wrap="square" lIns="0" tIns="0" rIns="0" bIns="0" rtlCol="0" anchor="t"/>
          <a:lstStyle/>
          <a:p>
            <a:pPr indent="0" marL="0">
              <a:buNone/>
            </a:pPr>
            <a:r>
              <a:rPr lang="en-US" sz="1300" b="1" spc="100" kern="0" dirty="0">
                <a:solidFill>
                  <a:srgbClr val="9AA8BD"/>
                </a:solidFill>
                <a:latin typeface="Calibri" pitchFamily="34" charset="0"/>
                <a:ea typeface="Calibri" pitchFamily="34" charset="-122"/>
                <a:cs typeface="Calibri" pitchFamily="34" charset="-120"/>
              </a:rPr>
              <a:t>Where styles run</a:t>
            </a:r>
            <a:endParaRPr lang="en-US" sz="1300" dirty="0"/>
          </a:p>
        </p:txBody>
      </p:sp>
      <p:sp>
        <p:nvSpPr>
          <p:cNvPr id="26" name="Shape 21"/>
          <p:cNvSpPr/>
          <p:nvPr/>
        </p:nvSpPr>
        <p:spPr>
          <a:xfrm>
            <a:off x="7040880" y="2240280"/>
            <a:ext cx="1417320" cy="685800"/>
          </a:xfrm>
          <a:prstGeom prst="roundRect">
            <a:avLst>
              <a:gd name="adj" fmla="val 13333"/>
            </a:avLst>
          </a:prstGeom>
          <a:solidFill>
            <a:srgbClr val="1A2A42"/>
          </a:solidFill>
          <a:ln w="12700">
            <a:solidFill>
              <a:srgbClr val="3A4A66"/>
            </a:solidFill>
            <a:prstDash val="solid"/>
          </a:ln>
        </p:spPr>
      </p:sp>
      <p:sp>
        <p:nvSpPr>
          <p:cNvPr id="27" name="Text 22"/>
          <p:cNvSpPr txBox="1"/>
          <p:nvPr/>
        </p:nvSpPr>
        <p:spPr>
          <a:xfrm>
            <a:off x="7040880" y="2240280"/>
            <a:ext cx="1417320" cy="685800"/>
          </a:xfrm>
          <a:prstGeom prst="rect">
            <a:avLst/>
          </a:prstGeom>
          <a:noFill/>
          <a:ln/>
        </p:spPr>
        <p:txBody>
          <a:bodyPr wrap="square" lIns="0" tIns="0" rIns="0" bIns="0" rtlCol="0" anchor="ctr"/>
          <a:lstStyle/>
          <a:p>
            <a:pPr algn="ctr" indent="0" marL="0">
              <a:buNone/>
            </a:pPr>
            <a:r>
              <a:rPr lang="en-US" sz="1300" b="1" dirty="0">
                <a:solidFill>
                  <a:srgbClr val="7F8CA3"/>
                </a:solidFill>
                <a:latin typeface="Calibri" pitchFamily="34" charset="0"/>
                <a:ea typeface="Calibri" pitchFamily="34" charset="-122"/>
                <a:cs typeface="Calibri" pitchFamily="34" charset="-120"/>
              </a:rPr>
              <a:t>Composition</a:t>
            </a:r>
            <a:endParaRPr lang="en-US" sz="1300" dirty="0"/>
          </a:p>
        </p:txBody>
      </p:sp>
      <p:sp>
        <p:nvSpPr>
          <p:cNvPr id="28" name="Shape 23"/>
          <p:cNvSpPr/>
          <p:nvPr/>
        </p:nvSpPr>
        <p:spPr>
          <a:xfrm>
            <a:off x="8613648" y="2240280"/>
            <a:ext cx="1417320" cy="685800"/>
          </a:xfrm>
          <a:prstGeom prst="roundRect">
            <a:avLst>
              <a:gd name="adj" fmla="val 13333"/>
            </a:avLst>
          </a:prstGeom>
          <a:solidFill>
            <a:srgbClr val="3DDC84"/>
          </a:solidFill>
          <a:ln w="12700">
            <a:solidFill>
              <a:srgbClr val="3DDC84"/>
            </a:solidFill>
            <a:prstDash val="solid"/>
          </a:ln>
        </p:spPr>
      </p:sp>
      <p:sp>
        <p:nvSpPr>
          <p:cNvPr id="29" name="Text 24"/>
          <p:cNvSpPr txBox="1"/>
          <p:nvPr/>
        </p:nvSpPr>
        <p:spPr>
          <a:xfrm>
            <a:off x="8613648" y="2240280"/>
            <a:ext cx="1417320" cy="685800"/>
          </a:xfrm>
          <a:prstGeom prst="rect">
            <a:avLst/>
          </a:prstGeom>
          <a:noFill/>
          <a:ln/>
        </p:spPr>
        <p:txBody>
          <a:bodyPr wrap="square" lIns="0" tIns="0" rIns="0" bIns="0" rtlCol="0" anchor="ctr"/>
          <a:lstStyle/>
          <a:p>
            <a:pPr algn="ctr" indent="0" marL="0">
              <a:buNone/>
            </a:pPr>
            <a:r>
              <a:rPr lang="en-US" sz="1300" b="1" dirty="0">
                <a:solidFill>
                  <a:srgbClr val="0E1A2B"/>
                </a:solidFill>
                <a:latin typeface="Calibri" pitchFamily="34" charset="0"/>
                <a:ea typeface="Calibri" pitchFamily="34" charset="-122"/>
                <a:cs typeface="Calibri" pitchFamily="34" charset="-120"/>
              </a:rPr>
              <a:t>Layout</a:t>
            </a:r>
            <a:endParaRPr lang="en-US" sz="1300" dirty="0"/>
          </a:p>
        </p:txBody>
      </p:sp>
      <p:sp>
        <p:nvSpPr>
          <p:cNvPr id="30" name="Shape 25"/>
          <p:cNvSpPr/>
          <p:nvPr/>
        </p:nvSpPr>
        <p:spPr>
          <a:xfrm>
            <a:off x="10186416" y="2240280"/>
            <a:ext cx="1417320" cy="685800"/>
          </a:xfrm>
          <a:prstGeom prst="roundRect">
            <a:avLst>
              <a:gd name="adj" fmla="val 13333"/>
            </a:avLst>
          </a:prstGeom>
          <a:solidFill>
            <a:srgbClr val="3DDC84"/>
          </a:solidFill>
          <a:ln w="12700">
            <a:solidFill>
              <a:srgbClr val="3DDC84"/>
            </a:solidFill>
            <a:prstDash val="solid"/>
          </a:ln>
        </p:spPr>
      </p:sp>
      <p:sp>
        <p:nvSpPr>
          <p:cNvPr id="31" name="Text 26"/>
          <p:cNvSpPr txBox="1"/>
          <p:nvPr/>
        </p:nvSpPr>
        <p:spPr>
          <a:xfrm>
            <a:off x="10186416" y="2240280"/>
            <a:ext cx="1417320" cy="685800"/>
          </a:xfrm>
          <a:prstGeom prst="rect">
            <a:avLst/>
          </a:prstGeom>
          <a:noFill/>
          <a:ln/>
        </p:spPr>
        <p:txBody>
          <a:bodyPr wrap="square" lIns="0" tIns="0" rIns="0" bIns="0" rtlCol="0" anchor="ctr"/>
          <a:lstStyle/>
          <a:p>
            <a:pPr algn="ctr" indent="0" marL="0">
              <a:buNone/>
            </a:pPr>
            <a:r>
              <a:rPr lang="en-US" sz="1300" b="1" dirty="0">
                <a:solidFill>
                  <a:srgbClr val="0E1A2B"/>
                </a:solidFill>
                <a:latin typeface="Calibri" pitchFamily="34" charset="0"/>
                <a:ea typeface="Calibri" pitchFamily="34" charset="-122"/>
                <a:cs typeface="Calibri" pitchFamily="34" charset="-120"/>
              </a:rPr>
              <a:t>Draw</a:t>
            </a:r>
            <a:endParaRPr lang="en-US" sz="1300" dirty="0"/>
          </a:p>
        </p:txBody>
      </p:sp>
      <p:sp>
        <p:nvSpPr>
          <p:cNvPr id="32" name="Text 27"/>
          <p:cNvSpPr txBox="1"/>
          <p:nvPr/>
        </p:nvSpPr>
        <p:spPr>
          <a:xfrm>
            <a:off x="7040880" y="2999232"/>
            <a:ext cx="1463040" cy="457200"/>
          </a:xfrm>
          <a:prstGeom prst="rect">
            <a:avLst/>
          </a:prstGeom>
          <a:noFill/>
          <a:ln/>
        </p:spPr>
        <p:txBody>
          <a:bodyPr wrap="square" lIns="0" tIns="0" rIns="0" bIns="0" rtlCol="0" anchor="t"/>
          <a:lstStyle/>
          <a:p>
            <a:pPr algn="ctr" indent="0" marL="0">
              <a:buNone/>
            </a:pPr>
            <a:r>
              <a:rPr lang="en-US" sz="1050" i="1" dirty="0">
                <a:solidFill>
                  <a:srgbClr val="9AA8BD"/>
                </a:solidFill>
                <a:latin typeface="Calibri" pitchFamily="34" charset="0"/>
                <a:ea typeface="Calibri" pitchFamily="34" charset="-122"/>
                <a:cs typeface="Calibri" pitchFamily="34" charset="-120"/>
              </a:rPr>
              <a:t>skipped on style changes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46404" cy="329184"/>
          </a:xfrm>
          <a:prstGeom prst="roundRect">
            <a:avLst>
              <a:gd name="adj" fmla="val 50000"/>
            </a:avLst>
          </a:prstGeom>
          <a:solidFill>
            <a:srgbClr val="EEEAFB"/>
          </a:solidFill>
          <a:ln w="12700">
            <a:solidFill>
              <a:srgbClr val="EEEAFB"/>
            </a:solidFill>
            <a:prstDash val="solid"/>
          </a:ln>
        </p:spPr>
      </p:sp>
      <p:sp>
        <p:nvSpPr>
          <p:cNvPr id="3" name="Text 1"/>
          <p:cNvSpPr txBox="1"/>
          <p:nvPr/>
        </p:nvSpPr>
        <p:spPr>
          <a:xfrm>
            <a:off x="548640" y="384048"/>
            <a:ext cx="946404" cy="329184"/>
          </a:xfrm>
          <a:prstGeom prst="rect">
            <a:avLst/>
          </a:prstGeom>
          <a:noFill/>
          <a:ln/>
        </p:spPr>
        <p:txBody>
          <a:bodyPr wrap="square" lIns="0" tIns="0" rIns="0" bIns="0" rtlCol="0" anchor="ctr"/>
          <a:lstStyle/>
          <a:p>
            <a:pPr algn="ctr" indent="0" marL="0">
              <a:buNone/>
            </a:pPr>
            <a:r>
              <a:rPr lang="en-US" sz="1100" b="1" spc="200" kern="0" dirty="0">
                <a:solidFill>
                  <a:srgbClr val="5B3FD6"/>
                </a:solidFill>
                <a:latin typeface="Calibri" pitchFamily="34" charset="0"/>
                <a:ea typeface="Calibri" pitchFamily="34" charset="-122"/>
                <a:cs typeface="Calibri" pitchFamily="34" charset="-120"/>
              </a:rPr>
              <a:t>COMPARE</a:t>
            </a:r>
            <a:endParaRPr lang="en-US" sz="1100" dirty="0"/>
          </a:p>
        </p:txBody>
      </p:sp>
      <p:sp>
        <p:nvSpPr>
          <p:cNvPr id="4" name="Text 2"/>
          <p:cNvSpPr txBox="1"/>
          <p:nvPr/>
        </p:nvSpPr>
        <p:spPr>
          <a:xfrm>
            <a:off x="548640" y="868680"/>
            <a:ext cx="11064240" cy="731520"/>
          </a:xfrm>
          <a:prstGeom prst="rect">
            <a:avLst/>
          </a:prstGeom>
          <a:noFill/>
          <a:ln/>
        </p:spPr>
        <p:txBody>
          <a:bodyPr wrap="square" lIns="0" tIns="0" rIns="0" bIns="0" rtlCol="0" anchor="t"/>
          <a:lstStyle/>
          <a:p>
            <a:pPr indent="0" marL="0">
              <a:buNone/>
            </a:pPr>
            <a:r>
              <a:rPr lang="en-US" sz="3200" b="1" dirty="0">
                <a:solidFill>
                  <a:srgbClr val="1B2330"/>
                </a:solidFill>
                <a:latin typeface="Arial" pitchFamily="34" charset="0"/>
                <a:ea typeface="Arial" pitchFamily="34" charset="-122"/>
                <a:cs typeface="Arial" pitchFamily="34" charset="-120"/>
              </a:rPr>
              <a:t>Styles vs Modifiers</a:t>
            </a:r>
            <a:endParaRPr lang="en-US" sz="3200" dirty="0"/>
          </a:p>
        </p:txBody>
      </p:sp>
      <p:sp>
        <p:nvSpPr>
          <p:cNvPr id="5" name="Shape 3"/>
          <p:cNvSpPr/>
          <p:nvPr/>
        </p:nvSpPr>
        <p:spPr>
          <a:xfrm>
            <a:off x="594360" y="1691640"/>
            <a:ext cx="2011680" cy="457200"/>
          </a:xfrm>
          <a:prstGeom prst="roundRect">
            <a:avLst>
              <a:gd name="adj" fmla="val 50000"/>
            </a:avLst>
          </a:prstGeom>
          <a:solidFill>
            <a:srgbClr val="0E1A2B"/>
          </a:solidFill>
          <a:ln w="12700">
            <a:solidFill>
              <a:srgbClr val="0E1A2B"/>
            </a:solidFill>
            <a:prstDash val="solid"/>
          </a:ln>
        </p:spPr>
      </p:sp>
      <p:sp>
        <p:nvSpPr>
          <p:cNvPr id="6" name="Text 4"/>
          <p:cNvSpPr txBox="1"/>
          <p:nvPr/>
        </p:nvSpPr>
        <p:spPr>
          <a:xfrm>
            <a:off x="548640" y="1691640"/>
            <a:ext cx="21031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Feature</a:t>
            </a:r>
            <a:endParaRPr lang="en-US" sz="1500" dirty="0"/>
          </a:p>
        </p:txBody>
      </p:sp>
      <p:sp>
        <p:nvSpPr>
          <p:cNvPr id="7" name="Shape 5"/>
          <p:cNvSpPr/>
          <p:nvPr/>
        </p:nvSpPr>
        <p:spPr>
          <a:xfrm>
            <a:off x="2697480" y="1691640"/>
            <a:ext cx="4389120" cy="457200"/>
          </a:xfrm>
          <a:prstGeom prst="roundRect">
            <a:avLst>
              <a:gd name="adj" fmla="val 50000"/>
            </a:avLst>
          </a:prstGeom>
          <a:solidFill>
            <a:srgbClr val="B26A00"/>
          </a:solidFill>
          <a:ln w="12700">
            <a:solidFill>
              <a:srgbClr val="B26A00"/>
            </a:solidFill>
            <a:prstDash val="solid"/>
          </a:ln>
        </p:spPr>
      </p:sp>
      <p:sp>
        <p:nvSpPr>
          <p:cNvPr id="8" name="Text 6"/>
          <p:cNvSpPr txBox="1"/>
          <p:nvPr/>
        </p:nvSpPr>
        <p:spPr>
          <a:xfrm>
            <a:off x="2651760" y="1691640"/>
            <a:ext cx="44805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Modifier</a:t>
            </a:r>
            <a:endParaRPr lang="en-US" sz="1500" dirty="0"/>
          </a:p>
        </p:txBody>
      </p:sp>
      <p:sp>
        <p:nvSpPr>
          <p:cNvPr id="9" name="Shape 7"/>
          <p:cNvSpPr/>
          <p:nvPr/>
        </p:nvSpPr>
        <p:spPr>
          <a:xfrm>
            <a:off x="7178040" y="1691640"/>
            <a:ext cx="4389120" cy="457200"/>
          </a:xfrm>
          <a:prstGeom prst="roundRect">
            <a:avLst>
              <a:gd name="adj" fmla="val 50000"/>
            </a:avLst>
          </a:prstGeom>
          <a:solidFill>
            <a:srgbClr val="5B3FD6"/>
          </a:solidFill>
          <a:ln w="12700">
            <a:solidFill>
              <a:srgbClr val="5B3FD6"/>
            </a:solidFill>
            <a:prstDash val="solid"/>
          </a:ln>
        </p:spPr>
      </p:sp>
      <p:sp>
        <p:nvSpPr>
          <p:cNvPr id="10" name="Text 8"/>
          <p:cNvSpPr txBox="1"/>
          <p:nvPr/>
        </p:nvSpPr>
        <p:spPr>
          <a:xfrm>
            <a:off x="7132320" y="1691640"/>
            <a:ext cx="44805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Style</a:t>
            </a:r>
            <a:endParaRPr lang="en-US" sz="1500" dirty="0"/>
          </a:p>
        </p:txBody>
      </p:sp>
      <p:sp>
        <p:nvSpPr>
          <p:cNvPr id="11" name="Shape 9"/>
          <p:cNvSpPr/>
          <p:nvPr/>
        </p:nvSpPr>
        <p:spPr>
          <a:xfrm>
            <a:off x="548640" y="2331720"/>
            <a:ext cx="11064240" cy="868680"/>
          </a:xfrm>
          <a:prstGeom prst="rect">
            <a:avLst/>
          </a:prstGeom>
          <a:solidFill>
            <a:srgbClr val="F3F5F8"/>
          </a:solidFill>
          <a:ln w="12700">
            <a:solidFill>
              <a:srgbClr val="F3F5F8"/>
            </a:solidFill>
            <a:prstDash val="solid"/>
          </a:ln>
        </p:spPr>
      </p:sp>
      <p:sp>
        <p:nvSpPr>
          <p:cNvPr id="12" name="Text 10"/>
          <p:cNvSpPr txBox="1"/>
          <p:nvPr/>
        </p:nvSpPr>
        <p:spPr>
          <a:xfrm>
            <a:off x="731520" y="2331720"/>
            <a:ext cx="1737360" cy="868680"/>
          </a:xfrm>
          <a:prstGeom prst="rect">
            <a:avLst/>
          </a:prstGeom>
          <a:noFill/>
          <a:ln/>
        </p:spPr>
        <p:txBody>
          <a:bodyPr wrap="square" lIns="0" tIns="0" rIns="0" bIns="0" rtlCol="0" anchor="ctr"/>
          <a:lstStyle/>
          <a:p>
            <a:pPr algn="l" indent="0" marL="0">
              <a:buNone/>
            </a:pPr>
            <a:r>
              <a:rPr lang="en-US" sz="1500" b="1" dirty="0">
                <a:solidFill>
                  <a:srgbClr val="1B2330"/>
                </a:solidFill>
                <a:latin typeface="Calibri" pitchFamily="34" charset="0"/>
                <a:ea typeface="Calibri" pitchFamily="34" charset="-122"/>
                <a:cs typeface="Calibri" pitchFamily="34" charset="-120"/>
              </a:rPr>
              <a:t>Goal</a:t>
            </a:r>
            <a:endParaRPr lang="en-US" sz="1500" dirty="0"/>
          </a:p>
        </p:txBody>
      </p:sp>
      <p:sp>
        <p:nvSpPr>
          <p:cNvPr id="13" name="Text 11"/>
          <p:cNvSpPr txBox="1"/>
          <p:nvPr/>
        </p:nvSpPr>
        <p:spPr>
          <a:xfrm>
            <a:off x="2834640" y="2331720"/>
            <a:ext cx="4114800" cy="868680"/>
          </a:xfrm>
          <a:prstGeom prst="rect">
            <a:avLst/>
          </a:prstGeom>
          <a:noFill/>
          <a:ln/>
        </p:spPr>
        <p:txBody>
          <a:bodyPr wrap="square" lIns="0" tIns="0" rIns="0" bIns="0" rtlCol="0" anchor="ctr"/>
          <a:lstStyle/>
          <a:p>
            <a:pPr algn="ctr" indent="0" marL="0">
              <a:buNone/>
            </a:pPr>
            <a:r>
              <a:rPr lang="en-US" sz="1400" dirty="0">
                <a:solidFill>
                  <a:srgbClr val="1B2330"/>
                </a:solidFill>
                <a:latin typeface="Calibri" pitchFamily="34" charset="0"/>
                <a:ea typeface="Calibri" pitchFamily="34" charset="-122"/>
                <a:cs typeface="Calibri" pitchFamily="34" charset="-120"/>
              </a:rPr>
              <a:t>Low-level capabilities: behaviour, semantics, additive properties, complex layouts</a:t>
            </a:r>
            <a:endParaRPr lang="en-US" sz="1400" dirty="0"/>
          </a:p>
        </p:txBody>
      </p:sp>
      <p:sp>
        <p:nvSpPr>
          <p:cNvPr id="14" name="Text 12"/>
          <p:cNvSpPr txBox="1"/>
          <p:nvPr/>
        </p:nvSpPr>
        <p:spPr>
          <a:xfrm>
            <a:off x="7315200" y="2331720"/>
            <a:ext cx="4114800" cy="868680"/>
          </a:xfrm>
          <a:prstGeom prst="rect">
            <a:avLst/>
          </a:prstGeom>
          <a:noFill/>
          <a:ln/>
        </p:spPr>
        <p:txBody>
          <a:bodyPr wrap="square" lIns="0" tIns="0" rIns="0" bIns="0" rtlCol="0" anchor="ctr"/>
          <a:lstStyle/>
          <a:p>
            <a:pPr algn="ctr" indent="0" marL="0">
              <a:buNone/>
            </a:pPr>
            <a:r>
              <a:rPr lang="en-US" sz="1400" dirty="0">
                <a:solidFill>
                  <a:srgbClr val="5B3FD6"/>
                </a:solidFill>
                <a:latin typeface="Calibri" pitchFamily="34" charset="0"/>
                <a:ea typeface="Calibri" pitchFamily="34" charset="-122"/>
                <a:cs typeface="Calibri" pitchFamily="34" charset="-120"/>
              </a:rPr>
              <a:t>High-level visuals: appearance, item sizing, themeable properties</a:t>
            </a:r>
            <a:endParaRPr lang="en-US" sz="1400" dirty="0"/>
          </a:p>
        </p:txBody>
      </p:sp>
      <p:sp>
        <p:nvSpPr>
          <p:cNvPr id="15" name="Text 13"/>
          <p:cNvSpPr txBox="1"/>
          <p:nvPr/>
        </p:nvSpPr>
        <p:spPr>
          <a:xfrm>
            <a:off x="731520" y="3200400"/>
            <a:ext cx="1737360" cy="603504"/>
          </a:xfrm>
          <a:prstGeom prst="rect">
            <a:avLst/>
          </a:prstGeom>
          <a:noFill/>
          <a:ln/>
        </p:spPr>
        <p:txBody>
          <a:bodyPr wrap="square" lIns="0" tIns="0" rIns="0" bIns="0" rtlCol="0" anchor="ctr"/>
          <a:lstStyle/>
          <a:p>
            <a:pPr algn="l" indent="0" marL="0">
              <a:buNone/>
            </a:pPr>
            <a:r>
              <a:rPr lang="en-US" sz="1500" b="1" dirty="0">
                <a:solidFill>
                  <a:srgbClr val="1B2330"/>
                </a:solidFill>
                <a:latin typeface="Calibri" pitchFamily="34" charset="0"/>
                <a:ea typeface="Calibri" pitchFamily="34" charset="-122"/>
                <a:cs typeface="Calibri" pitchFamily="34" charset="-120"/>
              </a:rPr>
              <a:t>Logic</a:t>
            </a:r>
            <a:endParaRPr lang="en-US" sz="1500" dirty="0"/>
          </a:p>
        </p:txBody>
      </p:sp>
      <p:sp>
        <p:nvSpPr>
          <p:cNvPr id="16" name="Text 14"/>
          <p:cNvSpPr txBox="1"/>
          <p:nvPr/>
        </p:nvSpPr>
        <p:spPr>
          <a:xfrm>
            <a:off x="2834640" y="3200400"/>
            <a:ext cx="4114800" cy="603504"/>
          </a:xfrm>
          <a:prstGeom prst="rect">
            <a:avLst/>
          </a:prstGeom>
          <a:noFill/>
          <a:ln/>
        </p:spPr>
        <p:txBody>
          <a:bodyPr wrap="square" lIns="0" tIns="0" rIns="0" bIns="0" rtlCol="0" anchor="ctr"/>
          <a:lstStyle/>
          <a:p>
            <a:pPr algn="ctr" indent="0" marL="0">
              <a:buNone/>
            </a:pPr>
            <a:r>
              <a:rPr lang="en-US" sz="1400" dirty="0">
                <a:solidFill>
                  <a:srgbClr val="1B2330"/>
                </a:solidFill>
                <a:latin typeface="Calibri" pitchFamily="34" charset="0"/>
                <a:ea typeface="Calibri" pitchFamily="34" charset="-122"/>
                <a:cs typeface="Calibri" pitchFamily="34" charset="-120"/>
              </a:rPr>
              <a:t>Additive</a:t>
            </a:r>
            <a:endParaRPr lang="en-US" sz="1400" dirty="0"/>
          </a:p>
        </p:txBody>
      </p:sp>
      <p:sp>
        <p:nvSpPr>
          <p:cNvPr id="17" name="Text 15"/>
          <p:cNvSpPr txBox="1"/>
          <p:nvPr/>
        </p:nvSpPr>
        <p:spPr>
          <a:xfrm>
            <a:off x="7315200" y="3200400"/>
            <a:ext cx="4114800" cy="603504"/>
          </a:xfrm>
          <a:prstGeom prst="rect">
            <a:avLst/>
          </a:prstGeom>
          <a:noFill/>
          <a:ln/>
        </p:spPr>
        <p:txBody>
          <a:bodyPr wrap="square" lIns="0" tIns="0" rIns="0" bIns="0" rtlCol="0" anchor="ctr"/>
          <a:lstStyle/>
          <a:p>
            <a:pPr algn="ctr" indent="0" marL="0">
              <a:buNone/>
            </a:pPr>
            <a:r>
              <a:rPr lang="en-US" sz="1400" dirty="0">
                <a:solidFill>
                  <a:srgbClr val="5B3FD6"/>
                </a:solidFill>
                <a:latin typeface="Calibri" pitchFamily="34" charset="0"/>
                <a:ea typeface="Calibri" pitchFamily="34" charset="-122"/>
                <a:cs typeface="Calibri" pitchFamily="34" charset="-120"/>
              </a:rPr>
              <a:t>Override</a:t>
            </a:r>
            <a:endParaRPr lang="en-US" sz="1400" dirty="0"/>
          </a:p>
        </p:txBody>
      </p:sp>
      <p:sp>
        <p:nvSpPr>
          <p:cNvPr id="18" name="Shape 16"/>
          <p:cNvSpPr/>
          <p:nvPr/>
        </p:nvSpPr>
        <p:spPr>
          <a:xfrm>
            <a:off x="548640" y="3803904"/>
            <a:ext cx="11064240" cy="603504"/>
          </a:xfrm>
          <a:prstGeom prst="rect">
            <a:avLst/>
          </a:prstGeom>
          <a:solidFill>
            <a:srgbClr val="F3F5F8"/>
          </a:solidFill>
          <a:ln w="12700">
            <a:solidFill>
              <a:srgbClr val="F3F5F8"/>
            </a:solidFill>
            <a:prstDash val="solid"/>
          </a:ln>
        </p:spPr>
      </p:sp>
      <p:sp>
        <p:nvSpPr>
          <p:cNvPr id="19" name="Text 17"/>
          <p:cNvSpPr txBox="1"/>
          <p:nvPr/>
        </p:nvSpPr>
        <p:spPr>
          <a:xfrm>
            <a:off x="731520" y="3803904"/>
            <a:ext cx="1737360" cy="603504"/>
          </a:xfrm>
          <a:prstGeom prst="rect">
            <a:avLst/>
          </a:prstGeom>
          <a:noFill/>
          <a:ln/>
        </p:spPr>
        <p:txBody>
          <a:bodyPr wrap="square" lIns="0" tIns="0" rIns="0" bIns="0" rtlCol="0" anchor="ctr"/>
          <a:lstStyle/>
          <a:p>
            <a:pPr algn="l" indent="0" marL="0">
              <a:buNone/>
            </a:pPr>
            <a:r>
              <a:rPr lang="en-US" sz="1500" b="1" dirty="0">
                <a:solidFill>
                  <a:srgbClr val="1B2330"/>
                </a:solidFill>
                <a:latin typeface="Calibri" pitchFamily="34" charset="0"/>
                <a:ea typeface="Calibri" pitchFamily="34" charset="-122"/>
                <a:cs typeface="Calibri" pitchFamily="34" charset="-120"/>
              </a:rPr>
              <a:t>Theming</a:t>
            </a:r>
            <a:endParaRPr lang="en-US" sz="1500" dirty="0"/>
          </a:p>
        </p:txBody>
      </p:sp>
      <p:sp>
        <p:nvSpPr>
          <p:cNvPr id="20" name="Text 18"/>
          <p:cNvSpPr txBox="1"/>
          <p:nvPr/>
        </p:nvSpPr>
        <p:spPr>
          <a:xfrm>
            <a:off x="2834640" y="3803904"/>
            <a:ext cx="4114800" cy="603504"/>
          </a:xfrm>
          <a:prstGeom prst="rect">
            <a:avLst/>
          </a:prstGeom>
          <a:noFill/>
          <a:ln/>
        </p:spPr>
        <p:txBody>
          <a:bodyPr wrap="square" lIns="0" tIns="0" rIns="0" bIns="0" rtlCol="0" anchor="ctr"/>
          <a:lstStyle/>
          <a:p>
            <a:pPr algn="ctr" indent="0" marL="0">
              <a:buNone/>
            </a:pPr>
            <a:r>
              <a:rPr lang="en-US" sz="1400" dirty="0">
                <a:solidFill>
                  <a:srgbClr val="1B2330"/>
                </a:solidFill>
                <a:latin typeface="Calibri" pitchFamily="34" charset="0"/>
                <a:ea typeface="Calibri" pitchFamily="34" charset="-122"/>
                <a:cs typeface="Calibri" pitchFamily="34" charset="-120"/>
              </a:rPr>
              <a:t>Lower level, not part of a theme</a:t>
            </a:r>
            <a:endParaRPr lang="en-US" sz="1400" dirty="0"/>
          </a:p>
        </p:txBody>
      </p:sp>
      <p:sp>
        <p:nvSpPr>
          <p:cNvPr id="21" name="Text 19"/>
          <p:cNvSpPr txBox="1"/>
          <p:nvPr/>
        </p:nvSpPr>
        <p:spPr>
          <a:xfrm>
            <a:off x="7315200" y="3803904"/>
            <a:ext cx="4114800" cy="603504"/>
          </a:xfrm>
          <a:prstGeom prst="rect">
            <a:avLst/>
          </a:prstGeom>
          <a:noFill/>
          <a:ln/>
        </p:spPr>
        <p:txBody>
          <a:bodyPr wrap="square" lIns="0" tIns="0" rIns="0" bIns="0" rtlCol="0" anchor="ctr"/>
          <a:lstStyle/>
          <a:p>
            <a:pPr algn="ctr" indent="0" marL="0">
              <a:buNone/>
            </a:pPr>
            <a:r>
              <a:rPr lang="en-US" sz="1400" dirty="0">
                <a:solidFill>
                  <a:srgbClr val="5B3FD6"/>
                </a:solidFill>
                <a:latin typeface="Calibri" pitchFamily="34" charset="0"/>
                <a:ea typeface="Calibri" pitchFamily="34" charset="-122"/>
                <a:cs typeface="Calibri" pitchFamily="34" charset="-120"/>
              </a:rPr>
              <a:t>Reusable and themeable by design</a:t>
            </a:r>
            <a:endParaRPr lang="en-US" sz="1400" dirty="0"/>
          </a:p>
        </p:txBody>
      </p:sp>
      <p:sp>
        <p:nvSpPr>
          <p:cNvPr id="22" name="Text 20"/>
          <p:cNvSpPr txBox="1"/>
          <p:nvPr/>
        </p:nvSpPr>
        <p:spPr>
          <a:xfrm>
            <a:off x="731520" y="4407408"/>
            <a:ext cx="1737360" cy="603504"/>
          </a:xfrm>
          <a:prstGeom prst="rect">
            <a:avLst/>
          </a:prstGeom>
          <a:noFill/>
          <a:ln/>
        </p:spPr>
        <p:txBody>
          <a:bodyPr wrap="square" lIns="0" tIns="0" rIns="0" bIns="0" rtlCol="0" anchor="ctr"/>
          <a:lstStyle/>
          <a:p>
            <a:pPr algn="l" indent="0" marL="0">
              <a:buNone/>
            </a:pPr>
            <a:r>
              <a:rPr lang="en-US" sz="1500" b="1" dirty="0">
                <a:solidFill>
                  <a:srgbClr val="1B2330"/>
                </a:solidFill>
                <a:latin typeface="Calibri" pitchFamily="34" charset="0"/>
                <a:ea typeface="Calibri" pitchFamily="34" charset="-122"/>
                <a:cs typeface="Calibri" pitchFamily="34" charset="-120"/>
              </a:rPr>
              <a:t>Performance</a:t>
            </a:r>
            <a:endParaRPr lang="en-US" sz="1500" dirty="0"/>
          </a:p>
        </p:txBody>
      </p:sp>
      <p:sp>
        <p:nvSpPr>
          <p:cNvPr id="23" name="Text 21"/>
          <p:cNvSpPr txBox="1"/>
          <p:nvPr/>
        </p:nvSpPr>
        <p:spPr>
          <a:xfrm>
            <a:off x="2834640" y="4407408"/>
            <a:ext cx="4114800" cy="603504"/>
          </a:xfrm>
          <a:prstGeom prst="rect">
            <a:avLst/>
          </a:prstGeom>
          <a:noFill/>
          <a:ln/>
        </p:spPr>
        <p:txBody>
          <a:bodyPr wrap="square" lIns="0" tIns="0" rIns="0" bIns="0" rtlCol="0" anchor="ctr"/>
          <a:lstStyle/>
          <a:p>
            <a:pPr algn="ctr" indent="0" marL="0">
              <a:buNone/>
            </a:pPr>
            <a:r>
              <a:rPr lang="en-US" sz="1400" dirty="0">
                <a:solidFill>
                  <a:srgbClr val="1B2330"/>
                </a:solidFill>
                <a:latin typeface="Calibri" pitchFamily="34" charset="0"/>
                <a:ea typeface="Calibri" pitchFamily="34" charset="-122"/>
                <a:cs typeface="Calibri" pitchFamily="34" charset="-120"/>
              </a:rPr>
              <a:t>Runs in all phases</a:t>
            </a:r>
            <a:endParaRPr lang="en-US" sz="1400" dirty="0"/>
          </a:p>
        </p:txBody>
      </p:sp>
      <p:sp>
        <p:nvSpPr>
          <p:cNvPr id="24" name="Text 22"/>
          <p:cNvSpPr txBox="1"/>
          <p:nvPr/>
        </p:nvSpPr>
        <p:spPr>
          <a:xfrm>
            <a:off x="7315200" y="4407408"/>
            <a:ext cx="4114800" cy="603504"/>
          </a:xfrm>
          <a:prstGeom prst="rect">
            <a:avLst/>
          </a:prstGeom>
          <a:noFill/>
          <a:ln/>
        </p:spPr>
        <p:txBody>
          <a:bodyPr wrap="square" lIns="0" tIns="0" rIns="0" bIns="0" rtlCol="0" anchor="ctr"/>
          <a:lstStyle/>
          <a:p>
            <a:pPr algn="ctr" indent="0" marL="0">
              <a:buNone/>
            </a:pPr>
            <a:r>
              <a:rPr lang="en-US" sz="1400" dirty="0">
                <a:solidFill>
                  <a:srgbClr val="5B3FD6"/>
                </a:solidFill>
                <a:latin typeface="Calibri" pitchFamily="34" charset="0"/>
                <a:ea typeface="Calibri" pitchFamily="34" charset="-122"/>
                <a:cs typeface="Calibri" pitchFamily="34" charset="-120"/>
              </a:rPr>
              <a:t>Avoids recomposition by design</a:t>
            </a:r>
            <a:endParaRPr lang="en-US" sz="1400" dirty="0"/>
          </a:p>
        </p:txBody>
      </p:sp>
      <p:sp>
        <p:nvSpPr>
          <p:cNvPr id="25" name="Shape 23"/>
          <p:cNvSpPr/>
          <p:nvPr/>
        </p:nvSpPr>
        <p:spPr>
          <a:xfrm>
            <a:off x="548640" y="5010912"/>
            <a:ext cx="11064240" cy="603504"/>
          </a:xfrm>
          <a:prstGeom prst="rect">
            <a:avLst/>
          </a:prstGeom>
          <a:solidFill>
            <a:srgbClr val="F3F5F8"/>
          </a:solidFill>
          <a:ln w="12700">
            <a:solidFill>
              <a:srgbClr val="F3F5F8"/>
            </a:solidFill>
            <a:prstDash val="solid"/>
          </a:ln>
        </p:spPr>
      </p:sp>
      <p:sp>
        <p:nvSpPr>
          <p:cNvPr id="26" name="Text 24"/>
          <p:cNvSpPr txBox="1"/>
          <p:nvPr/>
        </p:nvSpPr>
        <p:spPr>
          <a:xfrm>
            <a:off x="731520" y="5010912"/>
            <a:ext cx="1737360" cy="603504"/>
          </a:xfrm>
          <a:prstGeom prst="rect">
            <a:avLst/>
          </a:prstGeom>
          <a:noFill/>
          <a:ln/>
        </p:spPr>
        <p:txBody>
          <a:bodyPr wrap="square" lIns="0" tIns="0" rIns="0" bIns="0" rtlCol="0" anchor="ctr"/>
          <a:lstStyle/>
          <a:p>
            <a:pPr algn="l" indent="0" marL="0">
              <a:buNone/>
            </a:pPr>
            <a:r>
              <a:rPr lang="en-US" sz="1500" b="1" dirty="0">
                <a:solidFill>
                  <a:srgbClr val="1B2330"/>
                </a:solidFill>
                <a:latin typeface="Calibri" pitchFamily="34" charset="0"/>
                <a:ea typeface="Calibri" pitchFamily="34" charset="-122"/>
                <a:cs typeface="Calibri" pitchFamily="34" charset="-120"/>
              </a:rPr>
              <a:t>Animations</a:t>
            </a:r>
            <a:endParaRPr lang="en-US" sz="1500" dirty="0"/>
          </a:p>
        </p:txBody>
      </p:sp>
      <p:sp>
        <p:nvSpPr>
          <p:cNvPr id="27" name="Text 25"/>
          <p:cNvSpPr txBox="1"/>
          <p:nvPr/>
        </p:nvSpPr>
        <p:spPr>
          <a:xfrm>
            <a:off x="2834640" y="5010912"/>
            <a:ext cx="4114800" cy="603504"/>
          </a:xfrm>
          <a:prstGeom prst="rect">
            <a:avLst/>
          </a:prstGeom>
          <a:noFill/>
          <a:ln/>
        </p:spPr>
        <p:txBody>
          <a:bodyPr wrap="square" lIns="0" tIns="0" rIns="0" bIns="0" rtlCol="0" anchor="ctr"/>
          <a:lstStyle/>
          <a:p>
            <a:pPr algn="ctr" indent="0" marL="0">
              <a:buNone/>
            </a:pPr>
            <a:r>
              <a:rPr lang="en-US" sz="1400" dirty="0">
                <a:solidFill>
                  <a:srgbClr val="1B2330"/>
                </a:solidFill>
                <a:latin typeface="Calibri" pitchFamily="34" charset="0"/>
                <a:ea typeface="Calibri" pitchFamily="34" charset="-122"/>
                <a:cs typeface="Calibri" pitchFamily="34" charset="-120"/>
              </a:rPr>
              <a:t>Separate animation primitives</a:t>
            </a:r>
            <a:endParaRPr lang="en-US" sz="1400" dirty="0"/>
          </a:p>
        </p:txBody>
      </p:sp>
      <p:sp>
        <p:nvSpPr>
          <p:cNvPr id="28" name="Text 26"/>
          <p:cNvSpPr txBox="1"/>
          <p:nvPr/>
        </p:nvSpPr>
        <p:spPr>
          <a:xfrm>
            <a:off x="7315200" y="5010912"/>
            <a:ext cx="4114800" cy="603504"/>
          </a:xfrm>
          <a:prstGeom prst="rect">
            <a:avLst/>
          </a:prstGeom>
          <a:noFill/>
          <a:ln/>
        </p:spPr>
        <p:txBody>
          <a:bodyPr wrap="square" lIns="0" tIns="0" rIns="0" bIns="0" rtlCol="0" anchor="ctr"/>
          <a:lstStyle/>
          <a:p>
            <a:pPr algn="ctr" indent="0" marL="0">
              <a:buNone/>
            </a:pPr>
            <a:r>
              <a:rPr lang="en-US" sz="1400" dirty="0">
                <a:solidFill>
                  <a:srgbClr val="5B3FD6"/>
                </a:solidFill>
                <a:latin typeface="Calibri" pitchFamily="34" charset="0"/>
                <a:ea typeface="Calibri" pitchFamily="34" charset="-122"/>
                <a:cs typeface="Calibri" pitchFamily="34" charset="-120"/>
              </a:rPr>
              <a:t>Built in</a:t>
            </a:r>
            <a:endParaRPr lang="en-US" sz="1400" dirty="0"/>
          </a:p>
        </p:txBody>
      </p:sp>
      <p:sp>
        <p:nvSpPr>
          <p:cNvPr id="29" name="Shape 27"/>
          <p:cNvSpPr/>
          <p:nvPr/>
        </p:nvSpPr>
        <p:spPr>
          <a:xfrm>
            <a:off x="548640" y="5897880"/>
            <a:ext cx="11064240" cy="566928"/>
          </a:xfrm>
          <a:prstGeom prst="roundRect">
            <a:avLst>
              <a:gd name="adj" fmla="val 19355"/>
            </a:avLst>
          </a:prstGeom>
          <a:solidFill>
            <a:srgbClr val="0E1A2B"/>
          </a:solidFill>
          <a:ln w="12700">
            <a:solidFill>
              <a:srgbClr val="0E1A2B"/>
            </a:solidFill>
            <a:prstDash val="solid"/>
          </a:ln>
        </p:spPr>
      </p:sp>
      <p:sp>
        <p:nvSpPr>
          <p:cNvPr id="30" name="Text 28"/>
          <p:cNvSpPr txBox="1"/>
          <p:nvPr/>
        </p:nvSpPr>
        <p:spPr>
          <a:xfrm>
            <a:off x="548640" y="5897880"/>
            <a:ext cx="11064240" cy="566928"/>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Styles are built on top of Modifiers, </a:t>
            </a:r>
            <a:pPr algn="ctr" indent="0" marL="0">
              <a:buNone/>
            </a:pPr>
            <a:r>
              <a:rPr lang="en-US" sz="1600" dirty="0">
                <a:solidFill>
                  <a:srgbClr val="FFFFFF"/>
                </a:solidFill>
                <a:latin typeface="Calibri" pitchFamily="34" charset="0"/>
                <a:ea typeface="Calibri" pitchFamily="34" charset="-122"/>
                <a:cs typeface="Calibri" pitchFamily="34" charset="-120"/>
              </a:rPr>
              <a:t>not a replacement for them.</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850392" cy="329184"/>
          </a:xfrm>
          <a:prstGeom prst="roundRect">
            <a:avLst>
              <a:gd name="adj" fmla="val 50000"/>
            </a:avLst>
          </a:prstGeom>
          <a:solidFill>
            <a:srgbClr val="EEEAFB"/>
          </a:solidFill>
          <a:ln w="12700">
            <a:solidFill>
              <a:srgbClr val="EEEAFB"/>
            </a:solidFill>
            <a:prstDash val="solid"/>
          </a:ln>
        </p:spPr>
      </p:sp>
      <p:sp>
        <p:nvSpPr>
          <p:cNvPr id="3" name="Text 1"/>
          <p:cNvSpPr txBox="1"/>
          <p:nvPr/>
        </p:nvSpPr>
        <p:spPr>
          <a:xfrm>
            <a:off x="548640" y="384048"/>
            <a:ext cx="850392" cy="329184"/>
          </a:xfrm>
          <a:prstGeom prst="rect">
            <a:avLst/>
          </a:prstGeom>
          <a:noFill/>
          <a:ln/>
        </p:spPr>
        <p:txBody>
          <a:bodyPr wrap="square" lIns="0" tIns="0" rIns="0" bIns="0" rtlCol="0" anchor="ctr"/>
          <a:lstStyle/>
          <a:p>
            <a:pPr algn="ctr" indent="0" marL="0">
              <a:buNone/>
            </a:pPr>
            <a:r>
              <a:rPr lang="en-US" sz="1100" b="1" spc="200" kern="0" dirty="0">
                <a:solidFill>
                  <a:srgbClr val="5B3FD6"/>
                </a:solidFill>
                <a:latin typeface="Calibri" pitchFamily="34" charset="0"/>
                <a:ea typeface="Calibri" pitchFamily="34" charset="-122"/>
                <a:cs typeface="Calibri" pitchFamily="34" charset="-120"/>
              </a:rPr>
              <a:t>DECIDE</a:t>
            </a:r>
            <a:endParaRPr lang="en-US" sz="1100" dirty="0"/>
          </a:p>
        </p:txBody>
      </p:sp>
      <p:sp>
        <p:nvSpPr>
          <p:cNvPr id="4" name="Text 2"/>
          <p:cNvSpPr txBox="1"/>
          <p:nvPr/>
        </p:nvSpPr>
        <p:spPr>
          <a:xfrm>
            <a:off x="548640" y="868680"/>
            <a:ext cx="11064240" cy="731520"/>
          </a:xfrm>
          <a:prstGeom prst="rect">
            <a:avLst/>
          </a:prstGeom>
          <a:noFill/>
          <a:ln/>
        </p:spPr>
        <p:txBody>
          <a:bodyPr wrap="square" lIns="0" tIns="0" rIns="0" bIns="0" rtlCol="0" anchor="t"/>
          <a:lstStyle/>
          <a:p>
            <a:pPr indent="0" marL="0">
              <a:buNone/>
            </a:pPr>
            <a:r>
              <a:rPr lang="en-US" sz="3200" b="1" dirty="0">
                <a:solidFill>
                  <a:srgbClr val="1B2330"/>
                </a:solidFill>
                <a:latin typeface="Arial" pitchFamily="34" charset="0"/>
                <a:ea typeface="Arial" pitchFamily="34" charset="-122"/>
                <a:cs typeface="Arial" pitchFamily="34" charset="-120"/>
              </a:rPr>
              <a:t>When to reach for which</a:t>
            </a:r>
            <a:endParaRPr lang="en-US" sz="3200" dirty="0"/>
          </a:p>
        </p:txBody>
      </p:sp>
      <p:sp>
        <p:nvSpPr>
          <p:cNvPr id="5" name="Shape 3"/>
          <p:cNvSpPr/>
          <p:nvPr/>
        </p:nvSpPr>
        <p:spPr>
          <a:xfrm>
            <a:off x="548640" y="1691640"/>
            <a:ext cx="5440680" cy="3749040"/>
          </a:xfrm>
          <a:prstGeom prst="roundRect">
            <a:avLst>
              <a:gd name="adj" fmla="val 3902"/>
            </a:avLst>
          </a:prstGeom>
          <a:solidFill>
            <a:srgbClr val="EEEAFB"/>
          </a:solidFill>
          <a:ln w="12700">
            <a:solidFill>
              <a:srgbClr val="EEEAFB"/>
            </a:solidFill>
            <a:prstDash val="solid"/>
          </a:ln>
        </p:spPr>
      </p:sp>
      <p:sp>
        <p:nvSpPr>
          <p:cNvPr id="6" name="Shape 4"/>
          <p:cNvSpPr/>
          <p:nvPr/>
        </p:nvSpPr>
        <p:spPr>
          <a:xfrm>
            <a:off x="822960" y="1965960"/>
            <a:ext cx="640080" cy="640080"/>
          </a:xfrm>
          <a:prstGeom prst="ellipse">
            <a:avLst/>
          </a:prstGeom>
          <a:solidFill>
            <a:srgbClr val="5B3FD6"/>
          </a:solidFill>
          <a:ln w="12700">
            <a:solidFill>
              <a:srgbClr val="5B3FD6"/>
            </a:solidFill>
            <a:prstDash val="solid"/>
          </a:ln>
        </p:spPr>
      </p:sp>
      <p:pic>
        <p:nvPicPr>
          <p:cNvPr id="7" name="Image 0" descr="preencoded.png">    </p:cNvPr>
          <p:cNvPicPr>
            <a:picLocks noChangeAspect="1"/>
          </p:cNvPicPr>
          <p:nvPr/>
        </p:nvPicPr>
        <p:blipFill>
          <a:blip r:embed="rId1"/>
          <a:stretch>
            <a:fillRect/>
          </a:stretch>
        </p:blipFill>
        <p:spPr>
          <a:xfrm>
            <a:off x="963778" y="2106778"/>
            <a:ext cx="358445" cy="358445"/>
          </a:xfrm>
          <a:prstGeom prst="rect">
            <a:avLst/>
          </a:prstGeom>
        </p:spPr>
      </p:pic>
      <p:sp>
        <p:nvSpPr>
          <p:cNvPr id="8" name="Text 5"/>
          <p:cNvSpPr txBox="1"/>
          <p:nvPr/>
        </p:nvSpPr>
        <p:spPr>
          <a:xfrm>
            <a:off x="1645920" y="2039112"/>
            <a:ext cx="4069080" cy="502920"/>
          </a:xfrm>
          <a:prstGeom prst="rect">
            <a:avLst/>
          </a:prstGeom>
          <a:noFill/>
          <a:ln/>
        </p:spPr>
        <p:txBody>
          <a:bodyPr wrap="square" lIns="0" tIns="0" rIns="0" bIns="0" rtlCol="0" anchor="ctr"/>
          <a:lstStyle/>
          <a:p>
            <a:pPr indent="0" marL="0">
              <a:buNone/>
            </a:pPr>
            <a:r>
              <a:rPr lang="en-US" sz="2400" b="1" dirty="0">
                <a:solidFill>
                  <a:srgbClr val="5B3FD6"/>
                </a:solidFill>
                <a:latin typeface="Arial" pitchFamily="34" charset="0"/>
                <a:ea typeface="Arial" pitchFamily="34" charset="-122"/>
                <a:cs typeface="Arial" pitchFamily="34" charset="-120"/>
              </a:rPr>
              <a:t>Choose a Style</a:t>
            </a:r>
            <a:endParaRPr lang="en-US" sz="2400" dirty="0"/>
          </a:p>
        </p:txBody>
      </p:sp>
      <p:sp>
        <p:nvSpPr>
          <p:cNvPr id="9" name="Text 6"/>
          <p:cNvSpPr txBox="1"/>
          <p:nvPr/>
        </p:nvSpPr>
        <p:spPr>
          <a:xfrm>
            <a:off x="868680" y="2834640"/>
            <a:ext cx="4800600"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B2330"/>
                </a:solidFill>
                <a:latin typeface="Calibri" pitchFamily="34" charset="0"/>
                <a:ea typeface="Calibri" pitchFamily="34" charset="-122"/>
                <a:cs typeface="Calibri" pitchFamily="34" charset="-120"/>
              </a:rPr>
              <a:t>Override the defaults of an existing component</a:t>
            </a:r>
            <a:endParaRPr lang="en-US" sz="1600" dirty="0"/>
          </a:p>
          <a:p>
            <a:pPr marL="342900" indent="-342900">
              <a:spcAft>
                <a:spcPts val="800"/>
              </a:spcAft>
              <a:buSzPct val="100000"/>
              <a:buChar char="•"/>
            </a:pPr>
            <a:r>
              <a:rPr lang="en-US" sz="1600" dirty="0">
                <a:solidFill>
                  <a:srgbClr val="1B2330"/>
                </a:solidFill>
                <a:latin typeface="Calibri" pitchFamily="34" charset="0"/>
                <a:ea typeface="Calibri" pitchFamily="34" charset="-122"/>
                <a:cs typeface="Calibri" pitchFamily="34" charset="-120"/>
              </a:rPr>
              <a:t>High-performance interaction-state animations</a:t>
            </a:r>
            <a:endParaRPr lang="en-US" sz="1600" dirty="0"/>
          </a:p>
          <a:p>
            <a:pPr marL="342900" indent="-342900">
              <a:spcAft>
                <a:spcPts val="800"/>
              </a:spcAft>
              <a:buSzPct val="100000"/>
              <a:buChar char="•"/>
            </a:pPr>
            <a:r>
              <a:rPr lang="en-US" sz="1600" dirty="0">
                <a:solidFill>
                  <a:srgbClr val="1B2330"/>
                </a:solidFill>
                <a:latin typeface="Calibri" pitchFamily="34" charset="0"/>
                <a:ea typeface="Calibri" pitchFamily="34" charset="-122"/>
                <a:cs typeface="Calibri" pitchFamily="34" charset="-120"/>
              </a:rPr>
              <a:t>Define a theme-wide set of properties for a component</a:t>
            </a:r>
            <a:endParaRPr lang="en-US" sz="1600" dirty="0"/>
          </a:p>
        </p:txBody>
      </p:sp>
      <p:sp>
        <p:nvSpPr>
          <p:cNvPr id="10" name="Shape 7"/>
          <p:cNvSpPr/>
          <p:nvPr/>
        </p:nvSpPr>
        <p:spPr>
          <a:xfrm>
            <a:off x="822960" y="4617720"/>
            <a:ext cx="4892040" cy="548640"/>
          </a:xfrm>
          <a:prstGeom prst="roundRect">
            <a:avLst>
              <a:gd name="adj" fmla="val 13333"/>
            </a:avLst>
          </a:prstGeom>
          <a:solidFill>
            <a:srgbClr val="182235"/>
          </a:solidFill>
          <a:ln w="12700">
            <a:solidFill>
              <a:srgbClr val="182235"/>
            </a:solidFill>
            <a:prstDash val="solid"/>
          </a:ln>
        </p:spPr>
      </p:sp>
      <p:sp>
        <p:nvSpPr>
          <p:cNvPr id="11" name="Text 8"/>
          <p:cNvSpPr txBox="1"/>
          <p:nvPr/>
        </p:nvSpPr>
        <p:spPr>
          <a:xfrm>
            <a:off x="960120" y="4617720"/>
            <a:ext cx="4617720" cy="548640"/>
          </a:xfrm>
          <a:prstGeom prst="rect">
            <a:avLst/>
          </a:prstGeom>
          <a:noFill/>
          <a:ln/>
        </p:spPr>
        <p:txBody>
          <a:bodyPr wrap="square" lIns="0" tIns="0" rIns="0" bIns="0" rtlCol="0" anchor="ctr"/>
          <a:lstStyle/>
          <a:p>
            <a:pPr indent="0" marL="0">
              <a:buNone/>
            </a:pPr>
            <a:r>
              <a:rPr lang="en-US" sz="1200" b="1" dirty="0">
                <a:solidFill>
                  <a:srgbClr val="3DDC84"/>
                </a:solidFill>
                <a:latin typeface="Consolas" pitchFamily="34" charset="0"/>
                <a:ea typeface="Consolas" pitchFamily="34" charset="-122"/>
                <a:cs typeface="Consolas" pitchFamily="34" charset="-120"/>
              </a:rPr>
              <a:t>style</a:t>
            </a:r>
            <a:pPr indent="0" marL="0">
              <a:buNone/>
            </a:pPr>
            <a:r>
              <a:rPr lang="en-US" sz="1200" dirty="0">
                <a:solidFill>
                  <a:srgbClr val="DCE3EC"/>
                </a:solidFill>
                <a:latin typeface="Consolas" pitchFamily="34" charset="0"/>
                <a:ea typeface="Consolas" pitchFamily="34" charset="-122"/>
                <a:cs typeface="Consolas" pitchFamily="34" charset="-120"/>
              </a:rPr>
              <a:t> </a:t>
            </a:r>
            <a:pPr indent="0" marL="0">
              <a:buNone/>
            </a:pPr>
            <a:r>
              <a:rPr lang="en-US" sz="1200" dirty="0">
                <a:solidFill>
                  <a:srgbClr val="DCE3EC"/>
                </a:solidFill>
                <a:latin typeface="Consolas" pitchFamily="34" charset="0"/>
                <a:ea typeface="Consolas" pitchFamily="34" charset="-122"/>
                <a:cs typeface="Consolas" pitchFamily="34" charset="-120"/>
              </a:rPr>
              <a:t>=</a:t>
            </a:r>
            <a:pPr indent="0" marL="0">
              <a:buNone/>
            </a:pPr>
            <a:r>
              <a:rPr lang="en-US" sz="1200" dirty="0">
                <a:solidFill>
                  <a:srgbClr val="DCE3EC"/>
                </a:solidFill>
                <a:latin typeface="Consolas" pitchFamily="34" charset="0"/>
                <a:ea typeface="Consolas" pitchFamily="34" charset="-122"/>
                <a:cs typeface="Consolas" pitchFamily="34" charset="-120"/>
              </a:rPr>
              <a:t> </a:t>
            </a:r>
            <a:pPr indent="0" marL="0">
              <a:buNone/>
            </a:pPr>
            <a:r>
              <a:rPr lang="en-US" sz="1200" b="1" dirty="0">
                <a:solidFill>
                  <a:srgbClr val="3DDC84"/>
                </a:solidFill>
                <a:latin typeface="Consolas" pitchFamily="34" charset="0"/>
                <a:ea typeface="Consolas" pitchFamily="34" charset="-122"/>
                <a:cs typeface="Consolas" pitchFamily="34" charset="-120"/>
              </a:rPr>
              <a:t>Style</a:t>
            </a:r>
            <a:pPr indent="0" marL="0">
              <a:buNone/>
            </a:pPr>
            <a:r>
              <a:rPr lang="en-US" sz="1200" dirty="0">
                <a:solidFill>
                  <a:srgbClr val="DCE3EC"/>
                </a:solidFill>
                <a:latin typeface="Consolas" pitchFamily="34" charset="0"/>
                <a:ea typeface="Consolas" pitchFamily="34" charset="-122"/>
                <a:cs typeface="Consolas" pitchFamily="34" charset="-120"/>
              </a:rPr>
              <a:t> </a:t>
            </a:r>
            <a:pPr indent="0" marL="0">
              <a:buNone/>
            </a:pPr>
            <a:r>
              <a:rPr lang="en-US" sz="1200" dirty="0">
                <a:solidFill>
                  <a:srgbClr val="DCE3EC"/>
                </a:solidFill>
                <a:latin typeface="Consolas" pitchFamily="34" charset="0"/>
                <a:ea typeface="Consolas" pitchFamily="34" charset="-122"/>
                <a:cs typeface="Consolas" pitchFamily="34" charset="-120"/>
              </a:rPr>
              <a:t>{</a:t>
            </a:r>
            <a:pPr indent="0" marL="0">
              <a:buNone/>
            </a:pPr>
            <a:r>
              <a:rPr lang="en-US" sz="1200" dirty="0">
                <a:solidFill>
                  <a:srgbClr val="DCE3EC"/>
                </a:solidFill>
                <a:latin typeface="Consolas" pitchFamily="34" charset="0"/>
                <a:ea typeface="Consolas" pitchFamily="34" charset="-122"/>
                <a:cs typeface="Consolas" pitchFamily="34" charset="-120"/>
              </a:rPr>
              <a:t> </a:t>
            </a:r>
            <a:pPr indent="0" marL="0">
              <a:buNone/>
            </a:pPr>
            <a:r>
              <a:rPr lang="en-US" sz="1200" b="1" dirty="0">
                <a:solidFill>
                  <a:srgbClr val="3DDC84"/>
                </a:solidFill>
                <a:latin typeface="Consolas" pitchFamily="34" charset="0"/>
                <a:ea typeface="Consolas" pitchFamily="34" charset="-122"/>
                <a:cs typeface="Consolas" pitchFamily="34" charset="-120"/>
              </a:rPr>
              <a:t>pressed</a:t>
            </a:r>
            <a:pPr indent="0" marL="0">
              <a:buNone/>
            </a:pPr>
            <a:r>
              <a:rPr lang="en-US" sz="1200" dirty="0">
                <a:solidFill>
                  <a:srgbClr val="DCE3EC"/>
                </a:solidFill>
                <a:latin typeface="Consolas" pitchFamily="34" charset="0"/>
                <a:ea typeface="Consolas" pitchFamily="34" charset="-122"/>
                <a:cs typeface="Consolas" pitchFamily="34" charset="-120"/>
              </a:rPr>
              <a:t> </a:t>
            </a:r>
            <a:pPr indent="0" marL="0">
              <a:buNone/>
            </a:pPr>
            <a:r>
              <a:rPr lang="en-US" sz="1200" dirty="0">
                <a:solidFill>
                  <a:srgbClr val="DCE3EC"/>
                </a:solidFill>
                <a:latin typeface="Consolas" pitchFamily="34" charset="0"/>
                <a:ea typeface="Consolas" pitchFamily="34" charset="-122"/>
                <a:cs typeface="Consolas" pitchFamily="34" charset="-120"/>
              </a:rPr>
              <a:t>{</a:t>
            </a:r>
            <a:pPr indent="0" marL="0">
              <a:buNone/>
            </a:pPr>
            <a:r>
              <a:rPr lang="en-US" sz="1200" dirty="0">
                <a:solidFill>
                  <a:srgbClr val="DCE3EC"/>
                </a:solidFill>
                <a:latin typeface="Consolas" pitchFamily="34" charset="0"/>
                <a:ea typeface="Consolas" pitchFamily="34" charset="-122"/>
                <a:cs typeface="Consolas" pitchFamily="34" charset="-120"/>
              </a:rPr>
              <a:t> </a:t>
            </a:r>
            <a:pPr indent="0" marL="0">
              <a:buNone/>
            </a:pPr>
            <a:r>
              <a:rPr lang="en-US" sz="1200" dirty="0">
                <a:solidFill>
                  <a:srgbClr val="DCE3EC"/>
                </a:solidFill>
                <a:latin typeface="Consolas" pitchFamily="34" charset="0"/>
                <a:ea typeface="Consolas" pitchFamily="34" charset="-122"/>
                <a:cs typeface="Consolas" pitchFamily="34" charset="-120"/>
              </a:rPr>
              <a:t>…</a:t>
            </a:r>
            <a:pPr indent="0" marL="0">
              <a:buNone/>
            </a:pPr>
            <a:r>
              <a:rPr lang="en-US" sz="1200" dirty="0">
                <a:solidFill>
                  <a:srgbClr val="DCE3EC"/>
                </a:solidFill>
                <a:latin typeface="Consolas" pitchFamily="34" charset="0"/>
                <a:ea typeface="Consolas" pitchFamily="34" charset="-122"/>
                <a:cs typeface="Consolas" pitchFamily="34" charset="-120"/>
              </a:rPr>
              <a:t> </a:t>
            </a:r>
            <a:pPr indent="0" marL="0">
              <a:buNone/>
            </a:pPr>
            <a:r>
              <a:rPr lang="en-US" sz="1200" dirty="0">
                <a:solidFill>
                  <a:srgbClr val="DCE3EC"/>
                </a:solidFill>
                <a:latin typeface="Consolas" pitchFamily="34" charset="0"/>
                <a:ea typeface="Consolas" pitchFamily="34" charset="-122"/>
                <a:cs typeface="Consolas" pitchFamily="34" charset="-120"/>
              </a:rPr>
              <a:t>}</a:t>
            </a:r>
            <a:pPr indent="0" marL="0">
              <a:buNone/>
            </a:pPr>
            <a:r>
              <a:rPr lang="en-US" sz="1200" dirty="0">
                <a:solidFill>
                  <a:srgbClr val="DCE3EC"/>
                </a:solidFill>
                <a:latin typeface="Consolas" pitchFamily="34" charset="0"/>
                <a:ea typeface="Consolas" pitchFamily="34" charset="-122"/>
                <a:cs typeface="Consolas" pitchFamily="34" charset="-120"/>
              </a:rPr>
              <a:t> </a:t>
            </a:r>
            <a:pPr indent="0" marL="0">
              <a:buNone/>
            </a:pPr>
            <a:r>
              <a:rPr lang="en-US" sz="1200" dirty="0">
                <a:solidFill>
                  <a:srgbClr val="DCE3EC"/>
                </a:solidFill>
                <a:latin typeface="Consolas" pitchFamily="34" charset="0"/>
                <a:ea typeface="Consolas" pitchFamily="34" charset="-122"/>
                <a:cs typeface="Consolas" pitchFamily="34" charset="-120"/>
              </a:rPr>
              <a:t>}</a:t>
            </a:r>
            <a:endParaRPr lang="en-US" sz="1200" dirty="0"/>
          </a:p>
        </p:txBody>
      </p:sp>
      <p:sp>
        <p:nvSpPr>
          <p:cNvPr id="12" name="Shape 9"/>
          <p:cNvSpPr/>
          <p:nvPr/>
        </p:nvSpPr>
        <p:spPr>
          <a:xfrm>
            <a:off x="6172200" y="1691640"/>
            <a:ext cx="5440680" cy="3749040"/>
          </a:xfrm>
          <a:prstGeom prst="roundRect">
            <a:avLst>
              <a:gd name="adj" fmla="val 3902"/>
            </a:avLst>
          </a:prstGeom>
          <a:solidFill>
            <a:srgbClr val="FFF4DD"/>
          </a:solidFill>
          <a:ln w="12700">
            <a:solidFill>
              <a:srgbClr val="FFF4DD"/>
            </a:solidFill>
            <a:prstDash val="solid"/>
          </a:ln>
        </p:spPr>
      </p:sp>
      <p:sp>
        <p:nvSpPr>
          <p:cNvPr id="13" name="Shape 10"/>
          <p:cNvSpPr/>
          <p:nvPr/>
        </p:nvSpPr>
        <p:spPr>
          <a:xfrm>
            <a:off x="6446520" y="1965960"/>
            <a:ext cx="640080" cy="640080"/>
          </a:xfrm>
          <a:prstGeom prst="ellipse">
            <a:avLst/>
          </a:prstGeom>
          <a:solidFill>
            <a:srgbClr val="B26A00"/>
          </a:solidFill>
          <a:ln w="12700">
            <a:solidFill>
              <a:srgbClr val="B26A00"/>
            </a:solidFill>
            <a:prstDash val="solid"/>
          </a:ln>
        </p:spPr>
      </p:sp>
      <p:pic>
        <p:nvPicPr>
          <p:cNvPr id="14" name="Image 1" descr="preencoded.png">    </p:cNvPr>
          <p:cNvPicPr>
            <a:picLocks noChangeAspect="1"/>
          </p:cNvPicPr>
          <p:nvPr/>
        </p:nvPicPr>
        <p:blipFill>
          <a:blip r:embed="rId2"/>
          <a:stretch>
            <a:fillRect/>
          </a:stretch>
        </p:blipFill>
        <p:spPr>
          <a:xfrm>
            <a:off x="6587338" y="2106778"/>
            <a:ext cx="358445" cy="358445"/>
          </a:xfrm>
          <a:prstGeom prst="rect">
            <a:avLst/>
          </a:prstGeom>
        </p:spPr>
      </p:pic>
      <p:sp>
        <p:nvSpPr>
          <p:cNvPr id="15" name="Text 11"/>
          <p:cNvSpPr txBox="1"/>
          <p:nvPr/>
        </p:nvSpPr>
        <p:spPr>
          <a:xfrm>
            <a:off x="7269480" y="2039112"/>
            <a:ext cx="4069080" cy="502920"/>
          </a:xfrm>
          <a:prstGeom prst="rect">
            <a:avLst/>
          </a:prstGeom>
          <a:noFill/>
          <a:ln/>
        </p:spPr>
        <p:txBody>
          <a:bodyPr wrap="square" lIns="0" tIns="0" rIns="0" bIns="0" rtlCol="0" anchor="ctr"/>
          <a:lstStyle/>
          <a:p>
            <a:pPr indent="0" marL="0">
              <a:buNone/>
            </a:pPr>
            <a:r>
              <a:rPr lang="en-US" sz="2400" b="1" dirty="0">
                <a:solidFill>
                  <a:srgbClr val="B26A00"/>
                </a:solidFill>
                <a:latin typeface="Arial" pitchFamily="34" charset="0"/>
                <a:ea typeface="Arial" pitchFamily="34" charset="-122"/>
                <a:cs typeface="Arial" pitchFamily="34" charset="-120"/>
              </a:rPr>
              <a:t>Choose a Modifier</a:t>
            </a:r>
            <a:endParaRPr lang="en-US" sz="2400" dirty="0"/>
          </a:p>
        </p:txBody>
      </p:sp>
      <p:sp>
        <p:nvSpPr>
          <p:cNvPr id="16" name="Text 12"/>
          <p:cNvSpPr txBox="1"/>
          <p:nvPr/>
        </p:nvSpPr>
        <p:spPr>
          <a:xfrm>
            <a:off x="6492240" y="2834640"/>
            <a:ext cx="4800600"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B2330"/>
                </a:solidFill>
                <a:latin typeface="Calibri" pitchFamily="34" charset="0"/>
                <a:ea typeface="Calibri" pitchFamily="34" charset="-122"/>
                <a:cs typeface="Calibri" pitchFamily="34" charset="-120"/>
              </a:rPr>
              <a:t>Add behaviour: clickable, gestures, semantics</a:t>
            </a:r>
            <a:endParaRPr lang="en-US" sz="1600" dirty="0"/>
          </a:p>
          <a:p>
            <a:pPr marL="342900" indent="-342900">
              <a:spcAft>
                <a:spcPts val="800"/>
              </a:spcAft>
              <a:buSzPct val="100000"/>
              <a:buChar char="•"/>
            </a:pPr>
            <a:r>
              <a:rPr lang="en-US" sz="1600" dirty="0">
                <a:solidFill>
                  <a:srgbClr val="1B2330"/>
                </a:solidFill>
                <a:latin typeface="Calibri" pitchFamily="34" charset="0"/>
                <a:ea typeface="Calibri" pitchFamily="34" charset="-122"/>
                <a:cs typeface="Calibri" pitchFamily="34" charset="-120"/>
              </a:rPr>
              <a:t>Build a unique, one-off complex layout</a:t>
            </a:r>
            <a:endParaRPr lang="en-US" sz="1600" dirty="0"/>
          </a:p>
          <a:p>
            <a:pPr marL="342900" indent="-342900">
              <a:spcAft>
                <a:spcPts val="800"/>
              </a:spcAft>
              <a:buSzPct val="100000"/>
              <a:buChar char="•"/>
            </a:pPr>
            <a:r>
              <a:rPr lang="en-US" sz="1600" dirty="0">
                <a:solidFill>
                  <a:srgbClr val="1B2330"/>
                </a:solidFill>
                <a:latin typeface="Calibri" pitchFamily="34" charset="0"/>
                <a:ea typeface="Calibri" pitchFamily="34" charset="-122"/>
                <a:cs typeface="Calibri" pitchFamily="34" charset="-120"/>
              </a:rPr>
              <a:t>You need additive properties</a:t>
            </a:r>
            <a:endParaRPr lang="en-US" sz="1600" dirty="0"/>
          </a:p>
        </p:txBody>
      </p:sp>
      <p:sp>
        <p:nvSpPr>
          <p:cNvPr id="17" name="Shape 13"/>
          <p:cNvSpPr/>
          <p:nvPr/>
        </p:nvSpPr>
        <p:spPr>
          <a:xfrm>
            <a:off x="6446520" y="4617720"/>
            <a:ext cx="4892040" cy="548640"/>
          </a:xfrm>
          <a:prstGeom prst="roundRect">
            <a:avLst>
              <a:gd name="adj" fmla="val 13333"/>
            </a:avLst>
          </a:prstGeom>
          <a:solidFill>
            <a:srgbClr val="182235"/>
          </a:solidFill>
          <a:ln w="12700">
            <a:solidFill>
              <a:srgbClr val="182235"/>
            </a:solidFill>
            <a:prstDash val="solid"/>
          </a:ln>
        </p:spPr>
      </p:sp>
      <p:sp>
        <p:nvSpPr>
          <p:cNvPr id="18" name="Text 14"/>
          <p:cNvSpPr txBox="1"/>
          <p:nvPr/>
        </p:nvSpPr>
        <p:spPr>
          <a:xfrm>
            <a:off x="6583680" y="4617720"/>
            <a:ext cx="4617720" cy="548640"/>
          </a:xfrm>
          <a:prstGeom prst="rect">
            <a:avLst/>
          </a:prstGeom>
          <a:noFill/>
          <a:ln/>
        </p:spPr>
        <p:txBody>
          <a:bodyPr wrap="square" lIns="0" tIns="0" rIns="0" bIns="0" rtlCol="0" anchor="ctr"/>
          <a:lstStyle/>
          <a:p>
            <a:pPr indent="0" marL="0">
              <a:buNone/>
            </a:pPr>
            <a:r>
              <a:rPr lang="en-US" sz="1200" dirty="0">
                <a:solidFill>
                  <a:srgbClr val="DCE3EC"/>
                </a:solidFill>
                <a:latin typeface="Consolas" pitchFamily="34" charset="0"/>
                <a:ea typeface="Consolas" pitchFamily="34" charset="-122"/>
                <a:cs typeface="Consolas" pitchFamily="34" charset="-120"/>
              </a:rPr>
              <a:t>modifier</a:t>
            </a:r>
            <a:pPr indent="0" marL="0">
              <a:buNone/>
            </a:pPr>
            <a:r>
              <a:rPr lang="en-US" sz="1200" dirty="0">
                <a:solidFill>
                  <a:srgbClr val="DCE3EC"/>
                </a:solidFill>
                <a:latin typeface="Consolas" pitchFamily="34" charset="0"/>
                <a:ea typeface="Consolas" pitchFamily="34" charset="-122"/>
                <a:cs typeface="Consolas" pitchFamily="34" charset="-120"/>
              </a:rPr>
              <a:t> </a:t>
            </a:r>
            <a:pPr indent="0" marL="0">
              <a:buNone/>
            </a:pPr>
            <a:r>
              <a:rPr lang="en-US" sz="1200" dirty="0">
                <a:solidFill>
                  <a:srgbClr val="DCE3EC"/>
                </a:solidFill>
                <a:latin typeface="Consolas" pitchFamily="34" charset="0"/>
                <a:ea typeface="Consolas" pitchFamily="34" charset="-122"/>
                <a:cs typeface="Consolas" pitchFamily="34" charset="-120"/>
              </a:rPr>
              <a:t>=</a:t>
            </a:r>
            <a:pPr indent="0" marL="0">
              <a:buNone/>
            </a:pPr>
            <a:r>
              <a:rPr lang="en-US" sz="1200" dirty="0">
                <a:solidFill>
                  <a:srgbClr val="DCE3EC"/>
                </a:solidFill>
                <a:latin typeface="Consolas" pitchFamily="34" charset="0"/>
                <a:ea typeface="Consolas" pitchFamily="34" charset="-122"/>
                <a:cs typeface="Consolas" pitchFamily="34" charset="-120"/>
              </a:rPr>
              <a:t> </a:t>
            </a:r>
            <a:pPr indent="0" marL="0">
              <a:buNone/>
            </a:pPr>
            <a:r>
              <a:rPr lang="en-US" sz="1200" dirty="0">
                <a:solidFill>
                  <a:srgbClr val="8AB4F8"/>
                </a:solidFill>
                <a:latin typeface="Consolas" pitchFamily="34" charset="0"/>
                <a:ea typeface="Consolas" pitchFamily="34" charset="-122"/>
                <a:cs typeface="Consolas" pitchFamily="34" charset="-120"/>
              </a:rPr>
              <a:t>Modifier</a:t>
            </a:r>
            <a:pPr indent="0" marL="0">
              <a:buNone/>
            </a:pPr>
            <a:r>
              <a:rPr lang="en-US" sz="1200" dirty="0">
                <a:solidFill>
                  <a:srgbClr val="DCE3EC"/>
                </a:solidFill>
                <a:latin typeface="Consolas" pitchFamily="34" charset="0"/>
                <a:ea typeface="Consolas" pitchFamily="34" charset="-122"/>
                <a:cs typeface="Consolas" pitchFamily="34" charset="-120"/>
              </a:rPr>
              <a:t>.</a:t>
            </a:r>
            <a:pPr indent="0" marL="0">
              <a:buNone/>
            </a:pPr>
            <a:r>
              <a:rPr lang="en-US" sz="1200" dirty="0">
                <a:solidFill>
                  <a:srgbClr val="DCE3EC"/>
                </a:solidFill>
                <a:latin typeface="Consolas" pitchFamily="34" charset="0"/>
                <a:ea typeface="Consolas" pitchFamily="34" charset="-122"/>
                <a:cs typeface="Consolas" pitchFamily="34" charset="-120"/>
              </a:rPr>
              <a:t>clickable</a:t>
            </a:r>
            <a:pPr indent="0" marL="0">
              <a:buNone/>
            </a:pPr>
            <a:r>
              <a:rPr lang="en-US" sz="1200" dirty="0">
                <a:solidFill>
                  <a:srgbClr val="DCE3EC"/>
                </a:solidFill>
                <a:latin typeface="Consolas" pitchFamily="34" charset="0"/>
                <a:ea typeface="Consolas" pitchFamily="34" charset="-122"/>
                <a:cs typeface="Consolas" pitchFamily="34" charset="-120"/>
              </a:rPr>
              <a:t> </a:t>
            </a:r>
            <a:pPr indent="0" marL="0">
              <a:buNone/>
            </a:pPr>
            <a:r>
              <a:rPr lang="en-US" sz="1200" dirty="0">
                <a:solidFill>
                  <a:srgbClr val="DCE3EC"/>
                </a:solidFill>
                <a:latin typeface="Consolas" pitchFamily="34" charset="0"/>
                <a:ea typeface="Consolas" pitchFamily="34" charset="-122"/>
                <a:cs typeface="Consolas" pitchFamily="34" charset="-120"/>
              </a:rPr>
              <a:t>{</a:t>
            </a:r>
            <a:pPr indent="0" marL="0">
              <a:buNone/>
            </a:pPr>
            <a:r>
              <a:rPr lang="en-US" sz="1200" dirty="0">
                <a:solidFill>
                  <a:srgbClr val="DCE3EC"/>
                </a:solidFill>
                <a:latin typeface="Consolas" pitchFamily="34" charset="0"/>
                <a:ea typeface="Consolas" pitchFamily="34" charset="-122"/>
                <a:cs typeface="Consolas" pitchFamily="34" charset="-120"/>
              </a:rPr>
              <a:t> </a:t>
            </a:r>
            <a:pPr indent="0" marL="0">
              <a:buNone/>
            </a:pPr>
            <a:r>
              <a:rPr lang="en-US" sz="1200" dirty="0">
                <a:solidFill>
                  <a:srgbClr val="DCE3EC"/>
                </a:solidFill>
                <a:latin typeface="Consolas" pitchFamily="34" charset="0"/>
                <a:ea typeface="Consolas" pitchFamily="34" charset="-122"/>
                <a:cs typeface="Consolas" pitchFamily="34" charset="-120"/>
              </a:rPr>
              <a:t>…</a:t>
            </a:r>
            <a:pPr indent="0" marL="0">
              <a:buNone/>
            </a:pPr>
            <a:r>
              <a:rPr lang="en-US" sz="1200" dirty="0">
                <a:solidFill>
                  <a:srgbClr val="DCE3EC"/>
                </a:solidFill>
                <a:latin typeface="Consolas" pitchFamily="34" charset="0"/>
                <a:ea typeface="Consolas" pitchFamily="34" charset="-122"/>
                <a:cs typeface="Consolas" pitchFamily="34" charset="-120"/>
              </a:rPr>
              <a:t> </a:t>
            </a:r>
            <a:pPr indent="0" marL="0">
              <a:buNone/>
            </a:pPr>
            <a:r>
              <a:rPr lang="en-US" sz="1200" dirty="0">
                <a:solidFill>
                  <a:srgbClr val="DCE3EC"/>
                </a:solidFill>
                <a:latin typeface="Consolas" pitchFamily="34" charset="0"/>
                <a:ea typeface="Consolas" pitchFamily="34" charset="-122"/>
                <a:cs typeface="Consolas" pitchFamily="34" charset="-120"/>
              </a:rPr>
              <a:t>}</a:t>
            </a:r>
            <a:endParaRPr lang="en-US" sz="1200" dirty="0"/>
          </a:p>
        </p:txBody>
      </p:sp>
      <p:sp>
        <p:nvSpPr>
          <p:cNvPr id="19" name="Text 15"/>
          <p:cNvSpPr txBox="1"/>
          <p:nvPr/>
        </p:nvSpPr>
        <p:spPr>
          <a:xfrm>
            <a:off x="548640" y="5669280"/>
            <a:ext cx="11064240" cy="685800"/>
          </a:xfrm>
          <a:prstGeom prst="rect">
            <a:avLst/>
          </a:prstGeom>
          <a:noFill/>
          <a:ln/>
        </p:spPr>
        <p:txBody>
          <a:bodyPr wrap="square" lIns="0" tIns="0" rIns="0" bIns="0" rtlCol="0" anchor="t"/>
          <a:lstStyle/>
          <a:p>
            <a:pPr indent="0" marL="0">
              <a:buNone/>
            </a:pPr>
            <a:r>
              <a:rPr lang="en-US" sz="1400" b="1" dirty="0">
                <a:solidFill>
                  <a:srgbClr val="5B3FD6"/>
                </a:solidFill>
                <a:latin typeface="Calibri" pitchFamily="34" charset="0"/>
                <a:ea typeface="Calibri" pitchFamily="34" charset="-122"/>
                <a:cs typeface="Calibri" pitchFamily="34" charset="-120"/>
              </a:rPr>
              <a:t>Try it: </a:t>
            </a:r>
            <a:pPr indent="0" marL="0">
              <a:buNone/>
            </a:pPr>
            <a:r>
              <a:rPr lang="en-US" sz="1400" dirty="0">
                <a:solidFill>
                  <a:srgbClr val="333B48"/>
                </a:solidFill>
                <a:latin typeface="Calibri" pitchFamily="34" charset="0"/>
                <a:ea typeface="Calibri" pitchFamily="34" charset="-122"/>
                <a:cs typeface="Calibri" pitchFamily="34" charset="-120"/>
              </a:rPr>
              <a:t>foundation 1.12+ (BOM 2026.04.01+), opt in to ExperimentalFoundationStyleApi, read the Styles docs, and file feedback while the API is still changing.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Styles in Jetpack Compose</dc:title>
  <dc:subject>PptxGenJS Presentation</dc:subject>
  <dc:creator>Ram</dc:creator>
  <cp:lastModifiedBy>Ram</cp:lastModifiedBy>
  <cp:revision>1</cp:revision>
  <dcterms:created xsi:type="dcterms:W3CDTF">2026-10-01T03:51:16Z</dcterms:created>
  <dcterms:modified xsi:type="dcterms:W3CDTF">2026-10-01T03:51:16Z</dcterms:modified>
</cp:coreProperties>
</file>
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35F7096-DE68-4D90-9E29-3ED494A4593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685800" y="1143000"/>
            <a:ext cx="5486040" cy="3085920"/>
          </a:xfrm>
          <a:prstGeom prst="rect">
            <a:avLst/>
          </a:prstGeom>
          <a:ln w="0">
            <a:noFill/>
          </a:ln>
        </p:spPr>
      </p:sp>
      <p:sp>
        <p:nvSpPr>
          <p:cNvPr id="5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[0:00–0:30]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Hi everyone. Quick show of hands: who has turned on TalkBack on their own app? Keep that in mind.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This talk is adapted from "A Deep Dive into Compose Semantics" from droidcon. In 10 minutes we'll go from the most common accessibility bug to a tricky one — streaming AI-style text — and then I'll show it live.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phone on the right shows what TalkBack says for a well-labeled custom button. By the end you'll know exactly which line of code produces each part of that sentence.</a:t>
            </a:r>
            <a:endParaRPr b="0" lang="en-US" sz="2000" spc="-1" strike="noStrike">
              <a:solidFill>
                <a:srgbClr val="000000"/>
              </a:solidFill>
              <a:latin typeface="Arial"/>
            </a:endParaRPr>
          </a:p>
        </p:txBody>
      </p:sp>
      <p:sp>
        <p:nvSpPr>
          <p:cNvPr id="58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03E54FE-7403-4280-A0D0-D16883B24F7B}"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685800" y="1143000"/>
            <a:ext cx="5486040" cy="3085920"/>
          </a:xfrm>
          <a:prstGeom prst="rect">
            <a:avLst/>
          </a:prstGeom>
          <a:ln w="0">
            <a:noFill/>
          </a:ln>
        </p:spPr>
      </p:sp>
      <p:sp>
        <p:nvSpPr>
          <p:cNvPr id="5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[0:30–1:15]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Accessibility means everyone can use our software with a similar experience and level of ease.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Semantics are how Compose describes your UI to assistive technologies: TalkBack, Voice Access, keyboards and switches. I'll focus on TalkBack — it's the hardest to get right.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original speaker made a bold claim: give her any app and within 60 seconds she'll find an unlabeled button. Let's start there, then build up: announcing state, grouping content, and finally streaming text.</a:t>
            </a:r>
            <a:endParaRPr b="0" lang="en-US" sz="2000" spc="-1" strike="noStrike">
              <a:solidFill>
                <a:srgbClr val="000000"/>
              </a:solidFill>
              <a:latin typeface="Arial"/>
            </a:endParaRPr>
          </a:p>
        </p:txBody>
      </p:sp>
      <p:sp>
        <p:nvSpPr>
          <p:cNvPr id="58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68C11C1-CD1E-431E-82C9-A7C2C61922F9}"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685800" y="1143000"/>
            <a:ext cx="5486040" cy="3085920"/>
          </a:xfrm>
          <a:prstGeom prst="rect">
            <a:avLst/>
          </a:prstGeom>
          <a:ln w="0">
            <a:noFill/>
          </a:ln>
        </p:spPr>
      </p:sp>
      <p:sp>
        <p:nvSpPr>
          <p:cNvPr id="5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[1:15–2:00]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"In the beginning there were unlabeled buttons, and nobody could use them."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unlabeled button has no text and a null contentDescription. TalkBack just says "Button, double tap to activate" — if you can't see the screen, which button? What does it do? For custom clickables it can even be skipped entirely.</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The fix is one string. Material's IconButton already supplies the role; you only add what it is.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Tip: Layout Inspector shows merged and declared semantics, so you can confirm the contentDescription is there.</a:t>
            </a:r>
            <a:endParaRPr b="0" lang="en-US" sz="2000" spc="-1" strike="noStrike">
              <a:solidFill>
                <a:srgbClr val="000000"/>
              </a:solidFill>
              <a:latin typeface="Arial"/>
            </a:endParaRPr>
          </a:p>
        </p:txBody>
      </p:sp>
      <p:sp>
        <p:nvSpPr>
          <p:cNvPr id="58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712BF75-8E28-40A6-8DCA-CFC5FC5E2808}"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685800" y="1143000"/>
            <a:ext cx="5486040" cy="3085920"/>
          </a:xfrm>
          <a:prstGeom prst="rect">
            <a:avLst/>
          </a:prstGeom>
          <a:ln w="0">
            <a:noFill/>
          </a:ln>
        </p:spPr>
      </p:sp>
      <p:sp>
        <p:nvSpPr>
          <p:cNvPr id="5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[2:00–2:45]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People often confuse contentDescription and onClickLabel. They're different parts of one sentence.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TalkBack reads: contentDescription — what this thing is; Role — button, switch, checkbox, so users know how to interact; the action, which is system-defined (double-tap); and onClickLabel — what will happen. If you don't set it, TalkBack says "activate".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Native components fill in the Role. Custom clickables — a Box with Modifier.clickable — need it set explicitly.</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Note: clickable(onClickLabel = …) and semantics { onClick(label = …) } map to the same thing under the hood.</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Half-done semantics is like a flight of stairs leading to a wheelchair-accessible door: a label without an action hint, or an action hint without a label, is still broken.</a:t>
            </a:r>
            <a:endParaRPr b="0" lang="en-US" sz="2000" spc="-1" strike="noStrike">
              <a:solidFill>
                <a:srgbClr val="000000"/>
              </a:solidFill>
              <a:latin typeface="Arial"/>
            </a:endParaRPr>
          </a:p>
        </p:txBody>
      </p:sp>
      <p:sp>
        <p:nvSpPr>
          <p:cNvPr id="59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70BDBA2-D80D-4939-936A-4BCB51E82E28}"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685800" y="1143000"/>
            <a:ext cx="5486040" cy="3085920"/>
          </a:xfrm>
          <a:prstGeom prst="rect">
            <a:avLst/>
          </a:prstGeom>
          <a:ln w="0">
            <a:noFill/>
          </a:ln>
        </p:spPr>
      </p:sp>
      <p:sp>
        <p:nvSpPr>
          <p:cNvPr id="5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[2:45–3:45]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What happens when your UI goes through changes? Screen readers don't notice automatically — we have to tell them.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Two tools. stateDescription is like contentDescription but for the current state — you've seen it on toggles. Here we map it straight from our UI state: Not downloaded → Downloading → Downloaded.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liveRegion controls HOW a change is announced. Assertive interrupts — reserve it for critical things like a failed payment. Polite queues the announcement until TalkBack is idle.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 I can tap download, go read something else, and TalkBack politely tells me when it's done. That's exactly what we'll hear in the demo.</a:t>
            </a:r>
            <a:endParaRPr b="0" lang="en-US" sz="2000" spc="-1" strike="noStrike">
              <a:solidFill>
                <a:srgbClr val="000000"/>
              </a:solidFill>
              <a:latin typeface="Arial"/>
            </a:endParaRPr>
          </a:p>
        </p:txBody>
      </p:sp>
      <p:sp>
        <p:nvSpPr>
          <p:cNvPr id="59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931FFC5-5A1A-4D60-9804-DD8F52314B1B}"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685800" y="1143000"/>
            <a:ext cx="5486040" cy="3085920"/>
          </a:xfrm>
          <a:prstGeom prst="rect">
            <a:avLst/>
          </a:prstGeom>
          <a:ln w="0">
            <a:noFill/>
          </a:ln>
        </p:spPr>
      </p:sp>
      <p:sp>
        <p:nvSpPr>
          <p:cNvPr id="5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[3:45–4:35]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Here's an inbox row: star button, name, date, subject, delete button. Without grouping, that's five swipes for what a sighted user sees as one item.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mergeDescendants = true on the text column concatenates name, date and subject. Better — three stops. But it only concatenates, and it does NOT merge children that also merge their descendants. Every Button does, so the buttons stay separate. You can't just move it up to the Row.</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It also isn't smart: a merged table or chart just reads numbers without the column headers.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 for complex content we take full control with clearAndSetSemantics — one stop per row.</a:t>
            </a:r>
            <a:endParaRPr b="0" lang="en-US" sz="2000" spc="-1" strike="noStrike">
              <a:solidFill>
                <a:srgbClr val="000000"/>
              </a:solidFill>
              <a:latin typeface="Arial"/>
            </a:endParaRPr>
          </a:p>
        </p:txBody>
      </p:sp>
      <p:sp>
        <p:nvSpPr>
          <p:cNvPr id="59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66C929-82DE-4128-89F4-73946E96BD89}"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685800" y="1143000"/>
            <a:ext cx="5486040" cy="3085920"/>
          </a:xfrm>
          <a:prstGeom prst="rect">
            <a:avLst/>
          </a:prstGeom>
          <a:ln w="0">
            <a:noFill/>
          </a:ln>
        </p:spPr>
      </p:sp>
      <p:sp>
        <p:nvSpPr>
          <p:cNvPr id="6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[4:35–5:25]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clearAndSetSemantics says: ignore all my children's semantics — I'll describe this node myself.</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We give it a human sentence as contentDescription, the star state as stateDescription, and move the star and delete buttons into customActions. TalkBack says "Actions available, use tap with three fingers to view" and shows them in a menu.</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Now each message is one stop. Users hear what it is and choose whether to act — they don't have to hear "star, delete" on every single row.</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Reddit's TalkBack users told them they prefer exactly this for feed cards: one item, with a predictable set of actions. Make the labels specific — "Delete message from Avery" — so the menu makes sense on its own.</a:t>
            </a:r>
            <a:endParaRPr b="0" lang="en-US" sz="2000" spc="-1" strike="noStrike">
              <a:solidFill>
                <a:srgbClr val="000000"/>
              </a:solidFill>
              <a:latin typeface="Arial"/>
            </a:endParaRPr>
          </a:p>
        </p:txBody>
      </p:sp>
      <p:sp>
        <p:nvSpPr>
          <p:cNvPr id="60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EBF8204-CFBB-4095-B904-CCF2988FF0F2}"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[5:25–6:05]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Now the fun one. If you've used any AI agent you've seen this: the answer streams in, one word at a time, with a lovely fade. I've slowed it down here.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In Compose we'd draw each paragraph with a FlowRow, and to animate word by word, each word becomes its own composable.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Guess how TalkBack reads it with no semantics? One word at a time. "The." Swipe. "Americans." Swipe.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Would you ever listen to an audiobook where you had to press next for every word? Nobody using TalkBack wants that either. Let's try the tools we've learned.</a:t>
            </a:r>
            <a:endParaRPr b="0" lang="en-US" sz="2000" spc="-1" strike="noStrike">
              <a:solidFill>
                <a:srgbClr val="000000"/>
              </a:solidFill>
              <a:latin typeface="Arial"/>
            </a:endParaRPr>
          </a:p>
        </p:txBody>
      </p:sp>
      <p:sp>
        <p:nvSpPr>
          <p:cNvPr id="60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323ED75-64B0-40F2-B4CB-46376D0F8DF5}"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[6:05–7:15]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2: mergeDescendants on the paragraph. Not bad — it concatenates. But if I focus before the paragraph finishes, I only hear the words that exist at that moment.</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3: liveRegion, because that's what we use for changing UI, right? [Play the clip / do it live — it's painful.] Every appended word is a content change, so TalkBack re-reads the paragraph from the beginning. Over and over.</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4: stateDescription "Loading" and set contentDescription when complete. Closer — but with mergeDescendants the children's text is still there, so it reads "Loading" plus whatever partial text existed.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5: clearAndSetSemantics. The children are hidden from TalkBack; I say "Loading", then the full paragraph. That's the best experience we found.</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Realistically streaming is fast and power users run TalkBack at very high speech rates — but on a slow network this matters.</a:t>
            </a:r>
            <a:endParaRPr b="0" lang="en-US" sz="2000" spc="-1" strike="noStrike">
              <a:solidFill>
                <a:srgbClr val="000000"/>
              </a:solidFill>
              <a:latin typeface="Arial"/>
            </a:endParaRPr>
          </a:p>
        </p:txBody>
      </p:sp>
      <p:sp>
        <p:nvSpPr>
          <p:cNvPr id="60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76323F2-8C38-40AA-952D-435E1761C256}"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6040" cy="308592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[7:15–8:00]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Here's the final version. The only change from the broken code is the modifier on the FlowRow.</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clearAndSetSemantics hides every per-word node. While streaming we expose only a stateDescription of "Loading". When the paragraph is complete we set the full text as contentDescription. Sighted users still get the animation; TalkBack users get "Loading", then the whole paragraph.</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general lesson: when the visual structure fights the spoken experience, build the spoken experience explicitly. Sometimes that means thinking about accessibility architecture early, not bolting it on.</a:t>
            </a:r>
            <a:endParaRPr b="0" lang="en-US" sz="2000" spc="-1" strike="noStrike">
              <a:solidFill>
                <a:srgbClr val="000000"/>
              </a:solidFill>
              <a:latin typeface="Arial"/>
            </a:endParaRPr>
          </a:p>
        </p:txBody>
      </p:sp>
      <p:sp>
        <p:nvSpPr>
          <p:cNvPr id="61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94510D7-B4BC-45AE-B035-E8F6347A49F9}"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6040" cy="308592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[8:00–8:25]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 real pattern from the original talk: a list of topic pills with a "See more" button that loads more inline.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Double-tap "See more": it becomes "Loading…", new pills are appended, and "See more" moves or disappears. If you remove the node TalkBack is focused on, focus jumps somewhere unpredictable — here it lands back on "Prosthetics". A blind user never learns the content arrived or where it is.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Keyboard users hit exactly the same bug. So we need to recover focus manually.</a:t>
            </a:r>
            <a:endParaRPr b="0" lang="en-US" sz="2000" spc="-1" strike="noStrike">
              <a:solidFill>
                <a:srgbClr val="000000"/>
              </a:solidFill>
              <a:latin typeface="Arial"/>
            </a:endParaRPr>
          </a:p>
        </p:txBody>
      </p:sp>
      <p:sp>
        <p:nvSpPr>
          <p:cNvPr id="613"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149457C-181F-4F1C-93B3-B37FFD905285}"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[8:25–8:55]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Before the fix, an important distinction — this could be its own talk.</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The semantics property "focused" tells TalkBack: this node has accessibility focus.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FocusManager and FocusRequester move keyboard, D-pad and input focus in Compose's focus system. They're a different system; FocusRequester can move TalkBack focus as a side effect, for example because it triggers a recomposition, but you can't rely on that.</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And Modifier.focusable makes something that isn't normally focusable reachable by keyboard and touch-to-explore.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 for TalkBack we use the focused semantics property, and for keyboards we use FocusRequester / FocusManager — and we tie both to the id of the item that should get focus.</a:t>
            </a:r>
            <a:endParaRPr b="0" lang="en-US" sz="2000" spc="-1" strike="noStrike">
              <a:solidFill>
                <a:srgbClr val="000000"/>
              </a:solidFill>
              <a:latin typeface="Arial"/>
            </a:endParaRPr>
          </a:p>
        </p:txBody>
      </p:sp>
      <p:sp>
        <p:nvSpPr>
          <p:cNvPr id="616"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A244BC2-EC4C-4F59-8E3D-1D03D5526D61}"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[8:55–9:30]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Here's the fix, in three pieces.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One: each section keeps a focusPillId in its state, null by default.</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Two: when the new batch arrives we append it, re-add "See more" at the end, and set focusPillId to the first new pill — the next logical item after "See more".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Three: each pill checks whether it's the one. In a LaunchedEffect keyed on the id, we reset the flag, wait a frame with withFrameNanos — with fade animations the new node may not be in the tree yet — then set the semantics focused property for TalkBack and request keyboard focus with the FocusRequester.</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Result: after loading, TalkBack lands on "Alt text", the first new pill. And a small extra: label each See more with its section, so the user knows which list it expands.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(Speaker check: verify on your TalkBack version before presenting.)</a:t>
            </a:r>
            <a:endParaRPr b="0" lang="en-US" sz="2000" spc="-1" strike="noStrike">
              <a:solidFill>
                <a:srgbClr val="000000"/>
              </a:solidFill>
              <a:latin typeface="Arial"/>
            </a:endParaRPr>
          </a:p>
        </p:txBody>
      </p:sp>
      <p:sp>
        <p:nvSpPr>
          <p:cNvPr id="619"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259B7C5-DC96-4DE8-983A-80274760EDEF}"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[9:30–9:50] (skip if short on time)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Three quick ways to keep this from regressing. Layout Inspector shows the merged and declared semantics. TalkBack's "Display speech output" developer setting puts captions on screen — that's how the screenshots in this talk were made, and it's what I'll use in the demo. Accessibility Scanner catches the basics.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And since Compose tests are built on the semantics tree, you can assert accessibility directly: no clickable without a label, rows expose stateDescription and custom actions. These tests are in the demo kit.</a:t>
            </a:r>
            <a:endParaRPr b="0" lang="en-US" sz="2000" spc="-1" strike="noStrike">
              <a:solidFill>
                <a:srgbClr val="000000"/>
              </a:solidFill>
              <a:latin typeface="Arial"/>
            </a:endParaRPr>
          </a:p>
        </p:txBody>
      </p:sp>
      <p:sp>
        <p:nvSpPr>
          <p:cNvPr id="622"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F1E2C0-D759-4A71-9174-C40CBA995445}"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[9:50–10:15]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To recap: label every clickable with contentDescription; custom clickables also need role and onClickLabel. stateDescription for changing UI, with liveRegion — polite by default, assertive only for critical messages. mergeDescendants for simple text, clearAndSetSemantics with customActions for complex grouped content. For streaming or replaced content, expose a loading state and restore focus.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And sometimes the answer is design: the talk ended with an infinite auto-scrolling list. TalkBack ticks on every scroll, targets keep moving, reduced-motion users suffer. There's no modifier for that — remove or redesign it.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Now let's see — and hear — it live.</a:t>
            </a:r>
            <a:endParaRPr b="0" lang="en-US" sz="2000" spc="-1" strike="noStrike">
              <a:solidFill>
                <a:srgbClr val="000000"/>
              </a:solidFill>
              <a:latin typeface="Arial"/>
            </a:endParaRPr>
          </a:p>
        </p:txBody>
      </p:sp>
      <p:sp>
        <p:nvSpPr>
          <p:cNvPr id="625"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022F6A6-3972-4285-9E57-8F8FC557A976}"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[DEMO — 3 to 4 minutes; full script in README.md]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Before: TalkBack ON, "Display speech output" ON, phone mirrored, volume up, app on the Labels tab with BROKEN selected.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1 Labels: swipe to the heart → "Button, double tap to activate". Flip to FIXED → "Like, Button". Swipe to the circle → "Hello, Android devs!, Button… Double-tap to learn more about semantics".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2 State: FIXED. Double-tap download, swipe to Reset, wait ~4 s → polite "Downloaded". Optional: Simulate failure → assertive interruption.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 Grouping: count swipes per row in each of the three modes; three-finger tap on a row in mode 3 to open Actions.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4 Streaming: mode 1 (word by word), mode 3 (re-reading — let it be painful for a few seconds), mode 5 ("Loading" then the full paragraph). Tap Restart after switching modes.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5 Focus (only if time): BROKEN — double-tap See more, focus is lost. FIXED + Reset — focus lands on "Handrails".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Fallback if the device misbehaves: go back to slides 9–10 — they show the expected output.</a:t>
            </a:r>
            <a:endParaRPr b="0" lang="en-US" sz="2000" spc="-1" strike="noStrike">
              <a:solidFill>
                <a:srgbClr val="000000"/>
              </a:solidFill>
              <a:latin typeface="Arial"/>
            </a:endParaRPr>
          </a:p>
        </p:txBody>
      </p:sp>
      <p:sp>
        <p:nvSpPr>
          <p:cNvPr id="62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2E11D16-88C7-4F98-9205-06FA38E9511C}"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[Close]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Thank you! One small ask: this week, turn on TalkBack, open your own app, and see how long it takes to find an unlabeled button. Then add one semantics test so it never comes back.</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Credit to the original droidcon speaker; the demo code is shared with this deck. Happy to take questions.</a:t>
            </a:r>
            <a:endParaRPr b="0" lang="en-US" sz="2000" spc="-1" strike="noStrike">
              <a:solidFill>
                <a:srgbClr val="000000"/>
              </a:solidFill>
              <a:latin typeface="Arial"/>
            </a:endParaRPr>
          </a:p>
        </p:txBody>
      </p:sp>
      <p:sp>
        <p:nvSpPr>
          <p:cNvPr id="63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80EB53A-87E6-46DE-B58E-CD6828A64D1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4.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1.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8" name="Text 0"/>
          <p:cNvSpPr/>
          <p:nvPr/>
        </p:nvSpPr>
        <p:spPr>
          <a:xfrm>
            <a:off x="731520" y="1234440"/>
            <a:ext cx="68576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299" strike="noStrike">
                <a:solidFill>
                  <a:srgbClr val="3ddc84"/>
                </a:solidFill>
                <a:latin typeface="Calibri"/>
                <a:ea typeface="Calibri"/>
              </a:rPr>
              <a:t>ANDROID ACCESSIBILITY  ·  JETPACK COMPOSE</a:t>
            </a:r>
            <a:endParaRPr b="0" lang="en-US" sz="1300" spc="-1" strike="noStrike">
              <a:solidFill>
                <a:srgbClr val="ffffff"/>
              </a:solidFill>
              <a:latin typeface="Arial"/>
            </a:endParaRPr>
          </a:p>
        </p:txBody>
      </p:sp>
      <p:sp>
        <p:nvSpPr>
          <p:cNvPr id="9" name="Text 1"/>
          <p:cNvSpPr/>
          <p:nvPr/>
        </p:nvSpPr>
        <p:spPr>
          <a:xfrm>
            <a:off x="731520" y="1691640"/>
            <a:ext cx="6949080" cy="1691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000" spc="-1" strike="noStrike">
                <a:solidFill>
                  <a:srgbClr val="ffffff"/>
                </a:solidFill>
                <a:latin typeface="Arial"/>
                <a:ea typeface="Arial"/>
              </a:rPr>
              <a:t>Jetpack compose accessibility deep dive</a:t>
            </a:r>
            <a:endParaRPr b="0" lang="en-US" sz="5000" spc="-1" strike="noStrike">
              <a:solidFill>
                <a:srgbClr val="ffffff"/>
              </a:solidFill>
              <a:latin typeface="Arial"/>
            </a:endParaRPr>
          </a:p>
        </p:txBody>
      </p:sp>
      <p:sp>
        <p:nvSpPr>
          <p:cNvPr id="10" name="Text 2"/>
          <p:cNvSpPr/>
          <p:nvPr/>
        </p:nvSpPr>
        <p:spPr>
          <a:xfrm>
            <a:off x="731520" y="3611880"/>
            <a:ext cx="640044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2000" spc="-1" strike="noStrike">
                <a:solidFill>
                  <a:srgbClr val="c9d3e3"/>
                </a:solidFill>
                <a:latin typeface="Calibri"/>
                <a:ea typeface="Calibri"/>
              </a:rPr>
              <a:t>Semantics for labels, state, grouping and streaming text — so TalkBack users get the same app you do.</a:t>
            </a:r>
            <a:endParaRPr b="0" lang="en-US" sz="2000" spc="-1" strike="noStrike">
              <a:solidFill>
                <a:srgbClr val="ffffff"/>
              </a:solidFill>
              <a:latin typeface="Arial"/>
            </a:endParaRPr>
          </a:p>
        </p:txBody>
      </p:sp>
      <p:sp>
        <p:nvSpPr>
          <p:cNvPr id="11" name="Shape 5"/>
          <p:cNvSpPr/>
          <p:nvPr/>
        </p:nvSpPr>
        <p:spPr>
          <a:xfrm>
            <a:off x="8229600" y="685800"/>
            <a:ext cx="2971440" cy="5486040"/>
          </a:xfrm>
          <a:prstGeom prst="roundRect">
            <a:avLst>
              <a:gd name="adj" fmla="val 984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Shape 6"/>
          <p:cNvSpPr/>
          <p:nvPr/>
        </p:nvSpPr>
        <p:spPr>
          <a:xfrm>
            <a:off x="8330040" y="786240"/>
            <a:ext cx="2770200" cy="5284800"/>
          </a:xfrm>
          <a:prstGeom prst="roundRect">
            <a:avLst>
              <a:gd name="adj" fmla="val 7921"/>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 name="Shape 7"/>
          <p:cNvSpPr/>
          <p:nvPr/>
        </p:nvSpPr>
        <p:spPr>
          <a:xfrm>
            <a:off x="8330040" y="951120"/>
            <a:ext cx="27702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Text 8"/>
          <p:cNvSpPr/>
          <p:nvPr/>
        </p:nvSpPr>
        <p:spPr>
          <a:xfrm>
            <a:off x="8512920" y="951120"/>
            <a:ext cx="249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App</a:t>
            </a:r>
            <a:endParaRPr b="0" lang="en-US" sz="1300" spc="-1" strike="noStrike">
              <a:solidFill>
                <a:srgbClr val="ffffff"/>
              </a:solidFill>
              <a:latin typeface="Arial"/>
            </a:endParaRPr>
          </a:p>
        </p:txBody>
      </p:sp>
      <p:sp>
        <p:nvSpPr>
          <p:cNvPr id="15" name="Shape 9"/>
          <p:cNvSpPr/>
          <p:nvPr/>
        </p:nvSpPr>
        <p:spPr>
          <a:xfrm>
            <a:off x="8847000" y="2020680"/>
            <a:ext cx="1737000" cy="1737000"/>
          </a:xfrm>
          <a:prstGeom prst="ellipse">
            <a:avLst/>
          </a:prstGeom>
          <a:solidFill>
            <a:srgbClr val="ffffff"/>
          </a:solidFill>
          <a:ln w="254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 name="Image 0" descr="preencoded.png"/>
          <p:cNvPicPr/>
          <p:nvPr/>
        </p:nvPicPr>
        <p:blipFill>
          <a:blip r:embed="rId1"/>
          <a:stretch/>
        </p:blipFill>
        <p:spPr>
          <a:xfrm>
            <a:off x="9212760" y="2386440"/>
            <a:ext cx="1005480" cy="1005480"/>
          </a:xfrm>
          <a:prstGeom prst="rect">
            <a:avLst/>
          </a:prstGeom>
          <a:ln w="0">
            <a:noFill/>
          </a:ln>
        </p:spPr>
      </p:pic>
      <p:sp>
        <p:nvSpPr>
          <p:cNvPr id="17" name="Shape 10"/>
          <p:cNvSpPr/>
          <p:nvPr/>
        </p:nvSpPr>
        <p:spPr>
          <a:xfrm>
            <a:off x="8755560" y="1929240"/>
            <a:ext cx="1919880" cy="191988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Shape 11"/>
          <p:cNvSpPr/>
          <p:nvPr/>
        </p:nvSpPr>
        <p:spPr>
          <a:xfrm>
            <a:off x="8439840" y="4672440"/>
            <a:ext cx="255096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Text 12"/>
          <p:cNvSpPr/>
          <p:nvPr/>
        </p:nvSpPr>
        <p:spPr>
          <a:xfrm>
            <a:off x="8512920" y="4672440"/>
            <a:ext cx="2404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Hello, Android devs!, Button</a:t>
            </a:r>
            <a:endParaRPr b="0" lang="en-US" sz="1200" spc="-1" strike="noStrike">
              <a:solidFill>
                <a:srgbClr val="ffffff"/>
              </a:solidFill>
              <a:latin typeface="Arial"/>
            </a:endParaRPr>
          </a:p>
        </p:txBody>
      </p:sp>
      <p:sp>
        <p:nvSpPr>
          <p:cNvPr id="20" name="Shape 13"/>
          <p:cNvSpPr/>
          <p:nvPr/>
        </p:nvSpPr>
        <p:spPr>
          <a:xfrm>
            <a:off x="8439840" y="5102280"/>
            <a:ext cx="255096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4"/>
          <p:cNvSpPr/>
          <p:nvPr/>
        </p:nvSpPr>
        <p:spPr>
          <a:xfrm>
            <a:off x="8512920" y="5102280"/>
            <a:ext cx="2404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Double-tap to learn more about semantics</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Semantics = what assistive tech “sees”</a:t>
            </a:r>
            <a:endParaRPr b="0" lang="en-US" sz="3200" spc="-1" strike="noStrike">
              <a:solidFill>
                <a:srgbClr val="000000"/>
              </a:solidFill>
              <a:latin typeface="Arial"/>
            </a:endParaRPr>
          </a:p>
        </p:txBody>
      </p:sp>
      <p:sp>
        <p:nvSpPr>
          <p:cNvPr id="23" name="Text 1"/>
          <p:cNvSpPr/>
          <p:nvPr/>
        </p:nvSpPr>
        <p:spPr>
          <a:xfrm>
            <a:off x="548640" y="1371600"/>
            <a:ext cx="603468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333b48"/>
                </a:solidFill>
                <a:latin typeface="Calibri"/>
                <a:ea typeface="Calibri"/>
              </a:rPr>
              <a:t>Non-visual properties that describe your composables to accessibility technologies (ATs). If it isn't in the semantics tree, it doesn't exist for them.</a:t>
            </a:r>
            <a:endParaRPr b="0" lang="en-US" sz="1700" spc="-1" strike="noStrike">
              <a:solidFill>
                <a:srgbClr val="000000"/>
              </a:solidFill>
              <a:latin typeface="Arial"/>
            </a:endParaRPr>
          </a:p>
        </p:txBody>
      </p:sp>
      <p:sp>
        <p:nvSpPr>
          <p:cNvPr id="24" name="Shape 2"/>
          <p:cNvSpPr/>
          <p:nvPr/>
        </p:nvSpPr>
        <p:spPr>
          <a:xfrm>
            <a:off x="548640" y="24231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5" name="Image 0" descr="preencoded.png"/>
          <p:cNvPicPr/>
          <p:nvPr/>
        </p:nvPicPr>
        <p:blipFill>
          <a:blip r:embed="rId1"/>
          <a:stretch/>
        </p:blipFill>
        <p:spPr>
          <a:xfrm>
            <a:off x="693360" y="2567880"/>
            <a:ext cx="368280" cy="368280"/>
          </a:xfrm>
          <a:prstGeom prst="rect">
            <a:avLst/>
          </a:prstGeom>
          <a:ln w="0">
            <a:noFill/>
          </a:ln>
        </p:spPr>
      </p:pic>
      <p:sp>
        <p:nvSpPr>
          <p:cNvPr id="26" name="Text 3"/>
          <p:cNvSpPr/>
          <p:nvPr/>
        </p:nvSpPr>
        <p:spPr>
          <a:xfrm>
            <a:off x="1417320" y="24048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TalkBack (screen reader)</a:t>
            </a:r>
            <a:endParaRPr b="0" lang="en-US" sz="1700" spc="-1" strike="noStrike">
              <a:solidFill>
                <a:srgbClr val="000000"/>
              </a:solidFill>
              <a:latin typeface="Arial"/>
            </a:endParaRPr>
          </a:p>
        </p:txBody>
      </p:sp>
      <p:sp>
        <p:nvSpPr>
          <p:cNvPr id="27" name="Text 4"/>
          <p:cNvSpPr/>
          <p:nvPr/>
        </p:nvSpPr>
        <p:spPr>
          <a:xfrm>
            <a:off x="1417320" y="27522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Reads the screen aloud; users swipe element by element. Hardest to get right — today's focus.</a:t>
            </a:r>
            <a:endParaRPr b="0" lang="en-US" sz="1400" spc="-1" strike="noStrike">
              <a:solidFill>
                <a:srgbClr val="000000"/>
              </a:solidFill>
              <a:latin typeface="Arial"/>
            </a:endParaRPr>
          </a:p>
        </p:txBody>
      </p:sp>
      <p:sp>
        <p:nvSpPr>
          <p:cNvPr id="28" name="Shape 5"/>
          <p:cNvSpPr/>
          <p:nvPr/>
        </p:nvSpPr>
        <p:spPr>
          <a:xfrm>
            <a:off x="548640" y="34473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9" name="Image 1" descr="preencoded.png"/>
          <p:cNvPicPr/>
          <p:nvPr/>
        </p:nvPicPr>
        <p:blipFill>
          <a:blip r:embed="rId2"/>
          <a:stretch/>
        </p:blipFill>
        <p:spPr>
          <a:xfrm>
            <a:off x="693360" y="3592080"/>
            <a:ext cx="368280" cy="368280"/>
          </a:xfrm>
          <a:prstGeom prst="rect">
            <a:avLst/>
          </a:prstGeom>
          <a:ln w="0">
            <a:noFill/>
          </a:ln>
        </p:spPr>
      </p:pic>
      <p:sp>
        <p:nvSpPr>
          <p:cNvPr id="30" name="Text 6"/>
          <p:cNvSpPr/>
          <p:nvPr/>
        </p:nvSpPr>
        <p:spPr>
          <a:xfrm>
            <a:off x="1417320" y="34290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Voice Access</a:t>
            </a:r>
            <a:endParaRPr b="0" lang="en-US" sz="1700" spc="-1" strike="noStrike">
              <a:solidFill>
                <a:srgbClr val="000000"/>
              </a:solidFill>
              <a:latin typeface="Arial"/>
            </a:endParaRPr>
          </a:p>
        </p:txBody>
      </p:sp>
      <p:sp>
        <p:nvSpPr>
          <p:cNvPr id="31" name="Text 7"/>
          <p:cNvSpPr/>
          <p:nvPr/>
        </p:nvSpPr>
        <p:spPr>
          <a:xfrm>
            <a:off x="1417320" y="37764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Users speak a control's label to tap it — no label, no command.</a:t>
            </a:r>
            <a:endParaRPr b="0" lang="en-US" sz="1400" spc="-1" strike="noStrike">
              <a:solidFill>
                <a:srgbClr val="000000"/>
              </a:solidFill>
              <a:latin typeface="Arial"/>
            </a:endParaRPr>
          </a:p>
        </p:txBody>
      </p:sp>
      <p:sp>
        <p:nvSpPr>
          <p:cNvPr id="32" name="Shape 8"/>
          <p:cNvSpPr/>
          <p:nvPr/>
        </p:nvSpPr>
        <p:spPr>
          <a:xfrm>
            <a:off x="548640" y="44715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 name="Image 2" descr="preencoded.png"/>
          <p:cNvPicPr/>
          <p:nvPr/>
        </p:nvPicPr>
        <p:blipFill>
          <a:blip r:embed="rId3"/>
          <a:stretch/>
        </p:blipFill>
        <p:spPr>
          <a:xfrm>
            <a:off x="693360" y="4616280"/>
            <a:ext cx="368280" cy="368280"/>
          </a:xfrm>
          <a:prstGeom prst="rect">
            <a:avLst/>
          </a:prstGeom>
          <a:ln w="0">
            <a:noFill/>
          </a:ln>
        </p:spPr>
      </p:pic>
      <p:sp>
        <p:nvSpPr>
          <p:cNvPr id="34" name="Text 9"/>
          <p:cNvSpPr/>
          <p:nvPr/>
        </p:nvSpPr>
        <p:spPr>
          <a:xfrm>
            <a:off x="1417320" y="44532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Keyboard, switch, D-pad</a:t>
            </a:r>
            <a:endParaRPr b="0" lang="en-US" sz="1700" spc="-1" strike="noStrike">
              <a:solidFill>
                <a:srgbClr val="000000"/>
              </a:solidFill>
              <a:latin typeface="Arial"/>
            </a:endParaRPr>
          </a:p>
        </p:txBody>
      </p:sp>
      <p:sp>
        <p:nvSpPr>
          <p:cNvPr id="35" name="Text 10"/>
          <p:cNvSpPr/>
          <p:nvPr/>
        </p:nvSpPr>
        <p:spPr>
          <a:xfrm>
            <a:off x="1417320" y="48006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Move focus without touch. Lost focus = lost user.</a:t>
            </a:r>
            <a:endParaRPr b="0" lang="en-US" sz="1400" spc="-1" strike="noStrike">
              <a:solidFill>
                <a:srgbClr val="000000"/>
              </a:solidFill>
              <a:latin typeface="Arial"/>
            </a:endParaRPr>
          </a:p>
        </p:txBody>
      </p:sp>
      <p:sp>
        <p:nvSpPr>
          <p:cNvPr id="36" name="Text 12"/>
          <p:cNvSpPr/>
          <p:nvPr/>
        </p:nvSpPr>
        <p:spPr>
          <a:xfrm>
            <a:off x="7452360" y="1691640"/>
            <a:ext cx="393156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endParaRPr b="0" lang="en-US" sz="1800" spc="-1" strike="noStrike">
              <a:solidFill>
                <a:srgbClr val="000000"/>
              </a:solidFill>
              <a:latin typeface="Arial"/>
            </a:endParaRPr>
          </a:p>
        </p:txBody>
      </p:sp>
      <p:sp>
        <p:nvSpPr>
          <p:cNvPr id="37" name="Text 15"/>
          <p:cNvSpPr/>
          <p:nvPr/>
        </p:nvSpPr>
        <p:spPr>
          <a:xfrm>
            <a:off x="548640" y="5715000"/>
            <a:ext cx="914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38" name="Shape 16"/>
          <p:cNvSpPr/>
          <p:nvPr/>
        </p:nvSpPr>
        <p:spPr>
          <a:xfrm>
            <a:off x="1463040" y="5715000"/>
            <a:ext cx="121140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 name="Text 17"/>
          <p:cNvSpPr/>
          <p:nvPr/>
        </p:nvSpPr>
        <p:spPr>
          <a:xfrm>
            <a:off x="1463040" y="5715000"/>
            <a:ext cx="1211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1  </a:t>
            </a:r>
            <a:r>
              <a:rPr b="0" lang="en-US" sz="1300" spc="-1" strike="noStrike">
                <a:solidFill>
                  <a:srgbClr val="1b2330"/>
                </a:solidFill>
                <a:latin typeface="Calibri"/>
                <a:ea typeface="Calibri"/>
              </a:rPr>
              <a:t>Label</a:t>
            </a:r>
            <a:endParaRPr b="0" lang="en-US" sz="1300" spc="-1" strike="noStrike">
              <a:solidFill>
                <a:srgbClr val="000000"/>
              </a:solidFill>
              <a:latin typeface="Arial"/>
            </a:endParaRPr>
          </a:p>
        </p:txBody>
      </p:sp>
      <p:sp>
        <p:nvSpPr>
          <p:cNvPr id="40" name="Shape 18"/>
          <p:cNvSpPr/>
          <p:nvPr/>
        </p:nvSpPr>
        <p:spPr>
          <a:xfrm>
            <a:off x="2903400" y="5715000"/>
            <a:ext cx="215748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 name="Text 19"/>
          <p:cNvSpPr/>
          <p:nvPr/>
        </p:nvSpPr>
        <p:spPr>
          <a:xfrm>
            <a:off x="2903400" y="5715000"/>
            <a:ext cx="21574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2  </a:t>
            </a:r>
            <a:r>
              <a:rPr b="0" lang="en-US" sz="1300" spc="-1" strike="noStrike">
                <a:solidFill>
                  <a:srgbClr val="1b2330"/>
                </a:solidFill>
                <a:latin typeface="Calibri"/>
                <a:ea typeface="Calibri"/>
              </a:rPr>
              <a:t>Announce state</a:t>
            </a:r>
            <a:endParaRPr b="0" lang="en-US" sz="1300" spc="-1" strike="noStrike">
              <a:solidFill>
                <a:srgbClr val="000000"/>
              </a:solidFill>
              <a:latin typeface="Arial"/>
            </a:endParaRPr>
          </a:p>
        </p:txBody>
      </p:sp>
      <p:sp>
        <p:nvSpPr>
          <p:cNvPr id="42" name="Shape 20"/>
          <p:cNvSpPr/>
          <p:nvPr/>
        </p:nvSpPr>
        <p:spPr>
          <a:xfrm>
            <a:off x="5289840" y="5715000"/>
            <a:ext cx="121140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Text 21"/>
          <p:cNvSpPr/>
          <p:nvPr/>
        </p:nvSpPr>
        <p:spPr>
          <a:xfrm>
            <a:off x="5289840" y="5715000"/>
            <a:ext cx="1211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3  </a:t>
            </a:r>
            <a:r>
              <a:rPr b="0" lang="en-US" sz="1300" spc="-1" strike="noStrike">
                <a:solidFill>
                  <a:srgbClr val="1b2330"/>
                </a:solidFill>
                <a:latin typeface="Calibri"/>
                <a:ea typeface="Calibri"/>
              </a:rPr>
              <a:t>Group</a:t>
            </a:r>
            <a:endParaRPr b="0" lang="en-US" sz="1300" spc="-1" strike="noStrike">
              <a:solidFill>
                <a:srgbClr val="000000"/>
              </a:solidFill>
              <a:latin typeface="Arial"/>
            </a:endParaRPr>
          </a:p>
        </p:txBody>
      </p:sp>
      <p:sp>
        <p:nvSpPr>
          <p:cNvPr id="44" name="Shape 22"/>
          <p:cNvSpPr/>
          <p:nvPr/>
        </p:nvSpPr>
        <p:spPr>
          <a:xfrm>
            <a:off x="6729840" y="5715000"/>
            <a:ext cx="131652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Text 23"/>
          <p:cNvSpPr/>
          <p:nvPr/>
        </p:nvSpPr>
        <p:spPr>
          <a:xfrm>
            <a:off x="6729840" y="5715000"/>
            <a:ext cx="131652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4  </a:t>
            </a:r>
            <a:r>
              <a:rPr b="0" lang="en-US" sz="1300" spc="-1" strike="noStrike">
                <a:solidFill>
                  <a:srgbClr val="1b2330"/>
                </a:solidFill>
                <a:latin typeface="Calibri"/>
                <a:ea typeface="Calibri"/>
              </a:rPr>
              <a:t>Stream</a:t>
            </a:r>
            <a:endParaRPr b="0" lang="en-US" sz="1300" spc="-1" strike="noStrike">
              <a:solidFill>
                <a:srgbClr val="000000"/>
              </a:solidFill>
              <a:latin typeface="Arial"/>
            </a:endParaRPr>
          </a:p>
        </p:txBody>
      </p:sp>
      <p:sp>
        <p:nvSpPr>
          <p:cNvPr id="46" name="Shape 24"/>
          <p:cNvSpPr/>
          <p:nvPr/>
        </p:nvSpPr>
        <p:spPr>
          <a:xfrm>
            <a:off x="8275320" y="5715000"/>
            <a:ext cx="121140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 name="Text 25"/>
          <p:cNvSpPr/>
          <p:nvPr/>
        </p:nvSpPr>
        <p:spPr>
          <a:xfrm>
            <a:off x="8275320" y="5715000"/>
            <a:ext cx="1211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5  </a:t>
            </a:r>
            <a:r>
              <a:rPr b="0" lang="en-US" sz="1300" spc="-1" strike="noStrike">
                <a:solidFill>
                  <a:srgbClr val="1b2330"/>
                </a:solidFill>
                <a:latin typeface="Calibri"/>
                <a:ea typeface="Calibri"/>
              </a:rPr>
              <a:t>Focus</a:t>
            </a:r>
            <a:endParaRPr b="0" lang="en-US" sz="1300" spc="-1" strike="noStrike">
              <a:solidFill>
                <a:srgbClr val="000000"/>
              </a:solidFill>
              <a:latin typeface="Arial"/>
            </a:endParaRPr>
          </a:p>
        </p:txBody>
      </p:sp>
      <p:sp>
        <p:nvSpPr>
          <p:cNvPr id="48" name="Shape 26"/>
          <p:cNvSpPr/>
          <p:nvPr/>
        </p:nvSpPr>
        <p:spPr>
          <a:xfrm>
            <a:off x="9715680" y="5715000"/>
            <a:ext cx="1105920" cy="38376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 name="Text 27"/>
          <p:cNvSpPr/>
          <p:nvPr/>
        </p:nvSpPr>
        <p:spPr>
          <a:xfrm>
            <a:off x="9715680" y="5715000"/>
            <a:ext cx="110592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0a7d43"/>
                </a:solidFill>
                <a:latin typeface="Calibri"/>
                <a:ea typeface="Calibri"/>
              </a:rPr>
              <a:t>▶  </a:t>
            </a:r>
            <a:r>
              <a:rPr b="0" lang="en-US" sz="1300" spc="-1" strike="noStrike">
                <a:solidFill>
                  <a:srgbClr val="1b2330"/>
                </a:solidFill>
                <a:latin typeface="Calibri"/>
                <a:ea typeface="Calibri"/>
              </a:rPr>
              <a:t>Demo</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Shape 0"/>
          <p:cNvSpPr/>
          <p:nvPr/>
        </p:nvSpPr>
        <p:spPr>
          <a:xfrm>
            <a:off x="548640" y="384120"/>
            <a:ext cx="125712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 name="Text 1"/>
          <p:cNvSpPr/>
          <p:nvPr/>
        </p:nvSpPr>
        <p:spPr>
          <a:xfrm>
            <a:off x="548640" y="384120"/>
            <a:ext cx="12571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01 · LABELS</a:t>
            </a:r>
            <a:endParaRPr b="0" lang="en-US" sz="1100" spc="-1" strike="noStrike">
              <a:solidFill>
                <a:srgbClr val="000000"/>
              </a:solidFill>
              <a:latin typeface="Arial"/>
            </a:endParaRPr>
          </a:p>
        </p:txBody>
      </p:sp>
      <p:sp>
        <p:nvSpPr>
          <p:cNvPr id="52"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Label every clickable</a:t>
            </a:r>
            <a:endParaRPr b="0" lang="en-US" sz="3200" spc="-1" strike="noStrike">
              <a:solidFill>
                <a:srgbClr val="000000"/>
              </a:solidFill>
              <a:latin typeface="Arial"/>
            </a:endParaRPr>
          </a:p>
        </p:txBody>
      </p:sp>
      <p:sp>
        <p:nvSpPr>
          <p:cNvPr id="53" name="Shape 3"/>
          <p:cNvSpPr/>
          <p:nvPr/>
        </p:nvSpPr>
        <p:spPr>
          <a:xfrm>
            <a:off x="548640" y="1783080"/>
            <a:ext cx="959760" cy="292320"/>
          </a:xfrm>
          <a:prstGeom prst="roundRect">
            <a:avLst>
              <a:gd name="adj" fmla="val 50000"/>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Text 4"/>
          <p:cNvSpPr/>
          <p:nvPr/>
        </p:nvSpPr>
        <p:spPr>
          <a:xfrm>
            <a:off x="548640" y="1783080"/>
            <a:ext cx="9597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c62828"/>
                </a:solidFill>
                <a:latin typeface="Calibri"/>
                <a:ea typeface="Calibri"/>
              </a:rPr>
              <a:t>BEFORE</a:t>
            </a:r>
            <a:endParaRPr b="0" lang="en-US" sz="1100" spc="-1" strike="noStrike">
              <a:solidFill>
                <a:srgbClr val="000000"/>
              </a:solidFill>
              <a:latin typeface="Arial"/>
            </a:endParaRPr>
          </a:p>
        </p:txBody>
      </p:sp>
      <p:sp>
        <p:nvSpPr>
          <p:cNvPr id="55" name="Shape 5"/>
          <p:cNvSpPr/>
          <p:nvPr/>
        </p:nvSpPr>
        <p:spPr>
          <a:xfrm>
            <a:off x="548640" y="2176200"/>
            <a:ext cx="5668920" cy="1599840"/>
          </a:xfrm>
          <a:prstGeom prst="roundRect">
            <a:avLst>
              <a:gd name="adj" fmla="val 685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Text 6"/>
          <p:cNvSpPr/>
          <p:nvPr/>
        </p:nvSpPr>
        <p:spPr>
          <a:xfrm>
            <a:off x="777240" y="2377440"/>
            <a:ext cx="5303160" cy="1279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(onClick = { like() })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Icons</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Filled</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Favorite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ff8fc7"/>
                </a:solidFill>
                <a:latin typeface="Consolas"/>
                <a:ea typeface="Consolas"/>
              </a:rPr>
              <a:t>null</a:t>
            </a:r>
            <a:r>
              <a:rPr b="0" lang="en-US" sz="1300" spc="-1" strike="noStrike">
                <a:solidFill>
                  <a:srgbClr val="dce3ec"/>
                </a:solidFill>
                <a:latin typeface="Consolas"/>
                <a:ea typeface="Consolas"/>
              </a:rPr>
              <a:t>  </a:t>
            </a:r>
            <a:r>
              <a:rPr b="0" i="1" lang="en-US" sz="1300" spc="-1" strike="noStrike">
                <a:solidFill>
                  <a:srgbClr val="8b98ad"/>
                </a:solidFill>
                <a:latin typeface="Consolas"/>
                <a:ea typeface="Consolas"/>
              </a:rPr>
              <a:t>// silent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57" name="Text 7"/>
          <p:cNvSpPr/>
          <p:nvPr/>
        </p:nvSpPr>
        <p:spPr>
          <a:xfrm>
            <a:off x="5212080" y="224928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58" name="Shape 8"/>
          <p:cNvSpPr/>
          <p:nvPr/>
        </p:nvSpPr>
        <p:spPr>
          <a:xfrm>
            <a:off x="548640" y="3959280"/>
            <a:ext cx="914040" cy="29232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 name="Text 9"/>
          <p:cNvSpPr/>
          <p:nvPr/>
        </p:nvSpPr>
        <p:spPr>
          <a:xfrm>
            <a:off x="548640" y="3959280"/>
            <a:ext cx="91404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7d43"/>
                </a:solidFill>
                <a:latin typeface="Calibri"/>
                <a:ea typeface="Calibri"/>
              </a:rPr>
              <a:t>AFTER</a:t>
            </a:r>
            <a:endParaRPr b="0" lang="en-US" sz="1100" spc="-1" strike="noStrike">
              <a:solidFill>
                <a:srgbClr val="000000"/>
              </a:solidFill>
              <a:latin typeface="Arial"/>
            </a:endParaRPr>
          </a:p>
        </p:txBody>
      </p:sp>
      <p:sp>
        <p:nvSpPr>
          <p:cNvPr id="60" name="Shape 10"/>
          <p:cNvSpPr/>
          <p:nvPr/>
        </p:nvSpPr>
        <p:spPr>
          <a:xfrm>
            <a:off x="548640" y="4352400"/>
            <a:ext cx="5668920" cy="1599840"/>
          </a:xfrm>
          <a:prstGeom prst="roundRect">
            <a:avLst>
              <a:gd name="adj" fmla="val 685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 name="Text 11"/>
          <p:cNvSpPr/>
          <p:nvPr/>
        </p:nvSpPr>
        <p:spPr>
          <a:xfrm>
            <a:off x="777240" y="4553640"/>
            <a:ext cx="5303160" cy="1279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(onClick = { like() })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Icons</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Filled</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Favorite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"Like"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62" name="Text 12"/>
          <p:cNvSpPr/>
          <p:nvPr/>
        </p:nvSpPr>
        <p:spPr>
          <a:xfrm>
            <a:off x="5212080" y="44258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63" name="Shape 13"/>
          <p:cNvSpPr/>
          <p:nvPr/>
        </p:nvSpPr>
        <p:spPr>
          <a:xfrm>
            <a:off x="6675120" y="1691640"/>
            <a:ext cx="2514240" cy="4343040"/>
          </a:xfrm>
          <a:prstGeom prst="roundRect">
            <a:avLst>
              <a:gd name="adj" fmla="val 1163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Shape 14"/>
          <p:cNvSpPr/>
          <p:nvPr/>
        </p:nvSpPr>
        <p:spPr>
          <a:xfrm>
            <a:off x="6775560" y="1792080"/>
            <a:ext cx="2313000" cy="4141800"/>
          </a:xfrm>
          <a:prstGeom prst="roundRect">
            <a:avLst>
              <a:gd name="adj" fmla="val 9486"/>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 name="Shape 15"/>
          <p:cNvSpPr/>
          <p:nvPr/>
        </p:nvSpPr>
        <p:spPr>
          <a:xfrm>
            <a:off x="6775560" y="1956960"/>
            <a:ext cx="23130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 name="Text 16"/>
          <p:cNvSpPr/>
          <p:nvPr/>
        </p:nvSpPr>
        <p:spPr>
          <a:xfrm>
            <a:off x="6958440" y="1956960"/>
            <a:ext cx="2038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Feed</a:t>
            </a:r>
            <a:endParaRPr b="0" lang="en-US" sz="1300" spc="-1" strike="noStrike">
              <a:solidFill>
                <a:srgbClr val="000000"/>
              </a:solidFill>
              <a:latin typeface="Arial"/>
            </a:endParaRPr>
          </a:p>
        </p:txBody>
      </p:sp>
      <p:sp>
        <p:nvSpPr>
          <p:cNvPr id="67" name="Shape 17"/>
          <p:cNvSpPr/>
          <p:nvPr/>
        </p:nvSpPr>
        <p:spPr>
          <a:xfrm>
            <a:off x="6912720" y="2615040"/>
            <a:ext cx="2038680" cy="1096920"/>
          </a:xfrm>
          <a:prstGeom prst="roundRect">
            <a:avLst>
              <a:gd name="adj" fmla="val 6667"/>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Text 18"/>
          <p:cNvSpPr/>
          <p:nvPr/>
        </p:nvSpPr>
        <p:spPr>
          <a:xfrm>
            <a:off x="6912720" y="3803760"/>
            <a:ext cx="203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Weekend ride photos</a:t>
            </a:r>
            <a:endParaRPr b="0" lang="en-US" sz="1200" spc="-1" strike="noStrike">
              <a:solidFill>
                <a:srgbClr val="000000"/>
              </a:solidFill>
              <a:latin typeface="Arial"/>
            </a:endParaRPr>
          </a:p>
        </p:txBody>
      </p:sp>
      <p:pic>
        <p:nvPicPr>
          <p:cNvPr id="69" name="Image 0" descr="preencoded.png"/>
          <p:cNvPicPr/>
          <p:nvPr/>
        </p:nvPicPr>
        <p:blipFill>
          <a:blip r:embed="rId1"/>
          <a:stretch/>
        </p:blipFill>
        <p:spPr>
          <a:xfrm>
            <a:off x="7004160" y="4169520"/>
            <a:ext cx="328680" cy="328680"/>
          </a:xfrm>
          <a:prstGeom prst="rect">
            <a:avLst/>
          </a:prstGeom>
          <a:ln w="0">
            <a:noFill/>
          </a:ln>
        </p:spPr>
      </p:pic>
      <p:sp>
        <p:nvSpPr>
          <p:cNvPr id="70" name="Text 19"/>
          <p:cNvSpPr/>
          <p:nvPr/>
        </p:nvSpPr>
        <p:spPr>
          <a:xfrm>
            <a:off x="7507080" y="4169520"/>
            <a:ext cx="3654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472"/>
                </a:solidFill>
                <a:latin typeface="Calibri"/>
                <a:ea typeface="Calibri"/>
              </a:rPr>
              <a:t>12</a:t>
            </a:r>
            <a:endParaRPr b="0" lang="en-US" sz="1200" spc="-1" strike="noStrike">
              <a:solidFill>
                <a:srgbClr val="000000"/>
              </a:solidFill>
              <a:latin typeface="Arial"/>
            </a:endParaRPr>
          </a:p>
        </p:txBody>
      </p:sp>
      <p:pic>
        <p:nvPicPr>
          <p:cNvPr id="71" name="Image 1" descr="preencoded.png"/>
          <p:cNvPicPr/>
          <p:nvPr/>
        </p:nvPicPr>
        <p:blipFill>
          <a:blip r:embed="rId2"/>
          <a:stretch/>
        </p:blipFill>
        <p:spPr>
          <a:xfrm>
            <a:off x="7918560" y="4169520"/>
            <a:ext cx="310680" cy="310680"/>
          </a:xfrm>
          <a:prstGeom prst="rect">
            <a:avLst/>
          </a:prstGeom>
          <a:ln w="0">
            <a:noFill/>
          </a:ln>
        </p:spPr>
      </p:pic>
      <p:sp>
        <p:nvSpPr>
          <p:cNvPr id="72" name="Shape 20"/>
          <p:cNvSpPr/>
          <p:nvPr/>
        </p:nvSpPr>
        <p:spPr>
          <a:xfrm>
            <a:off x="6912720" y="4078080"/>
            <a:ext cx="511560" cy="5115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 name="Shape 21"/>
          <p:cNvSpPr/>
          <p:nvPr/>
        </p:nvSpPr>
        <p:spPr>
          <a:xfrm>
            <a:off x="6867000" y="5065920"/>
            <a:ext cx="2130120" cy="6397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Text 22"/>
          <p:cNvSpPr/>
          <p:nvPr/>
        </p:nvSpPr>
        <p:spPr>
          <a:xfrm>
            <a:off x="6940440" y="5065920"/>
            <a:ext cx="1983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Button, double tap to activate</a:t>
            </a:r>
            <a:endParaRPr b="0" lang="en-US" sz="1100" spc="-1" strike="noStrike">
              <a:solidFill>
                <a:srgbClr val="000000"/>
              </a:solidFill>
              <a:latin typeface="Arial"/>
            </a:endParaRPr>
          </a:p>
        </p:txBody>
      </p:sp>
      <p:sp>
        <p:nvSpPr>
          <p:cNvPr id="75" name="Shape 23"/>
          <p:cNvSpPr/>
          <p:nvPr/>
        </p:nvSpPr>
        <p:spPr>
          <a:xfrm>
            <a:off x="7562160" y="1298520"/>
            <a:ext cx="740160" cy="292320"/>
          </a:xfrm>
          <a:prstGeom prst="roundRect">
            <a:avLst>
              <a:gd name="adj" fmla="val 50000"/>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Text 24"/>
          <p:cNvSpPr/>
          <p:nvPr/>
        </p:nvSpPr>
        <p:spPr>
          <a:xfrm>
            <a:off x="7562160" y="1298520"/>
            <a:ext cx="7401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c62828"/>
                </a:solidFill>
                <a:latin typeface="Calibri"/>
                <a:ea typeface="Calibri"/>
              </a:rPr>
              <a:t>BEFORE</a:t>
            </a:r>
            <a:endParaRPr b="0" lang="en-US" sz="1100" spc="-1" strike="noStrike">
              <a:solidFill>
                <a:srgbClr val="000000"/>
              </a:solidFill>
              <a:latin typeface="Arial"/>
            </a:endParaRPr>
          </a:p>
        </p:txBody>
      </p:sp>
      <p:sp>
        <p:nvSpPr>
          <p:cNvPr id="77" name="Shape 25"/>
          <p:cNvSpPr/>
          <p:nvPr/>
        </p:nvSpPr>
        <p:spPr>
          <a:xfrm>
            <a:off x="9326880" y="1691640"/>
            <a:ext cx="2514240" cy="4343040"/>
          </a:xfrm>
          <a:prstGeom prst="roundRect">
            <a:avLst>
              <a:gd name="adj" fmla="val 1163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Shape 26"/>
          <p:cNvSpPr/>
          <p:nvPr/>
        </p:nvSpPr>
        <p:spPr>
          <a:xfrm>
            <a:off x="9427320" y="1792080"/>
            <a:ext cx="2313000" cy="4141800"/>
          </a:xfrm>
          <a:prstGeom prst="roundRect">
            <a:avLst>
              <a:gd name="adj" fmla="val 9486"/>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 name="Shape 27"/>
          <p:cNvSpPr/>
          <p:nvPr/>
        </p:nvSpPr>
        <p:spPr>
          <a:xfrm>
            <a:off x="9427320" y="1956960"/>
            <a:ext cx="23130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 28"/>
          <p:cNvSpPr/>
          <p:nvPr/>
        </p:nvSpPr>
        <p:spPr>
          <a:xfrm>
            <a:off x="9610200" y="1956960"/>
            <a:ext cx="2038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Feed</a:t>
            </a:r>
            <a:endParaRPr b="0" lang="en-US" sz="1300" spc="-1" strike="noStrike">
              <a:solidFill>
                <a:srgbClr val="000000"/>
              </a:solidFill>
              <a:latin typeface="Arial"/>
            </a:endParaRPr>
          </a:p>
        </p:txBody>
      </p:sp>
      <p:sp>
        <p:nvSpPr>
          <p:cNvPr id="81" name="Shape 29"/>
          <p:cNvSpPr/>
          <p:nvPr/>
        </p:nvSpPr>
        <p:spPr>
          <a:xfrm>
            <a:off x="9564480" y="2615040"/>
            <a:ext cx="2038680" cy="1096920"/>
          </a:xfrm>
          <a:prstGeom prst="roundRect">
            <a:avLst>
              <a:gd name="adj" fmla="val 6667"/>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Text 30"/>
          <p:cNvSpPr/>
          <p:nvPr/>
        </p:nvSpPr>
        <p:spPr>
          <a:xfrm>
            <a:off x="9564480" y="3803760"/>
            <a:ext cx="203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Weekend ride photos</a:t>
            </a:r>
            <a:endParaRPr b="0" lang="en-US" sz="1200" spc="-1" strike="noStrike">
              <a:solidFill>
                <a:srgbClr val="000000"/>
              </a:solidFill>
              <a:latin typeface="Arial"/>
            </a:endParaRPr>
          </a:p>
        </p:txBody>
      </p:sp>
      <p:pic>
        <p:nvPicPr>
          <p:cNvPr id="83" name="Image 2" descr="preencoded.png"/>
          <p:cNvPicPr/>
          <p:nvPr/>
        </p:nvPicPr>
        <p:blipFill>
          <a:blip r:embed="rId3"/>
          <a:stretch/>
        </p:blipFill>
        <p:spPr>
          <a:xfrm>
            <a:off x="9655920" y="4169520"/>
            <a:ext cx="328680" cy="328680"/>
          </a:xfrm>
          <a:prstGeom prst="rect">
            <a:avLst/>
          </a:prstGeom>
          <a:ln w="0">
            <a:noFill/>
          </a:ln>
        </p:spPr>
      </p:pic>
      <p:sp>
        <p:nvSpPr>
          <p:cNvPr id="84" name="Text 31"/>
          <p:cNvSpPr/>
          <p:nvPr/>
        </p:nvSpPr>
        <p:spPr>
          <a:xfrm>
            <a:off x="10158840" y="4169520"/>
            <a:ext cx="3654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472"/>
                </a:solidFill>
                <a:latin typeface="Calibri"/>
                <a:ea typeface="Calibri"/>
              </a:rPr>
              <a:t>12</a:t>
            </a:r>
            <a:endParaRPr b="0" lang="en-US" sz="1200" spc="-1" strike="noStrike">
              <a:solidFill>
                <a:srgbClr val="000000"/>
              </a:solidFill>
              <a:latin typeface="Arial"/>
            </a:endParaRPr>
          </a:p>
        </p:txBody>
      </p:sp>
      <p:pic>
        <p:nvPicPr>
          <p:cNvPr id="85" name="Image 3" descr="preencoded.png"/>
          <p:cNvPicPr/>
          <p:nvPr/>
        </p:nvPicPr>
        <p:blipFill>
          <a:blip r:embed="rId4"/>
          <a:stretch/>
        </p:blipFill>
        <p:spPr>
          <a:xfrm>
            <a:off x="10570320" y="4169520"/>
            <a:ext cx="310680" cy="310680"/>
          </a:xfrm>
          <a:prstGeom prst="rect">
            <a:avLst/>
          </a:prstGeom>
          <a:ln w="0">
            <a:noFill/>
          </a:ln>
        </p:spPr>
      </p:pic>
      <p:sp>
        <p:nvSpPr>
          <p:cNvPr id="86" name="Shape 32"/>
          <p:cNvSpPr/>
          <p:nvPr/>
        </p:nvSpPr>
        <p:spPr>
          <a:xfrm>
            <a:off x="9564480" y="4078080"/>
            <a:ext cx="511560" cy="5115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Shape 33"/>
          <p:cNvSpPr/>
          <p:nvPr/>
        </p:nvSpPr>
        <p:spPr>
          <a:xfrm>
            <a:off x="9518760" y="5065920"/>
            <a:ext cx="2130120" cy="6397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34"/>
          <p:cNvSpPr/>
          <p:nvPr/>
        </p:nvSpPr>
        <p:spPr>
          <a:xfrm>
            <a:off x="9592200" y="5065920"/>
            <a:ext cx="1983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Like, Button, double tap to activate</a:t>
            </a:r>
            <a:endParaRPr b="0" lang="en-US" sz="1100" spc="-1" strike="noStrike">
              <a:solidFill>
                <a:srgbClr val="000000"/>
              </a:solidFill>
              <a:latin typeface="Arial"/>
            </a:endParaRPr>
          </a:p>
        </p:txBody>
      </p:sp>
      <p:sp>
        <p:nvSpPr>
          <p:cNvPr id="89" name="Shape 35"/>
          <p:cNvSpPr/>
          <p:nvPr/>
        </p:nvSpPr>
        <p:spPr>
          <a:xfrm>
            <a:off x="10252800" y="1298520"/>
            <a:ext cx="662760" cy="29232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Text 36"/>
          <p:cNvSpPr/>
          <p:nvPr/>
        </p:nvSpPr>
        <p:spPr>
          <a:xfrm>
            <a:off x="10252800" y="1298520"/>
            <a:ext cx="6627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7d43"/>
                </a:solidFill>
                <a:latin typeface="Calibri"/>
                <a:ea typeface="Calibri"/>
              </a:rPr>
              <a:t>AFTER</a:t>
            </a:r>
            <a:endParaRPr b="0" lang="en-US" sz="1100" spc="-1" strike="noStrike">
              <a:solidFill>
                <a:srgbClr val="000000"/>
              </a:solidFill>
              <a:latin typeface="Arial"/>
            </a:endParaRPr>
          </a:p>
        </p:txBody>
      </p:sp>
      <p:sp>
        <p:nvSpPr>
          <p:cNvPr id="91" name="Text 37"/>
          <p:cNvSpPr/>
          <p:nvPr/>
        </p:nvSpPr>
        <p:spPr>
          <a:xfrm>
            <a:off x="6675120" y="6144840"/>
            <a:ext cx="516600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alibri"/>
                <a:ea typeface="Calibri"/>
              </a:rPr>
              <a:t>Every clickable without visible text needs a contentDescription. No exceptions.</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Shape 0"/>
          <p:cNvSpPr/>
          <p:nvPr/>
        </p:nvSpPr>
        <p:spPr>
          <a:xfrm>
            <a:off x="548640" y="384120"/>
            <a:ext cx="125712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 name="Text 1"/>
          <p:cNvSpPr/>
          <p:nvPr/>
        </p:nvSpPr>
        <p:spPr>
          <a:xfrm>
            <a:off x="548640" y="384120"/>
            <a:ext cx="12571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01 · LABELS</a:t>
            </a:r>
            <a:endParaRPr b="0" lang="en-US" sz="1100" spc="-1" strike="noStrike">
              <a:solidFill>
                <a:srgbClr val="000000"/>
              </a:solidFill>
              <a:latin typeface="Arial"/>
            </a:endParaRPr>
          </a:p>
        </p:txBody>
      </p:sp>
      <p:sp>
        <p:nvSpPr>
          <p:cNvPr id="94"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Anatomy of a TalkBack announcement</a:t>
            </a:r>
            <a:endParaRPr b="0" lang="en-US" sz="3200" spc="-1" strike="noStrike">
              <a:solidFill>
                <a:srgbClr val="000000"/>
              </a:solidFill>
              <a:latin typeface="Arial"/>
            </a:endParaRPr>
          </a:p>
        </p:txBody>
      </p:sp>
      <p:sp>
        <p:nvSpPr>
          <p:cNvPr id="95" name="Shape 3"/>
          <p:cNvSpPr/>
          <p:nvPr/>
        </p:nvSpPr>
        <p:spPr>
          <a:xfrm>
            <a:off x="548640" y="1783080"/>
            <a:ext cx="2331360" cy="548280"/>
          </a:xfrm>
          <a:prstGeom prst="roundRect">
            <a:avLst>
              <a:gd name="adj" fmla="val 2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 name="Text 4"/>
          <p:cNvSpPr/>
          <p:nvPr/>
        </p:nvSpPr>
        <p:spPr>
          <a:xfrm>
            <a:off x="548640" y="1783080"/>
            <a:ext cx="23313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5b3fd6"/>
                </a:solidFill>
                <a:latin typeface="Consolas"/>
                <a:ea typeface="Consolas"/>
              </a:rPr>
              <a:t>contentDescription</a:t>
            </a:r>
            <a:endParaRPr b="0" lang="en-US" sz="1600" spc="-1" strike="noStrike">
              <a:solidFill>
                <a:srgbClr val="000000"/>
              </a:solidFill>
              <a:latin typeface="Arial"/>
            </a:endParaRPr>
          </a:p>
        </p:txBody>
      </p:sp>
      <p:sp>
        <p:nvSpPr>
          <p:cNvPr id="97" name="Text 5"/>
          <p:cNvSpPr/>
          <p:nvPr/>
        </p:nvSpPr>
        <p:spPr>
          <a:xfrm>
            <a:off x="365760" y="2395800"/>
            <a:ext cx="269712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what it is</a:t>
            </a:r>
            <a:endParaRPr b="0" lang="en-US" sz="1150" spc="-1" strike="noStrike">
              <a:solidFill>
                <a:srgbClr val="000000"/>
              </a:solidFill>
              <a:latin typeface="Arial"/>
            </a:endParaRPr>
          </a:p>
        </p:txBody>
      </p:sp>
      <p:sp>
        <p:nvSpPr>
          <p:cNvPr id="98" name="Text 6"/>
          <p:cNvSpPr/>
          <p:nvPr/>
        </p:nvSpPr>
        <p:spPr>
          <a:xfrm>
            <a:off x="2880360" y="1783080"/>
            <a:ext cx="273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a:t>
            </a:r>
            <a:endParaRPr b="0" lang="en-US" sz="2200" spc="-1" strike="noStrike">
              <a:solidFill>
                <a:srgbClr val="000000"/>
              </a:solidFill>
              <a:latin typeface="Arial"/>
            </a:endParaRPr>
          </a:p>
        </p:txBody>
      </p:sp>
      <p:sp>
        <p:nvSpPr>
          <p:cNvPr id="99" name="Shape 7"/>
          <p:cNvSpPr/>
          <p:nvPr/>
        </p:nvSpPr>
        <p:spPr>
          <a:xfrm>
            <a:off x="3154680" y="1783080"/>
            <a:ext cx="959760" cy="548280"/>
          </a:xfrm>
          <a:prstGeom prst="roundRect">
            <a:avLst>
              <a:gd name="adj" fmla="val 20000"/>
            </a:avLst>
          </a:prstGeom>
          <a:solidFill>
            <a:srgbClr val="fff4dd"/>
          </a:solidFill>
          <a:ln w="12700">
            <a:solidFill>
              <a:srgbClr val="fff4d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Text 8"/>
          <p:cNvSpPr/>
          <p:nvPr/>
        </p:nvSpPr>
        <p:spPr>
          <a:xfrm>
            <a:off x="3154680" y="1783080"/>
            <a:ext cx="9597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b26a00"/>
                </a:solidFill>
                <a:latin typeface="Consolas"/>
                <a:ea typeface="Consolas"/>
              </a:rPr>
              <a:t>Role</a:t>
            </a:r>
            <a:endParaRPr b="0" lang="en-US" sz="1600" spc="-1" strike="noStrike">
              <a:solidFill>
                <a:srgbClr val="000000"/>
              </a:solidFill>
              <a:latin typeface="Arial"/>
            </a:endParaRPr>
          </a:p>
        </p:txBody>
      </p:sp>
      <p:sp>
        <p:nvSpPr>
          <p:cNvPr id="101" name="Text 9"/>
          <p:cNvSpPr/>
          <p:nvPr/>
        </p:nvSpPr>
        <p:spPr>
          <a:xfrm>
            <a:off x="2971800" y="2395800"/>
            <a:ext cx="132552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how to interact</a:t>
            </a:r>
            <a:endParaRPr b="0" lang="en-US" sz="1150" spc="-1" strike="noStrike">
              <a:solidFill>
                <a:srgbClr val="000000"/>
              </a:solidFill>
              <a:latin typeface="Arial"/>
            </a:endParaRPr>
          </a:p>
        </p:txBody>
      </p:sp>
      <p:sp>
        <p:nvSpPr>
          <p:cNvPr id="102" name="Text 10"/>
          <p:cNvSpPr/>
          <p:nvPr/>
        </p:nvSpPr>
        <p:spPr>
          <a:xfrm>
            <a:off x="4114800" y="1783080"/>
            <a:ext cx="273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a:t>
            </a:r>
            <a:endParaRPr b="0" lang="en-US" sz="2200" spc="-1" strike="noStrike">
              <a:solidFill>
                <a:srgbClr val="000000"/>
              </a:solidFill>
              <a:latin typeface="Arial"/>
            </a:endParaRPr>
          </a:p>
        </p:txBody>
      </p:sp>
      <p:sp>
        <p:nvSpPr>
          <p:cNvPr id="103" name="Shape 11"/>
          <p:cNvSpPr/>
          <p:nvPr/>
        </p:nvSpPr>
        <p:spPr>
          <a:xfrm>
            <a:off x="4389120" y="1783080"/>
            <a:ext cx="1371240" cy="548280"/>
          </a:xfrm>
          <a:prstGeom prst="roundRect">
            <a:avLst>
              <a:gd name="adj" fmla="val 2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 name="Text 12"/>
          <p:cNvSpPr/>
          <p:nvPr/>
        </p:nvSpPr>
        <p:spPr>
          <a:xfrm>
            <a:off x="4389120" y="1783080"/>
            <a:ext cx="137124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5b6472"/>
                </a:solidFill>
                <a:latin typeface="Consolas"/>
                <a:ea typeface="Consolas"/>
              </a:rPr>
              <a:t>Double-tap</a:t>
            </a:r>
            <a:endParaRPr b="0" lang="en-US" sz="1600" spc="-1" strike="noStrike">
              <a:solidFill>
                <a:srgbClr val="000000"/>
              </a:solidFill>
              <a:latin typeface="Arial"/>
            </a:endParaRPr>
          </a:p>
        </p:txBody>
      </p:sp>
      <p:sp>
        <p:nvSpPr>
          <p:cNvPr id="105" name="Text 13"/>
          <p:cNvSpPr/>
          <p:nvPr/>
        </p:nvSpPr>
        <p:spPr>
          <a:xfrm>
            <a:off x="4206240" y="2395800"/>
            <a:ext cx="173700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system default</a:t>
            </a:r>
            <a:endParaRPr b="0" lang="en-US" sz="1150" spc="-1" strike="noStrike">
              <a:solidFill>
                <a:srgbClr val="000000"/>
              </a:solidFill>
              <a:latin typeface="Arial"/>
            </a:endParaRPr>
          </a:p>
        </p:txBody>
      </p:sp>
      <p:sp>
        <p:nvSpPr>
          <p:cNvPr id="106" name="Text 14"/>
          <p:cNvSpPr/>
          <p:nvPr/>
        </p:nvSpPr>
        <p:spPr>
          <a:xfrm>
            <a:off x="5760720" y="1783080"/>
            <a:ext cx="45684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to</a:t>
            </a:r>
            <a:endParaRPr b="0" lang="en-US" sz="2200" spc="-1" strike="noStrike">
              <a:solidFill>
                <a:srgbClr val="000000"/>
              </a:solidFill>
              <a:latin typeface="Arial"/>
            </a:endParaRPr>
          </a:p>
        </p:txBody>
      </p:sp>
      <p:sp>
        <p:nvSpPr>
          <p:cNvPr id="107" name="Shape 15"/>
          <p:cNvSpPr/>
          <p:nvPr/>
        </p:nvSpPr>
        <p:spPr>
          <a:xfrm>
            <a:off x="6217920" y="1783080"/>
            <a:ext cx="1782720" cy="548280"/>
          </a:xfrm>
          <a:prstGeom prst="roundRect">
            <a:avLst>
              <a:gd name="adj" fmla="val 2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Text 16"/>
          <p:cNvSpPr/>
          <p:nvPr/>
        </p:nvSpPr>
        <p:spPr>
          <a:xfrm>
            <a:off x="6217920" y="1783080"/>
            <a:ext cx="178272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7d43"/>
                </a:solidFill>
                <a:latin typeface="Consolas"/>
                <a:ea typeface="Consolas"/>
              </a:rPr>
              <a:t>onClickLabel</a:t>
            </a:r>
            <a:endParaRPr b="0" lang="en-US" sz="1600" spc="-1" strike="noStrike">
              <a:solidFill>
                <a:srgbClr val="000000"/>
              </a:solidFill>
              <a:latin typeface="Arial"/>
            </a:endParaRPr>
          </a:p>
        </p:txBody>
      </p:sp>
      <p:sp>
        <p:nvSpPr>
          <p:cNvPr id="109" name="Text 17"/>
          <p:cNvSpPr/>
          <p:nvPr/>
        </p:nvSpPr>
        <p:spPr>
          <a:xfrm>
            <a:off x="6035040" y="2395800"/>
            <a:ext cx="214848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what happens</a:t>
            </a:r>
            <a:endParaRPr b="0" lang="en-US" sz="1150" spc="-1" strike="noStrike">
              <a:solidFill>
                <a:srgbClr val="000000"/>
              </a:solidFill>
              <a:latin typeface="Arial"/>
            </a:endParaRPr>
          </a:p>
          <a:p>
            <a:pPr algn="ctr" defTabSz="914400">
              <a:lnSpc>
                <a:spcPct val="100000"/>
              </a:lnSpc>
              <a:tabLst>
                <a:tab algn="l" pos="0"/>
              </a:tabLst>
            </a:pPr>
            <a:r>
              <a:rPr b="0" lang="en-US" sz="1150" spc="-1" strike="noStrike">
                <a:solidFill>
                  <a:srgbClr val="5b6472"/>
                </a:solidFill>
                <a:latin typeface="Calibri"/>
                <a:ea typeface="Calibri"/>
              </a:rPr>
              <a:t>(default: “activate”)</a:t>
            </a:r>
            <a:endParaRPr b="0" lang="en-US" sz="1150" spc="-1" strike="noStrike">
              <a:solidFill>
                <a:srgbClr val="000000"/>
              </a:solidFill>
              <a:latin typeface="Arial"/>
            </a:endParaRPr>
          </a:p>
        </p:txBody>
      </p:sp>
      <p:sp>
        <p:nvSpPr>
          <p:cNvPr id="110" name="Shape 18"/>
          <p:cNvSpPr/>
          <p:nvPr/>
        </p:nvSpPr>
        <p:spPr>
          <a:xfrm>
            <a:off x="548640" y="2971800"/>
            <a:ext cx="6309000" cy="3291480"/>
          </a:xfrm>
          <a:prstGeom prst="roundRect">
            <a:avLst>
              <a:gd name="adj" fmla="val 3333"/>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Text 19"/>
          <p:cNvSpPr/>
          <p:nvPr/>
        </p:nvSpPr>
        <p:spPr>
          <a:xfrm>
            <a:off x="777240" y="3173040"/>
            <a:ext cx="5943240" cy="2971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50" spc="-1" strike="noStrike">
                <a:solidFill>
                  <a:srgbClr val="8ab4f8"/>
                </a:solidFill>
                <a:latin typeface="Consolas"/>
                <a:ea typeface="Consolas"/>
              </a:rPr>
              <a:t>Box</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8ab4f8"/>
                </a:solidFill>
                <a:latin typeface="Consolas"/>
                <a:ea typeface="Consolas"/>
              </a:rPr>
              <a:t>Modifier</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a:t>
            </a:r>
            <a:r>
              <a:rPr b="1" lang="en-US" sz="1350" spc="-1" strike="noStrike">
                <a:solidFill>
                  <a:srgbClr val="3ddc84"/>
                </a:solidFill>
                <a:latin typeface="Consolas"/>
                <a:ea typeface="Consolas"/>
              </a:rPr>
              <a:t>semantics</a:t>
            </a:r>
            <a:r>
              <a:rPr b="0" lang="en-US" sz="1350" spc="-1" strike="noStrike">
                <a:solidFill>
                  <a:srgbClr val="dce3ec"/>
                </a:solidFill>
                <a:latin typeface="Consolas"/>
                <a:ea typeface="Consolas"/>
              </a:rPr>
              <a:t>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contentDescription</a:t>
            </a:r>
            <a:r>
              <a:rPr b="0" lang="en-US" sz="1350" spc="-1" strike="noStrike">
                <a:solidFill>
                  <a:srgbClr val="dce3ec"/>
                </a:solidFill>
                <a:latin typeface="Consolas"/>
                <a:ea typeface="Consolas"/>
              </a:rPr>
              <a:t> = </a:t>
            </a:r>
            <a:r>
              <a:rPr b="0" lang="en-US" sz="1350" spc="-1" strike="noStrike">
                <a:solidFill>
                  <a:srgbClr val="b5e48c"/>
                </a:solidFill>
                <a:latin typeface="Consolas"/>
                <a:ea typeface="Consolas"/>
              </a:rPr>
              <a:t>"Hello, Android devs!"</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.clickable(</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onClickLabel</a:t>
            </a:r>
            <a:r>
              <a:rPr b="0" lang="en-US" sz="1350" spc="-1" strike="noStrike">
                <a:solidFill>
                  <a:srgbClr val="dce3ec"/>
                </a:solidFill>
                <a:latin typeface="Consolas"/>
                <a:ea typeface="Consolas"/>
              </a:rPr>
              <a:t> = </a:t>
            </a:r>
            <a:r>
              <a:rPr b="0" lang="en-US" sz="1350" spc="-1" strike="noStrike">
                <a:solidFill>
                  <a:srgbClr val="b5e48c"/>
                </a:solidFill>
                <a:latin typeface="Consolas"/>
                <a:ea typeface="Consolas"/>
              </a:rPr>
              <a:t>"learn more about semantics"</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role</a:t>
            </a:r>
            <a:r>
              <a:rPr b="0" lang="en-US" sz="1350" spc="-1" strike="noStrike">
                <a:solidFill>
                  <a:srgbClr val="dce3ec"/>
                </a:solidFill>
                <a:latin typeface="Consolas"/>
                <a:ea typeface="Consolas"/>
              </a:rPr>
              <a:t> = </a:t>
            </a:r>
            <a:r>
              <a:rPr b="0" lang="en-US" sz="1350" spc="-1" strike="noStrike">
                <a:solidFill>
                  <a:srgbClr val="8ab4f8"/>
                </a:solidFill>
                <a:latin typeface="Consolas"/>
                <a:ea typeface="Consolas"/>
              </a:rPr>
              <a:t>Role</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Button</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 { openSemanticsInfo()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8ab4f8"/>
                </a:solidFill>
                <a:latin typeface="Consolas"/>
                <a:ea typeface="Consolas"/>
              </a:rPr>
              <a:t>Icon</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Icons</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Filled</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Face</a:t>
            </a: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contentDescription</a:t>
            </a:r>
            <a:r>
              <a:rPr b="0" lang="en-US" sz="1350" spc="-1" strike="noStrike">
                <a:solidFill>
                  <a:srgbClr val="dce3ec"/>
                </a:solidFill>
                <a:latin typeface="Consolas"/>
                <a:ea typeface="Consolas"/>
              </a:rPr>
              <a:t> = </a:t>
            </a:r>
            <a:r>
              <a:rPr b="0" lang="en-US" sz="1350" spc="-1" strike="noStrike">
                <a:solidFill>
                  <a:srgbClr val="ff8fc7"/>
                </a:solidFill>
                <a:latin typeface="Consolas"/>
                <a:ea typeface="Consolas"/>
              </a:rPr>
              <a:t>null</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a:t>
            </a:r>
            <a:endParaRPr b="0" lang="en-US" sz="1350" spc="-1" strike="noStrike">
              <a:solidFill>
                <a:srgbClr val="000000"/>
              </a:solidFill>
              <a:latin typeface="Arial"/>
            </a:endParaRPr>
          </a:p>
        </p:txBody>
      </p:sp>
      <p:sp>
        <p:nvSpPr>
          <p:cNvPr id="112" name="Text 20"/>
          <p:cNvSpPr/>
          <p:nvPr/>
        </p:nvSpPr>
        <p:spPr>
          <a:xfrm>
            <a:off x="5852160" y="304488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113" name="Shape 21"/>
          <p:cNvSpPr/>
          <p:nvPr/>
        </p:nvSpPr>
        <p:spPr>
          <a:xfrm>
            <a:off x="8458200" y="1188720"/>
            <a:ext cx="3062880" cy="5257440"/>
          </a:xfrm>
          <a:prstGeom prst="roundRect">
            <a:avLst>
              <a:gd name="adj" fmla="val 9552"/>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Shape 22"/>
          <p:cNvSpPr/>
          <p:nvPr/>
        </p:nvSpPr>
        <p:spPr>
          <a:xfrm>
            <a:off x="8558640" y="1289160"/>
            <a:ext cx="2861640" cy="5056200"/>
          </a:xfrm>
          <a:prstGeom prst="roundRect">
            <a:avLst>
              <a:gd name="adj" fmla="val 7668"/>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 name="Shape 23"/>
          <p:cNvSpPr/>
          <p:nvPr/>
        </p:nvSpPr>
        <p:spPr>
          <a:xfrm>
            <a:off x="8558640" y="1454040"/>
            <a:ext cx="286164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Text 24"/>
          <p:cNvSpPr/>
          <p:nvPr/>
        </p:nvSpPr>
        <p:spPr>
          <a:xfrm>
            <a:off x="8741520" y="1454040"/>
            <a:ext cx="258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Cool App</a:t>
            </a:r>
            <a:endParaRPr b="0" lang="en-US" sz="1300" spc="-1" strike="noStrike">
              <a:solidFill>
                <a:srgbClr val="000000"/>
              </a:solidFill>
              <a:latin typeface="Arial"/>
            </a:endParaRPr>
          </a:p>
        </p:txBody>
      </p:sp>
      <p:sp>
        <p:nvSpPr>
          <p:cNvPr id="117" name="Shape 25"/>
          <p:cNvSpPr/>
          <p:nvPr/>
        </p:nvSpPr>
        <p:spPr>
          <a:xfrm>
            <a:off x="9212760" y="2386440"/>
            <a:ext cx="1554120" cy="1554120"/>
          </a:xfrm>
          <a:prstGeom prst="ellipse">
            <a:avLst/>
          </a:prstGeom>
          <a:solidFill>
            <a:srgbClr val="ffffff"/>
          </a:solidFill>
          <a:ln w="254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18" name="Image 0" descr="preencoded.png"/>
          <p:cNvPicPr/>
          <p:nvPr/>
        </p:nvPicPr>
        <p:blipFill>
          <a:blip r:embed="rId1"/>
          <a:stretch/>
        </p:blipFill>
        <p:spPr>
          <a:xfrm>
            <a:off x="9532800" y="2706480"/>
            <a:ext cx="914040" cy="914040"/>
          </a:xfrm>
          <a:prstGeom prst="rect">
            <a:avLst/>
          </a:prstGeom>
          <a:ln w="0">
            <a:noFill/>
          </a:ln>
        </p:spPr>
      </p:pic>
      <p:sp>
        <p:nvSpPr>
          <p:cNvPr id="119" name="Shape 26"/>
          <p:cNvSpPr/>
          <p:nvPr/>
        </p:nvSpPr>
        <p:spPr>
          <a:xfrm>
            <a:off x="9121320" y="2295000"/>
            <a:ext cx="1737000" cy="173700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 name="Shape 27"/>
          <p:cNvSpPr/>
          <p:nvPr/>
        </p:nvSpPr>
        <p:spPr>
          <a:xfrm>
            <a:off x="8668440" y="4535280"/>
            <a:ext cx="264240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Text 28"/>
          <p:cNvSpPr/>
          <p:nvPr/>
        </p:nvSpPr>
        <p:spPr>
          <a:xfrm>
            <a:off x="8741520" y="4535280"/>
            <a:ext cx="24958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Hello, Android devs!, Button</a:t>
            </a:r>
            <a:endParaRPr b="0" lang="en-US" sz="1200" spc="-1" strike="noStrike">
              <a:solidFill>
                <a:srgbClr val="000000"/>
              </a:solidFill>
              <a:latin typeface="Arial"/>
            </a:endParaRPr>
          </a:p>
        </p:txBody>
      </p:sp>
      <p:sp>
        <p:nvSpPr>
          <p:cNvPr id="122" name="Shape 29"/>
          <p:cNvSpPr/>
          <p:nvPr/>
        </p:nvSpPr>
        <p:spPr>
          <a:xfrm>
            <a:off x="8650080" y="4965120"/>
            <a:ext cx="267876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Text 30"/>
          <p:cNvSpPr/>
          <p:nvPr/>
        </p:nvSpPr>
        <p:spPr>
          <a:xfrm>
            <a:off x="8723520" y="4965120"/>
            <a:ext cx="25326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Double-tap to learn more about semantics</a:t>
            </a:r>
            <a:endParaRPr b="0" lang="en-US" sz="1050" spc="-1" strike="noStrike">
              <a:solidFill>
                <a:srgbClr val="000000"/>
              </a:solidFill>
              <a:latin typeface="Arial"/>
            </a:endParaRPr>
          </a:p>
        </p:txBody>
      </p:sp>
      <p:sp>
        <p:nvSpPr>
          <p:cNvPr id="124" name="Text 31"/>
          <p:cNvSpPr/>
          <p:nvPr/>
        </p:nvSpPr>
        <p:spPr>
          <a:xfrm>
            <a:off x="548640" y="6355080"/>
            <a:ext cx="630900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Material Button / IconButton add the Role for you. Custom clickables: set it yourself.</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Shape 0"/>
          <p:cNvSpPr/>
          <p:nvPr/>
        </p:nvSpPr>
        <p:spPr>
          <a:xfrm>
            <a:off x="548640" y="384120"/>
            <a:ext cx="1161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Text 1"/>
          <p:cNvSpPr/>
          <p:nvPr/>
        </p:nvSpPr>
        <p:spPr>
          <a:xfrm>
            <a:off x="548640" y="384120"/>
            <a:ext cx="1161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02 · STATE</a:t>
            </a:r>
            <a:endParaRPr b="0" lang="en-US" sz="1100" spc="-1" strike="noStrike">
              <a:solidFill>
                <a:srgbClr val="000000"/>
              </a:solidFill>
              <a:latin typeface="Arial"/>
            </a:endParaRPr>
          </a:p>
        </p:txBody>
      </p:sp>
      <p:sp>
        <p:nvSpPr>
          <p:cNvPr id="127"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UI changed? TalkBack doesn’t know — tell it</a:t>
            </a:r>
            <a:endParaRPr b="0" lang="en-US" sz="3200" spc="-1" strike="noStrike">
              <a:solidFill>
                <a:srgbClr val="000000"/>
              </a:solidFill>
              <a:latin typeface="Arial"/>
            </a:endParaRPr>
          </a:p>
        </p:txBody>
      </p:sp>
      <p:sp>
        <p:nvSpPr>
          <p:cNvPr id="128" name="Shape 3"/>
          <p:cNvSpPr/>
          <p:nvPr/>
        </p:nvSpPr>
        <p:spPr>
          <a:xfrm>
            <a:off x="548640" y="178308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 name="Shape 4"/>
          <p:cNvSpPr/>
          <p:nvPr/>
        </p:nvSpPr>
        <p:spPr>
          <a:xfrm>
            <a:off x="713160" y="200268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0" name="Image 0" descr="preencoded.png"/>
          <p:cNvPicPr/>
          <p:nvPr/>
        </p:nvPicPr>
        <p:blipFill>
          <a:blip r:embed="rId1"/>
          <a:stretch/>
        </p:blipFill>
        <p:spPr>
          <a:xfrm>
            <a:off x="833760" y="2123280"/>
            <a:ext cx="306720" cy="306720"/>
          </a:xfrm>
          <a:prstGeom prst="rect">
            <a:avLst/>
          </a:prstGeom>
          <a:ln w="0">
            <a:noFill/>
          </a:ln>
        </p:spPr>
      </p:pic>
      <p:sp>
        <p:nvSpPr>
          <p:cNvPr id="131" name="Text 5"/>
          <p:cNvSpPr/>
          <p:nvPr/>
        </p:nvSpPr>
        <p:spPr>
          <a:xfrm>
            <a:off x="1417320" y="196596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32" name="Text 6"/>
          <p:cNvSpPr/>
          <p:nvPr/>
        </p:nvSpPr>
        <p:spPr>
          <a:xfrm>
            <a:off x="1417320" y="228600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33" name="Image 1" descr="preencoded.png"/>
          <p:cNvPicPr/>
          <p:nvPr/>
        </p:nvPicPr>
        <p:blipFill>
          <a:blip r:embed="rId2"/>
          <a:stretch/>
        </p:blipFill>
        <p:spPr>
          <a:xfrm>
            <a:off x="4160520" y="2075760"/>
            <a:ext cx="383760" cy="383760"/>
          </a:xfrm>
          <a:prstGeom prst="rect">
            <a:avLst/>
          </a:prstGeom>
          <a:ln w="0">
            <a:noFill/>
          </a:ln>
        </p:spPr>
      </p:pic>
      <p:sp>
        <p:nvSpPr>
          <p:cNvPr id="134" name="Text 7"/>
          <p:cNvSpPr/>
          <p:nvPr/>
        </p:nvSpPr>
        <p:spPr>
          <a:xfrm>
            <a:off x="4572000" y="185616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Not downloaded</a:t>
            </a:r>
            <a:endParaRPr b="0" lang="en-US" sz="1050" spc="-1" strike="noStrike">
              <a:solidFill>
                <a:srgbClr val="000000"/>
              </a:solidFill>
              <a:latin typeface="Arial"/>
            </a:endParaRPr>
          </a:p>
        </p:txBody>
      </p:sp>
      <p:sp>
        <p:nvSpPr>
          <p:cNvPr id="135" name="Shape 8"/>
          <p:cNvSpPr/>
          <p:nvPr/>
        </p:nvSpPr>
        <p:spPr>
          <a:xfrm>
            <a:off x="548640" y="299016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Shape 9"/>
          <p:cNvSpPr/>
          <p:nvPr/>
        </p:nvSpPr>
        <p:spPr>
          <a:xfrm>
            <a:off x="713160" y="320940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7" name="Image 2" descr="preencoded.png"/>
          <p:cNvPicPr/>
          <p:nvPr/>
        </p:nvPicPr>
        <p:blipFill>
          <a:blip r:embed="rId3"/>
          <a:stretch/>
        </p:blipFill>
        <p:spPr>
          <a:xfrm>
            <a:off x="833760" y="3330360"/>
            <a:ext cx="306720" cy="306720"/>
          </a:xfrm>
          <a:prstGeom prst="rect">
            <a:avLst/>
          </a:prstGeom>
          <a:ln w="0">
            <a:noFill/>
          </a:ln>
        </p:spPr>
      </p:pic>
      <p:sp>
        <p:nvSpPr>
          <p:cNvPr id="138" name="Text 10"/>
          <p:cNvSpPr/>
          <p:nvPr/>
        </p:nvSpPr>
        <p:spPr>
          <a:xfrm>
            <a:off x="1417320" y="317304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39" name="Text 11"/>
          <p:cNvSpPr/>
          <p:nvPr/>
        </p:nvSpPr>
        <p:spPr>
          <a:xfrm>
            <a:off x="1417320" y="349308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40" name="Image 3" descr="preencoded.png"/>
          <p:cNvPicPr/>
          <p:nvPr/>
        </p:nvPicPr>
        <p:blipFill>
          <a:blip r:embed="rId4"/>
          <a:stretch/>
        </p:blipFill>
        <p:spPr>
          <a:xfrm>
            <a:off x="4160520" y="3282840"/>
            <a:ext cx="383760" cy="383760"/>
          </a:xfrm>
          <a:prstGeom prst="rect">
            <a:avLst/>
          </a:prstGeom>
          <a:ln w="0">
            <a:noFill/>
          </a:ln>
        </p:spPr>
      </p:pic>
      <p:sp>
        <p:nvSpPr>
          <p:cNvPr id="141" name="Text 12"/>
          <p:cNvSpPr/>
          <p:nvPr/>
        </p:nvSpPr>
        <p:spPr>
          <a:xfrm>
            <a:off x="4572000" y="306324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Downloading</a:t>
            </a:r>
            <a:endParaRPr b="0" lang="en-US" sz="1050" spc="-1" strike="noStrike">
              <a:solidFill>
                <a:srgbClr val="000000"/>
              </a:solidFill>
              <a:latin typeface="Arial"/>
            </a:endParaRPr>
          </a:p>
        </p:txBody>
      </p:sp>
      <p:sp>
        <p:nvSpPr>
          <p:cNvPr id="142" name="Shape 13"/>
          <p:cNvSpPr/>
          <p:nvPr/>
        </p:nvSpPr>
        <p:spPr>
          <a:xfrm>
            <a:off x="548640" y="419724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3" name="Shape 14"/>
          <p:cNvSpPr/>
          <p:nvPr/>
        </p:nvSpPr>
        <p:spPr>
          <a:xfrm>
            <a:off x="713160" y="441648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4" name="Image 4" descr="preencoded.png"/>
          <p:cNvPicPr/>
          <p:nvPr/>
        </p:nvPicPr>
        <p:blipFill>
          <a:blip r:embed="rId5"/>
          <a:stretch/>
        </p:blipFill>
        <p:spPr>
          <a:xfrm>
            <a:off x="833760" y="4537080"/>
            <a:ext cx="306720" cy="306720"/>
          </a:xfrm>
          <a:prstGeom prst="rect">
            <a:avLst/>
          </a:prstGeom>
          <a:ln w="0">
            <a:noFill/>
          </a:ln>
        </p:spPr>
      </p:pic>
      <p:sp>
        <p:nvSpPr>
          <p:cNvPr id="145" name="Text 15"/>
          <p:cNvSpPr/>
          <p:nvPr/>
        </p:nvSpPr>
        <p:spPr>
          <a:xfrm>
            <a:off x="1417320" y="438012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46" name="Text 16"/>
          <p:cNvSpPr/>
          <p:nvPr/>
        </p:nvSpPr>
        <p:spPr>
          <a:xfrm>
            <a:off x="1417320" y="470016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47" name="Image 5" descr="preencoded.png"/>
          <p:cNvPicPr/>
          <p:nvPr/>
        </p:nvPicPr>
        <p:blipFill>
          <a:blip r:embed="rId6"/>
          <a:stretch/>
        </p:blipFill>
        <p:spPr>
          <a:xfrm>
            <a:off x="4160520" y="4489560"/>
            <a:ext cx="383760" cy="383760"/>
          </a:xfrm>
          <a:prstGeom prst="rect">
            <a:avLst/>
          </a:prstGeom>
          <a:ln w="0">
            <a:noFill/>
          </a:ln>
        </p:spPr>
      </p:pic>
      <p:sp>
        <p:nvSpPr>
          <p:cNvPr id="148" name="Text 17"/>
          <p:cNvSpPr/>
          <p:nvPr/>
        </p:nvSpPr>
        <p:spPr>
          <a:xfrm>
            <a:off x="4572000" y="427032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Downloaded</a:t>
            </a:r>
            <a:endParaRPr b="0" lang="en-US" sz="1050" spc="-1" strike="noStrike">
              <a:solidFill>
                <a:srgbClr val="000000"/>
              </a:solidFill>
              <a:latin typeface="Arial"/>
            </a:endParaRPr>
          </a:p>
        </p:txBody>
      </p:sp>
      <p:sp>
        <p:nvSpPr>
          <p:cNvPr id="149" name="Shape 18"/>
          <p:cNvSpPr/>
          <p:nvPr/>
        </p:nvSpPr>
        <p:spPr>
          <a:xfrm>
            <a:off x="548640" y="5468040"/>
            <a:ext cx="4937400" cy="56664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 name="Text 19"/>
          <p:cNvSpPr/>
          <p:nvPr/>
        </p:nvSpPr>
        <p:spPr>
          <a:xfrm>
            <a:off x="621720" y="5468040"/>
            <a:ext cx="479124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50" spc="-1" strike="noStrike">
                <a:solidFill>
                  <a:srgbClr val="ffffff"/>
                </a:solidFill>
                <a:latin typeface="Calibri"/>
                <a:ea typeface="Calibri"/>
              </a:rPr>
              <a:t>…</a:t>
            </a:r>
            <a:r>
              <a:rPr b="0" lang="en-US" sz="1150" spc="-1" strike="noStrike">
                <a:solidFill>
                  <a:srgbClr val="ffffff"/>
                </a:solidFill>
                <a:latin typeface="Calibri"/>
                <a:ea typeface="Calibri"/>
              </a:rPr>
              <a:t>later, politely:  “Download Haben: The Deafblind Woman…, Downloaded”</a:t>
            </a:r>
            <a:endParaRPr b="0" lang="en-US" sz="1150" spc="-1" strike="noStrike">
              <a:solidFill>
                <a:srgbClr val="000000"/>
              </a:solidFill>
              <a:latin typeface="Arial"/>
            </a:endParaRPr>
          </a:p>
        </p:txBody>
      </p:sp>
      <p:sp>
        <p:nvSpPr>
          <p:cNvPr id="151" name="Shape 20"/>
          <p:cNvSpPr/>
          <p:nvPr/>
        </p:nvSpPr>
        <p:spPr>
          <a:xfrm>
            <a:off x="5897880" y="1783080"/>
            <a:ext cx="5760360" cy="2742840"/>
          </a:xfrm>
          <a:prstGeom prst="roundRect">
            <a:avLst>
              <a:gd name="adj" fmla="val 4000"/>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Text 21"/>
          <p:cNvSpPr/>
          <p:nvPr/>
        </p:nvSpPr>
        <p:spPr>
          <a:xfrm>
            <a:off x="6126480" y="1984320"/>
            <a:ext cx="5394600" cy="2422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onClick = onDownloadClick,</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enabled = state == </a:t>
            </a:r>
            <a:r>
              <a:rPr b="0" lang="en-US" sz="1300" spc="-1" strike="noStrike">
                <a:solidFill>
                  <a:srgbClr val="8ab4f8"/>
                </a:solidFill>
                <a:latin typeface="Consolas"/>
                <a:ea typeface="Consolas"/>
              </a:rPr>
              <a:t>Available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modifier = </a:t>
            </a:r>
            <a:r>
              <a:rPr b="0" lang="en-US" sz="1300" spc="-1" strike="noStrike">
                <a:solidFill>
                  <a:srgbClr val="8ab4f8"/>
                </a:solidFill>
                <a:latin typeface="Consolas"/>
                <a:ea typeface="Consolas"/>
              </a:rPr>
              <a:t>Modifier</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semantics</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"Download ${book.title}"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stateDescription</a:t>
            </a:r>
            <a:r>
              <a:rPr b="0" lang="en-US" sz="1300" spc="-1" strike="noStrike">
                <a:solidFill>
                  <a:srgbClr val="dce3ec"/>
                </a:solidFill>
                <a:latin typeface="Consolas"/>
                <a:ea typeface="Consolas"/>
              </a:rPr>
              <a:t> = state.label</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liveRegion</a:t>
            </a:r>
            <a:r>
              <a:rPr b="0" lang="en-US" sz="1300" spc="-1" strike="noStrike">
                <a:solidFill>
                  <a:srgbClr val="dce3ec"/>
                </a:solidFill>
                <a:latin typeface="Consolas"/>
                <a:ea typeface="Consolas"/>
              </a:rPr>
              <a:t> = </a:t>
            </a:r>
            <a:r>
              <a:rPr b="1" lang="en-US" sz="1300" spc="-1" strike="noStrike">
                <a:solidFill>
                  <a:srgbClr val="3ddc84"/>
                </a:solidFill>
                <a:latin typeface="Consolas"/>
                <a:ea typeface="Consolas"/>
              </a:rPr>
              <a:t>LiveRegionMode</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Polite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 </a:t>
            </a:r>
            <a:r>
              <a:rPr b="0" lang="en-US" sz="1300" spc="-1" strike="noStrike">
                <a:solidFill>
                  <a:srgbClr val="8ab4f8"/>
                </a:solidFill>
                <a:latin typeface="Consolas"/>
                <a:ea typeface="Consolas"/>
              </a:rPr>
              <a:t>DownloadIcon</a:t>
            </a:r>
            <a:r>
              <a:rPr b="0" lang="en-US" sz="1300" spc="-1" strike="noStrike">
                <a:solidFill>
                  <a:srgbClr val="dce3ec"/>
                </a:solidFill>
                <a:latin typeface="Consolas"/>
                <a:ea typeface="Consolas"/>
              </a:rPr>
              <a:t>(state) }</a:t>
            </a:r>
            <a:endParaRPr b="0" lang="en-US" sz="1300" spc="-1" strike="noStrike">
              <a:solidFill>
                <a:srgbClr val="000000"/>
              </a:solidFill>
              <a:latin typeface="Arial"/>
            </a:endParaRPr>
          </a:p>
        </p:txBody>
      </p:sp>
      <p:sp>
        <p:nvSpPr>
          <p:cNvPr id="153" name="Text 22"/>
          <p:cNvSpPr/>
          <p:nvPr/>
        </p:nvSpPr>
        <p:spPr>
          <a:xfrm>
            <a:off x="10652760" y="185616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154" name="Shape 23"/>
          <p:cNvSpPr/>
          <p:nvPr/>
        </p:nvSpPr>
        <p:spPr>
          <a:xfrm>
            <a:off x="5897880" y="4709160"/>
            <a:ext cx="2834280" cy="1325520"/>
          </a:xfrm>
          <a:prstGeom prst="roundRect">
            <a:avLst>
              <a:gd name="adj" fmla="val 6897"/>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5" name="Text 24"/>
          <p:cNvSpPr/>
          <p:nvPr/>
        </p:nvSpPr>
        <p:spPr>
          <a:xfrm>
            <a:off x="6062400" y="4818960"/>
            <a:ext cx="255996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0a7d43"/>
                </a:solidFill>
                <a:latin typeface="Consolas"/>
                <a:ea typeface="Consolas"/>
              </a:rPr>
              <a:t>LiveRegionMode.Polite</a:t>
            </a:r>
            <a:endParaRPr b="0" lang="en-US" sz="1250" spc="-1" strike="noStrike">
              <a:solidFill>
                <a:srgbClr val="000000"/>
              </a:solidFill>
              <a:latin typeface="Arial"/>
            </a:endParaRPr>
          </a:p>
        </p:txBody>
      </p:sp>
      <p:sp>
        <p:nvSpPr>
          <p:cNvPr id="156" name="Text 25"/>
          <p:cNvSpPr/>
          <p:nvPr/>
        </p:nvSpPr>
        <p:spPr>
          <a:xfrm>
            <a:off x="6062400" y="5139000"/>
            <a:ext cx="255996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Waits until TalkBack is idle, then announces.</a:t>
            </a:r>
            <a:endParaRPr b="0" lang="en-US" sz="1200" spc="-1" strike="noStrike">
              <a:solidFill>
                <a:srgbClr val="000000"/>
              </a:solidFill>
              <a:latin typeface="Arial"/>
            </a:endParaRPr>
          </a:p>
        </p:txBody>
      </p:sp>
      <p:sp>
        <p:nvSpPr>
          <p:cNvPr id="157" name="Text 26"/>
          <p:cNvSpPr/>
          <p:nvPr/>
        </p:nvSpPr>
        <p:spPr>
          <a:xfrm>
            <a:off x="6062400" y="5559480"/>
            <a:ext cx="25599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e.g. Download finished, item added</a:t>
            </a:r>
            <a:endParaRPr b="0" lang="en-US" sz="1150" spc="-1" strike="noStrike">
              <a:solidFill>
                <a:srgbClr val="000000"/>
              </a:solidFill>
              <a:latin typeface="Arial"/>
            </a:endParaRPr>
          </a:p>
        </p:txBody>
      </p:sp>
      <p:sp>
        <p:nvSpPr>
          <p:cNvPr id="158" name="Shape 27"/>
          <p:cNvSpPr/>
          <p:nvPr/>
        </p:nvSpPr>
        <p:spPr>
          <a:xfrm>
            <a:off x="8823960" y="4709160"/>
            <a:ext cx="2834280" cy="1325520"/>
          </a:xfrm>
          <a:prstGeom prst="roundRect">
            <a:avLst>
              <a:gd name="adj" fmla="val 6897"/>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Text 28"/>
          <p:cNvSpPr/>
          <p:nvPr/>
        </p:nvSpPr>
        <p:spPr>
          <a:xfrm>
            <a:off x="8988480" y="4818960"/>
            <a:ext cx="255996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c62828"/>
                </a:solidFill>
                <a:latin typeface="Consolas"/>
                <a:ea typeface="Consolas"/>
              </a:rPr>
              <a:t>LiveRegionMode.Assertive</a:t>
            </a:r>
            <a:endParaRPr b="0" lang="en-US" sz="1250" spc="-1" strike="noStrike">
              <a:solidFill>
                <a:srgbClr val="000000"/>
              </a:solidFill>
              <a:latin typeface="Arial"/>
            </a:endParaRPr>
          </a:p>
        </p:txBody>
      </p:sp>
      <p:sp>
        <p:nvSpPr>
          <p:cNvPr id="160" name="Text 29"/>
          <p:cNvSpPr/>
          <p:nvPr/>
        </p:nvSpPr>
        <p:spPr>
          <a:xfrm>
            <a:off x="8988480" y="5139000"/>
            <a:ext cx="255996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Interrupts whatever is being read.</a:t>
            </a:r>
            <a:endParaRPr b="0" lang="en-US" sz="1200" spc="-1" strike="noStrike">
              <a:solidFill>
                <a:srgbClr val="000000"/>
              </a:solidFill>
              <a:latin typeface="Arial"/>
            </a:endParaRPr>
          </a:p>
        </p:txBody>
      </p:sp>
      <p:sp>
        <p:nvSpPr>
          <p:cNvPr id="161" name="Text 30"/>
          <p:cNvSpPr/>
          <p:nvPr/>
        </p:nvSpPr>
        <p:spPr>
          <a:xfrm>
            <a:off x="8988480" y="5559480"/>
            <a:ext cx="25599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e.g. Payment failed, login failed</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Shape 0"/>
          <p:cNvSpPr/>
          <p:nvPr/>
        </p:nvSpPr>
        <p:spPr>
          <a:xfrm>
            <a:off x="548640" y="384120"/>
            <a:ext cx="1449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Text 1"/>
          <p:cNvSpPr/>
          <p:nvPr/>
        </p:nvSpPr>
        <p:spPr>
          <a:xfrm>
            <a:off x="548640" y="384120"/>
            <a:ext cx="1449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03 · GROUPING</a:t>
            </a:r>
            <a:endParaRPr b="0" lang="en-US" sz="1100" spc="-1" strike="noStrike">
              <a:solidFill>
                <a:srgbClr val="000000"/>
              </a:solidFill>
              <a:latin typeface="Arial"/>
            </a:endParaRPr>
          </a:p>
        </p:txBody>
      </p:sp>
      <p:sp>
        <p:nvSpPr>
          <p:cNvPr id="164"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One list item should be one stop, not five</a:t>
            </a:r>
            <a:endParaRPr b="0" lang="en-US" sz="3200" spc="-1" strike="noStrike">
              <a:solidFill>
                <a:srgbClr val="000000"/>
              </a:solidFill>
              <a:latin typeface="Arial"/>
            </a:endParaRPr>
          </a:p>
        </p:txBody>
      </p:sp>
      <p:sp>
        <p:nvSpPr>
          <p:cNvPr id="165" name="Shape 3"/>
          <p:cNvSpPr/>
          <p:nvPr/>
        </p:nvSpPr>
        <p:spPr>
          <a:xfrm>
            <a:off x="54864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6" name="Text 4"/>
          <p:cNvSpPr/>
          <p:nvPr/>
        </p:nvSpPr>
        <p:spPr>
          <a:xfrm>
            <a:off x="73152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c62828"/>
                </a:solidFill>
                <a:latin typeface="Calibri"/>
                <a:ea typeface="Calibri"/>
              </a:rPr>
              <a:t>No grouping</a:t>
            </a:r>
            <a:endParaRPr b="0" lang="en-US" sz="1500" spc="-1" strike="noStrike">
              <a:solidFill>
                <a:srgbClr val="000000"/>
              </a:solidFill>
              <a:latin typeface="Arial"/>
            </a:endParaRPr>
          </a:p>
        </p:txBody>
      </p:sp>
      <p:sp>
        <p:nvSpPr>
          <p:cNvPr id="167" name="Shape 5"/>
          <p:cNvSpPr/>
          <p:nvPr/>
        </p:nvSpPr>
        <p:spPr>
          <a:xfrm>
            <a:off x="73152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8" name="Image 0" descr="preencoded.png"/>
          <p:cNvPicPr/>
          <p:nvPr/>
        </p:nvPicPr>
        <p:blipFill>
          <a:blip r:embed="rId1"/>
          <a:stretch/>
        </p:blipFill>
        <p:spPr>
          <a:xfrm>
            <a:off x="841320" y="2619720"/>
            <a:ext cx="292320" cy="292320"/>
          </a:xfrm>
          <a:prstGeom prst="rect">
            <a:avLst/>
          </a:prstGeom>
          <a:ln w="0">
            <a:noFill/>
          </a:ln>
        </p:spPr>
      </p:pic>
      <p:pic>
        <p:nvPicPr>
          <p:cNvPr id="169" name="Image 1" descr="preencoded.png"/>
          <p:cNvPicPr/>
          <p:nvPr/>
        </p:nvPicPr>
        <p:blipFill>
          <a:blip r:embed="rId2"/>
          <a:stretch/>
        </p:blipFill>
        <p:spPr>
          <a:xfrm>
            <a:off x="3483720" y="2619720"/>
            <a:ext cx="292320" cy="292320"/>
          </a:xfrm>
          <a:prstGeom prst="rect">
            <a:avLst/>
          </a:prstGeom>
          <a:ln w="0">
            <a:noFill/>
          </a:ln>
        </p:spPr>
      </p:pic>
      <p:sp>
        <p:nvSpPr>
          <p:cNvPr id="170" name="Text 6"/>
          <p:cNvSpPr/>
          <p:nvPr/>
        </p:nvSpPr>
        <p:spPr>
          <a:xfrm>
            <a:off x="122544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171" name="Text 7"/>
          <p:cNvSpPr/>
          <p:nvPr/>
        </p:nvSpPr>
        <p:spPr>
          <a:xfrm>
            <a:off x="248220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172" name="Text 8"/>
          <p:cNvSpPr/>
          <p:nvPr/>
        </p:nvSpPr>
        <p:spPr>
          <a:xfrm>
            <a:off x="122544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173" name="Shape 9"/>
          <p:cNvSpPr/>
          <p:nvPr/>
        </p:nvSpPr>
        <p:spPr>
          <a:xfrm>
            <a:off x="78624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4" name="Shape 10"/>
          <p:cNvSpPr/>
          <p:nvPr/>
        </p:nvSpPr>
        <p:spPr>
          <a:xfrm>
            <a:off x="1197720" y="2468880"/>
            <a:ext cx="1256400" cy="292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Shape 11"/>
          <p:cNvSpPr/>
          <p:nvPr/>
        </p:nvSpPr>
        <p:spPr>
          <a:xfrm>
            <a:off x="2525400" y="2468880"/>
            <a:ext cx="909720" cy="292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Shape 12"/>
          <p:cNvSpPr/>
          <p:nvPr/>
        </p:nvSpPr>
        <p:spPr>
          <a:xfrm>
            <a:off x="1197720" y="2770560"/>
            <a:ext cx="2221560" cy="301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7" name="Shape 13"/>
          <p:cNvSpPr/>
          <p:nvPr/>
        </p:nvSpPr>
        <p:spPr>
          <a:xfrm>
            <a:off x="342900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8" name="Text 14"/>
          <p:cNvSpPr/>
          <p:nvPr/>
        </p:nvSpPr>
        <p:spPr>
          <a:xfrm>
            <a:off x="73152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c62828"/>
                </a:solidFill>
                <a:latin typeface="Arial"/>
                <a:ea typeface="Arial"/>
              </a:rPr>
              <a:t>5</a:t>
            </a:r>
            <a:endParaRPr b="0" lang="en-US" sz="5400" spc="-1" strike="noStrike">
              <a:solidFill>
                <a:srgbClr val="000000"/>
              </a:solidFill>
              <a:latin typeface="Arial"/>
            </a:endParaRPr>
          </a:p>
        </p:txBody>
      </p:sp>
      <p:sp>
        <p:nvSpPr>
          <p:cNvPr id="179" name="Text 15"/>
          <p:cNvSpPr/>
          <p:nvPr/>
        </p:nvSpPr>
        <p:spPr>
          <a:xfrm>
            <a:off x="150876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swipes per row</a:t>
            </a:r>
            <a:endParaRPr b="0" lang="en-US" sz="1400" spc="-1" strike="noStrike">
              <a:solidFill>
                <a:srgbClr val="000000"/>
              </a:solidFill>
              <a:latin typeface="Arial"/>
            </a:endParaRPr>
          </a:p>
        </p:txBody>
      </p:sp>
      <p:sp>
        <p:nvSpPr>
          <p:cNvPr id="180" name="Text 16"/>
          <p:cNvSpPr/>
          <p:nvPr/>
        </p:nvSpPr>
        <p:spPr>
          <a:xfrm>
            <a:off x="73152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Star, name, date, subject, delete — tedious in a long list.</a:t>
            </a:r>
            <a:endParaRPr b="0" lang="en-US" sz="1250" spc="-1" strike="noStrike">
              <a:solidFill>
                <a:srgbClr val="000000"/>
              </a:solidFill>
              <a:latin typeface="Arial"/>
            </a:endParaRPr>
          </a:p>
        </p:txBody>
      </p:sp>
      <p:sp>
        <p:nvSpPr>
          <p:cNvPr id="181" name="Shape 17"/>
          <p:cNvSpPr/>
          <p:nvPr/>
        </p:nvSpPr>
        <p:spPr>
          <a:xfrm>
            <a:off x="73152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Text 18"/>
          <p:cNvSpPr/>
          <p:nvPr/>
        </p:nvSpPr>
        <p:spPr>
          <a:xfrm>
            <a:off x="84132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Row</a:t>
            </a:r>
            <a:r>
              <a:rPr b="0" lang="en-US" sz="1050" spc="-1" strike="noStrike">
                <a:solidFill>
                  <a:srgbClr val="dce3ec"/>
                </a:solidFill>
                <a:latin typeface="Consolas"/>
                <a:ea typeface="Consolas"/>
              </a:rPr>
              <a:t> { </a:t>
            </a:r>
            <a:r>
              <a:rPr b="0" lang="en-US" sz="1050" spc="-1" strike="noStrike">
                <a:solidFill>
                  <a:srgbClr val="8ab4f8"/>
                </a:solidFill>
                <a:latin typeface="Consolas"/>
                <a:ea typeface="Consolas"/>
              </a:rPr>
              <a:t>Star</a:t>
            </a: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Texts</a:t>
            </a: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Delete</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p:txBody>
      </p:sp>
      <p:sp>
        <p:nvSpPr>
          <p:cNvPr id="183" name="Shape 19"/>
          <p:cNvSpPr/>
          <p:nvPr/>
        </p:nvSpPr>
        <p:spPr>
          <a:xfrm>
            <a:off x="429768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4" name="Text 20"/>
          <p:cNvSpPr/>
          <p:nvPr/>
        </p:nvSpPr>
        <p:spPr>
          <a:xfrm>
            <a:off x="448056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b26a00"/>
                </a:solidFill>
                <a:latin typeface="Consolas"/>
                <a:ea typeface="Consolas"/>
              </a:rPr>
              <a:t>mergeDescendants = true</a:t>
            </a:r>
            <a:endParaRPr b="0" lang="en-US" sz="1350" spc="-1" strike="noStrike">
              <a:solidFill>
                <a:srgbClr val="000000"/>
              </a:solidFill>
              <a:latin typeface="Arial"/>
            </a:endParaRPr>
          </a:p>
        </p:txBody>
      </p:sp>
      <p:sp>
        <p:nvSpPr>
          <p:cNvPr id="185" name="Shape 21"/>
          <p:cNvSpPr/>
          <p:nvPr/>
        </p:nvSpPr>
        <p:spPr>
          <a:xfrm>
            <a:off x="448056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86" name="Image 2" descr="preencoded.png"/>
          <p:cNvPicPr/>
          <p:nvPr/>
        </p:nvPicPr>
        <p:blipFill>
          <a:blip r:embed="rId3"/>
          <a:stretch/>
        </p:blipFill>
        <p:spPr>
          <a:xfrm>
            <a:off x="4590360" y="2619720"/>
            <a:ext cx="292320" cy="292320"/>
          </a:xfrm>
          <a:prstGeom prst="rect">
            <a:avLst/>
          </a:prstGeom>
          <a:ln w="0">
            <a:noFill/>
          </a:ln>
        </p:spPr>
      </p:pic>
      <p:pic>
        <p:nvPicPr>
          <p:cNvPr id="187" name="Image 3" descr="preencoded.png"/>
          <p:cNvPicPr/>
          <p:nvPr/>
        </p:nvPicPr>
        <p:blipFill>
          <a:blip r:embed="rId4"/>
          <a:stretch/>
        </p:blipFill>
        <p:spPr>
          <a:xfrm>
            <a:off x="7232760" y="2619720"/>
            <a:ext cx="292320" cy="292320"/>
          </a:xfrm>
          <a:prstGeom prst="rect">
            <a:avLst/>
          </a:prstGeom>
          <a:ln w="0">
            <a:noFill/>
          </a:ln>
        </p:spPr>
      </p:pic>
      <p:sp>
        <p:nvSpPr>
          <p:cNvPr id="188" name="Text 22"/>
          <p:cNvSpPr/>
          <p:nvPr/>
        </p:nvSpPr>
        <p:spPr>
          <a:xfrm>
            <a:off x="497448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189" name="Text 23"/>
          <p:cNvSpPr/>
          <p:nvPr/>
        </p:nvSpPr>
        <p:spPr>
          <a:xfrm>
            <a:off x="623124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190" name="Text 24"/>
          <p:cNvSpPr/>
          <p:nvPr/>
        </p:nvSpPr>
        <p:spPr>
          <a:xfrm>
            <a:off x="497448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191" name="Shape 25"/>
          <p:cNvSpPr/>
          <p:nvPr/>
        </p:nvSpPr>
        <p:spPr>
          <a:xfrm>
            <a:off x="453528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2" name="Shape 26"/>
          <p:cNvSpPr/>
          <p:nvPr/>
        </p:nvSpPr>
        <p:spPr>
          <a:xfrm>
            <a:off x="4928760" y="2441520"/>
            <a:ext cx="2258280" cy="6487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3" name="Shape 27"/>
          <p:cNvSpPr/>
          <p:nvPr/>
        </p:nvSpPr>
        <p:spPr>
          <a:xfrm>
            <a:off x="717804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4" name="Text 28"/>
          <p:cNvSpPr/>
          <p:nvPr/>
        </p:nvSpPr>
        <p:spPr>
          <a:xfrm>
            <a:off x="448056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b26a00"/>
                </a:solidFill>
                <a:latin typeface="Arial"/>
                <a:ea typeface="Arial"/>
              </a:rPr>
              <a:t>3</a:t>
            </a:r>
            <a:endParaRPr b="0" lang="en-US" sz="5400" spc="-1" strike="noStrike">
              <a:solidFill>
                <a:srgbClr val="000000"/>
              </a:solidFill>
              <a:latin typeface="Arial"/>
            </a:endParaRPr>
          </a:p>
        </p:txBody>
      </p:sp>
      <p:sp>
        <p:nvSpPr>
          <p:cNvPr id="195" name="Text 29"/>
          <p:cNvSpPr/>
          <p:nvPr/>
        </p:nvSpPr>
        <p:spPr>
          <a:xfrm>
            <a:off x="525780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swipes per row</a:t>
            </a:r>
            <a:endParaRPr b="0" lang="en-US" sz="1400" spc="-1" strike="noStrike">
              <a:solidFill>
                <a:srgbClr val="000000"/>
              </a:solidFill>
              <a:latin typeface="Arial"/>
            </a:endParaRPr>
          </a:p>
        </p:txBody>
      </p:sp>
      <p:sp>
        <p:nvSpPr>
          <p:cNvPr id="196" name="Text 30"/>
          <p:cNvSpPr/>
          <p:nvPr/>
        </p:nvSpPr>
        <p:spPr>
          <a:xfrm>
            <a:off x="448056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Text is concatenated. Buttons still separate: it won’t merge children that merge themselves.</a:t>
            </a:r>
            <a:endParaRPr b="0" lang="en-US" sz="1250" spc="-1" strike="noStrike">
              <a:solidFill>
                <a:srgbClr val="000000"/>
              </a:solidFill>
              <a:latin typeface="Arial"/>
            </a:endParaRPr>
          </a:p>
        </p:txBody>
      </p:sp>
      <p:sp>
        <p:nvSpPr>
          <p:cNvPr id="197" name="Shape 31"/>
          <p:cNvSpPr/>
          <p:nvPr/>
        </p:nvSpPr>
        <p:spPr>
          <a:xfrm>
            <a:off x="448056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Text 32"/>
          <p:cNvSpPr/>
          <p:nvPr/>
        </p:nvSpPr>
        <p:spPr>
          <a:xfrm>
            <a:off x="459036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Column</a:t>
            </a: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Modifier</a:t>
            </a:r>
            <a:r>
              <a:rPr b="0" lang="en-US" sz="1050" spc="-1" strike="noStrike">
                <a:solidFill>
                  <a:srgbClr val="dce3ec"/>
                </a:solidFill>
                <a:latin typeface="Consolas"/>
                <a:ea typeface="Consolas"/>
              </a:rPr>
              <a:t>.</a:t>
            </a:r>
            <a:r>
              <a:rPr b="1" lang="en-US" sz="1050" spc="-1" strike="noStrike">
                <a:solidFill>
                  <a:srgbClr val="3ddc84"/>
                </a:solidFill>
                <a:latin typeface="Consolas"/>
                <a:ea typeface="Consolas"/>
              </a:rPr>
              <a:t>semantics</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mergeDescendants</a:t>
            </a:r>
            <a:r>
              <a:rPr b="0" lang="en-US" sz="1050" spc="-1" strike="noStrike">
                <a:solidFill>
                  <a:srgbClr val="dce3ec"/>
                </a:solidFill>
                <a:latin typeface="Consolas"/>
                <a:ea typeface="Consolas"/>
              </a:rPr>
              <a:t> = </a:t>
            </a:r>
            <a:r>
              <a:rPr b="0" lang="en-US" sz="1050" spc="-1" strike="noStrike">
                <a:solidFill>
                  <a:srgbClr val="ff8fc7"/>
                </a:solidFill>
                <a:latin typeface="Consolas"/>
                <a:ea typeface="Consolas"/>
              </a:rPr>
              <a:t>true</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p:txBody>
      </p:sp>
      <p:sp>
        <p:nvSpPr>
          <p:cNvPr id="199" name="Shape 33"/>
          <p:cNvSpPr/>
          <p:nvPr/>
        </p:nvSpPr>
        <p:spPr>
          <a:xfrm>
            <a:off x="804672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0" name="Text 34"/>
          <p:cNvSpPr/>
          <p:nvPr/>
        </p:nvSpPr>
        <p:spPr>
          <a:xfrm>
            <a:off x="822960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0a7d43"/>
                </a:solidFill>
                <a:latin typeface="Consolas"/>
                <a:ea typeface="Consolas"/>
              </a:rPr>
              <a:t>clearAndSetSemantics</a:t>
            </a:r>
            <a:endParaRPr b="0" lang="en-US" sz="1350" spc="-1" strike="noStrike">
              <a:solidFill>
                <a:srgbClr val="000000"/>
              </a:solidFill>
              <a:latin typeface="Arial"/>
            </a:endParaRPr>
          </a:p>
        </p:txBody>
      </p:sp>
      <p:sp>
        <p:nvSpPr>
          <p:cNvPr id="201" name="Shape 35"/>
          <p:cNvSpPr/>
          <p:nvPr/>
        </p:nvSpPr>
        <p:spPr>
          <a:xfrm>
            <a:off x="822960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02" name="Image 4" descr="preencoded.png"/>
          <p:cNvPicPr/>
          <p:nvPr/>
        </p:nvPicPr>
        <p:blipFill>
          <a:blip r:embed="rId5"/>
          <a:stretch/>
        </p:blipFill>
        <p:spPr>
          <a:xfrm>
            <a:off x="8339400" y="2619720"/>
            <a:ext cx="292320" cy="292320"/>
          </a:xfrm>
          <a:prstGeom prst="rect">
            <a:avLst/>
          </a:prstGeom>
          <a:ln w="0">
            <a:noFill/>
          </a:ln>
        </p:spPr>
      </p:pic>
      <p:pic>
        <p:nvPicPr>
          <p:cNvPr id="203" name="Image 5" descr="preencoded.png"/>
          <p:cNvPicPr/>
          <p:nvPr/>
        </p:nvPicPr>
        <p:blipFill>
          <a:blip r:embed="rId6"/>
          <a:stretch/>
        </p:blipFill>
        <p:spPr>
          <a:xfrm>
            <a:off x="10981800" y="2619720"/>
            <a:ext cx="292320" cy="292320"/>
          </a:xfrm>
          <a:prstGeom prst="rect">
            <a:avLst/>
          </a:prstGeom>
          <a:ln w="0">
            <a:noFill/>
          </a:ln>
        </p:spPr>
      </p:pic>
      <p:sp>
        <p:nvSpPr>
          <p:cNvPr id="204" name="Text 36"/>
          <p:cNvSpPr/>
          <p:nvPr/>
        </p:nvSpPr>
        <p:spPr>
          <a:xfrm>
            <a:off x="872352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205" name="Text 37"/>
          <p:cNvSpPr/>
          <p:nvPr/>
        </p:nvSpPr>
        <p:spPr>
          <a:xfrm>
            <a:off x="998028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206" name="Text 38"/>
          <p:cNvSpPr/>
          <p:nvPr/>
        </p:nvSpPr>
        <p:spPr>
          <a:xfrm>
            <a:off x="872352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207" name="Shape 39"/>
          <p:cNvSpPr/>
          <p:nvPr/>
        </p:nvSpPr>
        <p:spPr>
          <a:xfrm>
            <a:off x="8192880" y="2340720"/>
            <a:ext cx="3227400" cy="8499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8" name="Text 40"/>
          <p:cNvSpPr/>
          <p:nvPr/>
        </p:nvSpPr>
        <p:spPr>
          <a:xfrm>
            <a:off x="822960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0a7d43"/>
                </a:solidFill>
                <a:latin typeface="Arial"/>
                <a:ea typeface="Arial"/>
              </a:rPr>
              <a:t>1</a:t>
            </a:r>
            <a:endParaRPr b="0" lang="en-US" sz="5400" spc="-1" strike="noStrike">
              <a:solidFill>
                <a:srgbClr val="000000"/>
              </a:solidFill>
              <a:latin typeface="Arial"/>
            </a:endParaRPr>
          </a:p>
        </p:txBody>
      </p:sp>
      <p:sp>
        <p:nvSpPr>
          <p:cNvPr id="209" name="Text 41"/>
          <p:cNvSpPr/>
          <p:nvPr/>
        </p:nvSpPr>
        <p:spPr>
          <a:xfrm>
            <a:off x="900684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 + actions menu</a:t>
            </a:r>
            <a:endParaRPr b="0" lang="en-US" sz="1400" spc="-1" strike="noStrike">
              <a:solidFill>
                <a:srgbClr val="000000"/>
              </a:solidFill>
              <a:latin typeface="Arial"/>
            </a:endParaRPr>
          </a:p>
        </p:txBody>
      </p:sp>
      <p:sp>
        <p:nvSpPr>
          <p:cNvPr id="210" name="Text 42"/>
          <p:cNvSpPr/>
          <p:nvPr/>
        </p:nvSpPr>
        <p:spPr>
          <a:xfrm>
            <a:off x="822960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You write the sentence. Star / Delete move into TalkBack’s Actions menu.</a:t>
            </a:r>
            <a:endParaRPr b="0" lang="en-US" sz="1250" spc="-1" strike="noStrike">
              <a:solidFill>
                <a:srgbClr val="000000"/>
              </a:solidFill>
              <a:latin typeface="Arial"/>
            </a:endParaRPr>
          </a:p>
        </p:txBody>
      </p:sp>
      <p:sp>
        <p:nvSpPr>
          <p:cNvPr id="211" name="Shape 43"/>
          <p:cNvSpPr/>
          <p:nvPr/>
        </p:nvSpPr>
        <p:spPr>
          <a:xfrm>
            <a:off x="822960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Text 44"/>
          <p:cNvSpPr/>
          <p:nvPr/>
        </p:nvSpPr>
        <p:spPr>
          <a:xfrm>
            <a:off x="833940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Row</a:t>
            </a: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Modifier</a:t>
            </a:r>
            <a:r>
              <a:rPr b="0" lang="en-US" sz="1050" spc="-1" strike="noStrike">
                <a:solidFill>
                  <a:srgbClr val="dce3ec"/>
                </a:solidFill>
                <a:latin typeface="Consolas"/>
                <a:ea typeface="Consolas"/>
              </a:rPr>
              <a:t>.</a:t>
            </a:r>
            <a:r>
              <a:rPr b="1" lang="en-US" sz="1050" spc="-1" strike="noStrike">
                <a:solidFill>
                  <a:srgbClr val="3ddc84"/>
                </a:solidFill>
                <a:latin typeface="Consolas"/>
                <a:ea typeface="Consolas"/>
              </a:rPr>
              <a:t>clearAndSetSemantics</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contentDescription</a:t>
            </a:r>
            <a:r>
              <a:rPr b="0" lang="en-US" sz="1050" spc="-1" strike="noStrike">
                <a:solidFill>
                  <a:srgbClr val="dce3ec"/>
                </a:solidFill>
                <a:latin typeface="Consolas"/>
                <a:ea typeface="Consolas"/>
              </a:rPr>
              <a:t> =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customActions</a:t>
            </a:r>
            <a:r>
              <a:rPr b="0" lang="en-US" sz="1050" spc="-1" strike="noStrike">
                <a:solidFill>
                  <a:srgbClr val="dce3ec"/>
                </a:solidFill>
                <a:latin typeface="Consolas"/>
                <a:ea typeface="Consolas"/>
              </a:rPr>
              <a:t> =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p:txBody>
      </p:sp>
      <p:sp>
        <p:nvSpPr>
          <p:cNvPr id="213" name="Text 45"/>
          <p:cNvSpPr/>
          <p:nvPr/>
        </p:nvSpPr>
        <p:spPr>
          <a:xfrm>
            <a:off x="548640" y="6355080"/>
            <a:ext cx="110638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200" spc="-1" strike="noStrike">
                <a:solidFill>
                  <a:srgbClr val="5b6472"/>
                </a:solidFill>
                <a:latin typeface="Calibri"/>
                <a:ea typeface="Calibri"/>
              </a:rPr>
              <a:t>Concatenation isn’t understanding: a merged revenue table reads “February, 143K, 4.8%, 3.9K”. Complex content needs a sentence you write.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 name="Shape 0"/>
          <p:cNvSpPr/>
          <p:nvPr/>
        </p:nvSpPr>
        <p:spPr>
          <a:xfrm>
            <a:off x="548640" y="384120"/>
            <a:ext cx="1449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5" name="Text 1"/>
          <p:cNvSpPr/>
          <p:nvPr/>
        </p:nvSpPr>
        <p:spPr>
          <a:xfrm>
            <a:off x="548640" y="384120"/>
            <a:ext cx="1449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03 · GROUPING</a:t>
            </a:r>
            <a:endParaRPr b="0" lang="en-US" sz="1100" spc="-1" strike="noStrike">
              <a:solidFill>
                <a:srgbClr val="000000"/>
              </a:solidFill>
              <a:latin typeface="Arial"/>
            </a:endParaRPr>
          </a:p>
        </p:txBody>
      </p:sp>
      <p:sp>
        <p:nvSpPr>
          <p:cNvPr id="216"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800" spc="-1" strike="noStrike">
                <a:solidFill>
                  <a:srgbClr val="1b2330"/>
                </a:solidFill>
                <a:latin typeface="Consolas"/>
                <a:ea typeface="Consolas"/>
              </a:rPr>
              <a:t>clearAndSetSemantics + customActions</a:t>
            </a:r>
            <a:endParaRPr b="0" lang="en-US" sz="2800" spc="-1" strike="noStrike">
              <a:solidFill>
                <a:srgbClr val="000000"/>
              </a:solidFill>
              <a:latin typeface="Arial"/>
            </a:endParaRPr>
          </a:p>
        </p:txBody>
      </p:sp>
      <p:sp>
        <p:nvSpPr>
          <p:cNvPr id="217" name="Shape 3"/>
          <p:cNvSpPr/>
          <p:nvPr/>
        </p:nvSpPr>
        <p:spPr>
          <a:xfrm>
            <a:off x="548640" y="1737360"/>
            <a:ext cx="6811920" cy="4160160"/>
          </a:xfrm>
          <a:prstGeom prst="roundRect">
            <a:avLst>
              <a:gd name="adj" fmla="val 263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Text 4"/>
          <p:cNvSpPr/>
          <p:nvPr/>
        </p:nvSpPr>
        <p:spPr>
          <a:xfrm>
            <a:off x="777240" y="1938600"/>
            <a:ext cx="6446160" cy="384012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8ab4f8"/>
                </a:solidFill>
                <a:latin typeface="Consolas"/>
                <a:ea typeface="Consolas"/>
              </a:rPr>
              <a:t>Row</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Modifier</a:t>
            </a:r>
            <a:r>
              <a:rPr b="0" lang="en-US" sz="1200" spc="-1" strike="noStrike">
                <a:solidFill>
                  <a:srgbClr val="dce3ec"/>
                </a:solidFill>
                <a:latin typeface="Consolas"/>
                <a:ea typeface="Consolas"/>
              </a:rPr>
              <a:t>.</a:t>
            </a:r>
            <a:r>
              <a:rPr b="1" lang="en-US" sz="1200" spc="-1" strike="noStrike">
                <a:solidFill>
                  <a:srgbClr val="3ddc84"/>
                </a:solidFill>
                <a:latin typeface="Consolas"/>
                <a:ea typeface="Consolas"/>
              </a:rPr>
              <a:t>clearAndSetSemantics</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contentDescription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"${item.name}, ${item.dateTime}, ${item.subject}"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stateDescription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if</a:t>
            </a:r>
            <a:r>
              <a:rPr b="0" lang="en-US" sz="1200" spc="-1" strike="noStrike">
                <a:solidFill>
                  <a:srgbClr val="dce3ec"/>
                </a:solidFill>
                <a:latin typeface="Consolas"/>
                <a:ea typeface="Consolas"/>
              </a:rPr>
              <a:t> (isStarred) </a:t>
            </a:r>
            <a:r>
              <a:rPr b="0" lang="en-US" sz="1200" spc="-1" strike="noStrike">
                <a:solidFill>
                  <a:srgbClr val="b5e48c"/>
                </a:solidFill>
                <a:latin typeface="Consolas"/>
                <a:ea typeface="Consolas"/>
              </a:rPr>
              <a:t>"Starred"</a:t>
            </a: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else</a:t>
            </a: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"Not starred"</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customActions</a:t>
            </a:r>
            <a:r>
              <a:rPr b="0" lang="en-US" sz="1200" spc="-1" strike="noStrike">
                <a:solidFill>
                  <a:srgbClr val="dce3ec"/>
                </a:solidFill>
                <a:latin typeface="Consolas"/>
                <a:ea typeface="Consolas"/>
              </a:rPr>
              <a:t> = listOf(</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CustomAccessibilityAction</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if</a:t>
            </a:r>
            <a:r>
              <a:rPr b="0" lang="en-US" sz="1200" spc="-1" strike="noStrike">
                <a:solidFill>
                  <a:srgbClr val="dce3ec"/>
                </a:solidFill>
                <a:latin typeface="Consolas"/>
                <a:ea typeface="Consolas"/>
              </a:rPr>
              <a:t> (isStarred) </a:t>
            </a:r>
            <a:r>
              <a:rPr b="0" lang="en-US" sz="1200" spc="-1" strike="noStrike">
                <a:solidFill>
                  <a:srgbClr val="b5e48c"/>
                </a:solidFill>
                <a:latin typeface="Consolas"/>
                <a:ea typeface="Consolas"/>
              </a:rPr>
              <a:t>"Unstar message"</a:t>
            </a: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else</a:t>
            </a: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"Star message"</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 { isStarred = !isStarred; </a:t>
            </a:r>
            <a:r>
              <a:rPr b="0" lang="en-US" sz="1200" spc="-1" strike="noStrike">
                <a:solidFill>
                  <a:srgbClr val="ff8fc7"/>
                </a:solidFill>
                <a:latin typeface="Consolas"/>
                <a:ea typeface="Consolas"/>
              </a:rPr>
              <a:t>true</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CustomAccessibilityAction</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"Delete message from ${item.name}: ${item.subject}"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 { onDelete(); </a:t>
            </a:r>
            <a:r>
              <a:rPr b="0" lang="en-US" sz="1200" spc="-1" strike="noStrike">
                <a:solidFill>
                  <a:srgbClr val="ff8fc7"/>
                </a:solidFill>
                <a:latin typeface="Consolas"/>
                <a:ea typeface="Consolas"/>
              </a:rPr>
              <a:t>true</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 </a:t>
            </a:r>
            <a:r>
              <a:rPr b="0" lang="en-US" sz="1200" spc="-1" strike="noStrike">
                <a:solidFill>
                  <a:srgbClr val="8ab4f8"/>
                </a:solidFill>
                <a:latin typeface="Consolas"/>
                <a:ea typeface="Consolas"/>
              </a:rPr>
              <a:t>StarToggle</a:t>
            </a: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InboxText</a:t>
            </a: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DeleteButton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p:txBody>
      </p:sp>
      <p:sp>
        <p:nvSpPr>
          <p:cNvPr id="219" name="Text 5"/>
          <p:cNvSpPr/>
          <p:nvPr/>
        </p:nvSpPr>
        <p:spPr>
          <a:xfrm>
            <a:off x="6355080" y="18104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220" name="Text 6"/>
          <p:cNvSpPr/>
          <p:nvPr/>
        </p:nvSpPr>
        <p:spPr>
          <a:xfrm>
            <a:off x="548640" y="6035040"/>
            <a:ext cx="6811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5b3fd6"/>
                </a:solidFill>
                <a:latin typeface="Calibri"/>
                <a:ea typeface="Calibri"/>
              </a:rPr>
              <a:t>Same pattern for feed cards: </a:t>
            </a:r>
            <a:r>
              <a:rPr b="0" lang="en-US" sz="1250" spc="-1" strike="noStrike">
                <a:solidFill>
                  <a:srgbClr val="333b48"/>
                </a:solidFill>
                <a:latin typeface="Calibri"/>
                <a:ea typeface="Calibri"/>
              </a:rPr>
              <a:t>“Post by Jane in Android Devs, 2 hours ago, photo of a mountain trail, 120 likes, 14 comments” + Like · Comment · Share actions.</a:t>
            </a:r>
            <a:endParaRPr b="0" lang="en-US" sz="1250" spc="-1" strike="noStrike">
              <a:solidFill>
                <a:srgbClr val="000000"/>
              </a:solidFill>
              <a:latin typeface="Arial"/>
            </a:endParaRPr>
          </a:p>
        </p:txBody>
      </p:sp>
      <p:sp>
        <p:nvSpPr>
          <p:cNvPr id="221" name="Shape 7"/>
          <p:cNvSpPr/>
          <p:nvPr/>
        </p:nvSpPr>
        <p:spPr>
          <a:xfrm>
            <a:off x="8001000" y="1600200"/>
            <a:ext cx="3611520" cy="4983120"/>
          </a:xfrm>
          <a:prstGeom prst="roundRect">
            <a:avLst>
              <a:gd name="adj" fmla="val 8101"/>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Shape 8"/>
          <p:cNvSpPr/>
          <p:nvPr/>
        </p:nvSpPr>
        <p:spPr>
          <a:xfrm>
            <a:off x="8101440" y="1700640"/>
            <a:ext cx="3410280" cy="4781880"/>
          </a:xfrm>
          <a:prstGeom prst="roundRect">
            <a:avLst>
              <a:gd name="adj" fmla="val 6434"/>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23" name="Image 0" descr="preencoded.png"/>
          <p:cNvPicPr/>
          <p:nvPr/>
        </p:nvPicPr>
        <p:blipFill>
          <a:blip r:embed="rId1"/>
          <a:stretch/>
        </p:blipFill>
        <p:spPr>
          <a:xfrm>
            <a:off x="8284320" y="1974960"/>
            <a:ext cx="273960" cy="273960"/>
          </a:xfrm>
          <a:prstGeom prst="rect">
            <a:avLst/>
          </a:prstGeom>
          <a:ln w="0">
            <a:noFill/>
          </a:ln>
        </p:spPr>
      </p:pic>
      <p:sp>
        <p:nvSpPr>
          <p:cNvPr id="224" name="Text 9"/>
          <p:cNvSpPr/>
          <p:nvPr/>
        </p:nvSpPr>
        <p:spPr>
          <a:xfrm>
            <a:off x="8695800" y="1929240"/>
            <a:ext cx="2285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b2330"/>
                </a:solidFill>
                <a:latin typeface="Calibri"/>
                <a:ea typeface="Calibri"/>
              </a:rPr>
              <a:t>Messages</a:t>
            </a:r>
            <a:endParaRPr b="0" lang="en-US" sz="1600" spc="-1" strike="noStrike">
              <a:solidFill>
                <a:srgbClr val="000000"/>
              </a:solidFill>
              <a:latin typeface="Arial"/>
            </a:endParaRPr>
          </a:p>
        </p:txBody>
      </p:sp>
      <p:sp>
        <p:nvSpPr>
          <p:cNvPr id="225" name="Shape 10"/>
          <p:cNvSpPr/>
          <p:nvPr/>
        </p:nvSpPr>
        <p:spPr>
          <a:xfrm>
            <a:off x="8192880" y="2477880"/>
            <a:ext cx="3227400" cy="73116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26" name="Image 1" descr="preencoded.png"/>
          <p:cNvPicPr/>
          <p:nvPr/>
        </p:nvPicPr>
        <p:blipFill>
          <a:blip r:embed="rId2"/>
          <a:stretch/>
        </p:blipFill>
        <p:spPr>
          <a:xfrm>
            <a:off x="8302680" y="2697480"/>
            <a:ext cx="292320" cy="292320"/>
          </a:xfrm>
          <a:prstGeom prst="rect">
            <a:avLst/>
          </a:prstGeom>
          <a:ln w="0">
            <a:noFill/>
          </a:ln>
        </p:spPr>
      </p:pic>
      <p:pic>
        <p:nvPicPr>
          <p:cNvPr id="227" name="Image 2" descr="preencoded.png"/>
          <p:cNvPicPr/>
          <p:nvPr/>
        </p:nvPicPr>
        <p:blipFill>
          <a:blip r:embed="rId3"/>
          <a:stretch/>
        </p:blipFill>
        <p:spPr>
          <a:xfrm>
            <a:off x="11018520" y="2697480"/>
            <a:ext cx="292320" cy="292320"/>
          </a:xfrm>
          <a:prstGeom prst="rect">
            <a:avLst/>
          </a:prstGeom>
          <a:ln w="0">
            <a:noFill/>
          </a:ln>
        </p:spPr>
      </p:pic>
      <p:sp>
        <p:nvSpPr>
          <p:cNvPr id="228" name="Text 11"/>
          <p:cNvSpPr/>
          <p:nvPr/>
        </p:nvSpPr>
        <p:spPr>
          <a:xfrm>
            <a:off x="8686800" y="2595240"/>
            <a:ext cx="1298880" cy="2484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229" name="Text 12"/>
          <p:cNvSpPr/>
          <p:nvPr/>
        </p:nvSpPr>
        <p:spPr>
          <a:xfrm>
            <a:off x="9986040" y="2595240"/>
            <a:ext cx="940680" cy="24840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 9:20 AM</a:t>
            </a:r>
            <a:endParaRPr b="0" lang="en-US" sz="950" spc="-1" strike="noStrike">
              <a:solidFill>
                <a:srgbClr val="000000"/>
              </a:solidFill>
              <a:latin typeface="Arial"/>
            </a:endParaRPr>
          </a:p>
        </p:txBody>
      </p:sp>
      <p:sp>
        <p:nvSpPr>
          <p:cNvPr id="230" name="Text 13"/>
          <p:cNvSpPr/>
          <p:nvPr/>
        </p:nvSpPr>
        <p:spPr>
          <a:xfrm>
            <a:off x="8686800" y="2858400"/>
            <a:ext cx="2239920" cy="248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231" name="Shape 14"/>
          <p:cNvSpPr/>
          <p:nvPr/>
        </p:nvSpPr>
        <p:spPr>
          <a:xfrm>
            <a:off x="8192880" y="3237120"/>
            <a:ext cx="3227400" cy="73116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32" name="Image 3" descr="preencoded.png"/>
          <p:cNvPicPr/>
          <p:nvPr/>
        </p:nvPicPr>
        <p:blipFill>
          <a:blip r:embed="rId4"/>
          <a:stretch/>
        </p:blipFill>
        <p:spPr>
          <a:xfrm>
            <a:off x="8302680" y="3456360"/>
            <a:ext cx="292320" cy="292320"/>
          </a:xfrm>
          <a:prstGeom prst="rect">
            <a:avLst/>
          </a:prstGeom>
          <a:ln w="0">
            <a:noFill/>
          </a:ln>
        </p:spPr>
      </p:pic>
      <p:pic>
        <p:nvPicPr>
          <p:cNvPr id="233" name="Image 4" descr="preencoded.png"/>
          <p:cNvPicPr/>
          <p:nvPr/>
        </p:nvPicPr>
        <p:blipFill>
          <a:blip r:embed="rId5"/>
          <a:stretch/>
        </p:blipFill>
        <p:spPr>
          <a:xfrm>
            <a:off x="11018520" y="3456360"/>
            <a:ext cx="292320" cy="292320"/>
          </a:xfrm>
          <a:prstGeom prst="rect">
            <a:avLst/>
          </a:prstGeom>
          <a:ln w="0">
            <a:noFill/>
          </a:ln>
        </p:spPr>
      </p:pic>
      <p:sp>
        <p:nvSpPr>
          <p:cNvPr id="234" name="Text 15"/>
          <p:cNvSpPr/>
          <p:nvPr/>
        </p:nvSpPr>
        <p:spPr>
          <a:xfrm>
            <a:off x="8686800" y="3354120"/>
            <a:ext cx="1298880" cy="2484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Priya Shah</a:t>
            </a:r>
            <a:endParaRPr b="0" lang="en-US" sz="1150" spc="-1" strike="noStrike">
              <a:solidFill>
                <a:srgbClr val="000000"/>
              </a:solidFill>
              <a:latin typeface="Arial"/>
            </a:endParaRPr>
          </a:p>
        </p:txBody>
      </p:sp>
      <p:sp>
        <p:nvSpPr>
          <p:cNvPr id="235" name="Text 16"/>
          <p:cNvSpPr/>
          <p:nvPr/>
        </p:nvSpPr>
        <p:spPr>
          <a:xfrm>
            <a:off x="9986040" y="3354120"/>
            <a:ext cx="940680" cy="24840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 10:45 AM</a:t>
            </a:r>
            <a:endParaRPr b="0" lang="en-US" sz="950" spc="-1" strike="noStrike">
              <a:solidFill>
                <a:srgbClr val="000000"/>
              </a:solidFill>
              <a:latin typeface="Arial"/>
            </a:endParaRPr>
          </a:p>
        </p:txBody>
      </p:sp>
      <p:sp>
        <p:nvSpPr>
          <p:cNvPr id="236" name="Text 17"/>
          <p:cNvSpPr/>
          <p:nvPr/>
        </p:nvSpPr>
        <p:spPr>
          <a:xfrm>
            <a:off x="8686800" y="3617280"/>
            <a:ext cx="2239920" cy="248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Draft agenda for design review</a:t>
            </a:r>
            <a:endParaRPr b="0" lang="en-US" sz="1050" spc="-1" strike="noStrike">
              <a:solidFill>
                <a:srgbClr val="000000"/>
              </a:solidFill>
              <a:latin typeface="Arial"/>
            </a:endParaRPr>
          </a:p>
        </p:txBody>
      </p:sp>
      <p:sp>
        <p:nvSpPr>
          <p:cNvPr id="237" name="Shape 18"/>
          <p:cNvSpPr/>
          <p:nvPr/>
        </p:nvSpPr>
        <p:spPr>
          <a:xfrm>
            <a:off x="8174880" y="2459880"/>
            <a:ext cx="3264120" cy="76788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8" name="Shape 19"/>
          <p:cNvSpPr/>
          <p:nvPr/>
        </p:nvSpPr>
        <p:spPr>
          <a:xfrm>
            <a:off x="8211240" y="4032360"/>
            <a:ext cx="3191040" cy="45684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Text 20"/>
          <p:cNvSpPr/>
          <p:nvPr/>
        </p:nvSpPr>
        <p:spPr>
          <a:xfrm>
            <a:off x="8284320" y="403236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Actions available, use tap with 3 fingers to view</a:t>
            </a:r>
            <a:endParaRPr b="0" lang="en-US" sz="1050" spc="-1" strike="noStrike">
              <a:solidFill>
                <a:srgbClr val="000000"/>
              </a:solidFill>
              <a:latin typeface="Arial"/>
            </a:endParaRPr>
          </a:p>
        </p:txBody>
      </p:sp>
      <p:sp>
        <p:nvSpPr>
          <p:cNvPr id="240" name="Shape 21"/>
          <p:cNvSpPr/>
          <p:nvPr/>
        </p:nvSpPr>
        <p:spPr>
          <a:xfrm>
            <a:off x="8156520" y="4581000"/>
            <a:ext cx="3300480" cy="1810080"/>
          </a:xfrm>
          <a:prstGeom prst="roundRect">
            <a:avLst>
              <a:gd name="adj" fmla="val 10101"/>
            </a:avLst>
          </a:prstGeom>
          <a:solidFill>
            <a:srgbClr val="2a2a2e"/>
          </a:solidFill>
          <a:ln w="12700">
            <a:solidFill>
              <a:srgbClr val="2a2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1" name="Text 22"/>
          <p:cNvSpPr/>
          <p:nvPr/>
        </p:nvSpPr>
        <p:spPr>
          <a:xfrm>
            <a:off x="8375760" y="4690800"/>
            <a:ext cx="18284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Calibri"/>
                <a:ea typeface="Calibri"/>
              </a:rPr>
              <a:t>Actions</a:t>
            </a:r>
            <a:endParaRPr b="0" lang="en-US" sz="1400" spc="-1" strike="noStrike">
              <a:solidFill>
                <a:srgbClr val="000000"/>
              </a:solidFill>
              <a:latin typeface="Arial"/>
            </a:endParaRPr>
          </a:p>
        </p:txBody>
      </p:sp>
      <p:sp>
        <p:nvSpPr>
          <p:cNvPr id="242" name="Text 23"/>
          <p:cNvSpPr/>
          <p:nvPr/>
        </p:nvSpPr>
        <p:spPr>
          <a:xfrm>
            <a:off x="8375760" y="5038200"/>
            <a:ext cx="295308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ffffff"/>
                </a:solidFill>
                <a:latin typeface="Calibri"/>
                <a:ea typeface="Calibri"/>
              </a:rPr>
              <a:t>Star message</a:t>
            </a:r>
            <a:endParaRPr b="0" lang="en-US" sz="1250" spc="-1" strike="noStrike">
              <a:solidFill>
                <a:srgbClr val="000000"/>
              </a:solidFill>
              <a:latin typeface="Arial"/>
            </a:endParaRPr>
          </a:p>
        </p:txBody>
      </p:sp>
      <p:sp>
        <p:nvSpPr>
          <p:cNvPr id="243" name="Text 24"/>
          <p:cNvSpPr/>
          <p:nvPr/>
        </p:nvSpPr>
        <p:spPr>
          <a:xfrm>
            <a:off x="8375760" y="5403960"/>
            <a:ext cx="290736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ffffff"/>
                </a:solidFill>
                <a:latin typeface="Calibri"/>
                <a:ea typeface="Calibri"/>
              </a:rPr>
              <a:t>Delete message from Avery Johnson: Please add contentDescriptions</a:t>
            </a:r>
            <a:endParaRPr b="0" lang="en-US" sz="1200" spc="-1" strike="noStrike">
              <a:solidFill>
                <a:srgbClr val="000000"/>
              </a:solidFill>
              <a:latin typeface="Arial"/>
            </a:endParaRPr>
          </a:p>
        </p:txBody>
      </p:sp>
      <p:sp>
        <p:nvSpPr>
          <p:cNvPr id="244" name="Shape 25"/>
          <p:cNvSpPr/>
          <p:nvPr/>
        </p:nvSpPr>
        <p:spPr>
          <a:xfrm>
            <a:off x="8284320" y="5358240"/>
            <a:ext cx="3044520" cy="56664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5" name="Text 26"/>
          <p:cNvSpPr/>
          <p:nvPr/>
        </p:nvSpPr>
        <p:spPr>
          <a:xfrm>
            <a:off x="8375760" y="6026040"/>
            <a:ext cx="286164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50" spc="-1" strike="noStrike">
                <a:solidFill>
                  <a:srgbClr val="ffffff"/>
                </a:solidFill>
                <a:latin typeface="Calibri"/>
                <a:ea typeface="Calibri"/>
              </a:rPr>
              <a:t>Close</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246" name="Shape 0"/>
          <p:cNvSpPr/>
          <p:nvPr/>
        </p:nvSpPr>
        <p:spPr>
          <a:xfrm>
            <a:off x="548640" y="384120"/>
            <a:ext cx="2025000" cy="328680"/>
          </a:xfrm>
          <a:prstGeom prst="roundRect">
            <a:avLst>
              <a:gd name="adj" fmla="val 50000"/>
            </a:avLst>
          </a:prstGeom>
          <a:solidFill>
            <a:srgbClr val="1a2a42"/>
          </a:solidFill>
          <a:ln w="12700">
            <a:solidFill>
              <a:srgbClr val="1a2a4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3ddc84"/>
                </a:solidFill>
                <a:latin typeface="Calibri"/>
                <a:ea typeface="Calibri"/>
              </a:rPr>
              <a:t>04 · STREAMING TEXT</a:t>
            </a:r>
            <a:endParaRPr b="0" lang="en-US" sz="1100" spc="-1" strike="noStrike">
              <a:solidFill>
                <a:srgbClr val="ffffff"/>
              </a:solidFill>
              <a:latin typeface="Arial"/>
            </a:endParaRPr>
          </a:p>
        </p:txBody>
      </p:sp>
      <p:sp>
        <p:nvSpPr>
          <p:cNvPr id="248" name="Text 2"/>
          <p:cNvSpPr/>
          <p:nvPr/>
        </p:nvSpPr>
        <p:spPr>
          <a:xfrm>
            <a:off x="548640" y="868680"/>
            <a:ext cx="69490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ffffff"/>
                </a:solidFill>
                <a:latin typeface="Arial"/>
                <a:ea typeface="Arial"/>
              </a:rPr>
              <a:t>Streaming AI responses</a:t>
            </a:r>
            <a:endParaRPr b="0" lang="en-US" sz="3200" spc="-1" strike="noStrike">
              <a:solidFill>
                <a:srgbClr val="ffffff"/>
              </a:solidFill>
              <a:latin typeface="Arial"/>
            </a:endParaRPr>
          </a:p>
        </p:txBody>
      </p:sp>
      <p:sp>
        <p:nvSpPr>
          <p:cNvPr id="249" name="Text 3"/>
          <p:cNvSpPr/>
          <p:nvPr/>
        </p:nvSpPr>
        <p:spPr>
          <a:xfrm>
            <a:off x="548640" y="1737360"/>
            <a:ext cx="658332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c9d3e3"/>
                </a:solidFill>
                <a:latin typeface="Calibri"/>
                <a:ea typeface="Calibri"/>
              </a:rPr>
              <a:t>Words fade in one by one. To animate each word, each word becomes its own composable — so with no semantics, TalkBack reads one word per swipe.</a:t>
            </a:r>
            <a:endParaRPr b="0" lang="en-US" sz="1700" spc="-1" strike="noStrike">
              <a:solidFill>
                <a:srgbClr val="ffffff"/>
              </a:solidFill>
              <a:latin typeface="Arial"/>
            </a:endParaRPr>
          </a:p>
        </p:txBody>
      </p:sp>
      <p:sp>
        <p:nvSpPr>
          <p:cNvPr id="250" name="Shape 4"/>
          <p:cNvSpPr/>
          <p:nvPr/>
        </p:nvSpPr>
        <p:spPr>
          <a:xfrm>
            <a:off x="548640" y="2834640"/>
            <a:ext cx="6583320" cy="1965600"/>
          </a:xfrm>
          <a:prstGeom prst="roundRect">
            <a:avLst>
              <a:gd name="adj" fmla="val 5581"/>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Text 5"/>
          <p:cNvSpPr/>
          <p:nvPr/>
        </p:nvSpPr>
        <p:spPr>
          <a:xfrm>
            <a:off x="777240" y="3035880"/>
            <a:ext cx="6217560" cy="164556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FlowRow</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Modifier</a:t>
            </a:r>
            <a:r>
              <a:rPr b="0" lang="en-US" sz="1300" spc="-1" strike="noStrike">
                <a:solidFill>
                  <a:srgbClr val="dce3ec"/>
                </a:solidFill>
                <a:latin typeface="Consolas"/>
                <a:ea typeface="Consolas"/>
              </a:rPr>
              <a:t>.fillMaxWidth()) {</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words.take(visibleWordCount).forEachIndexed { i, word -&gt;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key(</a:t>
            </a:r>
            <a:r>
              <a:rPr b="0" lang="en-US" sz="1300" spc="-1" strike="noStrike">
                <a:solidFill>
                  <a:srgbClr val="b5e48c"/>
                </a:solidFill>
                <a:latin typeface="Consolas"/>
                <a:ea typeface="Consolas"/>
              </a:rPr>
              <a:t>"p$p-w$i"</a:t>
            </a:r>
            <a:r>
              <a:rPr b="0" lang="en-US" sz="1300" spc="-1" strike="noStrike">
                <a:solidFill>
                  <a:srgbClr val="dce3ec"/>
                </a:solidFill>
                <a:latin typeface="Consolas"/>
                <a:ea typeface="Consolas"/>
              </a:rPr>
              <a:t>) {</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FadeInWord</a:t>
            </a:r>
            <a:r>
              <a:rPr b="0" lang="en-US" sz="1300" spc="-1" strike="noStrike">
                <a:solidFill>
                  <a:srgbClr val="dce3ec"/>
                </a:solidFill>
                <a:latin typeface="Consolas"/>
                <a:ea typeface="Consolas"/>
              </a:rPr>
              <a:t>(</a:t>
            </a:r>
            <a:r>
              <a:rPr b="0" lang="en-US" sz="1300" spc="-1" strike="noStrike">
                <a:solidFill>
                  <a:srgbClr val="b5e48c"/>
                </a:solidFill>
                <a:latin typeface="Consolas"/>
                <a:ea typeface="Consolas"/>
              </a:rPr>
              <a:t>"$word "</a:t>
            </a:r>
            <a:r>
              <a:rPr b="0" lang="en-US" sz="1300" spc="-1" strike="noStrike">
                <a:solidFill>
                  <a:srgbClr val="dce3ec"/>
                </a:solidFill>
                <a:latin typeface="Consolas"/>
                <a:ea typeface="Consolas"/>
              </a:rPr>
              <a:t>)   </a:t>
            </a:r>
            <a:r>
              <a:rPr b="0" i="1" lang="en-US" sz="1300" spc="-1" strike="noStrike">
                <a:solidFill>
                  <a:srgbClr val="8b98ad"/>
                </a:solidFill>
                <a:latin typeface="Consolas"/>
                <a:ea typeface="Consolas"/>
              </a:rPr>
              <a:t>// 1 composable per word</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ffffff"/>
              </a:solidFill>
              <a:latin typeface="Arial"/>
            </a:endParaRPr>
          </a:p>
        </p:txBody>
      </p:sp>
      <p:sp>
        <p:nvSpPr>
          <p:cNvPr id="252" name="Text 6"/>
          <p:cNvSpPr/>
          <p:nvPr/>
        </p:nvSpPr>
        <p:spPr>
          <a:xfrm>
            <a:off x="6126480" y="290772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ffffff"/>
              </a:solidFill>
              <a:latin typeface="Arial"/>
            </a:endParaRPr>
          </a:p>
        </p:txBody>
      </p:sp>
      <p:sp>
        <p:nvSpPr>
          <p:cNvPr id="253" name="Text 7"/>
          <p:cNvSpPr/>
          <p:nvPr/>
        </p:nvSpPr>
        <p:spPr>
          <a:xfrm>
            <a:off x="548640" y="5074920"/>
            <a:ext cx="658332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i="1" lang="en-US" sz="2100" spc="-1" strike="noStrike">
                <a:solidFill>
                  <a:srgbClr val="3ddc84"/>
                </a:solidFill>
                <a:latin typeface="Calibri"/>
                <a:ea typeface="Calibri"/>
              </a:rPr>
              <a:t>“</a:t>
            </a:r>
            <a:r>
              <a:rPr b="1" i="1" lang="en-US" sz="2100" spc="-1" strike="noStrike">
                <a:solidFill>
                  <a:srgbClr val="3ddc84"/>
                </a:solidFill>
                <a:latin typeface="Calibri"/>
                <a:ea typeface="Calibri"/>
              </a:rPr>
              <a:t>Would you listen to an audiobook where you had to swipe for every single word?”</a:t>
            </a:r>
            <a:endParaRPr b="0" lang="en-US" sz="2100" spc="-1" strike="noStrike">
              <a:solidFill>
                <a:srgbClr val="ffffff"/>
              </a:solidFill>
              <a:latin typeface="Arial"/>
            </a:endParaRPr>
          </a:p>
        </p:txBody>
      </p:sp>
      <p:sp>
        <p:nvSpPr>
          <p:cNvPr id="254" name="Shape 8"/>
          <p:cNvSpPr/>
          <p:nvPr/>
        </p:nvSpPr>
        <p:spPr>
          <a:xfrm>
            <a:off x="8138160" y="640080"/>
            <a:ext cx="3291480" cy="5668920"/>
          </a:xfrm>
          <a:prstGeom prst="roundRect">
            <a:avLst>
              <a:gd name="adj" fmla="val 8889"/>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Shape 9"/>
          <p:cNvSpPr/>
          <p:nvPr/>
        </p:nvSpPr>
        <p:spPr>
          <a:xfrm>
            <a:off x="8238600" y="740520"/>
            <a:ext cx="3090240" cy="5467680"/>
          </a:xfrm>
          <a:prstGeom prst="roundRect">
            <a:avLst>
              <a:gd name="adj" fmla="val 7101"/>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6" name="Text 10"/>
          <p:cNvSpPr/>
          <p:nvPr/>
        </p:nvSpPr>
        <p:spPr>
          <a:xfrm>
            <a:off x="8421480" y="1060560"/>
            <a:ext cx="371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The</a:t>
            </a:r>
            <a:endParaRPr b="0" lang="en-US" sz="1200" spc="-1" strike="noStrike">
              <a:solidFill>
                <a:srgbClr val="ffffff"/>
              </a:solidFill>
              <a:latin typeface="Arial"/>
            </a:endParaRPr>
          </a:p>
        </p:txBody>
      </p:sp>
      <p:sp>
        <p:nvSpPr>
          <p:cNvPr id="257" name="Text 11"/>
          <p:cNvSpPr/>
          <p:nvPr/>
        </p:nvSpPr>
        <p:spPr>
          <a:xfrm>
            <a:off x="8726400" y="1060560"/>
            <a:ext cx="8290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Americans</a:t>
            </a:r>
            <a:endParaRPr b="0" lang="en-US" sz="1200" spc="-1" strike="noStrike">
              <a:solidFill>
                <a:srgbClr val="ffffff"/>
              </a:solidFill>
              <a:latin typeface="Arial"/>
            </a:endParaRPr>
          </a:p>
        </p:txBody>
      </p:sp>
      <p:sp>
        <p:nvSpPr>
          <p:cNvPr id="258" name="Text 12"/>
          <p:cNvSpPr/>
          <p:nvPr/>
        </p:nvSpPr>
        <p:spPr>
          <a:xfrm>
            <a:off x="9488880" y="1060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with</a:t>
            </a:r>
            <a:endParaRPr b="0" lang="en-US" sz="1200" spc="-1" strike="noStrike">
              <a:solidFill>
                <a:srgbClr val="ffffff"/>
              </a:solidFill>
              <a:latin typeface="Arial"/>
            </a:endParaRPr>
          </a:p>
        </p:txBody>
      </p:sp>
      <p:sp>
        <p:nvSpPr>
          <p:cNvPr id="259" name="Text 13"/>
          <p:cNvSpPr/>
          <p:nvPr/>
        </p:nvSpPr>
        <p:spPr>
          <a:xfrm>
            <a:off x="9802080" y="1060560"/>
            <a:ext cx="8377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Disabilities</a:t>
            </a:r>
            <a:endParaRPr b="0" lang="en-US" sz="1200" spc="-1" strike="noStrike">
              <a:solidFill>
                <a:srgbClr val="ffffff"/>
              </a:solidFill>
              <a:latin typeface="Arial"/>
            </a:endParaRPr>
          </a:p>
        </p:txBody>
      </p:sp>
      <p:sp>
        <p:nvSpPr>
          <p:cNvPr id="260" name="Text 14"/>
          <p:cNvSpPr/>
          <p:nvPr/>
        </p:nvSpPr>
        <p:spPr>
          <a:xfrm>
            <a:off x="10572840" y="1060560"/>
            <a:ext cx="3294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Act</a:t>
            </a:r>
            <a:endParaRPr b="0" lang="en-US" sz="1200" spc="-1" strike="noStrike">
              <a:solidFill>
                <a:srgbClr val="ffffff"/>
              </a:solidFill>
              <a:latin typeface="Arial"/>
            </a:endParaRPr>
          </a:p>
        </p:txBody>
      </p:sp>
      <p:sp>
        <p:nvSpPr>
          <p:cNvPr id="261" name="Text 15"/>
          <p:cNvSpPr/>
          <p:nvPr/>
        </p:nvSpPr>
        <p:spPr>
          <a:xfrm>
            <a:off x="10835280" y="1060560"/>
            <a:ext cx="219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is</a:t>
            </a:r>
            <a:endParaRPr b="0" lang="en-US" sz="1200" spc="-1" strike="noStrike">
              <a:solidFill>
                <a:srgbClr val="ffffff"/>
              </a:solidFill>
              <a:latin typeface="Arial"/>
            </a:endParaRPr>
          </a:p>
        </p:txBody>
      </p:sp>
      <p:sp>
        <p:nvSpPr>
          <p:cNvPr id="262" name="Text 16"/>
          <p:cNvSpPr/>
          <p:nvPr/>
        </p:nvSpPr>
        <p:spPr>
          <a:xfrm>
            <a:off x="10987920" y="1060560"/>
            <a:ext cx="19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a:t>
            </a:r>
            <a:endParaRPr b="0" lang="en-US" sz="1200" spc="-1" strike="noStrike">
              <a:solidFill>
                <a:srgbClr val="ffffff"/>
              </a:solidFill>
              <a:latin typeface="Arial"/>
            </a:endParaRPr>
          </a:p>
        </p:txBody>
      </p:sp>
      <p:sp>
        <p:nvSpPr>
          <p:cNvPr id="263" name="Text 17"/>
          <p:cNvSpPr/>
          <p:nvPr/>
        </p:nvSpPr>
        <p:spPr>
          <a:xfrm>
            <a:off x="8421480" y="1344240"/>
            <a:ext cx="5752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federal</a:t>
            </a:r>
            <a:endParaRPr b="0" lang="en-US" sz="1200" spc="-1" strike="noStrike">
              <a:solidFill>
                <a:srgbClr val="ffffff"/>
              </a:solidFill>
              <a:latin typeface="Arial"/>
            </a:endParaRPr>
          </a:p>
        </p:txBody>
      </p:sp>
      <p:sp>
        <p:nvSpPr>
          <p:cNvPr id="264" name="Text 18"/>
          <p:cNvSpPr/>
          <p:nvPr/>
        </p:nvSpPr>
        <p:spPr>
          <a:xfrm>
            <a:off x="8929800" y="1344240"/>
            <a:ext cx="3632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civil</a:t>
            </a:r>
            <a:endParaRPr b="0" lang="en-US" sz="1200" spc="-1" strike="noStrike">
              <a:solidFill>
                <a:srgbClr val="ffffff"/>
              </a:solidFill>
              <a:latin typeface="Arial"/>
            </a:endParaRPr>
          </a:p>
        </p:txBody>
      </p:sp>
      <p:sp>
        <p:nvSpPr>
          <p:cNvPr id="265" name="Text 19"/>
          <p:cNvSpPr/>
          <p:nvPr/>
        </p:nvSpPr>
        <p:spPr>
          <a:xfrm>
            <a:off x="9226440" y="1344240"/>
            <a:ext cx="482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rights</a:t>
            </a:r>
            <a:endParaRPr b="0" lang="en-US" sz="1200" spc="-1" strike="noStrike">
              <a:solidFill>
                <a:srgbClr val="ffffff"/>
              </a:solidFill>
              <a:latin typeface="Arial"/>
            </a:endParaRPr>
          </a:p>
        </p:txBody>
      </p:sp>
      <p:sp>
        <p:nvSpPr>
          <p:cNvPr id="266" name="Text 20"/>
          <p:cNvSpPr/>
          <p:nvPr/>
        </p:nvSpPr>
        <p:spPr>
          <a:xfrm>
            <a:off x="9641160" y="1344240"/>
            <a:ext cx="338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law</a:t>
            </a:r>
            <a:endParaRPr b="0" lang="en-US" sz="1200" spc="-1" strike="noStrike">
              <a:solidFill>
                <a:srgbClr val="ffffff"/>
              </a:solidFill>
              <a:latin typeface="Arial"/>
            </a:endParaRPr>
          </a:p>
        </p:txBody>
      </p:sp>
      <p:sp>
        <p:nvSpPr>
          <p:cNvPr id="267" name="Text 21"/>
          <p:cNvSpPr/>
          <p:nvPr/>
        </p:nvSpPr>
        <p:spPr>
          <a:xfrm>
            <a:off x="9912240" y="134424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that</a:t>
            </a:r>
            <a:endParaRPr b="0" lang="en-US" sz="1200" spc="-1" strike="noStrike">
              <a:solidFill>
                <a:srgbClr val="ffffff"/>
              </a:solidFill>
              <a:latin typeface="Arial"/>
            </a:endParaRPr>
          </a:p>
        </p:txBody>
      </p:sp>
      <p:sp>
        <p:nvSpPr>
          <p:cNvPr id="268" name="Text 22"/>
          <p:cNvSpPr/>
          <p:nvPr/>
        </p:nvSpPr>
        <p:spPr>
          <a:xfrm>
            <a:off x="10208880" y="1344240"/>
            <a:ext cx="6854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prohibits</a:t>
            </a:r>
            <a:endParaRPr b="0" lang="en-US" sz="1200" spc="-1" strike="noStrike">
              <a:solidFill>
                <a:srgbClr val="ffffff"/>
              </a:solidFill>
              <a:latin typeface="Arial"/>
            </a:endParaRPr>
          </a:p>
        </p:txBody>
      </p:sp>
      <p:sp>
        <p:nvSpPr>
          <p:cNvPr id="269" name="Shape 23"/>
          <p:cNvSpPr/>
          <p:nvPr/>
        </p:nvSpPr>
        <p:spPr>
          <a:xfrm>
            <a:off x="10163160" y="1353240"/>
            <a:ext cx="667080" cy="2649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0" name="Text 24"/>
          <p:cNvSpPr/>
          <p:nvPr/>
        </p:nvSpPr>
        <p:spPr>
          <a:xfrm>
            <a:off x="8421480" y="1627560"/>
            <a:ext cx="10411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discrimination</a:t>
            </a:r>
            <a:endParaRPr b="0" lang="en-US" sz="1200" spc="-1" strike="noStrike">
              <a:solidFill>
                <a:srgbClr val="ffffff"/>
              </a:solidFill>
              <a:latin typeface="Arial"/>
            </a:endParaRPr>
          </a:p>
        </p:txBody>
      </p:sp>
      <p:sp>
        <p:nvSpPr>
          <p:cNvPr id="271" name="Text 25"/>
          <p:cNvSpPr/>
          <p:nvPr/>
        </p:nvSpPr>
        <p:spPr>
          <a:xfrm>
            <a:off x="9395640" y="1627560"/>
            <a:ext cx="6008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against</a:t>
            </a:r>
            <a:endParaRPr b="0" lang="en-US" sz="1200" spc="-1" strike="noStrike">
              <a:solidFill>
                <a:srgbClr val="ffffff"/>
              </a:solidFill>
              <a:latin typeface="Arial"/>
            </a:endParaRPr>
          </a:p>
        </p:txBody>
      </p:sp>
      <p:sp>
        <p:nvSpPr>
          <p:cNvPr id="272" name="Text 26"/>
          <p:cNvSpPr/>
          <p:nvPr/>
        </p:nvSpPr>
        <p:spPr>
          <a:xfrm>
            <a:off x="9929520" y="1627560"/>
            <a:ext cx="5670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people</a:t>
            </a:r>
            <a:endParaRPr b="0" lang="en-US" sz="1200" spc="-1" strike="noStrike">
              <a:solidFill>
                <a:srgbClr val="ffffff"/>
              </a:solidFill>
              <a:latin typeface="Arial"/>
            </a:endParaRPr>
          </a:p>
        </p:txBody>
      </p:sp>
      <p:sp>
        <p:nvSpPr>
          <p:cNvPr id="273" name="Text 27"/>
          <p:cNvSpPr/>
          <p:nvPr/>
        </p:nvSpPr>
        <p:spPr>
          <a:xfrm>
            <a:off x="10429560" y="1627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with</a:t>
            </a:r>
            <a:endParaRPr b="0" lang="en-US" sz="1200" spc="-1" strike="noStrike">
              <a:solidFill>
                <a:srgbClr val="ffffff"/>
              </a:solidFill>
              <a:latin typeface="Arial"/>
            </a:endParaRPr>
          </a:p>
        </p:txBody>
      </p:sp>
      <p:sp>
        <p:nvSpPr>
          <p:cNvPr id="274" name="Text 28"/>
          <p:cNvSpPr/>
          <p:nvPr/>
        </p:nvSpPr>
        <p:spPr>
          <a:xfrm>
            <a:off x="8421480" y="1911240"/>
            <a:ext cx="812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disabilities</a:t>
            </a:r>
            <a:endParaRPr b="0" lang="en-US" sz="1200" spc="-1" strike="noStrike">
              <a:solidFill>
                <a:srgbClr val="ffffff"/>
              </a:solidFill>
              <a:latin typeface="Arial"/>
            </a:endParaRPr>
          </a:p>
        </p:txBody>
      </p:sp>
      <p:sp>
        <p:nvSpPr>
          <p:cNvPr id="275" name="Text 29"/>
          <p:cNvSpPr/>
          <p:nvPr/>
        </p:nvSpPr>
        <p:spPr>
          <a:xfrm>
            <a:off x="9167040" y="1911240"/>
            <a:ext cx="227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a:t>
            </a:r>
            <a:endParaRPr b="0" lang="en-US" sz="1200" spc="-1" strike="noStrike">
              <a:solidFill>
                <a:srgbClr val="ffffff"/>
              </a:solidFill>
              <a:latin typeface="Arial"/>
            </a:endParaRPr>
          </a:p>
        </p:txBody>
      </p:sp>
      <p:sp>
        <p:nvSpPr>
          <p:cNvPr id="276" name="Text 30"/>
          <p:cNvSpPr/>
          <p:nvPr/>
        </p:nvSpPr>
        <p:spPr>
          <a:xfrm>
            <a:off x="9327960" y="1911240"/>
            <a:ext cx="7279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everyday</a:t>
            </a:r>
            <a:endParaRPr b="0" lang="en-US" sz="1200" spc="-1" strike="noStrike">
              <a:solidFill>
                <a:srgbClr val="ffffff"/>
              </a:solidFill>
              <a:latin typeface="Arial"/>
            </a:endParaRPr>
          </a:p>
        </p:txBody>
      </p:sp>
      <p:sp>
        <p:nvSpPr>
          <p:cNvPr id="277" name="Text 31"/>
          <p:cNvSpPr/>
          <p:nvPr/>
        </p:nvSpPr>
        <p:spPr>
          <a:xfrm>
            <a:off x="9988560" y="1911240"/>
            <a:ext cx="7362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activities.</a:t>
            </a:r>
            <a:endParaRPr b="0" lang="en-US" sz="1200" spc="-1" strike="noStrike">
              <a:solidFill>
                <a:srgbClr val="ffffff"/>
              </a:solidFill>
              <a:latin typeface="Arial"/>
            </a:endParaRPr>
          </a:p>
        </p:txBody>
      </p:sp>
      <p:sp>
        <p:nvSpPr>
          <p:cNvPr id="278" name="Text 32"/>
          <p:cNvSpPr/>
          <p:nvPr/>
        </p:nvSpPr>
        <p:spPr>
          <a:xfrm>
            <a:off x="10657800" y="1911240"/>
            <a:ext cx="19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It</a:t>
            </a:r>
            <a:endParaRPr b="0" lang="en-US" sz="1200" spc="-1" strike="noStrike">
              <a:solidFill>
                <a:srgbClr val="ffffff"/>
              </a:solidFill>
              <a:latin typeface="Arial"/>
            </a:endParaRPr>
          </a:p>
        </p:txBody>
      </p:sp>
      <p:sp>
        <p:nvSpPr>
          <p:cNvPr id="279" name="Text 33"/>
          <p:cNvSpPr/>
          <p:nvPr/>
        </p:nvSpPr>
        <p:spPr>
          <a:xfrm>
            <a:off x="10784880" y="191124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was</a:t>
            </a:r>
            <a:endParaRPr b="0" lang="en-US" sz="1200" spc="-1" strike="noStrike">
              <a:solidFill>
                <a:srgbClr val="ffffff"/>
              </a:solidFill>
              <a:latin typeface="Arial"/>
            </a:endParaRPr>
          </a:p>
        </p:txBody>
      </p:sp>
      <p:sp>
        <p:nvSpPr>
          <p:cNvPr id="280" name="Text 34"/>
          <p:cNvSpPr/>
          <p:nvPr/>
        </p:nvSpPr>
        <p:spPr>
          <a:xfrm>
            <a:off x="8421480" y="2194560"/>
            <a:ext cx="5583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signed</a:t>
            </a:r>
            <a:endParaRPr b="0" lang="en-US" sz="1200" spc="-1" strike="noStrike">
              <a:solidFill>
                <a:srgbClr val="ffffff"/>
              </a:solidFill>
              <a:latin typeface="Arial"/>
            </a:endParaRPr>
          </a:p>
        </p:txBody>
      </p:sp>
      <p:sp>
        <p:nvSpPr>
          <p:cNvPr id="281" name="Text 35"/>
          <p:cNvSpPr/>
          <p:nvPr/>
        </p:nvSpPr>
        <p:spPr>
          <a:xfrm>
            <a:off x="8912880" y="2194560"/>
            <a:ext cx="3549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into</a:t>
            </a:r>
            <a:endParaRPr b="0" lang="en-US" sz="1200" spc="-1" strike="noStrike">
              <a:solidFill>
                <a:srgbClr val="ffffff"/>
              </a:solidFill>
              <a:latin typeface="Arial"/>
            </a:endParaRPr>
          </a:p>
        </p:txBody>
      </p:sp>
      <p:sp>
        <p:nvSpPr>
          <p:cNvPr id="282" name="Text 36"/>
          <p:cNvSpPr/>
          <p:nvPr/>
        </p:nvSpPr>
        <p:spPr>
          <a:xfrm>
            <a:off x="9201240" y="2194560"/>
            <a:ext cx="338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law</a:t>
            </a:r>
            <a:endParaRPr b="0" lang="en-US" sz="1200" spc="-1" strike="noStrike">
              <a:solidFill>
                <a:srgbClr val="ffffff"/>
              </a:solidFill>
              <a:latin typeface="Arial"/>
            </a:endParaRPr>
          </a:p>
        </p:txBody>
      </p:sp>
      <p:sp>
        <p:nvSpPr>
          <p:cNvPr id="283" name="Text 37"/>
          <p:cNvSpPr/>
          <p:nvPr/>
        </p:nvSpPr>
        <p:spPr>
          <a:xfrm>
            <a:off x="9471960" y="2194560"/>
            <a:ext cx="2790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on</a:t>
            </a:r>
            <a:endParaRPr b="0" lang="en-US" sz="1200" spc="-1" strike="noStrike">
              <a:solidFill>
                <a:srgbClr val="ffffff"/>
              </a:solidFill>
              <a:latin typeface="Arial"/>
            </a:endParaRPr>
          </a:p>
        </p:txBody>
      </p:sp>
      <p:sp>
        <p:nvSpPr>
          <p:cNvPr id="284" name="Text 38"/>
          <p:cNvSpPr/>
          <p:nvPr/>
        </p:nvSpPr>
        <p:spPr>
          <a:xfrm>
            <a:off x="9684000" y="2194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July</a:t>
            </a:r>
            <a:endParaRPr b="0" lang="en-US" sz="1200" spc="-1" strike="noStrike">
              <a:solidFill>
                <a:srgbClr val="ffffff"/>
              </a:solidFill>
              <a:latin typeface="Arial"/>
            </a:endParaRPr>
          </a:p>
        </p:txBody>
      </p:sp>
      <p:sp>
        <p:nvSpPr>
          <p:cNvPr id="285" name="Text 39"/>
          <p:cNvSpPr/>
          <p:nvPr/>
        </p:nvSpPr>
        <p:spPr>
          <a:xfrm>
            <a:off x="9997200" y="2194560"/>
            <a:ext cx="3211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26,</a:t>
            </a:r>
            <a:endParaRPr b="0" lang="en-US" sz="1200" spc="-1" strike="noStrike">
              <a:solidFill>
                <a:srgbClr val="ffffff"/>
              </a:solidFill>
              <a:latin typeface="Arial"/>
            </a:endParaRPr>
          </a:p>
        </p:txBody>
      </p:sp>
      <p:sp>
        <p:nvSpPr>
          <p:cNvPr id="286" name="Text 40"/>
          <p:cNvSpPr/>
          <p:nvPr/>
        </p:nvSpPr>
        <p:spPr>
          <a:xfrm>
            <a:off x="10251720" y="2194560"/>
            <a:ext cx="4906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1990,</a:t>
            </a:r>
            <a:endParaRPr b="0" lang="en-US" sz="1200" spc="-1" strike="noStrike">
              <a:solidFill>
                <a:srgbClr val="ffffff"/>
              </a:solidFill>
              <a:latin typeface="Arial"/>
            </a:endParaRPr>
          </a:p>
        </p:txBody>
      </p:sp>
      <p:sp>
        <p:nvSpPr>
          <p:cNvPr id="287" name="Text 41"/>
          <p:cNvSpPr/>
          <p:nvPr/>
        </p:nvSpPr>
        <p:spPr>
          <a:xfrm>
            <a:off x="10675440" y="219456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and</a:t>
            </a:r>
            <a:endParaRPr b="0" lang="en-US" sz="1200" spc="-1" strike="noStrike">
              <a:solidFill>
                <a:srgbClr val="ffffff"/>
              </a:solidFill>
              <a:latin typeface="Arial"/>
            </a:endParaRPr>
          </a:p>
        </p:txBody>
      </p:sp>
      <p:sp>
        <p:nvSpPr>
          <p:cNvPr id="288" name="Text 42"/>
          <p:cNvSpPr/>
          <p:nvPr/>
        </p:nvSpPr>
        <p:spPr>
          <a:xfrm>
            <a:off x="10971720" y="2194560"/>
            <a:ext cx="1854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it</a:t>
            </a:r>
            <a:endParaRPr b="0" lang="en-US" sz="1200" spc="-1" strike="noStrike">
              <a:solidFill>
                <a:srgbClr val="ffffff"/>
              </a:solidFill>
              <a:latin typeface="Arial"/>
            </a:endParaRPr>
          </a:p>
        </p:txBody>
      </p:sp>
      <p:sp>
        <p:nvSpPr>
          <p:cNvPr id="289" name="Text 43"/>
          <p:cNvSpPr/>
          <p:nvPr/>
        </p:nvSpPr>
        <p:spPr>
          <a:xfrm>
            <a:off x="8421480" y="2477880"/>
            <a:ext cx="651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protects</a:t>
            </a:r>
            <a:endParaRPr b="0" lang="en-US" sz="1200" spc="-1" strike="noStrike">
              <a:solidFill>
                <a:srgbClr val="ffffff"/>
              </a:solidFill>
              <a:latin typeface="Arial"/>
            </a:endParaRPr>
          </a:p>
        </p:txBody>
      </p:sp>
      <p:sp>
        <p:nvSpPr>
          <p:cNvPr id="290" name="Text 44"/>
          <p:cNvSpPr/>
          <p:nvPr/>
        </p:nvSpPr>
        <p:spPr>
          <a:xfrm>
            <a:off x="9006120" y="2477880"/>
            <a:ext cx="5835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access</a:t>
            </a:r>
            <a:endParaRPr b="0" lang="en-US" sz="1200" spc="-1" strike="noStrike">
              <a:solidFill>
                <a:srgbClr val="ffffff"/>
              </a:solidFill>
              <a:latin typeface="Arial"/>
            </a:endParaRPr>
          </a:p>
        </p:txBody>
      </p:sp>
      <p:sp>
        <p:nvSpPr>
          <p:cNvPr id="291" name="Text 45"/>
          <p:cNvSpPr/>
          <p:nvPr/>
        </p:nvSpPr>
        <p:spPr>
          <a:xfrm>
            <a:off x="9522720" y="2477880"/>
            <a:ext cx="227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a:t>
            </a:r>
            <a:endParaRPr b="0" lang="en-US" sz="1200" spc="-1" strike="noStrike">
              <a:solidFill>
                <a:srgbClr val="ffffff"/>
              </a:solidFill>
              <a:latin typeface="Arial"/>
            </a:endParaRPr>
          </a:p>
        </p:txBody>
      </p:sp>
      <p:sp>
        <p:nvSpPr>
          <p:cNvPr id="292" name="Text 46"/>
          <p:cNvSpPr/>
          <p:nvPr/>
        </p:nvSpPr>
        <p:spPr>
          <a:xfrm>
            <a:off x="9683640" y="2477880"/>
            <a:ext cx="9817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employment,</a:t>
            </a:r>
            <a:endParaRPr b="0" lang="en-US" sz="1200" spc="-1" strike="noStrike">
              <a:solidFill>
                <a:srgbClr val="ffffff"/>
              </a:solidFill>
              <a:latin typeface="Arial"/>
            </a:endParaRPr>
          </a:p>
        </p:txBody>
      </p:sp>
      <p:sp>
        <p:nvSpPr>
          <p:cNvPr id="293" name="Text 47"/>
          <p:cNvSpPr/>
          <p:nvPr/>
        </p:nvSpPr>
        <p:spPr>
          <a:xfrm>
            <a:off x="10598400" y="2477880"/>
            <a:ext cx="4399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state</a:t>
            </a:r>
            <a:endParaRPr b="0" lang="en-US" sz="1200" spc="-1" strike="noStrike">
              <a:solidFill>
                <a:srgbClr val="ffffff"/>
              </a:solidFill>
              <a:latin typeface="Arial"/>
            </a:endParaRPr>
          </a:p>
        </p:txBody>
      </p:sp>
      <p:sp>
        <p:nvSpPr>
          <p:cNvPr id="294" name="Text 48"/>
          <p:cNvSpPr/>
          <p:nvPr/>
        </p:nvSpPr>
        <p:spPr>
          <a:xfrm>
            <a:off x="8421480" y="276156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and</a:t>
            </a:r>
            <a:endParaRPr b="0" lang="en-US" sz="1200" spc="-1" strike="noStrike">
              <a:solidFill>
                <a:srgbClr val="ffffff"/>
              </a:solidFill>
              <a:latin typeface="Arial"/>
            </a:endParaRPr>
          </a:p>
        </p:txBody>
      </p:sp>
      <p:sp>
        <p:nvSpPr>
          <p:cNvPr id="295" name="Text 49"/>
          <p:cNvSpPr/>
          <p:nvPr/>
        </p:nvSpPr>
        <p:spPr>
          <a:xfrm>
            <a:off x="8718120" y="2761560"/>
            <a:ext cx="4226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8b1c6"/>
                </a:solidFill>
                <a:latin typeface="Arial"/>
                <a:ea typeface="Arial"/>
              </a:rPr>
              <a:t>local</a:t>
            </a:r>
            <a:endParaRPr b="0" lang="en-US" sz="1200" spc="-1" strike="noStrike">
              <a:solidFill>
                <a:srgbClr val="ffffff"/>
              </a:solidFill>
              <a:latin typeface="Arial"/>
            </a:endParaRPr>
          </a:p>
        </p:txBody>
      </p:sp>
      <p:sp>
        <p:nvSpPr>
          <p:cNvPr id="296" name="Text 50"/>
          <p:cNvSpPr/>
          <p:nvPr/>
        </p:nvSpPr>
        <p:spPr>
          <a:xfrm>
            <a:off x="9074160" y="2761560"/>
            <a:ext cx="91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8b1c6"/>
                </a:solidFill>
                <a:latin typeface="Arial"/>
                <a:ea typeface="Arial"/>
              </a:rPr>
              <a:t>government</a:t>
            </a:r>
            <a:endParaRPr b="0" lang="en-US" sz="1200" spc="-1" strike="noStrike">
              <a:solidFill>
                <a:srgbClr val="ffffff"/>
              </a:solidFill>
              <a:latin typeface="Arial"/>
            </a:endParaRPr>
          </a:p>
        </p:txBody>
      </p:sp>
      <p:sp>
        <p:nvSpPr>
          <p:cNvPr id="297" name="Text 51"/>
          <p:cNvSpPr/>
          <p:nvPr/>
        </p:nvSpPr>
        <p:spPr>
          <a:xfrm>
            <a:off x="9921240" y="2761560"/>
            <a:ext cx="7106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d8d3e0"/>
                </a:solidFill>
                <a:latin typeface="Arial"/>
                <a:ea typeface="Arial"/>
              </a:rPr>
              <a:t>services,</a:t>
            </a:r>
            <a:endParaRPr b="0" lang="en-US" sz="1200" spc="-1" strike="noStrike">
              <a:solidFill>
                <a:srgbClr val="ffffff"/>
              </a:solidFill>
              <a:latin typeface="Arial"/>
            </a:endParaRPr>
          </a:p>
        </p:txBody>
      </p:sp>
      <p:sp>
        <p:nvSpPr>
          <p:cNvPr id="298" name="Shape 52"/>
          <p:cNvSpPr/>
          <p:nvPr/>
        </p:nvSpPr>
        <p:spPr>
          <a:xfrm>
            <a:off x="8787240" y="5294520"/>
            <a:ext cx="1992960" cy="4111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9" name="Text 53"/>
          <p:cNvSpPr/>
          <p:nvPr/>
        </p:nvSpPr>
        <p:spPr>
          <a:xfrm>
            <a:off x="8860680" y="5294520"/>
            <a:ext cx="18468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300" spc="-1" strike="noStrike">
                <a:solidFill>
                  <a:srgbClr val="ffffff"/>
                </a:solidFill>
                <a:latin typeface="Calibri"/>
                <a:ea typeface="Calibri"/>
              </a:rPr>
              <a:t>prohibits</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Shape 0"/>
          <p:cNvSpPr/>
          <p:nvPr/>
        </p:nvSpPr>
        <p:spPr>
          <a:xfrm>
            <a:off x="548640" y="384120"/>
            <a:ext cx="2025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1"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04 · STREAMING TEXT</a:t>
            </a:r>
            <a:endParaRPr b="0" lang="en-US" sz="1100" spc="-1" strike="noStrike">
              <a:solidFill>
                <a:srgbClr val="000000"/>
              </a:solidFill>
              <a:latin typeface="Arial"/>
            </a:endParaRPr>
          </a:p>
        </p:txBody>
      </p:sp>
      <p:sp>
        <p:nvSpPr>
          <p:cNvPr id="302"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Five attempts — listen to what TalkBack says</a:t>
            </a:r>
            <a:endParaRPr b="0" lang="en-US" sz="3200" spc="-1" strike="noStrike">
              <a:solidFill>
                <a:srgbClr val="000000"/>
              </a:solidFill>
              <a:latin typeface="Arial"/>
            </a:endParaRPr>
          </a:p>
        </p:txBody>
      </p:sp>
      <p:sp>
        <p:nvSpPr>
          <p:cNvPr id="303" name="Text 3"/>
          <p:cNvSpPr/>
          <p:nvPr/>
        </p:nvSpPr>
        <p:spPr>
          <a:xfrm>
            <a:off x="1234440" y="157284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APPROACH</a:t>
            </a:r>
            <a:endParaRPr b="0" lang="en-US" sz="1100" spc="-1" strike="noStrike">
              <a:solidFill>
                <a:srgbClr val="000000"/>
              </a:solidFill>
              <a:latin typeface="Arial"/>
            </a:endParaRPr>
          </a:p>
        </p:txBody>
      </p:sp>
      <p:sp>
        <p:nvSpPr>
          <p:cNvPr id="304" name="Text 4"/>
          <p:cNvSpPr/>
          <p:nvPr/>
        </p:nvSpPr>
        <p:spPr>
          <a:xfrm>
            <a:off x="5166360" y="157284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WHAT TALKBACK SAYS</a:t>
            </a:r>
            <a:endParaRPr b="0" lang="en-US" sz="1100" spc="-1" strike="noStrike">
              <a:solidFill>
                <a:srgbClr val="000000"/>
              </a:solidFill>
              <a:latin typeface="Arial"/>
            </a:endParaRPr>
          </a:p>
        </p:txBody>
      </p:sp>
      <p:sp>
        <p:nvSpPr>
          <p:cNvPr id="305" name="Text 5"/>
          <p:cNvSpPr/>
          <p:nvPr/>
        </p:nvSpPr>
        <p:spPr>
          <a:xfrm>
            <a:off x="9418320" y="1572840"/>
            <a:ext cx="21027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VERDICT</a:t>
            </a:r>
            <a:endParaRPr b="0" lang="en-US" sz="1100" spc="-1" strike="noStrike">
              <a:solidFill>
                <a:srgbClr val="000000"/>
              </a:solidFill>
              <a:latin typeface="Arial"/>
            </a:endParaRPr>
          </a:p>
        </p:txBody>
      </p:sp>
      <p:sp>
        <p:nvSpPr>
          <p:cNvPr id="306" name="Shape 6"/>
          <p:cNvSpPr/>
          <p:nvPr/>
        </p:nvSpPr>
        <p:spPr>
          <a:xfrm>
            <a:off x="548640" y="192024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7" name="Text 7"/>
          <p:cNvSpPr/>
          <p:nvPr/>
        </p:nvSpPr>
        <p:spPr>
          <a:xfrm>
            <a:off x="685800" y="192024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1</a:t>
            </a:r>
            <a:endParaRPr b="0" lang="en-US" sz="2200" spc="-1" strike="noStrike">
              <a:solidFill>
                <a:srgbClr val="000000"/>
              </a:solidFill>
              <a:latin typeface="Arial"/>
            </a:endParaRPr>
          </a:p>
        </p:txBody>
      </p:sp>
      <p:sp>
        <p:nvSpPr>
          <p:cNvPr id="308" name="Text 8"/>
          <p:cNvSpPr/>
          <p:nvPr/>
        </p:nvSpPr>
        <p:spPr>
          <a:xfrm>
            <a:off x="1234440" y="192024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No semantics</a:t>
            </a:r>
            <a:endParaRPr b="0" lang="en-US" sz="1250" spc="-1" strike="noStrike">
              <a:solidFill>
                <a:srgbClr val="000000"/>
              </a:solidFill>
              <a:latin typeface="Arial"/>
            </a:endParaRPr>
          </a:p>
        </p:txBody>
      </p:sp>
      <p:sp>
        <p:nvSpPr>
          <p:cNvPr id="309" name="Text 9"/>
          <p:cNvSpPr/>
          <p:nvPr/>
        </p:nvSpPr>
        <p:spPr>
          <a:xfrm>
            <a:off x="5166360" y="192024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 “Americans” … “with” …</a:t>
            </a:r>
            <a:endParaRPr b="0" lang="en-US" sz="1300" spc="-1" strike="noStrike">
              <a:solidFill>
                <a:srgbClr val="000000"/>
              </a:solidFill>
              <a:latin typeface="Arial"/>
            </a:endParaRPr>
          </a:p>
        </p:txBody>
      </p:sp>
      <p:sp>
        <p:nvSpPr>
          <p:cNvPr id="310" name="Shape 10"/>
          <p:cNvSpPr/>
          <p:nvPr/>
        </p:nvSpPr>
        <p:spPr>
          <a:xfrm>
            <a:off x="9418320" y="210312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11" name="Image 0" descr="preencoded.png"/>
          <p:cNvPicPr/>
          <p:nvPr/>
        </p:nvPicPr>
        <p:blipFill>
          <a:blip r:embed="rId1"/>
          <a:stretch/>
        </p:blipFill>
        <p:spPr>
          <a:xfrm>
            <a:off x="9528120" y="2185560"/>
            <a:ext cx="246600" cy="246600"/>
          </a:xfrm>
          <a:prstGeom prst="rect">
            <a:avLst/>
          </a:prstGeom>
          <a:ln w="0">
            <a:noFill/>
          </a:ln>
        </p:spPr>
      </p:pic>
      <p:sp>
        <p:nvSpPr>
          <p:cNvPr id="312" name="Text 11"/>
          <p:cNvSpPr/>
          <p:nvPr/>
        </p:nvSpPr>
        <p:spPr>
          <a:xfrm>
            <a:off x="9802440" y="210312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One swipe per word</a:t>
            </a:r>
            <a:endParaRPr b="0" lang="en-US" sz="1150" spc="-1" strike="noStrike">
              <a:solidFill>
                <a:srgbClr val="000000"/>
              </a:solidFill>
              <a:latin typeface="Arial"/>
            </a:endParaRPr>
          </a:p>
        </p:txBody>
      </p:sp>
      <p:sp>
        <p:nvSpPr>
          <p:cNvPr id="313" name="Shape 12"/>
          <p:cNvSpPr/>
          <p:nvPr/>
        </p:nvSpPr>
        <p:spPr>
          <a:xfrm>
            <a:off x="548640" y="280728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4" name="Text 13"/>
          <p:cNvSpPr/>
          <p:nvPr/>
        </p:nvSpPr>
        <p:spPr>
          <a:xfrm>
            <a:off x="685800" y="280728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2</a:t>
            </a:r>
            <a:endParaRPr b="0" lang="en-US" sz="2200" spc="-1" strike="noStrike">
              <a:solidFill>
                <a:srgbClr val="000000"/>
              </a:solidFill>
              <a:latin typeface="Arial"/>
            </a:endParaRPr>
          </a:p>
        </p:txBody>
      </p:sp>
      <p:sp>
        <p:nvSpPr>
          <p:cNvPr id="315" name="Text 14"/>
          <p:cNvSpPr/>
          <p:nvPr/>
        </p:nvSpPr>
        <p:spPr>
          <a:xfrm>
            <a:off x="1234440" y="280728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semantics(mergeDescendants = true)</a:t>
            </a:r>
            <a:endParaRPr b="0" lang="en-US" sz="1250" spc="-1" strike="noStrike">
              <a:solidFill>
                <a:srgbClr val="000000"/>
              </a:solidFill>
              <a:latin typeface="Arial"/>
            </a:endParaRPr>
          </a:p>
        </p:txBody>
      </p:sp>
      <p:sp>
        <p:nvSpPr>
          <p:cNvPr id="316" name="Text 15"/>
          <p:cNvSpPr/>
          <p:nvPr/>
        </p:nvSpPr>
        <p:spPr>
          <a:xfrm>
            <a:off x="5166360" y="280728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Americans with Disabilities Act” — only words loaded at focus time</a:t>
            </a:r>
            <a:endParaRPr b="0" lang="en-US" sz="1300" spc="-1" strike="noStrike">
              <a:solidFill>
                <a:srgbClr val="000000"/>
              </a:solidFill>
              <a:latin typeface="Arial"/>
            </a:endParaRPr>
          </a:p>
        </p:txBody>
      </p:sp>
      <p:sp>
        <p:nvSpPr>
          <p:cNvPr id="317" name="Shape 16"/>
          <p:cNvSpPr/>
          <p:nvPr/>
        </p:nvSpPr>
        <p:spPr>
          <a:xfrm>
            <a:off x="9418320" y="299016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18" name="Image 1" descr="preencoded.png"/>
          <p:cNvPicPr/>
          <p:nvPr/>
        </p:nvPicPr>
        <p:blipFill>
          <a:blip r:embed="rId2"/>
          <a:stretch/>
        </p:blipFill>
        <p:spPr>
          <a:xfrm>
            <a:off x="9528120" y="3072240"/>
            <a:ext cx="246600" cy="246600"/>
          </a:xfrm>
          <a:prstGeom prst="rect">
            <a:avLst/>
          </a:prstGeom>
          <a:ln w="0">
            <a:noFill/>
          </a:ln>
        </p:spPr>
      </p:pic>
      <p:sp>
        <p:nvSpPr>
          <p:cNvPr id="319" name="Text 17"/>
          <p:cNvSpPr/>
          <p:nvPr/>
        </p:nvSpPr>
        <p:spPr>
          <a:xfrm>
            <a:off x="9802440" y="299016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Partial paragraph</a:t>
            </a:r>
            <a:endParaRPr b="0" lang="en-US" sz="1150" spc="-1" strike="noStrike">
              <a:solidFill>
                <a:srgbClr val="000000"/>
              </a:solidFill>
              <a:latin typeface="Arial"/>
            </a:endParaRPr>
          </a:p>
        </p:txBody>
      </p:sp>
      <p:sp>
        <p:nvSpPr>
          <p:cNvPr id="320" name="Shape 18"/>
          <p:cNvSpPr/>
          <p:nvPr/>
        </p:nvSpPr>
        <p:spPr>
          <a:xfrm>
            <a:off x="548640" y="369432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1" name="Text 19"/>
          <p:cNvSpPr/>
          <p:nvPr/>
        </p:nvSpPr>
        <p:spPr>
          <a:xfrm>
            <a:off x="685800" y="369432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3</a:t>
            </a:r>
            <a:endParaRPr b="0" lang="en-US" sz="2200" spc="-1" strike="noStrike">
              <a:solidFill>
                <a:srgbClr val="000000"/>
              </a:solidFill>
              <a:latin typeface="Arial"/>
            </a:endParaRPr>
          </a:p>
        </p:txBody>
      </p:sp>
      <p:sp>
        <p:nvSpPr>
          <p:cNvPr id="322" name="Text 20"/>
          <p:cNvSpPr/>
          <p:nvPr/>
        </p:nvSpPr>
        <p:spPr>
          <a:xfrm>
            <a:off x="1234440" y="369432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merge + liveRegion = Polite</a:t>
            </a:r>
            <a:endParaRPr b="0" lang="en-US" sz="1250" spc="-1" strike="noStrike">
              <a:solidFill>
                <a:srgbClr val="000000"/>
              </a:solidFill>
              <a:latin typeface="Arial"/>
            </a:endParaRPr>
          </a:p>
        </p:txBody>
      </p:sp>
      <p:sp>
        <p:nvSpPr>
          <p:cNvPr id="323" name="Text 21"/>
          <p:cNvSpPr/>
          <p:nvPr/>
        </p:nvSpPr>
        <p:spPr>
          <a:xfrm>
            <a:off x="5166360" y="369432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Americans with… The Americans with Disabilities… The Americans with…”</a:t>
            </a:r>
            <a:endParaRPr b="0" lang="en-US" sz="1300" spc="-1" strike="noStrike">
              <a:solidFill>
                <a:srgbClr val="000000"/>
              </a:solidFill>
              <a:latin typeface="Arial"/>
            </a:endParaRPr>
          </a:p>
        </p:txBody>
      </p:sp>
      <p:sp>
        <p:nvSpPr>
          <p:cNvPr id="324" name="Shape 22"/>
          <p:cNvSpPr/>
          <p:nvPr/>
        </p:nvSpPr>
        <p:spPr>
          <a:xfrm>
            <a:off x="9418320" y="387720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25" name="Image 2" descr="preencoded.png"/>
          <p:cNvPicPr/>
          <p:nvPr/>
        </p:nvPicPr>
        <p:blipFill>
          <a:blip r:embed="rId3"/>
          <a:stretch/>
        </p:blipFill>
        <p:spPr>
          <a:xfrm>
            <a:off x="9528120" y="3959280"/>
            <a:ext cx="246600" cy="246600"/>
          </a:xfrm>
          <a:prstGeom prst="rect">
            <a:avLst/>
          </a:prstGeom>
          <a:ln w="0">
            <a:noFill/>
          </a:ln>
        </p:spPr>
      </p:pic>
      <p:sp>
        <p:nvSpPr>
          <p:cNvPr id="326" name="Text 23"/>
          <p:cNvSpPr/>
          <p:nvPr/>
        </p:nvSpPr>
        <p:spPr>
          <a:xfrm>
            <a:off x="9802440" y="38772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Re-reads on every word</a:t>
            </a:r>
            <a:endParaRPr b="0" lang="en-US" sz="1150" spc="-1" strike="noStrike">
              <a:solidFill>
                <a:srgbClr val="000000"/>
              </a:solidFill>
              <a:latin typeface="Arial"/>
            </a:endParaRPr>
          </a:p>
        </p:txBody>
      </p:sp>
      <p:sp>
        <p:nvSpPr>
          <p:cNvPr id="327" name="Shape 24"/>
          <p:cNvSpPr/>
          <p:nvPr/>
        </p:nvSpPr>
        <p:spPr>
          <a:xfrm>
            <a:off x="548640" y="458100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8" name="Text 25"/>
          <p:cNvSpPr/>
          <p:nvPr/>
        </p:nvSpPr>
        <p:spPr>
          <a:xfrm>
            <a:off x="685800" y="458100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4</a:t>
            </a:r>
            <a:endParaRPr b="0" lang="en-US" sz="2200" spc="-1" strike="noStrike">
              <a:solidFill>
                <a:srgbClr val="000000"/>
              </a:solidFill>
              <a:latin typeface="Arial"/>
            </a:endParaRPr>
          </a:p>
        </p:txBody>
      </p:sp>
      <p:sp>
        <p:nvSpPr>
          <p:cNvPr id="329" name="Text 26"/>
          <p:cNvSpPr/>
          <p:nvPr/>
        </p:nvSpPr>
        <p:spPr>
          <a:xfrm>
            <a:off x="1234440" y="458100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merge + stateDescription = "Loading"</a:t>
            </a:r>
            <a:endParaRPr b="0" lang="en-US" sz="1250" spc="-1" strike="noStrike">
              <a:solidFill>
                <a:srgbClr val="000000"/>
              </a:solidFill>
              <a:latin typeface="Arial"/>
            </a:endParaRPr>
          </a:p>
        </p:txBody>
      </p:sp>
      <p:sp>
        <p:nvSpPr>
          <p:cNvPr id="330" name="Text 27"/>
          <p:cNvSpPr/>
          <p:nvPr/>
        </p:nvSpPr>
        <p:spPr>
          <a:xfrm>
            <a:off x="5166360" y="458100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Loading, The Americans with…” then updates</a:t>
            </a:r>
            <a:endParaRPr b="0" lang="en-US" sz="1300" spc="-1" strike="noStrike">
              <a:solidFill>
                <a:srgbClr val="000000"/>
              </a:solidFill>
              <a:latin typeface="Arial"/>
            </a:endParaRPr>
          </a:p>
        </p:txBody>
      </p:sp>
      <p:sp>
        <p:nvSpPr>
          <p:cNvPr id="331" name="Shape 28"/>
          <p:cNvSpPr/>
          <p:nvPr/>
        </p:nvSpPr>
        <p:spPr>
          <a:xfrm>
            <a:off x="9418320" y="4763880"/>
            <a:ext cx="2057040" cy="411120"/>
          </a:xfrm>
          <a:prstGeom prst="roundRect">
            <a:avLst>
              <a:gd name="adj" fmla="val 48889"/>
            </a:avLst>
          </a:prstGeom>
          <a:solidFill>
            <a:srgbClr val="fff4dd"/>
          </a:solidFill>
          <a:ln w="9525">
            <a:solidFill>
              <a:srgbClr val="b26a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2" name="Image 3" descr="preencoded.png"/>
          <p:cNvPicPr/>
          <p:nvPr/>
        </p:nvPicPr>
        <p:blipFill>
          <a:blip r:embed="rId4"/>
          <a:stretch/>
        </p:blipFill>
        <p:spPr>
          <a:xfrm>
            <a:off x="9528120" y="4846320"/>
            <a:ext cx="246600" cy="246600"/>
          </a:xfrm>
          <a:prstGeom prst="rect">
            <a:avLst/>
          </a:prstGeom>
          <a:ln w="0">
            <a:noFill/>
          </a:ln>
        </p:spPr>
      </p:pic>
      <p:sp>
        <p:nvSpPr>
          <p:cNvPr id="333" name="Text 29"/>
          <p:cNvSpPr/>
          <p:nvPr/>
        </p:nvSpPr>
        <p:spPr>
          <a:xfrm>
            <a:off x="9802440" y="476388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b26a00"/>
                </a:solidFill>
                <a:latin typeface="Calibri"/>
                <a:ea typeface="Calibri"/>
              </a:rPr>
              <a:t>Partial text still leaks</a:t>
            </a:r>
            <a:endParaRPr b="0" lang="en-US" sz="1150" spc="-1" strike="noStrike">
              <a:solidFill>
                <a:srgbClr val="000000"/>
              </a:solidFill>
              <a:latin typeface="Arial"/>
            </a:endParaRPr>
          </a:p>
        </p:txBody>
      </p:sp>
      <p:sp>
        <p:nvSpPr>
          <p:cNvPr id="334" name="Shape 30"/>
          <p:cNvSpPr/>
          <p:nvPr/>
        </p:nvSpPr>
        <p:spPr>
          <a:xfrm>
            <a:off x="548640" y="5468040"/>
            <a:ext cx="11063880" cy="776880"/>
          </a:xfrm>
          <a:prstGeom prst="roundRect">
            <a:avLst>
              <a:gd name="adj" fmla="val 11765"/>
            </a:avLst>
          </a:prstGeom>
          <a:solidFill>
            <a:srgbClr val="e6f8ee"/>
          </a:solidFill>
          <a:ln w="1905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5" name="Text 31"/>
          <p:cNvSpPr/>
          <p:nvPr/>
        </p:nvSpPr>
        <p:spPr>
          <a:xfrm>
            <a:off x="685800" y="546804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0a7d43"/>
                </a:solidFill>
                <a:latin typeface="Arial"/>
                <a:ea typeface="Arial"/>
              </a:rPr>
              <a:t>5</a:t>
            </a:r>
            <a:endParaRPr b="0" lang="en-US" sz="2200" spc="-1" strike="noStrike">
              <a:solidFill>
                <a:srgbClr val="000000"/>
              </a:solidFill>
              <a:latin typeface="Arial"/>
            </a:endParaRPr>
          </a:p>
        </p:txBody>
      </p:sp>
      <p:sp>
        <p:nvSpPr>
          <p:cNvPr id="336" name="Text 32"/>
          <p:cNvSpPr/>
          <p:nvPr/>
        </p:nvSpPr>
        <p:spPr>
          <a:xfrm>
            <a:off x="1234440" y="546804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clearAndSetSemantics + stateDescription</a:t>
            </a:r>
            <a:endParaRPr b="0" lang="en-US" sz="1250" spc="-1" strike="noStrike">
              <a:solidFill>
                <a:srgbClr val="000000"/>
              </a:solidFill>
              <a:latin typeface="Arial"/>
            </a:endParaRPr>
          </a:p>
        </p:txBody>
      </p:sp>
      <p:sp>
        <p:nvSpPr>
          <p:cNvPr id="337" name="Text 33"/>
          <p:cNvSpPr/>
          <p:nvPr/>
        </p:nvSpPr>
        <p:spPr>
          <a:xfrm>
            <a:off x="5166360" y="546804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Loading” → the whole paragraph, once it’s complete</a:t>
            </a:r>
            <a:endParaRPr b="0" lang="en-US" sz="1300" spc="-1" strike="noStrike">
              <a:solidFill>
                <a:srgbClr val="000000"/>
              </a:solidFill>
              <a:latin typeface="Arial"/>
            </a:endParaRPr>
          </a:p>
        </p:txBody>
      </p:sp>
      <p:sp>
        <p:nvSpPr>
          <p:cNvPr id="338" name="Shape 34"/>
          <p:cNvSpPr/>
          <p:nvPr/>
        </p:nvSpPr>
        <p:spPr>
          <a:xfrm>
            <a:off x="9418320" y="5650920"/>
            <a:ext cx="2057040" cy="411120"/>
          </a:xfrm>
          <a:prstGeom prst="roundRect">
            <a:avLst>
              <a:gd name="adj" fmla="val 48889"/>
            </a:avLst>
          </a:prstGeom>
          <a:solidFill>
            <a:srgbClr val="e6f8ee"/>
          </a:solidFill>
          <a:ln w="9525">
            <a:solidFill>
              <a:srgbClr val="0a7d4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9" name="Image 4" descr="preencoded.png"/>
          <p:cNvPicPr/>
          <p:nvPr/>
        </p:nvPicPr>
        <p:blipFill>
          <a:blip r:embed="rId5"/>
          <a:stretch/>
        </p:blipFill>
        <p:spPr>
          <a:xfrm>
            <a:off x="9528120" y="5733360"/>
            <a:ext cx="246600" cy="246600"/>
          </a:xfrm>
          <a:prstGeom prst="rect">
            <a:avLst/>
          </a:prstGeom>
          <a:ln w="0">
            <a:noFill/>
          </a:ln>
        </p:spPr>
      </p:pic>
      <p:sp>
        <p:nvSpPr>
          <p:cNvPr id="340" name="Text 35"/>
          <p:cNvSpPr/>
          <p:nvPr/>
        </p:nvSpPr>
        <p:spPr>
          <a:xfrm>
            <a:off x="9802440" y="565092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a7d43"/>
                </a:solidFill>
                <a:latin typeface="Calibri"/>
                <a:ea typeface="Calibri"/>
              </a:rPr>
              <a:t>Best experience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1" name="Shape 0"/>
          <p:cNvSpPr/>
          <p:nvPr/>
        </p:nvSpPr>
        <p:spPr>
          <a:xfrm>
            <a:off x="548640" y="384120"/>
            <a:ext cx="2025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2"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04 · STREAMING TEXT</a:t>
            </a:r>
            <a:endParaRPr b="0" lang="en-US" sz="1100" spc="-1" strike="noStrike">
              <a:solidFill>
                <a:srgbClr val="000000"/>
              </a:solidFill>
              <a:latin typeface="Arial"/>
            </a:endParaRPr>
          </a:p>
        </p:txBody>
      </p:sp>
      <p:sp>
        <p:nvSpPr>
          <p:cNvPr id="343"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The fix: you decide what TalkBack hears</a:t>
            </a:r>
            <a:endParaRPr b="0" lang="en-US" sz="3200" spc="-1" strike="noStrike">
              <a:solidFill>
                <a:srgbClr val="000000"/>
              </a:solidFill>
              <a:latin typeface="Arial"/>
            </a:endParaRPr>
          </a:p>
        </p:txBody>
      </p:sp>
      <p:sp>
        <p:nvSpPr>
          <p:cNvPr id="344" name="Shape 3"/>
          <p:cNvSpPr/>
          <p:nvPr/>
        </p:nvSpPr>
        <p:spPr>
          <a:xfrm>
            <a:off x="548640" y="1737360"/>
            <a:ext cx="5806080" cy="4343040"/>
          </a:xfrm>
          <a:prstGeom prst="roundRect">
            <a:avLst>
              <a:gd name="adj" fmla="val 2526"/>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Text 4"/>
          <p:cNvSpPr/>
          <p:nvPr/>
        </p:nvSpPr>
        <p:spPr>
          <a:xfrm>
            <a:off x="777240" y="1938600"/>
            <a:ext cx="5440320" cy="40230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FlowRow</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Modifier</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.fillMaxWidth()</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clearAndSetSemantics</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ff8fc7"/>
                </a:solidFill>
                <a:latin typeface="Consolas"/>
                <a:ea typeface="Consolas"/>
              </a:rPr>
              <a:t>if</a:t>
            </a:r>
            <a:r>
              <a:rPr b="0" lang="en-US" sz="1300" spc="-1" strike="noStrike">
                <a:solidFill>
                  <a:srgbClr val="dce3ec"/>
                </a:solidFill>
                <a:latin typeface="Consolas"/>
                <a:ea typeface="Consolas"/>
              </a:rPr>
              <a:t> (isComplete)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completeText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 </a:t>
            </a:r>
            <a:r>
              <a:rPr b="0" lang="en-US" sz="1300" spc="-1" strike="noStrike">
                <a:solidFill>
                  <a:srgbClr val="ff8fc7"/>
                </a:solidFill>
                <a:latin typeface="Consolas"/>
                <a:ea typeface="Consolas"/>
              </a:rPr>
              <a:t>else</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stateDescription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"Loading"</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words.take(visible).forEachIndexed { i, w -&gt;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key(</a:t>
            </a:r>
            <a:r>
              <a:rPr b="0" lang="en-US" sz="1300" spc="-1" strike="noStrike">
                <a:solidFill>
                  <a:srgbClr val="b5e48c"/>
                </a:solidFill>
                <a:latin typeface="Consolas"/>
                <a:ea typeface="Consolas"/>
              </a:rPr>
              <a:t>"p$p-w$i"</a:t>
            </a:r>
            <a:r>
              <a:rPr b="0" lang="en-US" sz="1300" spc="-1" strike="noStrike">
                <a:solidFill>
                  <a:srgbClr val="dce3ec"/>
                </a:solidFill>
                <a:latin typeface="Consolas"/>
                <a:ea typeface="Consolas"/>
              </a:rPr>
              <a:t>) { </a:t>
            </a:r>
            <a:r>
              <a:rPr b="0" lang="en-US" sz="1300" spc="-1" strike="noStrike">
                <a:solidFill>
                  <a:srgbClr val="8ab4f8"/>
                </a:solidFill>
                <a:latin typeface="Consolas"/>
                <a:ea typeface="Consolas"/>
              </a:rPr>
              <a:t>FadeInWord</a:t>
            </a:r>
            <a:r>
              <a:rPr b="0" lang="en-US" sz="1300" spc="-1" strike="noStrike">
                <a:solidFill>
                  <a:srgbClr val="dce3ec"/>
                </a:solidFill>
                <a:latin typeface="Consolas"/>
                <a:ea typeface="Consolas"/>
              </a:rPr>
              <a:t>(</a:t>
            </a:r>
            <a:r>
              <a:rPr b="0" lang="en-US" sz="1300" spc="-1" strike="noStrike">
                <a:solidFill>
                  <a:srgbClr val="b5e48c"/>
                </a:solidFill>
                <a:latin typeface="Consolas"/>
                <a:ea typeface="Consolas"/>
              </a:rPr>
              <a:t>"$w "</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346" name="Text 5"/>
          <p:cNvSpPr/>
          <p:nvPr/>
        </p:nvSpPr>
        <p:spPr>
          <a:xfrm>
            <a:off x="5349240" y="18104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347" name="Shape 6"/>
          <p:cNvSpPr/>
          <p:nvPr/>
        </p:nvSpPr>
        <p:spPr>
          <a:xfrm>
            <a:off x="6583680" y="17373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8" name="Text 7"/>
          <p:cNvSpPr/>
          <p:nvPr/>
        </p:nvSpPr>
        <p:spPr>
          <a:xfrm>
            <a:off x="6720840" y="184716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1</a:t>
            </a:r>
            <a:endParaRPr b="0" lang="en-US" sz="2000" spc="-1" strike="noStrike">
              <a:solidFill>
                <a:srgbClr val="000000"/>
              </a:solidFill>
              <a:latin typeface="Arial"/>
            </a:endParaRPr>
          </a:p>
        </p:txBody>
      </p:sp>
      <p:sp>
        <p:nvSpPr>
          <p:cNvPr id="349" name="Text 8"/>
          <p:cNvSpPr/>
          <p:nvPr/>
        </p:nvSpPr>
        <p:spPr>
          <a:xfrm>
            <a:off x="6720840" y="221292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clearAndSetSemantics</a:t>
            </a:r>
            <a:endParaRPr b="0" lang="en-US" sz="1150" spc="-1" strike="noStrike">
              <a:solidFill>
                <a:srgbClr val="000000"/>
              </a:solidFill>
              <a:latin typeface="Arial"/>
            </a:endParaRPr>
          </a:p>
        </p:txBody>
      </p:sp>
      <p:sp>
        <p:nvSpPr>
          <p:cNvPr id="350" name="Text 9"/>
          <p:cNvSpPr/>
          <p:nvPr/>
        </p:nvSpPr>
        <p:spPr>
          <a:xfrm>
            <a:off x="6720840" y="250560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hides the per-word nodes from TalkBack</a:t>
            </a:r>
            <a:endParaRPr b="0" lang="en-US" sz="1200" spc="-1" strike="noStrike">
              <a:solidFill>
                <a:srgbClr val="000000"/>
              </a:solidFill>
              <a:latin typeface="Arial"/>
            </a:endParaRPr>
          </a:p>
        </p:txBody>
      </p:sp>
      <p:sp>
        <p:nvSpPr>
          <p:cNvPr id="351" name="Shape 10"/>
          <p:cNvSpPr/>
          <p:nvPr/>
        </p:nvSpPr>
        <p:spPr>
          <a:xfrm>
            <a:off x="6583680" y="32187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2" name="Text 11"/>
          <p:cNvSpPr/>
          <p:nvPr/>
        </p:nvSpPr>
        <p:spPr>
          <a:xfrm>
            <a:off x="6720840" y="332856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2</a:t>
            </a:r>
            <a:endParaRPr b="0" lang="en-US" sz="2000" spc="-1" strike="noStrike">
              <a:solidFill>
                <a:srgbClr val="000000"/>
              </a:solidFill>
              <a:latin typeface="Arial"/>
            </a:endParaRPr>
          </a:p>
        </p:txBody>
      </p:sp>
      <p:sp>
        <p:nvSpPr>
          <p:cNvPr id="353" name="Text 12"/>
          <p:cNvSpPr/>
          <p:nvPr/>
        </p:nvSpPr>
        <p:spPr>
          <a:xfrm>
            <a:off x="6720840" y="369432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stateDescription</a:t>
            </a:r>
            <a:endParaRPr b="0" lang="en-US" sz="1150" spc="-1" strike="noStrike">
              <a:solidFill>
                <a:srgbClr val="000000"/>
              </a:solidFill>
              <a:latin typeface="Arial"/>
            </a:endParaRPr>
          </a:p>
        </p:txBody>
      </p:sp>
      <p:sp>
        <p:nvSpPr>
          <p:cNvPr id="354" name="Text 13"/>
          <p:cNvSpPr/>
          <p:nvPr/>
        </p:nvSpPr>
        <p:spPr>
          <a:xfrm>
            <a:off x="6720840" y="398664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covers the in-between: “Loading”</a:t>
            </a:r>
            <a:endParaRPr b="0" lang="en-US" sz="1200" spc="-1" strike="noStrike">
              <a:solidFill>
                <a:srgbClr val="000000"/>
              </a:solidFill>
              <a:latin typeface="Arial"/>
            </a:endParaRPr>
          </a:p>
        </p:txBody>
      </p:sp>
      <p:sp>
        <p:nvSpPr>
          <p:cNvPr id="355" name="Shape 14"/>
          <p:cNvSpPr/>
          <p:nvPr/>
        </p:nvSpPr>
        <p:spPr>
          <a:xfrm>
            <a:off x="6583680" y="47001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6" name="Text 15"/>
          <p:cNvSpPr/>
          <p:nvPr/>
        </p:nvSpPr>
        <p:spPr>
          <a:xfrm>
            <a:off x="6720840" y="480960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3</a:t>
            </a:r>
            <a:endParaRPr b="0" lang="en-US" sz="2000" spc="-1" strike="noStrike">
              <a:solidFill>
                <a:srgbClr val="000000"/>
              </a:solidFill>
              <a:latin typeface="Arial"/>
            </a:endParaRPr>
          </a:p>
        </p:txBody>
      </p:sp>
      <p:sp>
        <p:nvSpPr>
          <p:cNvPr id="357" name="Text 16"/>
          <p:cNvSpPr/>
          <p:nvPr/>
        </p:nvSpPr>
        <p:spPr>
          <a:xfrm>
            <a:off x="6720840" y="517536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contentDescription</a:t>
            </a:r>
            <a:endParaRPr b="0" lang="en-US" sz="1150" spc="-1" strike="noStrike">
              <a:solidFill>
                <a:srgbClr val="000000"/>
              </a:solidFill>
              <a:latin typeface="Arial"/>
            </a:endParaRPr>
          </a:p>
        </p:txBody>
      </p:sp>
      <p:sp>
        <p:nvSpPr>
          <p:cNvPr id="358" name="Text 17"/>
          <p:cNvSpPr/>
          <p:nvPr/>
        </p:nvSpPr>
        <p:spPr>
          <a:xfrm>
            <a:off x="6720840" y="546804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delivers the whole paragraph once</a:t>
            </a:r>
            <a:endParaRPr b="0" lang="en-US" sz="1200" spc="-1" strike="noStrike">
              <a:solidFill>
                <a:srgbClr val="000000"/>
              </a:solidFill>
              <a:latin typeface="Arial"/>
            </a:endParaRPr>
          </a:p>
        </p:txBody>
      </p:sp>
      <p:sp>
        <p:nvSpPr>
          <p:cNvPr id="359" name="Text 18"/>
          <p:cNvSpPr/>
          <p:nvPr/>
        </p:nvSpPr>
        <p:spPr>
          <a:xfrm>
            <a:off x="548640" y="6217920"/>
            <a:ext cx="85950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5b6472"/>
                </a:solidFill>
                <a:latin typeface="Calibri"/>
                <a:ea typeface="Calibri"/>
              </a:rPr>
              <a:t>Children keep animating for sighted users.</a:t>
            </a:r>
            <a:endParaRPr b="0" lang="en-US" sz="1300" spc="-1" strike="noStrike">
              <a:solidFill>
                <a:srgbClr val="000000"/>
              </a:solidFill>
              <a:latin typeface="Arial"/>
            </a:endParaRPr>
          </a:p>
        </p:txBody>
      </p:sp>
      <p:sp>
        <p:nvSpPr>
          <p:cNvPr id="360" name="Shape 19"/>
          <p:cNvSpPr/>
          <p:nvPr/>
        </p:nvSpPr>
        <p:spPr>
          <a:xfrm>
            <a:off x="9372600" y="1188720"/>
            <a:ext cx="2331360" cy="5394600"/>
          </a:xfrm>
          <a:prstGeom prst="roundRect">
            <a:avLst>
              <a:gd name="adj" fmla="val 12549"/>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Shape 20"/>
          <p:cNvSpPr/>
          <p:nvPr/>
        </p:nvSpPr>
        <p:spPr>
          <a:xfrm>
            <a:off x="9473040" y="1289160"/>
            <a:ext cx="2130120" cy="5193360"/>
          </a:xfrm>
          <a:prstGeom prst="roundRect">
            <a:avLst>
              <a:gd name="adj" fmla="val 10300"/>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2" name="Text 21"/>
          <p:cNvSpPr/>
          <p:nvPr/>
        </p:nvSpPr>
        <p:spPr>
          <a:xfrm>
            <a:off x="9637920" y="1581840"/>
            <a:ext cx="18010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1b2330"/>
                </a:solidFill>
                <a:latin typeface="Arial"/>
                <a:ea typeface="Arial"/>
              </a:rPr>
              <a:t>The Americans with Disabilities Act is a federal civil rights law that prohibits discrimination against people with disabilities in everyday activities…</a:t>
            </a:r>
            <a:endParaRPr b="0" lang="en-US" sz="1150" spc="-1" strike="noStrike">
              <a:solidFill>
                <a:srgbClr val="000000"/>
              </a:solidFill>
              <a:latin typeface="Arial"/>
            </a:endParaRPr>
          </a:p>
        </p:txBody>
      </p:sp>
      <p:sp>
        <p:nvSpPr>
          <p:cNvPr id="363" name="Shape 22"/>
          <p:cNvSpPr/>
          <p:nvPr/>
        </p:nvSpPr>
        <p:spPr>
          <a:xfrm>
            <a:off x="9564480" y="1490400"/>
            <a:ext cx="1947240" cy="159984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4" name="Text 23"/>
          <p:cNvSpPr/>
          <p:nvPr/>
        </p:nvSpPr>
        <p:spPr>
          <a:xfrm>
            <a:off x="9564480" y="3392280"/>
            <a:ext cx="194724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pc="-1" strike="noStrike">
                <a:solidFill>
                  <a:srgbClr val="5b6472"/>
                </a:solidFill>
                <a:latin typeface="Calibri"/>
                <a:ea typeface="Calibri"/>
              </a:rPr>
              <a:t>while streaming</a:t>
            </a:r>
            <a:endParaRPr b="0" lang="en-US" sz="1000" spc="-1" strike="noStrike">
              <a:solidFill>
                <a:srgbClr val="000000"/>
              </a:solidFill>
              <a:latin typeface="Arial"/>
            </a:endParaRPr>
          </a:p>
        </p:txBody>
      </p:sp>
      <p:sp>
        <p:nvSpPr>
          <p:cNvPr id="365" name="Shape 24"/>
          <p:cNvSpPr/>
          <p:nvPr/>
        </p:nvSpPr>
        <p:spPr>
          <a:xfrm>
            <a:off x="9884520" y="3639240"/>
            <a:ext cx="1307160" cy="36540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6" name="Text 25"/>
          <p:cNvSpPr/>
          <p:nvPr/>
        </p:nvSpPr>
        <p:spPr>
          <a:xfrm>
            <a:off x="9957960" y="3639240"/>
            <a:ext cx="1161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Loading</a:t>
            </a:r>
            <a:endParaRPr b="0" lang="en-US" sz="1200" spc="-1" strike="noStrike">
              <a:solidFill>
                <a:srgbClr val="000000"/>
              </a:solidFill>
              <a:latin typeface="Arial"/>
            </a:endParaRPr>
          </a:p>
        </p:txBody>
      </p:sp>
      <p:sp>
        <p:nvSpPr>
          <p:cNvPr id="367" name="Text 26"/>
          <p:cNvSpPr/>
          <p:nvPr/>
        </p:nvSpPr>
        <p:spPr>
          <a:xfrm>
            <a:off x="9564480" y="4215240"/>
            <a:ext cx="194724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pc="-1" strike="noStrike">
                <a:solidFill>
                  <a:srgbClr val="5b6472"/>
                </a:solidFill>
                <a:latin typeface="Calibri"/>
                <a:ea typeface="Calibri"/>
              </a:rPr>
              <a:t>when complete</a:t>
            </a:r>
            <a:endParaRPr b="0" lang="en-US" sz="1000" spc="-1" strike="noStrike">
              <a:solidFill>
                <a:srgbClr val="000000"/>
              </a:solidFill>
              <a:latin typeface="Arial"/>
            </a:endParaRPr>
          </a:p>
        </p:txBody>
      </p:sp>
      <p:sp>
        <p:nvSpPr>
          <p:cNvPr id="368" name="Shape 27"/>
          <p:cNvSpPr/>
          <p:nvPr/>
        </p:nvSpPr>
        <p:spPr>
          <a:xfrm>
            <a:off x="9528120" y="4462200"/>
            <a:ext cx="2020320" cy="150840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9" name="Text 28"/>
          <p:cNvSpPr/>
          <p:nvPr/>
        </p:nvSpPr>
        <p:spPr>
          <a:xfrm>
            <a:off x="9601200" y="4462200"/>
            <a:ext cx="187416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The Americans with Disabilities Act is a federal civil rights law that prohibits discrimination against people with disabilities in everyday activities. It was signed into law…</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 name="Shape 0"/>
          <p:cNvSpPr/>
          <p:nvPr/>
        </p:nvSpPr>
        <p:spPr>
          <a:xfrm>
            <a:off x="548640" y="384120"/>
            <a:ext cx="1161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1" name="Text 1"/>
          <p:cNvSpPr/>
          <p:nvPr/>
        </p:nvSpPr>
        <p:spPr>
          <a:xfrm>
            <a:off x="548640" y="384120"/>
            <a:ext cx="1161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05 · FOCUS</a:t>
            </a:r>
            <a:endParaRPr b="0" lang="en-US" sz="1100" spc="-1" strike="noStrike">
              <a:solidFill>
                <a:srgbClr val="000000"/>
              </a:solidFill>
              <a:latin typeface="Arial"/>
            </a:endParaRPr>
          </a:p>
        </p:txBody>
      </p:sp>
      <p:sp>
        <p:nvSpPr>
          <p:cNvPr id="372"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A list with “See more”</a:t>
            </a:r>
            <a:endParaRPr b="0" lang="en-US" sz="3200" spc="-1" strike="noStrike">
              <a:solidFill>
                <a:srgbClr val="000000"/>
              </a:solidFill>
              <a:latin typeface="Arial"/>
            </a:endParaRPr>
          </a:p>
        </p:txBody>
      </p:sp>
      <p:sp>
        <p:nvSpPr>
          <p:cNvPr id="373" name="Shape 3"/>
          <p:cNvSpPr/>
          <p:nvPr/>
        </p:nvSpPr>
        <p:spPr>
          <a:xfrm>
            <a:off x="548640" y="1783080"/>
            <a:ext cx="502560" cy="50256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4" name="Text 4"/>
          <p:cNvSpPr/>
          <p:nvPr/>
        </p:nvSpPr>
        <p:spPr>
          <a:xfrm>
            <a:off x="548640" y="178308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5b3fd6"/>
                </a:solidFill>
                <a:latin typeface="Arial"/>
                <a:ea typeface="Arial"/>
              </a:rPr>
              <a:t>1</a:t>
            </a:r>
            <a:endParaRPr b="0" lang="en-US" sz="1700" spc="-1" strike="noStrike">
              <a:solidFill>
                <a:srgbClr val="000000"/>
              </a:solidFill>
              <a:latin typeface="Arial"/>
            </a:endParaRPr>
          </a:p>
        </p:txBody>
      </p:sp>
      <p:sp>
        <p:nvSpPr>
          <p:cNvPr id="375" name="Text 5"/>
          <p:cNvSpPr/>
          <p:nvPr/>
        </p:nvSpPr>
        <p:spPr>
          <a:xfrm>
            <a:off x="1234440" y="1764720"/>
            <a:ext cx="448020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Double-tap “See more”</a:t>
            </a:r>
            <a:endParaRPr b="0" lang="en-US" sz="1700" spc="-1" strike="noStrike">
              <a:solidFill>
                <a:srgbClr val="000000"/>
              </a:solidFill>
              <a:latin typeface="Arial"/>
            </a:endParaRPr>
          </a:p>
        </p:txBody>
      </p:sp>
      <p:sp>
        <p:nvSpPr>
          <p:cNvPr id="376" name="Text 6"/>
          <p:cNvSpPr/>
          <p:nvPr/>
        </p:nvSpPr>
        <p:spPr>
          <a:xfrm>
            <a:off x="1234440" y="2112120"/>
            <a:ext cx="44802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It turns into “Loading…” while the next batch is fetched.</a:t>
            </a:r>
            <a:endParaRPr b="0" lang="en-US" sz="1350" spc="-1" strike="noStrike">
              <a:solidFill>
                <a:srgbClr val="000000"/>
              </a:solidFill>
              <a:latin typeface="Arial"/>
            </a:endParaRPr>
          </a:p>
        </p:txBody>
      </p:sp>
      <p:sp>
        <p:nvSpPr>
          <p:cNvPr id="377" name="Shape 7"/>
          <p:cNvSpPr/>
          <p:nvPr/>
        </p:nvSpPr>
        <p:spPr>
          <a:xfrm>
            <a:off x="548640" y="2807280"/>
            <a:ext cx="502560" cy="50256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8" name="Text 8"/>
          <p:cNvSpPr/>
          <p:nvPr/>
        </p:nvSpPr>
        <p:spPr>
          <a:xfrm>
            <a:off x="548640" y="280728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5b3fd6"/>
                </a:solidFill>
                <a:latin typeface="Arial"/>
                <a:ea typeface="Arial"/>
              </a:rPr>
              <a:t>2</a:t>
            </a:r>
            <a:endParaRPr b="0" lang="en-US" sz="1700" spc="-1" strike="noStrike">
              <a:solidFill>
                <a:srgbClr val="000000"/>
              </a:solidFill>
              <a:latin typeface="Arial"/>
            </a:endParaRPr>
          </a:p>
        </p:txBody>
      </p:sp>
      <p:sp>
        <p:nvSpPr>
          <p:cNvPr id="379" name="Text 9"/>
          <p:cNvSpPr/>
          <p:nvPr/>
        </p:nvSpPr>
        <p:spPr>
          <a:xfrm>
            <a:off x="1234440" y="2788920"/>
            <a:ext cx="448020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New pills arrive</a:t>
            </a:r>
            <a:endParaRPr b="0" lang="en-US" sz="1700" spc="-1" strike="noStrike">
              <a:solidFill>
                <a:srgbClr val="000000"/>
              </a:solidFill>
              <a:latin typeface="Arial"/>
            </a:endParaRPr>
          </a:p>
        </p:txBody>
      </p:sp>
      <p:sp>
        <p:nvSpPr>
          <p:cNvPr id="380" name="Text 10"/>
          <p:cNvSpPr/>
          <p:nvPr/>
        </p:nvSpPr>
        <p:spPr>
          <a:xfrm>
            <a:off x="1234440" y="3136320"/>
            <a:ext cx="44802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a:t>
            </a:r>
            <a:r>
              <a:rPr b="0" lang="en-US" sz="1350" spc="-1" strike="noStrike">
                <a:solidFill>
                  <a:srgbClr val="5b6472"/>
                </a:solidFill>
                <a:latin typeface="Calibri"/>
                <a:ea typeface="Calibri"/>
              </a:rPr>
              <a:t>See more” moves to the end of the list, or disappears.</a:t>
            </a:r>
            <a:endParaRPr b="0" lang="en-US" sz="1350" spc="-1" strike="noStrike">
              <a:solidFill>
                <a:srgbClr val="000000"/>
              </a:solidFill>
              <a:latin typeface="Arial"/>
            </a:endParaRPr>
          </a:p>
        </p:txBody>
      </p:sp>
      <p:sp>
        <p:nvSpPr>
          <p:cNvPr id="381" name="Shape 11"/>
          <p:cNvSpPr/>
          <p:nvPr/>
        </p:nvSpPr>
        <p:spPr>
          <a:xfrm>
            <a:off x="548640" y="3831480"/>
            <a:ext cx="502560" cy="502560"/>
          </a:xfrm>
          <a:prstGeom prst="ellipse">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2" name="Text 12"/>
          <p:cNvSpPr/>
          <p:nvPr/>
        </p:nvSpPr>
        <p:spPr>
          <a:xfrm>
            <a:off x="548640" y="383148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c62828"/>
                </a:solidFill>
                <a:latin typeface="Arial"/>
                <a:ea typeface="Arial"/>
              </a:rPr>
              <a:t>3</a:t>
            </a:r>
            <a:endParaRPr b="0" lang="en-US" sz="1700" spc="-1" strike="noStrike">
              <a:solidFill>
                <a:srgbClr val="000000"/>
              </a:solidFill>
              <a:latin typeface="Arial"/>
            </a:endParaRPr>
          </a:p>
        </p:txBody>
      </p:sp>
      <p:sp>
        <p:nvSpPr>
          <p:cNvPr id="383" name="Text 13"/>
          <p:cNvSpPr/>
          <p:nvPr/>
        </p:nvSpPr>
        <p:spPr>
          <a:xfrm>
            <a:off x="1234440" y="3813120"/>
            <a:ext cx="448020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The focused node is gone</a:t>
            </a:r>
            <a:endParaRPr b="0" lang="en-US" sz="1700" spc="-1" strike="noStrike">
              <a:solidFill>
                <a:srgbClr val="000000"/>
              </a:solidFill>
              <a:latin typeface="Arial"/>
            </a:endParaRPr>
          </a:p>
        </p:txBody>
      </p:sp>
      <p:sp>
        <p:nvSpPr>
          <p:cNvPr id="384" name="Text 14"/>
          <p:cNvSpPr/>
          <p:nvPr/>
        </p:nvSpPr>
        <p:spPr>
          <a:xfrm>
            <a:off x="1234440" y="4160520"/>
            <a:ext cx="44802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TalkBack — and keyboard focus — jump somewhere unpredictable.</a:t>
            </a:r>
            <a:endParaRPr b="0" lang="en-US" sz="1350" spc="-1" strike="noStrike">
              <a:solidFill>
                <a:srgbClr val="000000"/>
              </a:solidFill>
              <a:latin typeface="Arial"/>
            </a:endParaRPr>
          </a:p>
        </p:txBody>
      </p:sp>
      <p:sp>
        <p:nvSpPr>
          <p:cNvPr id="385" name="Shape 15"/>
          <p:cNvSpPr/>
          <p:nvPr/>
        </p:nvSpPr>
        <p:spPr>
          <a:xfrm>
            <a:off x="548640" y="4983480"/>
            <a:ext cx="5211720" cy="1188360"/>
          </a:xfrm>
          <a:prstGeom prst="roundRect">
            <a:avLst>
              <a:gd name="adj" fmla="val 9231"/>
            </a:avLst>
          </a:prstGeom>
          <a:solidFill>
            <a:srgbClr val="0e1a2b"/>
          </a:solidFill>
          <a:ln w="12700">
            <a:solidFill>
              <a:srgbClr val="0e1a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6" name="Text 16"/>
          <p:cNvSpPr/>
          <p:nvPr/>
        </p:nvSpPr>
        <p:spPr>
          <a:xfrm>
            <a:off x="777240" y="4983480"/>
            <a:ext cx="4800240" cy="1188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ffffff"/>
                </a:solidFill>
                <a:latin typeface="Calibri"/>
                <a:ea typeface="Calibri"/>
              </a:rPr>
              <a:t>Users never learn the content arrived, or where it is. </a:t>
            </a:r>
            <a:r>
              <a:rPr b="1" lang="en-US" sz="1500" spc="-1" strike="noStrike">
                <a:solidFill>
                  <a:srgbClr val="3ddc84"/>
                </a:solidFill>
                <a:latin typeface="Calibri"/>
                <a:ea typeface="Calibri"/>
              </a:rPr>
              <a:t>We have to recover focus ourselves.</a:t>
            </a:r>
            <a:endParaRPr b="0" lang="en-US" sz="1500" spc="-1" strike="noStrike">
              <a:solidFill>
                <a:srgbClr val="000000"/>
              </a:solidFill>
              <a:latin typeface="Arial"/>
            </a:endParaRPr>
          </a:p>
        </p:txBody>
      </p:sp>
      <p:sp>
        <p:nvSpPr>
          <p:cNvPr id="387" name="Shape 17"/>
          <p:cNvSpPr/>
          <p:nvPr/>
        </p:nvSpPr>
        <p:spPr>
          <a:xfrm>
            <a:off x="6172200" y="1600200"/>
            <a:ext cx="2651400" cy="4845960"/>
          </a:xfrm>
          <a:prstGeom prst="roundRect">
            <a:avLst>
              <a:gd name="adj" fmla="val 11034"/>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Shape 18"/>
          <p:cNvSpPr/>
          <p:nvPr/>
        </p:nvSpPr>
        <p:spPr>
          <a:xfrm>
            <a:off x="6272640" y="1700640"/>
            <a:ext cx="2450160" cy="4644720"/>
          </a:xfrm>
          <a:prstGeom prst="roundRect">
            <a:avLst>
              <a:gd name="adj" fmla="val 8955"/>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9" name="Shape 19"/>
          <p:cNvSpPr/>
          <p:nvPr/>
        </p:nvSpPr>
        <p:spPr>
          <a:xfrm>
            <a:off x="7127640" y="1188720"/>
            <a:ext cx="740160" cy="29232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0" name="Text 20"/>
          <p:cNvSpPr/>
          <p:nvPr/>
        </p:nvSpPr>
        <p:spPr>
          <a:xfrm>
            <a:off x="7127640" y="1188720"/>
            <a:ext cx="7401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5b3fd6"/>
                </a:solidFill>
                <a:latin typeface="Calibri"/>
                <a:ea typeface="Calibri"/>
              </a:rPr>
              <a:t>BEFORE</a:t>
            </a:r>
            <a:endParaRPr b="0" lang="en-US" sz="1100" spc="-1" strike="noStrike">
              <a:solidFill>
                <a:srgbClr val="000000"/>
              </a:solidFill>
              <a:latin typeface="Arial"/>
            </a:endParaRPr>
          </a:p>
        </p:txBody>
      </p:sp>
      <p:sp>
        <p:nvSpPr>
          <p:cNvPr id="391" name="Text 21"/>
          <p:cNvSpPr/>
          <p:nvPr/>
        </p:nvSpPr>
        <p:spPr>
          <a:xfrm>
            <a:off x="6437520" y="1883520"/>
            <a:ext cx="2175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Mobility access</a:t>
            </a:r>
            <a:endParaRPr b="0" lang="en-US" sz="1200" spc="-1" strike="noStrike">
              <a:solidFill>
                <a:srgbClr val="000000"/>
              </a:solidFill>
              <a:latin typeface="Arial"/>
            </a:endParaRPr>
          </a:p>
        </p:txBody>
      </p:sp>
      <p:sp>
        <p:nvSpPr>
          <p:cNvPr id="392" name="Shape 22"/>
          <p:cNvSpPr/>
          <p:nvPr/>
        </p:nvSpPr>
        <p:spPr>
          <a:xfrm>
            <a:off x="6437520" y="2212920"/>
            <a:ext cx="9680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3" name="Text 23"/>
          <p:cNvSpPr/>
          <p:nvPr/>
        </p:nvSpPr>
        <p:spPr>
          <a:xfrm>
            <a:off x="6437520" y="2212920"/>
            <a:ext cx="9680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Wheelchairs</a:t>
            </a:r>
            <a:endParaRPr b="0" lang="en-US" sz="950" spc="-1" strike="noStrike">
              <a:solidFill>
                <a:srgbClr val="000000"/>
              </a:solidFill>
              <a:latin typeface="Arial"/>
            </a:endParaRPr>
          </a:p>
        </p:txBody>
      </p:sp>
      <p:sp>
        <p:nvSpPr>
          <p:cNvPr id="394" name="Shape 24"/>
          <p:cNvSpPr/>
          <p:nvPr/>
        </p:nvSpPr>
        <p:spPr>
          <a:xfrm>
            <a:off x="7497000" y="2212920"/>
            <a:ext cx="57960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5" name="Text 25"/>
          <p:cNvSpPr/>
          <p:nvPr/>
        </p:nvSpPr>
        <p:spPr>
          <a:xfrm>
            <a:off x="7497000" y="2212920"/>
            <a:ext cx="579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Canes</a:t>
            </a:r>
            <a:endParaRPr b="0" lang="en-US" sz="950" spc="-1" strike="noStrike">
              <a:solidFill>
                <a:srgbClr val="000000"/>
              </a:solidFill>
              <a:latin typeface="Arial"/>
            </a:endParaRPr>
          </a:p>
        </p:txBody>
      </p:sp>
      <p:sp>
        <p:nvSpPr>
          <p:cNvPr id="396" name="Shape 26"/>
          <p:cNvSpPr/>
          <p:nvPr/>
        </p:nvSpPr>
        <p:spPr>
          <a:xfrm>
            <a:off x="6437520" y="2615040"/>
            <a:ext cx="9680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7" name="Text 27"/>
          <p:cNvSpPr/>
          <p:nvPr/>
        </p:nvSpPr>
        <p:spPr>
          <a:xfrm>
            <a:off x="6437520" y="2615040"/>
            <a:ext cx="9680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Prosthetics</a:t>
            </a:r>
            <a:endParaRPr b="0" lang="en-US" sz="950" spc="-1" strike="noStrike">
              <a:solidFill>
                <a:srgbClr val="000000"/>
              </a:solidFill>
              <a:latin typeface="Arial"/>
            </a:endParaRPr>
          </a:p>
        </p:txBody>
      </p:sp>
      <p:sp>
        <p:nvSpPr>
          <p:cNvPr id="398" name="Shape 28"/>
          <p:cNvSpPr/>
          <p:nvPr/>
        </p:nvSpPr>
        <p:spPr>
          <a:xfrm>
            <a:off x="6437520" y="3017520"/>
            <a:ext cx="11620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9" name="Text 29"/>
          <p:cNvSpPr/>
          <p:nvPr/>
        </p:nvSpPr>
        <p:spPr>
          <a:xfrm>
            <a:off x="6437520" y="3017520"/>
            <a:ext cx="11620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Service access</a:t>
            </a:r>
            <a:endParaRPr b="0" lang="en-US" sz="950" spc="-1" strike="noStrike">
              <a:solidFill>
                <a:srgbClr val="000000"/>
              </a:solidFill>
              <a:latin typeface="Arial"/>
            </a:endParaRPr>
          </a:p>
        </p:txBody>
      </p:sp>
      <p:sp>
        <p:nvSpPr>
          <p:cNvPr id="400" name="Shape 30"/>
          <p:cNvSpPr/>
          <p:nvPr/>
        </p:nvSpPr>
        <p:spPr>
          <a:xfrm>
            <a:off x="7691400" y="3017520"/>
            <a:ext cx="773640" cy="310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1" name="Text 31"/>
          <p:cNvSpPr/>
          <p:nvPr/>
        </p:nvSpPr>
        <p:spPr>
          <a:xfrm>
            <a:off x="7691400" y="3017520"/>
            <a:ext cx="773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See more</a:t>
            </a:r>
            <a:endParaRPr b="0" lang="en-US" sz="950" spc="-1" strike="noStrike">
              <a:solidFill>
                <a:srgbClr val="000000"/>
              </a:solidFill>
              <a:latin typeface="Arial"/>
            </a:endParaRPr>
          </a:p>
        </p:txBody>
      </p:sp>
      <p:sp>
        <p:nvSpPr>
          <p:cNvPr id="402" name="Shape 32"/>
          <p:cNvSpPr/>
          <p:nvPr/>
        </p:nvSpPr>
        <p:spPr>
          <a:xfrm>
            <a:off x="7645680" y="2971800"/>
            <a:ext cx="86508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3" name="Text 33"/>
          <p:cNvSpPr/>
          <p:nvPr/>
        </p:nvSpPr>
        <p:spPr>
          <a:xfrm>
            <a:off x="6437520" y="3557160"/>
            <a:ext cx="2175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Vision access</a:t>
            </a:r>
            <a:endParaRPr b="0" lang="en-US" sz="1200" spc="-1" strike="noStrike">
              <a:solidFill>
                <a:srgbClr val="000000"/>
              </a:solidFill>
              <a:latin typeface="Arial"/>
            </a:endParaRPr>
          </a:p>
        </p:txBody>
      </p:sp>
      <p:sp>
        <p:nvSpPr>
          <p:cNvPr id="404" name="Shape 34"/>
          <p:cNvSpPr/>
          <p:nvPr/>
        </p:nvSpPr>
        <p:spPr>
          <a:xfrm>
            <a:off x="6437520" y="3886200"/>
            <a:ext cx="11620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5" name="Text 35"/>
          <p:cNvSpPr/>
          <p:nvPr/>
        </p:nvSpPr>
        <p:spPr>
          <a:xfrm>
            <a:off x="6437520" y="3886200"/>
            <a:ext cx="11620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Screen readers</a:t>
            </a:r>
            <a:endParaRPr b="0" lang="en-US" sz="950" spc="-1" strike="noStrike">
              <a:solidFill>
                <a:srgbClr val="000000"/>
              </a:solidFill>
              <a:latin typeface="Arial"/>
            </a:endParaRPr>
          </a:p>
        </p:txBody>
      </p:sp>
      <p:sp>
        <p:nvSpPr>
          <p:cNvPr id="406" name="Shape 36"/>
          <p:cNvSpPr/>
          <p:nvPr/>
        </p:nvSpPr>
        <p:spPr>
          <a:xfrm>
            <a:off x="7691400" y="3886200"/>
            <a:ext cx="7088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7" name="Text 37"/>
          <p:cNvSpPr/>
          <p:nvPr/>
        </p:nvSpPr>
        <p:spPr>
          <a:xfrm>
            <a:off x="7691400" y="3886200"/>
            <a:ext cx="7088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Braille</a:t>
            </a:r>
            <a:endParaRPr b="0" lang="en-US" sz="950" spc="-1" strike="noStrike">
              <a:solidFill>
                <a:srgbClr val="000000"/>
              </a:solidFill>
              <a:latin typeface="Arial"/>
            </a:endParaRPr>
          </a:p>
        </p:txBody>
      </p:sp>
      <p:sp>
        <p:nvSpPr>
          <p:cNvPr id="408" name="Shape 38"/>
          <p:cNvSpPr/>
          <p:nvPr/>
        </p:nvSpPr>
        <p:spPr>
          <a:xfrm>
            <a:off x="6437520" y="4288680"/>
            <a:ext cx="10976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9" name="Text 39"/>
          <p:cNvSpPr/>
          <p:nvPr/>
        </p:nvSpPr>
        <p:spPr>
          <a:xfrm>
            <a:off x="6437520" y="4288680"/>
            <a:ext cx="1097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Magnification</a:t>
            </a:r>
            <a:endParaRPr b="0" lang="en-US" sz="950" spc="-1" strike="noStrike">
              <a:solidFill>
                <a:srgbClr val="000000"/>
              </a:solidFill>
              <a:latin typeface="Arial"/>
            </a:endParaRPr>
          </a:p>
        </p:txBody>
      </p:sp>
      <p:sp>
        <p:nvSpPr>
          <p:cNvPr id="410" name="Shape 40"/>
          <p:cNvSpPr/>
          <p:nvPr/>
        </p:nvSpPr>
        <p:spPr>
          <a:xfrm>
            <a:off x="7626600" y="4288680"/>
            <a:ext cx="773640" cy="310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Text 41"/>
          <p:cNvSpPr/>
          <p:nvPr/>
        </p:nvSpPr>
        <p:spPr>
          <a:xfrm>
            <a:off x="7626600" y="4288680"/>
            <a:ext cx="773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See more</a:t>
            </a:r>
            <a:endParaRPr b="0" lang="en-US" sz="950" spc="-1" strike="noStrike">
              <a:solidFill>
                <a:srgbClr val="000000"/>
              </a:solidFill>
              <a:latin typeface="Arial"/>
            </a:endParaRPr>
          </a:p>
        </p:txBody>
      </p:sp>
      <p:sp>
        <p:nvSpPr>
          <p:cNvPr id="412" name="Shape 42"/>
          <p:cNvSpPr/>
          <p:nvPr/>
        </p:nvSpPr>
        <p:spPr>
          <a:xfrm>
            <a:off x="6346080" y="5660280"/>
            <a:ext cx="2304000" cy="5025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Text 43"/>
          <p:cNvSpPr/>
          <p:nvPr/>
        </p:nvSpPr>
        <p:spPr>
          <a:xfrm>
            <a:off x="6419160" y="5660280"/>
            <a:ext cx="21574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See more Mobility access topics, Button</a:t>
            </a:r>
            <a:endParaRPr b="0" lang="en-US" sz="950" spc="-1" strike="noStrike">
              <a:solidFill>
                <a:srgbClr val="000000"/>
              </a:solidFill>
              <a:latin typeface="Arial"/>
            </a:endParaRPr>
          </a:p>
        </p:txBody>
      </p:sp>
      <p:sp>
        <p:nvSpPr>
          <p:cNvPr id="414" name="Shape 44"/>
          <p:cNvSpPr/>
          <p:nvPr/>
        </p:nvSpPr>
        <p:spPr>
          <a:xfrm>
            <a:off x="8961120" y="1600200"/>
            <a:ext cx="2651400" cy="4845960"/>
          </a:xfrm>
          <a:prstGeom prst="roundRect">
            <a:avLst>
              <a:gd name="adj" fmla="val 11034"/>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Shape 45"/>
          <p:cNvSpPr/>
          <p:nvPr/>
        </p:nvSpPr>
        <p:spPr>
          <a:xfrm>
            <a:off x="9061560" y="1700640"/>
            <a:ext cx="2450160" cy="4644720"/>
          </a:xfrm>
          <a:prstGeom prst="roundRect">
            <a:avLst>
              <a:gd name="adj" fmla="val 8955"/>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6" name="Shape 46"/>
          <p:cNvSpPr/>
          <p:nvPr/>
        </p:nvSpPr>
        <p:spPr>
          <a:xfrm>
            <a:off x="9644760" y="1188720"/>
            <a:ext cx="1284480" cy="292320"/>
          </a:xfrm>
          <a:prstGeom prst="roundRect">
            <a:avLst>
              <a:gd name="adj" fmla="val 50000"/>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7" name="Text 47"/>
          <p:cNvSpPr/>
          <p:nvPr/>
        </p:nvSpPr>
        <p:spPr>
          <a:xfrm>
            <a:off x="9644760" y="1188720"/>
            <a:ext cx="128448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c62828"/>
                </a:solidFill>
                <a:latin typeface="Calibri"/>
                <a:ea typeface="Calibri"/>
              </a:rPr>
              <a:t>AFTER LOADING</a:t>
            </a:r>
            <a:endParaRPr b="0" lang="en-US" sz="1100" spc="-1" strike="noStrike">
              <a:solidFill>
                <a:srgbClr val="000000"/>
              </a:solidFill>
              <a:latin typeface="Arial"/>
            </a:endParaRPr>
          </a:p>
        </p:txBody>
      </p:sp>
      <p:sp>
        <p:nvSpPr>
          <p:cNvPr id="418" name="Text 48"/>
          <p:cNvSpPr/>
          <p:nvPr/>
        </p:nvSpPr>
        <p:spPr>
          <a:xfrm>
            <a:off x="9226440" y="1883520"/>
            <a:ext cx="2175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Mobility access</a:t>
            </a:r>
            <a:endParaRPr b="0" lang="en-US" sz="1200" spc="-1" strike="noStrike">
              <a:solidFill>
                <a:srgbClr val="000000"/>
              </a:solidFill>
              <a:latin typeface="Arial"/>
            </a:endParaRPr>
          </a:p>
        </p:txBody>
      </p:sp>
      <p:sp>
        <p:nvSpPr>
          <p:cNvPr id="419" name="Shape 49"/>
          <p:cNvSpPr/>
          <p:nvPr/>
        </p:nvSpPr>
        <p:spPr>
          <a:xfrm>
            <a:off x="9226440" y="2212920"/>
            <a:ext cx="9680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0" name="Text 50"/>
          <p:cNvSpPr/>
          <p:nvPr/>
        </p:nvSpPr>
        <p:spPr>
          <a:xfrm>
            <a:off x="9226440" y="2212920"/>
            <a:ext cx="9680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Wheelchairs</a:t>
            </a:r>
            <a:endParaRPr b="0" lang="en-US" sz="950" spc="-1" strike="noStrike">
              <a:solidFill>
                <a:srgbClr val="000000"/>
              </a:solidFill>
              <a:latin typeface="Arial"/>
            </a:endParaRPr>
          </a:p>
        </p:txBody>
      </p:sp>
      <p:sp>
        <p:nvSpPr>
          <p:cNvPr id="421" name="Shape 51"/>
          <p:cNvSpPr/>
          <p:nvPr/>
        </p:nvSpPr>
        <p:spPr>
          <a:xfrm>
            <a:off x="10285920" y="2212920"/>
            <a:ext cx="57960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2" name="Text 52"/>
          <p:cNvSpPr/>
          <p:nvPr/>
        </p:nvSpPr>
        <p:spPr>
          <a:xfrm>
            <a:off x="10285920" y="2212920"/>
            <a:ext cx="579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Canes</a:t>
            </a:r>
            <a:endParaRPr b="0" lang="en-US" sz="950" spc="-1" strike="noStrike">
              <a:solidFill>
                <a:srgbClr val="000000"/>
              </a:solidFill>
              <a:latin typeface="Arial"/>
            </a:endParaRPr>
          </a:p>
        </p:txBody>
      </p:sp>
      <p:sp>
        <p:nvSpPr>
          <p:cNvPr id="423" name="Shape 53"/>
          <p:cNvSpPr/>
          <p:nvPr/>
        </p:nvSpPr>
        <p:spPr>
          <a:xfrm>
            <a:off x="9226440" y="2615040"/>
            <a:ext cx="9680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4" name="Text 54"/>
          <p:cNvSpPr/>
          <p:nvPr/>
        </p:nvSpPr>
        <p:spPr>
          <a:xfrm>
            <a:off x="9226440" y="2615040"/>
            <a:ext cx="9680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Prosthetics</a:t>
            </a:r>
            <a:endParaRPr b="0" lang="en-US" sz="950" spc="-1" strike="noStrike">
              <a:solidFill>
                <a:srgbClr val="000000"/>
              </a:solidFill>
              <a:latin typeface="Arial"/>
            </a:endParaRPr>
          </a:p>
        </p:txBody>
      </p:sp>
      <p:sp>
        <p:nvSpPr>
          <p:cNvPr id="425" name="Shape 55"/>
          <p:cNvSpPr/>
          <p:nvPr/>
        </p:nvSpPr>
        <p:spPr>
          <a:xfrm>
            <a:off x="9226440" y="3017520"/>
            <a:ext cx="11620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6" name="Text 56"/>
          <p:cNvSpPr/>
          <p:nvPr/>
        </p:nvSpPr>
        <p:spPr>
          <a:xfrm>
            <a:off x="9226440" y="3017520"/>
            <a:ext cx="11620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Service access</a:t>
            </a:r>
            <a:endParaRPr b="0" lang="en-US" sz="950" spc="-1" strike="noStrike">
              <a:solidFill>
                <a:srgbClr val="000000"/>
              </a:solidFill>
              <a:latin typeface="Arial"/>
            </a:endParaRPr>
          </a:p>
        </p:txBody>
      </p:sp>
      <p:sp>
        <p:nvSpPr>
          <p:cNvPr id="427" name="Shape 57"/>
          <p:cNvSpPr/>
          <p:nvPr/>
        </p:nvSpPr>
        <p:spPr>
          <a:xfrm>
            <a:off x="10480320" y="3017520"/>
            <a:ext cx="57960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8" name="Text 58"/>
          <p:cNvSpPr/>
          <p:nvPr/>
        </p:nvSpPr>
        <p:spPr>
          <a:xfrm>
            <a:off x="10480320" y="3017520"/>
            <a:ext cx="579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Ramps</a:t>
            </a:r>
            <a:endParaRPr b="0" lang="en-US" sz="950" spc="-1" strike="noStrike">
              <a:solidFill>
                <a:srgbClr val="000000"/>
              </a:solidFill>
              <a:latin typeface="Arial"/>
            </a:endParaRPr>
          </a:p>
        </p:txBody>
      </p:sp>
      <p:sp>
        <p:nvSpPr>
          <p:cNvPr id="429" name="Shape 59"/>
          <p:cNvSpPr/>
          <p:nvPr/>
        </p:nvSpPr>
        <p:spPr>
          <a:xfrm>
            <a:off x="9226440" y="3420000"/>
            <a:ext cx="8384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0" name="Text 60"/>
          <p:cNvSpPr/>
          <p:nvPr/>
        </p:nvSpPr>
        <p:spPr>
          <a:xfrm>
            <a:off x="9226440" y="3420000"/>
            <a:ext cx="838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Elevators</a:t>
            </a:r>
            <a:endParaRPr b="0" lang="en-US" sz="950" spc="-1" strike="noStrike">
              <a:solidFill>
                <a:srgbClr val="000000"/>
              </a:solidFill>
              <a:latin typeface="Arial"/>
            </a:endParaRPr>
          </a:p>
        </p:txBody>
      </p:sp>
      <p:sp>
        <p:nvSpPr>
          <p:cNvPr id="431" name="Shape 61"/>
          <p:cNvSpPr/>
          <p:nvPr/>
        </p:nvSpPr>
        <p:spPr>
          <a:xfrm>
            <a:off x="10156680" y="3420000"/>
            <a:ext cx="8384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2" name="Text 62"/>
          <p:cNvSpPr/>
          <p:nvPr/>
        </p:nvSpPr>
        <p:spPr>
          <a:xfrm>
            <a:off x="10156680" y="3420000"/>
            <a:ext cx="838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Curb cuts</a:t>
            </a:r>
            <a:endParaRPr b="0" lang="en-US" sz="950" spc="-1" strike="noStrike">
              <a:solidFill>
                <a:srgbClr val="000000"/>
              </a:solidFill>
              <a:latin typeface="Arial"/>
            </a:endParaRPr>
          </a:p>
        </p:txBody>
      </p:sp>
      <p:sp>
        <p:nvSpPr>
          <p:cNvPr id="433" name="Shape 63"/>
          <p:cNvSpPr/>
          <p:nvPr/>
        </p:nvSpPr>
        <p:spPr>
          <a:xfrm>
            <a:off x="9226440" y="3822120"/>
            <a:ext cx="773640" cy="310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Text 64"/>
          <p:cNvSpPr/>
          <p:nvPr/>
        </p:nvSpPr>
        <p:spPr>
          <a:xfrm>
            <a:off x="9226440" y="3822120"/>
            <a:ext cx="773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See more</a:t>
            </a:r>
            <a:endParaRPr b="0" lang="en-US" sz="950" spc="-1" strike="noStrike">
              <a:solidFill>
                <a:srgbClr val="000000"/>
              </a:solidFill>
              <a:latin typeface="Arial"/>
            </a:endParaRPr>
          </a:p>
        </p:txBody>
      </p:sp>
      <p:sp>
        <p:nvSpPr>
          <p:cNvPr id="435" name="Shape 65"/>
          <p:cNvSpPr/>
          <p:nvPr/>
        </p:nvSpPr>
        <p:spPr>
          <a:xfrm>
            <a:off x="9180720" y="2569320"/>
            <a:ext cx="105948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6" name="Text 66"/>
          <p:cNvSpPr/>
          <p:nvPr/>
        </p:nvSpPr>
        <p:spPr>
          <a:xfrm>
            <a:off x="9226440" y="4361760"/>
            <a:ext cx="2175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Vision access</a:t>
            </a:r>
            <a:endParaRPr b="0" lang="en-US" sz="1200" spc="-1" strike="noStrike">
              <a:solidFill>
                <a:srgbClr val="000000"/>
              </a:solidFill>
              <a:latin typeface="Arial"/>
            </a:endParaRPr>
          </a:p>
        </p:txBody>
      </p:sp>
      <p:sp>
        <p:nvSpPr>
          <p:cNvPr id="437" name="Shape 67"/>
          <p:cNvSpPr/>
          <p:nvPr/>
        </p:nvSpPr>
        <p:spPr>
          <a:xfrm>
            <a:off x="9226440" y="4690800"/>
            <a:ext cx="11620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8" name="Text 68"/>
          <p:cNvSpPr/>
          <p:nvPr/>
        </p:nvSpPr>
        <p:spPr>
          <a:xfrm>
            <a:off x="9226440" y="4690800"/>
            <a:ext cx="11620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Screen readers</a:t>
            </a:r>
            <a:endParaRPr b="0" lang="en-US" sz="950" spc="-1" strike="noStrike">
              <a:solidFill>
                <a:srgbClr val="000000"/>
              </a:solidFill>
              <a:latin typeface="Arial"/>
            </a:endParaRPr>
          </a:p>
        </p:txBody>
      </p:sp>
      <p:sp>
        <p:nvSpPr>
          <p:cNvPr id="439" name="Shape 69"/>
          <p:cNvSpPr/>
          <p:nvPr/>
        </p:nvSpPr>
        <p:spPr>
          <a:xfrm>
            <a:off x="10480320" y="4690800"/>
            <a:ext cx="7088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0" name="Text 70"/>
          <p:cNvSpPr/>
          <p:nvPr/>
        </p:nvSpPr>
        <p:spPr>
          <a:xfrm>
            <a:off x="10480320" y="4690800"/>
            <a:ext cx="7088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Braille</a:t>
            </a:r>
            <a:endParaRPr b="0" lang="en-US" sz="950" spc="-1" strike="noStrike">
              <a:solidFill>
                <a:srgbClr val="000000"/>
              </a:solidFill>
              <a:latin typeface="Arial"/>
            </a:endParaRPr>
          </a:p>
        </p:txBody>
      </p:sp>
      <p:sp>
        <p:nvSpPr>
          <p:cNvPr id="441" name="Shape 71"/>
          <p:cNvSpPr/>
          <p:nvPr/>
        </p:nvSpPr>
        <p:spPr>
          <a:xfrm>
            <a:off x="9226440" y="5093280"/>
            <a:ext cx="10976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2" name="Text 72"/>
          <p:cNvSpPr/>
          <p:nvPr/>
        </p:nvSpPr>
        <p:spPr>
          <a:xfrm>
            <a:off x="9226440" y="5093280"/>
            <a:ext cx="1097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5b3fd6"/>
                </a:solidFill>
                <a:latin typeface="Calibri"/>
                <a:ea typeface="Calibri"/>
              </a:rPr>
              <a:t>Magnification</a:t>
            </a:r>
            <a:endParaRPr b="0" lang="en-US" sz="950" spc="-1" strike="noStrike">
              <a:solidFill>
                <a:srgbClr val="000000"/>
              </a:solidFill>
              <a:latin typeface="Arial"/>
            </a:endParaRPr>
          </a:p>
        </p:txBody>
      </p:sp>
      <p:sp>
        <p:nvSpPr>
          <p:cNvPr id="443" name="Shape 73"/>
          <p:cNvSpPr/>
          <p:nvPr/>
        </p:nvSpPr>
        <p:spPr>
          <a:xfrm>
            <a:off x="10415520" y="5093280"/>
            <a:ext cx="773640" cy="310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4" name="Text 74"/>
          <p:cNvSpPr/>
          <p:nvPr/>
        </p:nvSpPr>
        <p:spPr>
          <a:xfrm>
            <a:off x="10415520" y="5093280"/>
            <a:ext cx="7736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See more</a:t>
            </a:r>
            <a:endParaRPr b="0" lang="en-US" sz="950" spc="-1" strike="noStrike">
              <a:solidFill>
                <a:srgbClr val="000000"/>
              </a:solidFill>
              <a:latin typeface="Arial"/>
            </a:endParaRPr>
          </a:p>
        </p:txBody>
      </p:sp>
      <p:sp>
        <p:nvSpPr>
          <p:cNvPr id="445" name="Shape 75"/>
          <p:cNvSpPr/>
          <p:nvPr/>
        </p:nvSpPr>
        <p:spPr>
          <a:xfrm>
            <a:off x="9135000" y="5660280"/>
            <a:ext cx="2304000" cy="5025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6" name="Text 76"/>
          <p:cNvSpPr/>
          <p:nvPr/>
        </p:nvSpPr>
        <p:spPr>
          <a:xfrm>
            <a:off x="9208080" y="5660280"/>
            <a:ext cx="21574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Prosthetics, Button</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7" name="Shape 0"/>
          <p:cNvSpPr/>
          <p:nvPr/>
        </p:nvSpPr>
        <p:spPr>
          <a:xfrm>
            <a:off x="548640" y="384120"/>
            <a:ext cx="1161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8" name="Text 1"/>
          <p:cNvSpPr/>
          <p:nvPr/>
        </p:nvSpPr>
        <p:spPr>
          <a:xfrm>
            <a:off x="548640" y="384120"/>
            <a:ext cx="1161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05 · FOCUS</a:t>
            </a:r>
            <a:endParaRPr b="0" lang="en-US" sz="1100" spc="-1" strike="noStrike">
              <a:solidFill>
                <a:srgbClr val="000000"/>
              </a:solidFill>
              <a:latin typeface="Arial"/>
            </a:endParaRPr>
          </a:p>
        </p:txBody>
      </p:sp>
      <p:sp>
        <p:nvSpPr>
          <p:cNvPr id="449"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Two focus systems: focused vs FocusManager</a:t>
            </a:r>
            <a:endParaRPr b="0" lang="en-US" sz="3200" spc="-1" strike="noStrike">
              <a:solidFill>
                <a:srgbClr val="000000"/>
              </a:solidFill>
              <a:latin typeface="Arial"/>
            </a:endParaRPr>
          </a:p>
        </p:txBody>
      </p:sp>
      <p:sp>
        <p:nvSpPr>
          <p:cNvPr id="450" name="Shape 3"/>
          <p:cNvSpPr/>
          <p:nvPr/>
        </p:nvSpPr>
        <p:spPr>
          <a:xfrm>
            <a:off x="548640" y="1737360"/>
            <a:ext cx="512028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1" name="Shape 4"/>
          <p:cNvSpPr/>
          <p:nvPr/>
        </p:nvSpPr>
        <p:spPr>
          <a:xfrm>
            <a:off x="731520" y="1938600"/>
            <a:ext cx="548280" cy="548280"/>
          </a:xfrm>
          <a:prstGeom prst="ellipse">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52" name="Image 0" descr="preencoded.png"/>
          <p:cNvPicPr/>
          <p:nvPr/>
        </p:nvPicPr>
        <p:blipFill>
          <a:blip r:embed="rId1"/>
          <a:stretch/>
        </p:blipFill>
        <p:spPr>
          <a:xfrm>
            <a:off x="852120" y="2059200"/>
            <a:ext cx="306720" cy="306720"/>
          </a:xfrm>
          <a:prstGeom prst="rect">
            <a:avLst/>
          </a:prstGeom>
          <a:ln w="0">
            <a:noFill/>
          </a:ln>
        </p:spPr>
      </p:pic>
      <p:sp>
        <p:nvSpPr>
          <p:cNvPr id="453" name="Text 5"/>
          <p:cNvSpPr/>
          <p:nvPr/>
        </p:nvSpPr>
        <p:spPr>
          <a:xfrm>
            <a:off x="1463040" y="1901880"/>
            <a:ext cx="406872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5b3fd6"/>
                </a:solidFill>
                <a:latin typeface="Consolas"/>
                <a:ea typeface="Consolas"/>
              </a:rPr>
              <a:t>semantics { focused = … }</a:t>
            </a:r>
            <a:endParaRPr b="0" lang="en-US" sz="1350" spc="-1" strike="noStrike">
              <a:solidFill>
                <a:srgbClr val="000000"/>
              </a:solidFill>
              <a:latin typeface="Arial"/>
            </a:endParaRPr>
          </a:p>
        </p:txBody>
      </p:sp>
      <p:sp>
        <p:nvSpPr>
          <p:cNvPr id="454" name="Text 6"/>
          <p:cNvSpPr/>
          <p:nvPr/>
        </p:nvSpPr>
        <p:spPr>
          <a:xfrm>
            <a:off x="1463040" y="2249280"/>
            <a:ext cx="406872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1b2330"/>
                </a:solidFill>
                <a:latin typeface="Calibri"/>
                <a:ea typeface="Calibri"/>
              </a:rPr>
              <a:t>Tells TalkBack “this node has accessibility focus”.</a:t>
            </a:r>
            <a:endParaRPr b="0" lang="en-US" sz="1300" spc="-1" strike="noStrike">
              <a:solidFill>
                <a:srgbClr val="000000"/>
              </a:solidFill>
              <a:latin typeface="Arial"/>
            </a:endParaRPr>
          </a:p>
        </p:txBody>
      </p:sp>
      <p:sp>
        <p:nvSpPr>
          <p:cNvPr id="455" name="Shape 7"/>
          <p:cNvSpPr/>
          <p:nvPr/>
        </p:nvSpPr>
        <p:spPr>
          <a:xfrm>
            <a:off x="548640" y="3246120"/>
            <a:ext cx="5120280" cy="1325520"/>
          </a:xfrm>
          <a:prstGeom prst="roundRect">
            <a:avLst>
              <a:gd name="adj" fmla="val 8276"/>
            </a:avLst>
          </a:prstGeom>
          <a:solidFill>
            <a:srgbClr val="fff4dd"/>
          </a:solidFill>
          <a:ln w="12700">
            <a:solidFill>
              <a:srgbClr val="fff4d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6" name="Shape 8"/>
          <p:cNvSpPr/>
          <p:nvPr/>
        </p:nvSpPr>
        <p:spPr>
          <a:xfrm>
            <a:off x="731520" y="3447360"/>
            <a:ext cx="548280" cy="548280"/>
          </a:xfrm>
          <a:prstGeom prst="ellipse">
            <a:avLst/>
          </a:prstGeom>
          <a:solidFill>
            <a:srgbClr val="b26a00"/>
          </a:solidFill>
          <a:ln w="12700">
            <a:solidFill>
              <a:srgbClr val="b26a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57" name="Image 1" descr="preencoded.png"/>
          <p:cNvPicPr/>
          <p:nvPr/>
        </p:nvPicPr>
        <p:blipFill>
          <a:blip r:embed="rId2"/>
          <a:stretch/>
        </p:blipFill>
        <p:spPr>
          <a:xfrm>
            <a:off x="852120" y="3567960"/>
            <a:ext cx="306720" cy="306720"/>
          </a:xfrm>
          <a:prstGeom prst="rect">
            <a:avLst/>
          </a:prstGeom>
          <a:ln w="0">
            <a:noFill/>
          </a:ln>
        </p:spPr>
      </p:pic>
      <p:sp>
        <p:nvSpPr>
          <p:cNvPr id="458" name="Text 9"/>
          <p:cNvSpPr/>
          <p:nvPr/>
        </p:nvSpPr>
        <p:spPr>
          <a:xfrm>
            <a:off x="1463040" y="3410640"/>
            <a:ext cx="406872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b26a00"/>
                </a:solidFill>
                <a:latin typeface="Consolas"/>
                <a:ea typeface="Consolas"/>
              </a:rPr>
              <a:t>FocusRequester / FocusManager</a:t>
            </a:r>
            <a:endParaRPr b="0" lang="en-US" sz="1350" spc="-1" strike="noStrike">
              <a:solidFill>
                <a:srgbClr val="000000"/>
              </a:solidFill>
              <a:latin typeface="Arial"/>
            </a:endParaRPr>
          </a:p>
        </p:txBody>
      </p:sp>
      <p:sp>
        <p:nvSpPr>
          <p:cNvPr id="459" name="Text 10"/>
          <p:cNvSpPr/>
          <p:nvPr/>
        </p:nvSpPr>
        <p:spPr>
          <a:xfrm>
            <a:off x="1463040" y="3758040"/>
            <a:ext cx="406872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1b2330"/>
                </a:solidFill>
                <a:latin typeface="Calibri"/>
                <a:ea typeface="Calibri"/>
              </a:rPr>
              <a:t>Moves keyboard, D-pad and input focus. A different system — it can move TalkBack focus only as a side effect.</a:t>
            </a:r>
            <a:endParaRPr b="0" lang="en-US" sz="1300" spc="-1" strike="noStrike">
              <a:solidFill>
                <a:srgbClr val="000000"/>
              </a:solidFill>
              <a:latin typeface="Arial"/>
            </a:endParaRPr>
          </a:p>
        </p:txBody>
      </p:sp>
      <p:sp>
        <p:nvSpPr>
          <p:cNvPr id="460" name="Shape 11"/>
          <p:cNvSpPr/>
          <p:nvPr/>
        </p:nvSpPr>
        <p:spPr>
          <a:xfrm>
            <a:off x="548640" y="4754880"/>
            <a:ext cx="5120280" cy="1325520"/>
          </a:xfrm>
          <a:prstGeom prst="roundRect">
            <a:avLst>
              <a:gd name="adj" fmla="val 8276"/>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1" name="Shape 12"/>
          <p:cNvSpPr/>
          <p:nvPr/>
        </p:nvSpPr>
        <p:spPr>
          <a:xfrm>
            <a:off x="731520" y="4956120"/>
            <a:ext cx="548280" cy="548280"/>
          </a:xfrm>
          <a:prstGeom prst="ellipse">
            <a:avLst/>
          </a:prstGeom>
          <a:solidFill>
            <a:srgbClr val="0a7d43"/>
          </a:solidFill>
          <a:ln w="12700">
            <a:solidFill>
              <a:srgbClr val="0a7d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62" name="Image 2" descr="preencoded.png"/>
          <p:cNvPicPr/>
          <p:nvPr/>
        </p:nvPicPr>
        <p:blipFill>
          <a:blip r:embed="rId3"/>
          <a:stretch/>
        </p:blipFill>
        <p:spPr>
          <a:xfrm>
            <a:off x="852120" y="5076720"/>
            <a:ext cx="306720" cy="306720"/>
          </a:xfrm>
          <a:prstGeom prst="rect">
            <a:avLst/>
          </a:prstGeom>
          <a:ln w="0">
            <a:noFill/>
          </a:ln>
        </p:spPr>
      </p:pic>
      <p:sp>
        <p:nvSpPr>
          <p:cNvPr id="463" name="Text 13"/>
          <p:cNvSpPr/>
          <p:nvPr/>
        </p:nvSpPr>
        <p:spPr>
          <a:xfrm>
            <a:off x="1463040" y="4919400"/>
            <a:ext cx="406872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0a7d43"/>
                </a:solidFill>
                <a:latin typeface="Consolas"/>
                <a:ea typeface="Consolas"/>
              </a:rPr>
              <a:t>Modifier.focusable()</a:t>
            </a:r>
            <a:endParaRPr b="0" lang="en-US" sz="1350" spc="-1" strike="noStrike">
              <a:solidFill>
                <a:srgbClr val="000000"/>
              </a:solidFill>
              <a:latin typeface="Arial"/>
            </a:endParaRPr>
          </a:p>
        </p:txBody>
      </p:sp>
      <p:sp>
        <p:nvSpPr>
          <p:cNvPr id="464" name="Text 14"/>
          <p:cNvSpPr/>
          <p:nvPr/>
        </p:nvSpPr>
        <p:spPr>
          <a:xfrm>
            <a:off x="1463040" y="5266800"/>
            <a:ext cx="406872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1b2330"/>
                </a:solidFill>
                <a:latin typeface="Calibri"/>
                <a:ea typeface="Calibri"/>
              </a:rPr>
              <a:t>Makes something that isn’t normally focusable reachable by keyboard and touch-to-explore.</a:t>
            </a:r>
            <a:endParaRPr b="0" lang="en-US" sz="1300" spc="-1" strike="noStrike">
              <a:solidFill>
                <a:srgbClr val="000000"/>
              </a:solidFill>
              <a:latin typeface="Arial"/>
            </a:endParaRPr>
          </a:p>
        </p:txBody>
      </p:sp>
      <p:sp>
        <p:nvSpPr>
          <p:cNvPr id="465" name="Shape 15"/>
          <p:cNvSpPr/>
          <p:nvPr/>
        </p:nvSpPr>
        <p:spPr>
          <a:xfrm>
            <a:off x="5989320" y="1737360"/>
            <a:ext cx="5623200" cy="4800240"/>
          </a:xfrm>
          <a:prstGeom prst="roundRect">
            <a:avLst>
              <a:gd name="adj" fmla="val 2286"/>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6" name="Text 16"/>
          <p:cNvSpPr/>
          <p:nvPr/>
        </p:nvSpPr>
        <p:spPr>
          <a:xfrm>
            <a:off x="6217920" y="1938600"/>
            <a:ext cx="5257440" cy="44802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150" spc="-1" strike="noStrike">
                <a:solidFill>
                  <a:srgbClr val="ff8fc7"/>
                </a:solidFill>
                <a:latin typeface="Consolas"/>
                <a:ea typeface="Consolas"/>
              </a:rPr>
              <a:t>fun</a:t>
            </a:r>
            <a:r>
              <a:rPr b="0" lang="en-US" sz="1150" spc="-1" strike="noStrike">
                <a:solidFill>
                  <a:srgbClr val="dce3ec"/>
                </a:solidFill>
                <a:latin typeface="Consolas"/>
                <a:ea typeface="Consolas"/>
              </a:rPr>
              <a:t> </a:t>
            </a:r>
            <a:r>
              <a:rPr b="0" lang="en-US" sz="1150" spc="-1" strike="noStrike">
                <a:solidFill>
                  <a:srgbClr val="8ab4f8"/>
                </a:solidFill>
                <a:latin typeface="Consolas"/>
                <a:ea typeface="Consolas"/>
              </a:rPr>
              <a:t>FocusCodeSample</a:t>
            </a:r>
            <a:r>
              <a:rPr b="0" lang="en-US" sz="1150" spc="-1" strike="noStrike">
                <a:solidFill>
                  <a:srgbClr val="dce3ec"/>
                </a:solidFill>
                <a:latin typeface="Consolas"/>
                <a:ea typeface="Consolas"/>
              </a:rPr>
              <a:t>(key: </a:t>
            </a:r>
            <a:r>
              <a:rPr b="0" lang="en-US" sz="1150" spc="-1" strike="noStrike">
                <a:solidFill>
                  <a:srgbClr val="8ab4f8"/>
                </a:solidFill>
                <a:latin typeface="Consolas"/>
                <a:ea typeface="Consolas"/>
              </a:rPr>
              <a:t>Any</a:t>
            </a:r>
            <a:r>
              <a:rPr b="0" lang="en-US" sz="1150" spc="-1" strike="noStrike">
                <a:solidFill>
                  <a:srgbClr val="dce3ec"/>
                </a:solidFill>
                <a:latin typeface="Consolas"/>
                <a:ea typeface="Consolas"/>
              </a:rPr>
              <a:t> = </a:t>
            </a:r>
            <a:r>
              <a:rPr b="0" lang="en-US" sz="1150" spc="-1" strike="noStrike">
                <a:solidFill>
                  <a:srgbClr val="8ab4f8"/>
                </a:solidFill>
                <a:latin typeface="Consolas"/>
                <a:ea typeface="Consolas"/>
              </a:rPr>
              <a:t>Unit</a:t>
            </a:r>
            <a:r>
              <a:rPr b="0" lang="en-US" sz="1150" spc="-1" strike="noStrike">
                <a:solidFill>
                  <a:srgbClr val="dce3ec"/>
                </a:solidFill>
                <a:latin typeface="Consolas"/>
                <a:ea typeface="Consolas"/>
              </a:rPr>
              <a:t>)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ff8fc7"/>
                </a:solidFill>
                <a:latin typeface="Consolas"/>
                <a:ea typeface="Consolas"/>
              </a:rPr>
              <a:t>var</a:t>
            </a:r>
            <a:r>
              <a:rPr b="0" lang="en-US" sz="1150" spc="-1" strike="noStrike">
                <a:solidFill>
                  <a:srgbClr val="dce3ec"/>
                </a:solidFill>
                <a:latin typeface="Consolas"/>
                <a:ea typeface="Consolas"/>
              </a:rPr>
              <a:t> isTalkBackFocused by remember(key)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mutableStateOf(</a:t>
            </a:r>
            <a:r>
              <a:rPr b="0" lang="en-US" sz="1150" spc="-1" strike="noStrike">
                <a:solidFill>
                  <a:srgbClr val="ff8fc7"/>
                </a:solidFill>
                <a:latin typeface="Consolas"/>
                <a:ea typeface="Consolas"/>
              </a:rPr>
              <a:t>false</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i="1" lang="en-US" sz="1150" spc="-1" strike="noStrike">
                <a:solidFill>
                  <a:srgbClr val="8b98ad"/>
                </a:solidFill>
                <a:latin typeface="Consolas"/>
                <a:ea typeface="Consolas"/>
              </a:rPr>
              <a:t>// 1) Accessibility (TalkBack) focus</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8ab4f8"/>
                </a:solidFill>
                <a:latin typeface="Consolas"/>
                <a:ea typeface="Consolas"/>
              </a:rPr>
              <a:t>Modifier</a:t>
            </a:r>
            <a:r>
              <a:rPr b="0" lang="en-US" sz="1150" spc="-1" strike="noStrike">
                <a:solidFill>
                  <a:srgbClr val="dce3ec"/>
                </a:solidFill>
                <a:latin typeface="Consolas"/>
                <a:ea typeface="Consolas"/>
              </a:rPr>
              <a:t>.</a:t>
            </a:r>
            <a:r>
              <a:rPr b="1" lang="en-US" sz="1150" spc="-1" strike="noStrike">
                <a:solidFill>
                  <a:srgbClr val="3ddc84"/>
                </a:solidFill>
                <a:latin typeface="Consolas"/>
                <a:ea typeface="Consolas"/>
              </a:rPr>
              <a:t>semantics</a:t>
            </a:r>
            <a:r>
              <a:rPr b="0" lang="en-US" sz="1150" spc="-1" strike="noStrike">
                <a:solidFill>
                  <a:srgbClr val="dce3ec"/>
                </a:solidFill>
                <a:latin typeface="Consolas"/>
                <a:ea typeface="Consolas"/>
              </a:rPr>
              <a:t> { </a:t>
            </a:r>
            <a:r>
              <a:rPr b="1" lang="en-US" sz="1150" spc="-1" strike="noStrike">
                <a:solidFill>
                  <a:srgbClr val="3ddc84"/>
                </a:solidFill>
                <a:latin typeface="Consolas"/>
                <a:ea typeface="Consolas"/>
              </a:rPr>
              <a:t>focused</a:t>
            </a:r>
            <a:r>
              <a:rPr b="0" lang="en-US" sz="1150" spc="-1" strike="noStrike">
                <a:solidFill>
                  <a:srgbClr val="dce3ec"/>
                </a:solidFill>
                <a:latin typeface="Consolas"/>
                <a:ea typeface="Consolas"/>
              </a:rPr>
              <a:t> = isTalkBackFocused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000000"/>
                </a:solidFill>
                <a:latin typeface="Consolas"/>
                <a:ea typeface="Consolas"/>
              </a:rPr>
              <a:t>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i="1" lang="en-US" sz="1150" spc="-1" strike="noStrike">
                <a:solidFill>
                  <a:srgbClr val="8b98ad"/>
                </a:solidFill>
                <a:latin typeface="Consolas"/>
                <a:ea typeface="Consolas"/>
              </a:rPr>
              <a:t>// 2) Keyboard / D-pad focus</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ff8fc7"/>
                </a:solidFill>
                <a:latin typeface="Consolas"/>
                <a:ea typeface="Consolas"/>
              </a:rPr>
              <a:t>val</a:t>
            </a:r>
            <a:r>
              <a:rPr b="0" lang="en-US" sz="1150" spc="-1" strike="noStrike">
                <a:solidFill>
                  <a:srgbClr val="dce3ec"/>
                </a:solidFill>
                <a:latin typeface="Consolas"/>
                <a:ea typeface="Consolas"/>
              </a:rPr>
              <a:t> </a:t>
            </a:r>
            <a:r>
              <a:rPr b="1" lang="en-US" sz="1150" spc="-1" strike="noStrike">
                <a:solidFill>
                  <a:srgbClr val="3ddc84"/>
                </a:solidFill>
                <a:latin typeface="Consolas"/>
                <a:ea typeface="Consolas"/>
              </a:rPr>
              <a:t>focusRequester</a:t>
            </a:r>
            <a:r>
              <a:rPr b="0" lang="en-US" sz="1150" spc="-1" strike="noStrike">
                <a:solidFill>
                  <a:srgbClr val="dce3ec"/>
                </a:solidFill>
                <a:latin typeface="Consolas"/>
                <a:ea typeface="Consolas"/>
              </a:rPr>
              <a:t> = remember { </a:t>
            </a:r>
            <a:r>
              <a:rPr b="0" lang="en-US" sz="1150" spc="-1" strike="noStrike">
                <a:solidFill>
                  <a:srgbClr val="8ab4f8"/>
                </a:solidFill>
                <a:latin typeface="Consolas"/>
                <a:ea typeface="Consolas"/>
              </a:rPr>
              <a:t>FocusRequester</a:t>
            </a:r>
            <a:r>
              <a:rPr b="0" lang="en-US" sz="1150" spc="-1" strike="noStrike">
                <a:solidFill>
                  <a:srgbClr val="dce3ec"/>
                </a:solidFill>
                <a:latin typeface="Consolas"/>
                <a:ea typeface="Consolas"/>
              </a:rPr>
              <a:t>()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ff8fc7"/>
                </a:solidFill>
                <a:latin typeface="Consolas"/>
                <a:ea typeface="Consolas"/>
              </a:rPr>
              <a:t>val</a:t>
            </a:r>
            <a:r>
              <a:rPr b="0" lang="en-US" sz="1150" spc="-1" strike="noStrike">
                <a:solidFill>
                  <a:srgbClr val="dce3ec"/>
                </a:solidFill>
                <a:latin typeface="Consolas"/>
                <a:ea typeface="Consolas"/>
              </a:rPr>
              <a:t> focusManager = </a:t>
            </a:r>
            <a:r>
              <a:rPr b="0" lang="en-US" sz="1150" spc="-1" strike="noStrike">
                <a:solidFill>
                  <a:srgbClr val="8ab4f8"/>
                </a:solidFill>
                <a:latin typeface="Consolas"/>
                <a:ea typeface="Consolas"/>
              </a:rPr>
              <a:t>LocalFocusManager</a:t>
            </a:r>
            <a:r>
              <a:rPr b="0" lang="en-US" sz="1150" spc="-1" strike="noStrike">
                <a:solidFill>
                  <a:srgbClr val="dce3ec"/>
                </a:solidFill>
                <a:latin typeface="Consolas"/>
                <a:ea typeface="Consolas"/>
              </a:rPr>
              <a:t>.current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8ab4f8"/>
                </a:solidFill>
                <a:latin typeface="Consolas"/>
                <a:ea typeface="Consolas"/>
              </a:rPr>
              <a:t>Box</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8ab4f8"/>
                </a:solidFill>
                <a:latin typeface="Consolas"/>
                <a:ea typeface="Consolas"/>
              </a:rPr>
              <a:t>Modifier</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a:t>
            </a:r>
            <a:r>
              <a:rPr b="1" lang="en-US" sz="1150" spc="-1" strike="noStrike">
                <a:solidFill>
                  <a:srgbClr val="3ddc84"/>
                </a:solidFill>
                <a:latin typeface="Consolas"/>
                <a:ea typeface="Consolas"/>
              </a:rPr>
              <a:t>focusRequester</a:t>
            </a:r>
            <a:r>
              <a:rPr b="0" lang="en-US" sz="1150" spc="-1" strike="noStrike">
                <a:solidFill>
                  <a:srgbClr val="dce3ec"/>
                </a:solidFill>
                <a:latin typeface="Consolas"/>
                <a:ea typeface="Consolas"/>
              </a:rPr>
              <a:t>(</a:t>
            </a:r>
            <a:r>
              <a:rPr b="1" lang="en-US" sz="1150" spc="-1" strike="noStrike">
                <a:solidFill>
                  <a:srgbClr val="3ddc84"/>
                </a:solidFill>
                <a:latin typeface="Consolas"/>
                <a:ea typeface="Consolas"/>
              </a:rPr>
              <a:t>focusRequester</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.focusable()   </a:t>
            </a:r>
            <a:r>
              <a:rPr b="0" i="1" lang="en-US" sz="1150" spc="-1" strike="noStrike">
                <a:solidFill>
                  <a:srgbClr val="8b98ad"/>
                </a:solidFill>
                <a:latin typeface="Consolas"/>
                <a:ea typeface="Consolas"/>
              </a:rPr>
              <a:t>// always focusable</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000000"/>
                </a:solidFill>
                <a:latin typeface="Consolas"/>
                <a:ea typeface="Consolas"/>
              </a:rPr>
              <a:t>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8ab4f8"/>
                </a:solidFill>
                <a:latin typeface="Consolas"/>
                <a:ea typeface="Consolas"/>
              </a:rPr>
              <a:t>LaunchedEffect</a:t>
            </a:r>
            <a:r>
              <a:rPr b="0" lang="en-US" sz="1150" spc="-1" strike="noStrike">
                <a:solidFill>
                  <a:srgbClr val="dce3ec"/>
                </a:solidFill>
                <a:latin typeface="Consolas"/>
                <a:ea typeface="Consolas"/>
              </a:rPr>
              <a:t>(</a:t>
            </a:r>
            <a:r>
              <a:rPr b="0" lang="en-US" sz="1150" spc="-1" strike="noStrike">
                <a:solidFill>
                  <a:srgbClr val="8ab4f8"/>
                </a:solidFill>
                <a:latin typeface="Consolas"/>
                <a:ea typeface="Consolas"/>
              </a:rPr>
              <a:t>Unit</a:t>
            </a:r>
            <a:r>
              <a:rPr b="0" lang="en-US" sz="1150" spc="-1" strike="noStrike">
                <a:solidFill>
                  <a:srgbClr val="dce3ec"/>
                </a:solidFill>
                <a:latin typeface="Consolas"/>
                <a:ea typeface="Consolas"/>
              </a:rPr>
              <a:t>) {</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isTalkBackFocused = </a:t>
            </a:r>
            <a:r>
              <a:rPr b="0" lang="en-US" sz="1150" spc="-1" strike="noStrike">
                <a:solidFill>
                  <a:srgbClr val="ff8fc7"/>
                </a:solidFill>
                <a:latin typeface="Consolas"/>
                <a:ea typeface="Consolas"/>
              </a:rPr>
              <a:t>true</a:t>
            </a:r>
            <a:r>
              <a:rPr b="0" lang="en-US" sz="1150" spc="-1" strike="noStrike">
                <a:solidFill>
                  <a:srgbClr val="dce3ec"/>
                </a:solidFill>
                <a:latin typeface="Consolas"/>
                <a:ea typeface="Consolas"/>
              </a:rPr>
              <a:t>        </a:t>
            </a:r>
            <a:r>
              <a:rPr b="0" i="1" lang="en-US" sz="1150" spc="-1" strike="noStrike">
                <a:solidFill>
                  <a:srgbClr val="8b98ad"/>
                </a:solidFill>
                <a:latin typeface="Consolas"/>
                <a:ea typeface="Consolas"/>
              </a:rPr>
              <a:t>// TalkBack</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1" lang="en-US" sz="1150" spc="-1" strike="noStrike">
                <a:solidFill>
                  <a:srgbClr val="3ddc84"/>
                </a:solidFill>
                <a:latin typeface="Consolas"/>
                <a:ea typeface="Consolas"/>
              </a:rPr>
              <a:t>focusRequester</a:t>
            </a:r>
            <a:r>
              <a:rPr b="0" lang="en-US" sz="1150" spc="-1" strike="noStrike">
                <a:solidFill>
                  <a:srgbClr val="dce3ec"/>
                </a:solidFill>
                <a:latin typeface="Consolas"/>
                <a:ea typeface="Consolas"/>
              </a:rPr>
              <a:t>.</a:t>
            </a:r>
            <a:r>
              <a:rPr b="1" lang="en-US" sz="1150" spc="-1" strike="noStrike">
                <a:solidFill>
                  <a:srgbClr val="3ddc84"/>
                </a:solidFill>
                <a:latin typeface="Consolas"/>
                <a:ea typeface="Consolas"/>
              </a:rPr>
              <a:t>requestFocus</a:t>
            </a:r>
            <a:r>
              <a:rPr b="0" lang="en-US" sz="1150" spc="-1" strike="noStrike">
                <a:solidFill>
                  <a:srgbClr val="dce3ec"/>
                </a:solidFill>
                <a:latin typeface="Consolas"/>
                <a:ea typeface="Consolas"/>
              </a:rPr>
              <a:t>()   </a:t>
            </a:r>
            <a:r>
              <a:rPr b="0" i="1" lang="en-US" sz="1150" spc="-1" strike="noStrike">
                <a:solidFill>
                  <a:srgbClr val="8b98ad"/>
                </a:solidFill>
                <a:latin typeface="Consolas"/>
                <a:ea typeface="Consolas"/>
              </a:rPr>
              <a:t>// keyboard</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focusManager.clearFocus()       </a:t>
            </a:r>
            <a:r>
              <a:rPr b="0" i="1" lang="en-US" sz="1150" spc="-1" strike="noStrike">
                <a:solidFill>
                  <a:srgbClr val="8b98ad"/>
                </a:solidFill>
                <a:latin typeface="Consolas"/>
                <a:ea typeface="Consolas"/>
              </a:rPr>
              <a:t>// clear keyboard</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    </a:t>
            </a:r>
            <a:r>
              <a:rPr b="0" lang="en-US" sz="1150" spc="-1" strike="noStrike">
                <a:solidFill>
                  <a:srgbClr val="dce3ec"/>
                </a:solidFill>
                <a:latin typeface="Consolas"/>
                <a:ea typeface="Consolas"/>
              </a:rPr>
              <a:t>}</a:t>
            </a:r>
            <a:endParaRPr b="0" lang="en-US" sz="1150" spc="-1" strike="noStrike">
              <a:solidFill>
                <a:srgbClr val="000000"/>
              </a:solidFill>
              <a:latin typeface="Arial"/>
            </a:endParaRPr>
          </a:p>
          <a:p>
            <a:pPr defTabSz="914400">
              <a:lnSpc>
                <a:spcPct val="105000"/>
              </a:lnSpc>
              <a:tabLst>
                <a:tab algn="l" pos="0"/>
              </a:tabLst>
            </a:pPr>
            <a:r>
              <a:rPr b="0" lang="en-US" sz="1150" spc="-1" strike="noStrike">
                <a:solidFill>
                  <a:srgbClr val="dce3ec"/>
                </a:solidFill>
                <a:latin typeface="Consolas"/>
                <a:ea typeface="Consolas"/>
              </a:rPr>
              <a:t>}</a:t>
            </a:r>
            <a:endParaRPr b="0" lang="en-US" sz="1150" spc="-1" strike="noStrike">
              <a:solidFill>
                <a:srgbClr val="000000"/>
              </a:solidFill>
              <a:latin typeface="Arial"/>
            </a:endParaRPr>
          </a:p>
        </p:txBody>
      </p:sp>
      <p:sp>
        <p:nvSpPr>
          <p:cNvPr id="467" name="Text 17"/>
          <p:cNvSpPr/>
          <p:nvPr/>
        </p:nvSpPr>
        <p:spPr>
          <a:xfrm>
            <a:off x="10607040" y="18104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8" name="Shape 0"/>
          <p:cNvSpPr/>
          <p:nvPr/>
        </p:nvSpPr>
        <p:spPr>
          <a:xfrm>
            <a:off x="548640" y="384120"/>
            <a:ext cx="1161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9" name="Text 1"/>
          <p:cNvSpPr/>
          <p:nvPr/>
        </p:nvSpPr>
        <p:spPr>
          <a:xfrm>
            <a:off x="548640" y="384120"/>
            <a:ext cx="1161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05 · FOCUS</a:t>
            </a:r>
            <a:endParaRPr b="0" lang="en-US" sz="1100" spc="-1" strike="noStrike">
              <a:solidFill>
                <a:srgbClr val="000000"/>
              </a:solidFill>
              <a:latin typeface="Arial"/>
            </a:endParaRPr>
          </a:p>
        </p:txBody>
      </p:sp>
      <p:sp>
        <p:nvSpPr>
          <p:cNvPr id="470"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Recover focus with an id</a:t>
            </a:r>
            <a:endParaRPr b="0" lang="en-US" sz="3200" spc="-1" strike="noStrike">
              <a:solidFill>
                <a:srgbClr val="000000"/>
              </a:solidFill>
              <a:latin typeface="Arial"/>
            </a:endParaRPr>
          </a:p>
        </p:txBody>
      </p:sp>
      <p:sp>
        <p:nvSpPr>
          <p:cNvPr id="471" name="Shape 3"/>
          <p:cNvSpPr/>
          <p:nvPr/>
        </p:nvSpPr>
        <p:spPr>
          <a:xfrm>
            <a:off x="548640" y="1600200"/>
            <a:ext cx="1554120" cy="29232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2" name="Text 4"/>
          <p:cNvSpPr/>
          <p:nvPr/>
        </p:nvSpPr>
        <p:spPr>
          <a:xfrm>
            <a:off x="548640" y="1600200"/>
            <a:ext cx="15541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5b3fd6"/>
                </a:solidFill>
                <a:latin typeface="Calibri"/>
                <a:ea typeface="Calibri"/>
              </a:rPr>
              <a:t>1 · Section state</a:t>
            </a:r>
            <a:endParaRPr b="0" lang="en-US" sz="1100" spc="-1" strike="noStrike">
              <a:solidFill>
                <a:srgbClr val="000000"/>
              </a:solidFill>
              <a:latin typeface="Arial"/>
            </a:endParaRPr>
          </a:p>
        </p:txBody>
      </p:sp>
      <p:sp>
        <p:nvSpPr>
          <p:cNvPr id="473" name="Shape 5"/>
          <p:cNvSpPr/>
          <p:nvPr/>
        </p:nvSpPr>
        <p:spPr>
          <a:xfrm>
            <a:off x="548640" y="1947600"/>
            <a:ext cx="4160160" cy="1005480"/>
          </a:xfrm>
          <a:prstGeom prst="roundRect">
            <a:avLst>
              <a:gd name="adj" fmla="val 1090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4" name="Text 6"/>
          <p:cNvSpPr/>
          <p:nvPr/>
        </p:nvSpPr>
        <p:spPr>
          <a:xfrm>
            <a:off x="777240" y="2148840"/>
            <a:ext cx="3794400" cy="685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100" spc="-1" strike="noStrike">
                <a:solidFill>
                  <a:srgbClr val="ff8fc7"/>
                </a:solidFill>
                <a:latin typeface="Consolas"/>
                <a:ea typeface="Consolas"/>
              </a:rPr>
              <a:t>var</a:t>
            </a:r>
            <a:r>
              <a:rPr b="0" lang="en-US" sz="1100" spc="-1" strike="noStrike">
                <a:solidFill>
                  <a:srgbClr val="dce3ec"/>
                </a:solidFill>
                <a:latin typeface="Consolas"/>
                <a:ea typeface="Consolas"/>
              </a:rPr>
              <a:t> focusPillId by remember(section) {</a:t>
            </a:r>
            <a:endParaRPr b="0" lang="en-US" sz="1100" spc="-1" strike="noStrike">
              <a:solidFill>
                <a:srgbClr val="000000"/>
              </a:solidFill>
              <a:latin typeface="Arial"/>
            </a:endParaRPr>
          </a:p>
          <a:p>
            <a:pPr defTabSz="914400">
              <a:lnSpc>
                <a:spcPct val="105000"/>
              </a:lnSpc>
              <a:tabLst>
                <a:tab algn="l" pos="0"/>
              </a:tabLst>
            </a:pPr>
            <a:r>
              <a:rPr b="0" lang="en-US" sz="1100" spc="-1" strike="noStrike">
                <a:solidFill>
                  <a:srgbClr val="dce3ec"/>
                </a:solidFill>
                <a:latin typeface="Consolas"/>
                <a:ea typeface="Consolas"/>
              </a:rPr>
              <a:t>    </a:t>
            </a:r>
            <a:r>
              <a:rPr b="0" lang="en-US" sz="1100" spc="-1" strike="noStrike">
                <a:solidFill>
                  <a:srgbClr val="dce3ec"/>
                </a:solidFill>
                <a:latin typeface="Consolas"/>
                <a:ea typeface="Consolas"/>
              </a:rPr>
              <a:t>mutableStateOf&lt;</a:t>
            </a:r>
            <a:r>
              <a:rPr b="0" lang="en-US" sz="1100" spc="-1" strike="noStrike">
                <a:solidFill>
                  <a:srgbClr val="8ab4f8"/>
                </a:solidFill>
                <a:latin typeface="Consolas"/>
                <a:ea typeface="Consolas"/>
              </a:rPr>
              <a:t>String</a:t>
            </a:r>
            <a:r>
              <a:rPr b="0" lang="en-US" sz="1100" spc="-1" strike="noStrike">
                <a:solidFill>
                  <a:srgbClr val="dce3ec"/>
                </a:solidFill>
                <a:latin typeface="Consolas"/>
                <a:ea typeface="Consolas"/>
              </a:rPr>
              <a:t>?&gt;(</a:t>
            </a:r>
            <a:r>
              <a:rPr b="0" lang="en-US" sz="1100" spc="-1" strike="noStrike">
                <a:solidFill>
                  <a:srgbClr val="ff8fc7"/>
                </a:solidFill>
                <a:latin typeface="Consolas"/>
                <a:ea typeface="Consolas"/>
              </a:rPr>
              <a:t>null</a:t>
            </a:r>
            <a:r>
              <a:rPr b="0" lang="en-US" sz="1100" spc="-1" strike="noStrike">
                <a:solidFill>
                  <a:srgbClr val="dce3ec"/>
                </a:solidFill>
                <a:latin typeface="Consolas"/>
                <a:ea typeface="Consolas"/>
              </a:rPr>
              <a:t>)</a:t>
            </a:r>
            <a:endParaRPr b="0" lang="en-US" sz="1100" spc="-1" strike="noStrike">
              <a:solidFill>
                <a:srgbClr val="000000"/>
              </a:solidFill>
              <a:latin typeface="Arial"/>
            </a:endParaRPr>
          </a:p>
          <a:p>
            <a:pPr defTabSz="914400">
              <a:lnSpc>
                <a:spcPct val="105000"/>
              </a:lnSpc>
              <a:tabLst>
                <a:tab algn="l" pos="0"/>
              </a:tabLst>
            </a:pPr>
            <a:r>
              <a:rPr b="0" lang="en-US" sz="1100" spc="-1" strike="noStrike">
                <a:solidFill>
                  <a:srgbClr val="dce3ec"/>
                </a:solidFill>
                <a:latin typeface="Consolas"/>
                <a:ea typeface="Consolas"/>
              </a:rPr>
              <a:t>}</a:t>
            </a:r>
            <a:endParaRPr b="0" lang="en-US" sz="1100" spc="-1" strike="noStrike">
              <a:solidFill>
                <a:srgbClr val="000000"/>
              </a:solidFill>
              <a:latin typeface="Arial"/>
            </a:endParaRPr>
          </a:p>
        </p:txBody>
      </p:sp>
      <p:sp>
        <p:nvSpPr>
          <p:cNvPr id="475" name="Shape 7"/>
          <p:cNvSpPr/>
          <p:nvPr/>
        </p:nvSpPr>
        <p:spPr>
          <a:xfrm>
            <a:off x="548640" y="3136320"/>
            <a:ext cx="2331360" cy="29232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6" name="Text 8"/>
          <p:cNvSpPr/>
          <p:nvPr/>
        </p:nvSpPr>
        <p:spPr>
          <a:xfrm>
            <a:off x="548640" y="3136320"/>
            <a:ext cx="23313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5b3fd6"/>
                </a:solidFill>
                <a:latin typeface="Calibri"/>
                <a:ea typeface="Calibri"/>
              </a:rPr>
              <a:t>2 · When the batch arrives</a:t>
            </a:r>
            <a:endParaRPr b="0" lang="en-US" sz="1100" spc="-1" strike="noStrike">
              <a:solidFill>
                <a:srgbClr val="000000"/>
              </a:solidFill>
              <a:latin typeface="Arial"/>
            </a:endParaRPr>
          </a:p>
        </p:txBody>
      </p:sp>
      <p:sp>
        <p:nvSpPr>
          <p:cNvPr id="477" name="Shape 9"/>
          <p:cNvSpPr/>
          <p:nvPr/>
        </p:nvSpPr>
        <p:spPr>
          <a:xfrm>
            <a:off x="548640" y="3483720"/>
            <a:ext cx="4160160" cy="1371240"/>
          </a:xfrm>
          <a:prstGeom prst="roundRect">
            <a:avLst>
              <a:gd name="adj" fmla="val 8000"/>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Text 10"/>
          <p:cNvSpPr/>
          <p:nvPr/>
        </p:nvSpPr>
        <p:spPr>
          <a:xfrm>
            <a:off x="777240" y="3684960"/>
            <a:ext cx="3794400" cy="10512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100" spc="-1" strike="noStrike">
                <a:solidFill>
                  <a:srgbClr val="dce3ec"/>
                </a:solidFill>
                <a:latin typeface="Consolas"/>
                <a:ea typeface="Consolas"/>
              </a:rPr>
              <a:t>entries = entries.withoutSeeMore() +</a:t>
            </a:r>
            <a:endParaRPr b="0" lang="en-US" sz="1100" spc="-1" strike="noStrike">
              <a:solidFill>
                <a:srgbClr val="000000"/>
              </a:solidFill>
              <a:latin typeface="Arial"/>
            </a:endParaRPr>
          </a:p>
          <a:p>
            <a:pPr defTabSz="914400">
              <a:lnSpc>
                <a:spcPct val="105000"/>
              </a:lnSpc>
              <a:tabLst>
                <a:tab algn="l" pos="0"/>
              </a:tabLst>
            </a:pPr>
            <a:r>
              <a:rPr b="0" lang="en-US" sz="1100" spc="-1" strike="noStrike">
                <a:solidFill>
                  <a:srgbClr val="dce3ec"/>
                </a:solidFill>
                <a:latin typeface="Consolas"/>
                <a:ea typeface="Consolas"/>
              </a:rPr>
              <a:t>    </a:t>
            </a:r>
            <a:r>
              <a:rPr b="0" lang="en-US" sz="1100" spc="-1" strike="noStrike">
                <a:solidFill>
                  <a:srgbClr val="dce3ec"/>
                </a:solidFill>
                <a:latin typeface="Consolas"/>
                <a:ea typeface="Consolas"/>
              </a:rPr>
              <a:t>newPills + </a:t>
            </a:r>
            <a:r>
              <a:rPr b="0" lang="en-US" sz="1100" spc="-1" strike="noStrike">
                <a:solidFill>
                  <a:srgbClr val="8ab4f8"/>
                </a:solidFill>
                <a:latin typeface="Consolas"/>
                <a:ea typeface="Consolas"/>
              </a:rPr>
              <a:t>SeeMore</a:t>
            </a:r>
            <a:r>
              <a:rPr b="0" lang="en-US" sz="1100" spc="-1" strike="noStrike">
                <a:solidFill>
                  <a:srgbClr val="dce3ec"/>
                </a:solidFill>
                <a:latin typeface="Consolas"/>
                <a:ea typeface="Consolas"/>
              </a:rPr>
              <a:t>(nextBatch)</a:t>
            </a:r>
            <a:endParaRPr b="0" lang="en-US" sz="1100" spc="-1" strike="noStrike">
              <a:solidFill>
                <a:srgbClr val="000000"/>
              </a:solidFill>
              <a:latin typeface="Arial"/>
            </a:endParaRPr>
          </a:p>
          <a:p>
            <a:pPr defTabSz="914400">
              <a:lnSpc>
                <a:spcPct val="105000"/>
              </a:lnSpc>
              <a:tabLst>
                <a:tab algn="l" pos="0"/>
              </a:tabLst>
            </a:pPr>
            <a:r>
              <a:rPr b="0" lang="en-US" sz="1100" spc="-1" strike="noStrike">
                <a:solidFill>
                  <a:srgbClr val="dce3ec"/>
                </a:solidFill>
                <a:latin typeface="Consolas"/>
                <a:ea typeface="Consolas"/>
              </a:rPr>
              <a:t>focusPillId = newPills.first().id</a:t>
            </a:r>
            <a:endParaRPr b="0" lang="en-US" sz="1100" spc="-1" strike="noStrike">
              <a:solidFill>
                <a:srgbClr val="000000"/>
              </a:solidFill>
              <a:latin typeface="Arial"/>
            </a:endParaRPr>
          </a:p>
          <a:p>
            <a:pPr defTabSz="914400">
              <a:lnSpc>
                <a:spcPct val="105000"/>
              </a:lnSpc>
              <a:tabLst>
                <a:tab algn="l" pos="0"/>
              </a:tabLst>
            </a:pPr>
            <a:r>
              <a:rPr b="0" lang="en-US" sz="1100" spc="-1" strike="noStrike">
                <a:solidFill>
                  <a:srgbClr val="dce3ec"/>
                </a:solidFill>
                <a:latin typeface="Consolas"/>
                <a:ea typeface="Consolas"/>
              </a:rPr>
              <a:t>isLoading = </a:t>
            </a:r>
            <a:r>
              <a:rPr b="0" lang="en-US" sz="1100" spc="-1" strike="noStrike">
                <a:solidFill>
                  <a:srgbClr val="ff8fc7"/>
                </a:solidFill>
                <a:latin typeface="Consolas"/>
                <a:ea typeface="Consolas"/>
              </a:rPr>
              <a:t>false</a:t>
            </a:r>
            <a:endParaRPr b="0" lang="en-US" sz="1100" spc="-1" strike="noStrike">
              <a:solidFill>
                <a:srgbClr val="000000"/>
              </a:solidFill>
              <a:latin typeface="Arial"/>
            </a:endParaRPr>
          </a:p>
        </p:txBody>
      </p:sp>
      <p:sp>
        <p:nvSpPr>
          <p:cNvPr id="479" name="Shape 11"/>
          <p:cNvSpPr/>
          <p:nvPr/>
        </p:nvSpPr>
        <p:spPr>
          <a:xfrm>
            <a:off x="548640" y="5029200"/>
            <a:ext cx="4160160" cy="1416960"/>
          </a:xfrm>
          <a:prstGeom prst="roundRect">
            <a:avLst>
              <a:gd name="adj" fmla="val 7742"/>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0" name="Text 12"/>
          <p:cNvSpPr/>
          <p:nvPr/>
        </p:nvSpPr>
        <p:spPr>
          <a:xfrm>
            <a:off x="731520" y="5139000"/>
            <a:ext cx="384012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alibri"/>
                <a:ea typeface="Calibri"/>
              </a:rPr>
              <a:t>Tip: label “See more” with its section</a:t>
            </a:r>
            <a:endParaRPr b="0" lang="en-US" sz="1300" spc="-1" strike="noStrike">
              <a:solidFill>
                <a:srgbClr val="000000"/>
              </a:solidFill>
              <a:latin typeface="Arial"/>
            </a:endParaRPr>
          </a:p>
        </p:txBody>
      </p:sp>
      <p:sp>
        <p:nvSpPr>
          <p:cNvPr id="481" name="Text 13"/>
          <p:cNvSpPr/>
          <p:nvPr/>
        </p:nvSpPr>
        <p:spPr>
          <a:xfrm>
            <a:off x="731520" y="5468040"/>
            <a:ext cx="384012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b2330"/>
                </a:solidFill>
                <a:latin typeface="Calibri"/>
                <a:ea typeface="Calibri"/>
              </a:rPr>
              <a:t>“</a:t>
            </a:r>
            <a:r>
              <a:rPr b="0" lang="en-US" sz="1250" spc="-1" strike="noStrike">
                <a:solidFill>
                  <a:srgbClr val="1b2330"/>
                </a:solidFill>
                <a:latin typeface="Calibri"/>
                <a:ea typeface="Calibri"/>
              </a:rPr>
              <a:t>See more Vision access topics, Button” beats five identical “See more” buttons.</a:t>
            </a:r>
            <a:endParaRPr b="0" lang="en-US" sz="1250" spc="-1" strike="noStrike">
              <a:solidFill>
                <a:srgbClr val="000000"/>
              </a:solidFill>
              <a:latin typeface="Arial"/>
            </a:endParaRPr>
          </a:p>
        </p:txBody>
      </p:sp>
      <p:sp>
        <p:nvSpPr>
          <p:cNvPr id="482" name="Shape 14"/>
          <p:cNvSpPr/>
          <p:nvPr/>
        </p:nvSpPr>
        <p:spPr>
          <a:xfrm>
            <a:off x="4937760" y="1600200"/>
            <a:ext cx="1234080" cy="29232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3" name="Text 15"/>
          <p:cNvSpPr/>
          <p:nvPr/>
        </p:nvSpPr>
        <p:spPr>
          <a:xfrm>
            <a:off x="4937760" y="1600200"/>
            <a:ext cx="123408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5b3fd6"/>
                </a:solidFill>
                <a:latin typeface="Calibri"/>
                <a:ea typeface="Calibri"/>
              </a:rPr>
              <a:t>3 · Each pill</a:t>
            </a:r>
            <a:endParaRPr b="0" lang="en-US" sz="1100" spc="-1" strike="noStrike">
              <a:solidFill>
                <a:srgbClr val="000000"/>
              </a:solidFill>
              <a:latin typeface="Arial"/>
            </a:endParaRPr>
          </a:p>
        </p:txBody>
      </p:sp>
      <p:sp>
        <p:nvSpPr>
          <p:cNvPr id="484" name="Shape 16"/>
          <p:cNvSpPr/>
          <p:nvPr/>
        </p:nvSpPr>
        <p:spPr>
          <a:xfrm>
            <a:off x="4937760" y="1947600"/>
            <a:ext cx="4434480" cy="4498560"/>
          </a:xfrm>
          <a:prstGeom prst="roundRect">
            <a:avLst>
              <a:gd name="adj" fmla="val 2474"/>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Text 17"/>
          <p:cNvSpPr/>
          <p:nvPr/>
        </p:nvSpPr>
        <p:spPr>
          <a:xfrm>
            <a:off x="5166360" y="2148840"/>
            <a:ext cx="4068720" cy="417852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950" spc="-1" strike="noStrike">
                <a:solidFill>
                  <a:srgbClr val="dce3ec"/>
                </a:solidFill>
                <a:latin typeface="Consolas"/>
                <a:ea typeface="Consolas"/>
              </a:rPr>
              <a:t>@</a:t>
            </a:r>
            <a:r>
              <a:rPr b="0" lang="en-US" sz="950" spc="-1" strike="noStrike">
                <a:solidFill>
                  <a:srgbClr val="8ab4f8"/>
                </a:solidFill>
                <a:latin typeface="Consolas"/>
                <a:ea typeface="Consolas"/>
              </a:rPr>
              <a:t>Composable</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ff8fc7"/>
                </a:solidFill>
                <a:latin typeface="Consolas"/>
                <a:ea typeface="Consolas"/>
              </a:rPr>
              <a:t>fun</a:t>
            </a:r>
            <a:r>
              <a:rPr b="0" lang="en-US" sz="950" spc="-1" strike="noStrike">
                <a:solidFill>
                  <a:srgbClr val="dce3ec"/>
                </a:solidFill>
                <a:latin typeface="Consolas"/>
                <a:ea typeface="Consolas"/>
              </a:rPr>
              <a:t> </a:t>
            </a:r>
            <a:r>
              <a:rPr b="0" lang="en-US" sz="950" spc="-1" strike="noStrike">
                <a:solidFill>
                  <a:srgbClr val="8ab4f8"/>
                </a:solidFill>
                <a:latin typeface="Consolas"/>
                <a:ea typeface="Consolas"/>
              </a:rPr>
              <a:t>PatternPillButton</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pill: </a:t>
            </a:r>
            <a:r>
              <a:rPr b="0" lang="en-US" sz="950" spc="-1" strike="noStrike">
                <a:solidFill>
                  <a:srgbClr val="8ab4f8"/>
                </a:solidFill>
                <a:latin typeface="Consolas"/>
                <a:ea typeface="Consolas"/>
              </a:rPr>
              <a:t>Pill</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focusPillId: </a:t>
            </a:r>
            <a:r>
              <a:rPr b="0" lang="en-US" sz="950" spc="-1" strike="noStrike">
                <a:solidFill>
                  <a:srgbClr val="8ab4f8"/>
                </a:solidFill>
                <a:latin typeface="Consolas"/>
                <a:ea typeface="Consolas"/>
              </a:rPr>
              <a:t>String</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ff8fc7"/>
                </a:solidFill>
                <a:latin typeface="Consolas"/>
                <a:ea typeface="Consolas"/>
              </a:rPr>
              <a:t>val</a:t>
            </a:r>
            <a:r>
              <a:rPr b="0" lang="en-US" sz="950" spc="-1" strike="noStrike">
                <a:solidFill>
                  <a:srgbClr val="dce3ec"/>
                </a:solidFill>
                <a:latin typeface="Consolas"/>
                <a:ea typeface="Consolas"/>
              </a:rPr>
              <a:t> shouldFocus = pill.id == focusPillId</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ff8fc7"/>
                </a:solidFill>
                <a:latin typeface="Consolas"/>
                <a:ea typeface="Consolas"/>
              </a:rPr>
              <a:t>var</a:t>
            </a:r>
            <a:r>
              <a:rPr b="0" lang="en-US" sz="950" spc="-1" strike="noStrike">
                <a:solidFill>
                  <a:srgbClr val="dce3ec"/>
                </a:solidFill>
                <a:latin typeface="Consolas"/>
                <a:ea typeface="Consolas"/>
              </a:rPr>
              <a:t> isTalkBackFocused by remember(pill.id)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mutableStateOf(</a:t>
            </a:r>
            <a:r>
              <a:rPr b="0" lang="en-US" sz="950" spc="-1" strike="noStrike">
                <a:solidFill>
                  <a:srgbClr val="ff8fc7"/>
                </a:solidFill>
                <a:latin typeface="Consolas"/>
                <a:ea typeface="Consolas"/>
              </a:rPr>
              <a:t>false</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ff8fc7"/>
                </a:solidFill>
                <a:latin typeface="Consolas"/>
                <a:ea typeface="Consolas"/>
              </a:rPr>
              <a:t>val</a:t>
            </a:r>
            <a:r>
              <a:rPr b="0" lang="en-US" sz="950" spc="-1" strike="noStrike">
                <a:solidFill>
                  <a:srgbClr val="dce3ec"/>
                </a:solidFill>
                <a:latin typeface="Consolas"/>
                <a:ea typeface="Consolas"/>
              </a:rPr>
              <a:t> </a:t>
            </a:r>
            <a:r>
              <a:rPr b="1" lang="en-US" sz="950" spc="-1" strike="noStrike">
                <a:solidFill>
                  <a:srgbClr val="3ddc84"/>
                </a:solidFill>
                <a:latin typeface="Consolas"/>
                <a:ea typeface="Consolas"/>
              </a:rPr>
              <a:t>focusRequester</a:t>
            </a:r>
            <a:r>
              <a:rPr b="0" lang="en-US" sz="950" spc="-1" strike="noStrike">
                <a:solidFill>
                  <a:srgbClr val="dce3ec"/>
                </a:solidFill>
                <a:latin typeface="Consolas"/>
                <a:ea typeface="Consolas"/>
              </a:rPr>
              <a:t> = remember { </a:t>
            </a:r>
            <a:r>
              <a:rPr b="0" lang="en-US" sz="950" spc="-1" strike="noStrike">
                <a:solidFill>
                  <a:srgbClr val="8ab4f8"/>
                </a:solidFill>
                <a:latin typeface="Consolas"/>
                <a:ea typeface="Consolas"/>
              </a:rPr>
              <a:t>FocusRequester</a:t>
            </a:r>
            <a:r>
              <a:rPr b="0" lang="en-US" sz="950" spc="-1" strike="noStrike">
                <a:solidFill>
                  <a:srgbClr val="dce3ec"/>
                </a:solidFill>
                <a:latin typeface="Consolas"/>
                <a:ea typeface="Consolas"/>
              </a:rPr>
              <a:t>()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8ab4f8"/>
                </a:solidFill>
                <a:latin typeface="Consolas"/>
                <a:ea typeface="Consolas"/>
              </a:rPr>
              <a:t>LaunchedEffect</a:t>
            </a:r>
            <a:r>
              <a:rPr b="0" lang="en-US" sz="950" spc="-1" strike="noStrike">
                <a:solidFill>
                  <a:srgbClr val="dce3ec"/>
                </a:solidFill>
                <a:latin typeface="Consolas"/>
                <a:ea typeface="Consolas"/>
              </a:rPr>
              <a:t>(pill.id, shouldFocus)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isTalkBackFocused = </a:t>
            </a:r>
            <a:r>
              <a:rPr b="0" lang="en-US" sz="950" spc="-1" strike="noStrike">
                <a:solidFill>
                  <a:srgbClr val="ff8fc7"/>
                </a:solidFill>
                <a:latin typeface="Consolas"/>
                <a:ea typeface="Consolas"/>
              </a:rPr>
              <a:t>false</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ff8fc7"/>
                </a:solidFill>
                <a:latin typeface="Consolas"/>
                <a:ea typeface="Consolas"/>
              </a:rPr>
              <a:t>if</a:t>
            </a:r>
            <a:r>
              <a:rPr b="0" lang="en-US" sz="950" spc="-1" strike="noStrike">
                <a:solidFill>
                  <a:srgbClr val="dce3ec"/>
                </a:solidFill>
                <a:latin typeface="Consolas"/>
                <a:ea typeface="Consolas"/>
              </a:rPr>
              <a:t> (shouldFocus)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1" lang="en-US" sz="950" spc="-1" strike="noStrike">
                <a:solidFill>
                  <a:srgbClr val="3ddc84"/>
                </a:solidFill>
                <a:latin typeface="Consolas"/>
                <a:ea typeface="Consolas"/>
              </a:rPr>
              <a:t>withFrameNanos</a:t>
            </a:r>
            <a:r>
              <a:rPr b="0" lang="en-US" sz="950" spc="-1" strike="noStrike">
                <a:solidFill>
                  <a:srgbClr val="dce3ec"/>
                </a:solidFill>
                <a:latin typeface="Consolas"/>
                <a:ea typeface="Consolas"/>
              </a:rPr>
              <a:t> { }  </a:t>
            </a:r>
            <a:r>
              <a:rPr b="0" i="1" lang="en-US" sz="950" spc="-1" strike="noStrike">
                <a:solidFill>
                  <a:srgbClr val="8b98ad"/>
                </a:solidFill>
                <a:latin typeface="Consolas"/>
                <a:ea typeface="Consolas"/>
              </a:rPr>
              <a:t>// new node ready</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isTalkBackFocused = </a:t>
            </a:r>
            <a:r>
              <a:rPr b="0" lang="en-US" sz="950" spc="-1" strike="noStrike">
                <a:solidFill>
                  <a:srgbClr val="ff8fc7"/>
                </a:solidFill>
                <a:latin typeface="Consolas"/>
                <a:ea typeface="Consolas"/>
              </a:rPr>
              <a:t>true</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1" lang="en-US" sz="950" spc="-1" strike="noStrike">
                <a:solidFill>
                  <a:srgbClr val="3ddc84"/>
                </a:solidFill>
                <a:latin typeface="Consolas"/>
                <a:ea typeface="Consolas"/>
              </a:rPr>
              <a:t>focusRequester</a:t>
            </a:r>
            <a:r>
              <a:rPr b="0" lang="en-US" sz="950" spc="-1" strike="noStrike">
                <a:solidFill>
                  <a:srgbClr val="dce3ec"/>
                </a:solidFill>
                <a:latin typeface="Consolas"/>
                <a:ea typeface="Consolas"/>
              </a:rPr>
              <a:t>.</a:t>
            </a:r>
            <a:r>
              <a:rPr b="1" lang="en-US" sz="950" spc="-1" strike="noStrike">
                <a:solidFill>
                  <a:srgbClr val="3ddc84"/>
                </a:solidFill>
                <a:latin typeface="Consolas"/>
                <a:ea typeface="Consolas"/>
              </a:rPr>
              <a:t>requestFocus</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8ab4f8"/>
                </a:solidFill>
                <a:latin typeface="Consolas"/>
                <a:ea typeface="Consolas"/>
              </a:rPr>
              <a:t>OutlinedButton</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onClick = {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modifier = </a:t>
            </a:r>
            <a:r>
              <a:rPr b="0" lang="en-US" sz="950" spc="-1" strike="noStrike">
                <a:solidFill>
                  <a:srgbClr val="8ab4f8"/>
                </a:solidFill>
                <a:latin typeface="Consolas"/>
                <a:ea typeface="Consolas"/>
              </a:rPr>
              <a:t>Modifier</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a:t>
            </a:r>
            <a:r>
              <a:rPr b="1" lang="en-US" sz="950" spc="-1" strike="noStrike">
                <a:solidFill>
                  <a:srgbClr val="3ddc84"/>
                </a:solidFill>
                <a:latin typeface="Consolas"/>
                <a:ea typeface="Consolas"/>
              </a:rPr>
              <a:t>focusRequester</a:t>
            </a:r>
            <a:r>
              <a:rPr b="0" lang="en-US" sz="950" spc="-1" strike="noStrike">
                <a:solidFill>
                  <a:srgbClr val="dce3ec"/>
                </a:solidFill>
                <a:latin typeface="Consolas"/>
                <a:ea typeface="Consolas"/>
              </a:rPr>
              <a:t>(</a:t>
            </a:r>
            <a:r>
              <a:rPr b="1" lang="en-US" sz="950" spc="-1" strike="noStrike">
                <a:solidFill>
                  <a:srgbClr val="3ddc84"/>
                </a:solidFill>
                <a:latin typeface="Consolas"/>
                <a:ea typeface="Consolas"/>
              </a:rPr>
              <a:t>focusRequester</a:t>
            </a:r>
            <a:r>
              <a:rPr b="0" lang="en-US" sz="950" spc="-1" strike="noStrike">
                <a:solidFill>
                  <a:srgbClr val="dce3ec"/>
                </a:solidFill>
                <a:latin typeface="Consolas"/>
                <a:ea typeface="Consolas"/>
              </a:rPr>
              <a:t>)</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a:t>
            </a:r>
            <a:r>
              <a:rPr b="1" lang="en-US" sz="950" spc="-1" strike="noStrike">
                <a:solidFill>
                  <a:srgbClr val="3ddc84"/>
                </a:solidFill>
                <a:latin typeface="Consolas"/>
                <a:ea typeface="Consolas"/>
              </a:rPr>
              <a:t>semantics</a:t>
            </a:r>
            <a:r>
              <a:rPr b="0" lang="en-US" sz="950" spc="-1" strike="noStrike">
                <a:solidFill>
                  <a:srgbClr val="dce3ec"/>
                </a:solidFill>
                <a:latin typeface="Consolas"/>
                <a:ea typeface="Consolas"/>
              </a:rPr>
              <a:t> { </a:t>
            </a:r>
            <a:r>
              <a:rPr b="1" lang="en-US" sz="950" spc="-1" strike="noStrike">
                <a:solidFill>
                  <a:srgbClr val="3ddc84"/>
                </a:solidFill>
                <a:latin typeface="Consolas"/>
                <a:ea typeface="Consolas"/>
              </a:rPr>
              <a:t>focused</a:t>
            </a:r>
            <a:r>
              <a:rPr b="0" lang="en-US" sz="950" spc="-1" strike="noStrike">
                <a:solidFill>
                  <a:srgbClr val="dce3ec"/>
                </a:solidFill>
                <a:latin typeface="Consolas"/>
                <a:ea typeface="Consolas"/>
              </a:rPr>
              <a:t> = isTalkBackFocused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    </a:t>
            </a:r>
            <a:r>
              <a:rPr b="0" lang="en-US" sz="950" spc="-1" strike="noStrike">
                <a:solidFill>
                  <a:srgbClr val="dce3ec"/>
                </a:solidFill>
                <a:latin typeface="Consolas"/>
                <a:ea typeface="Consolas"/>
              </a:rPr>
              <a:t>) { </a:t>
            </a:r>
            <a:r>
              <a:rPr b="0" lang="en-US" sz="950" spc="-1" strike="noStrike">
                <a:solidFill>
                  <a:srgbClr val="8ab4f8"/>
                </a:solidFill>
                <a:latin typeface="Consolas"/>
                <a:ea typeface="Consolas"/>
              </a:rPr>
              <a:t>Text</a:t>
            </a:r>
            <a:r>
              <a:rPr b="0" lang="en-US" sz="950" spc="-1" strike="noStrike">
                <a:solidFill>
                  <a:srgbClr val="dce3ec"/>
                </a:solidFill>
                <a:latin typeface="Consolas"/>
                <a:ea typeface="Consolas"/>
              </a:rPr>
              <a:t>(pill.label) }</a:t>
            </a:r>
            <a:endParaRPr b="0" lang="en-US" sz="950" spc="-1" strike="noStrike">
              <a:solidFill>
                <a:srgbClr val="000000"/>
              </a:solidFill>
              <a:latin typeface="Arial"/>
            </a:endParaRPr>
          </a:p>
          <a:p>
            <a:pPr defTabSz="914400">
              <a:lnSpc>
                <a:spcPct val="105000"/>
              </a:lnSpc>
              <a:tabLst>
                <a:tab algn="l" pos="0"/>
              </a:tabLst>
            </a:pPr>
            <a:r>
              <a:rPr b="0" lang="en-US" sz="950" spc="-1" strike="noStrike">
                <a:solidFill>
                  <a:srgbClr val="dce3ec"/>
                </a:solidFill>
                <a:latin typeface="Consolas"/>
                <a:ea typeface="Consolas"/>
              </a:rPr>
              <a:t>}</a:t>
            </a:r>
            <a:endParaRPr b="0" lang="en-US" sz="950" spc="-1" strike="noStrike">
              <a:solidFill>
                <a:srgbClr val="000000"/>
              </a:solidFill>
              <a:latin typeface="Arial"/>
            </a:endParaRPr>
          </a:p>
        </p:txBody>
      </p:sp>
      <p:sp>
        <p:nvSpPr>
          <p:cNvPr id="486" name="Text 18"/>
          <p:cNvSpPr/>
          <p:nvPr/>
        </p:nvSpPr>
        <p:spPr>
          <a:xfrm>
            <a:off x="8366760" y="202068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487" name="Shape 19"/>
          <p:cNvSpPr/>
          <p:nvPr/>
        </p:nvSpPr>
        <p:spPr>
          <a:xfrm>
            <a:off x="9555480" y="1325880"/>
            <a:ext cx="2102760" cy="5120280"/>
          </a:xfrm>
          <a:prstGeom prst="roundRect">
            <a:avLst>
              <a:gd name="adj" fmla="val 13913"/>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Shape 20"/>
          <p:cNvSpPr/>
          <p:nvPr/>
        </p:nvSpPr>
        <p:spPr>
          <a:xfrm>
            <a:off x="9655920" y="1426320"/>
            <a:ext cx="1901520" cy="4919040"/>
          </a:xfrm>
          <a:prstGeom prst="roundRect">
            <a:avLst>
              <a:gd name="adj" fmla="val 11538"/>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9" name="Text 21"/>
          <p:cNvSpPr/>
          <p:nvPr/>
        </p:nvSpPr>
        <p:spPr>
          <a:xfrm>
            <a:off x="9820800" y="1609200"/>
            <a:ext cx="16272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Vision access</a:t>
            </a:r>
            <a:endParaRPr b="0" lang="en-US" sz="1200" spc="-1" strike="noStrike">
              <a:solidFill>
                <a:srgbClr val="000000"/>
              </a:solidFill>
              <a:latin typeface="Arial"/>
            </a:endParaRPr>
          </a:p>
        </p:txBody>
      </p:sp>
      <p:sp>
        <p:nvSpPr>
          <p:cNvPr id="490" name="Shape 22"/>
          <p:cNvSpPr/>
          <p:nvPr/>
        </p:nvSpPr>
        <p:spPr>
          <a:xfrm>
            <a:off x="9820800" y="1938600"/>
            <a:ext cx="111456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1" name="Text 23"/>
          <p:cNvSpPr/>
          <p:nvPr/>
        </p:nvSpPr>
        <p:spPr>
          <a:xfrm>
            <a:off x="9820800" y="1938600"/>
            <a:ext cx="111456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Screen readers</a:t>
            </a:r>
            <a:endParaRPr b="0" lang="en-US" sz="900" spc="-1" strike="noStrike">
              <a:solidFill>
                <a:srgbClr val="000000"/>
              </a:solidFill>
              <a:latin typeface="Arial"/>
            </a:endParaRPr>
          </a:p>
        </p:txBody>
      </p:sp>
      <p:sp>
        <p:nvSpPr>
          <p:cNvPr id="492" name="Shape 24"/>
          <p:cNvSpPr/>
          <p:nvPr/>
        </p:nvSpPr>
        <p:spPr>
          <a:xfrm>
            <a:off x="9820800" y="2340720"/>
            <a:ext cx="6850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3" name="Text 25"/>
          <p:cNvSpPr/>
          <p:nvPr/>
        </p:nvSpPr>
        <p:spPr>
          <a:xfrm>
            <a:off x="9820800" y="2340720"/>
            <a:ext cx="6850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Braille</a:t>
            </a:r>
            <a:endParaRPr b="0" lang="en-US" sz="900" spc="-1" strike="noStrike">
              <a:solidFill>
                <a:srgbClr val="000000"/>
              </a:solidFill>
              <a:latin typeface="Arial"/>
            </a:endParaRPr>
          </a:p>
        </p:txBody>
      </p:sp>
      <p:sp>
        <p:nvSpPr>
          <p:cNvPr id="494" name="Shape 26"/>
          <p:cNvSpPr/>
          <p:nvPr/>
        </p:nvSpPr>
        <p:spPr>
          <a:xfrm>
            <a:off x="9820800" y="2743200"/>
            <a:ext cx="105336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5" name="Text 27"/>
          <p:cNvSpPr/>
          <p:nvPr/>
        </p:nvSpPr>
        <p:spPr>
          <a:xfrm>
            <a:off x="9820800" y="2743200"/>
            <a:ext cx="105336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Magnification</a:t>
            </a:r>
            <a:endParaRPr b="0" lang="en-US" sz="900" spc="-1" strike="noStrike">
              <a:solidFill>
                <a:srgbClr val="000000"/>
              </a:solidFill>
              <a:latin typeface="Arial"/>
            </a:endParaRPr>
          </a:p>
        </p:txBody>
      </p:sp>
      <p:sp>
        <p:nvSpPr>
          <p:cNvPr id="496" name="Shape 28"/>
          <p:cNvSpPr/>
          <p:nvPr/>
        </p:nvSpPr>
        <p:spPr>
          <a:xfrm>
            <a:off x="9820800" y="3145680"/>
            <a:ext cx="7462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7" name="Text 29"/>
          <p:cNvSpPr/>
          <p:nvPr/>
        </p:nvSpPr>
        <p:spPr>
          <a:xfrm>
            <a:off x="9820800" y="3145680"/>
            <a:ext cx="7462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Contrast</a:t>
            </a:r>
            <a:endParaRPr b="0" lang="en-US" sz="900" spc="-1" strike="noStrike">
              <a:solidFill>
                <a:srgbClr val="000000"/>
              </a:solidFill>
              <a:latin typeface="Arial"/>
            </a:endParaRPr>
          </a:p>
        </p:txBody>
      </p:sp>
      <p:sp>
        <p:nvSpPr>
          <p:cNvPr id="498" name="Shape 30"/>
          <p:cNvSpPr/>
          <p:nvPr/>
        </p:nvSpPr>
        <p:spPr>
          <a:xfrm>
            <a:off x="10658880" y="3145680"/>
            <a:ext cx="7462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9" name="Text 31"/>
          <p:cNvSpPr/>
          <p:nvPr/>
        </p:nvSpPr>
        <p:spPr>
          <a:xfrm>
            <a:off x="10658880" y="3145680"/>
            <a:ext cx="7462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Alt text</a:t>
            </a:r>
            <a:endParaRPr b="0" lang="en-US" sz="900" spc="-1" strike="noStrike">
              <a:solidFill>
                <a:srgbClr val="000000"/>
              </a:solidFill>
              <a:latin typeface="Arial"/>
            </a:endParaRPr>
          </a:p>
        </p:txBody>
      </p:sp>
      <p:sp>
        <p:nvSpPr>
          <p:cNvPr id="500" name="Shape 32"/>
          <p:cNvSpPr/>
          <p:nvPr/>
        </p:nvSpPr>
        <p:spPr>
          <a:xfrm>
            <a:off x="9820800" y="3547800"/>
            <a:ext cx="80784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1" name="Text 33"/>
          <p:cNvSpPr/>
          <p:nvPr/>
        </p:nvSpPr>
        <p:spPr>
          <a:xfrm>
            <a:off x="9820800" y="3547800"/>
            <a:ext cx="8078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Landmarks</a:t>
            </a:r>
            <a:endParaRPr b="0" lang="en-US" sz="900" spc="-1" strike="noStrike">
              <a:solidFill>
                <a:srgbClr val="000000"/>
              </a:solidFill>
              <a:latin typeface="Arial"/>
            </a:endParaRPr>
          </a:p>
        </p:txBody>
      </p:sp>
      <p:sp>
        <p:nvSpPr>
          <p:cNvPr id="502" name="Shape 34"/>
          <p:cNvSpPr/>
          <p:nvPr/>
        </p:nvSpPr>
        <p:spPr>
          <a:xfrm>
            <a:off x="9820800" y="3950280"/>
            <a:ext cx="746280" cy="310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3" name="Text 35"/>
          <p:cNvSpPr/>
          <p:nvPr/>
        </p:nvSpPr>
        <p:spPr>
          <a:xfrm>
            <a:off x="9820800" y="3950280"/>
            <a:ext cx="7462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ffffff"/>
                </a:solidFill>
                <a:latin typeface="Calibri"/>
                <a:ea typeface="Calibri"/>
              </a:rPr>
              <a:t>See more</a:t>
            </a:r>
            <a:endParaRPr b="0" lang="en-US" sz="900" spc="-1" strike="noStrike">
              <a:solidFill>
                <a:srgbClr val="000000"/>
              </a:solidFill>
              <a:latin typeface="Arial"/>
            </a:endParaRPr>
          </a:p>
        </p:txBody>
      </p:sp>
      <p:sp>
        <p:nvSpPr>
          <p:cNvPr id="504" name="Shape 36"/>
          <p:cNvSpPr/>
          <p:nvPr/>
        </p:nvSpPr>
        <p:spPr>
          <a:xfrm>
            <a:off x="10613160" y="3099960"/>
            <a:ext cx="8377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5" name="Text 37"/>
          <p:cNvSpPr/>
          <p:nvPr/>
        </p:nvSpPr>
        <p:spPr>
          <a:xfrm>
            <a:off x="9820800" y="4489560"/>
            <a:ext cx="16272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Hearing access</a:t>
            </a:r>
            <a:endParaRPr b="0" lang="en-US" sz="1200" spc="-1" strike="noStrike">
              <a:solidFill>
                <a:srgbClr val="000000"/>
              </a:solidFill>
              <a:latin typeface="Arial"/>
            </a:endParaRPr>
          </a:p>
        </p:txBody>
      </p:sp>
      <p:sp>
        <p:nvSpPr>
          <p:cNvPr id="506" name="Shape 38"/>
          <p:cNvSpPr/>
          <p:nvPr/>
        </p:nvSpPr>
        <p:spPr>
          <a:xfrm>
            <a:off x="9820800" y="4818960"/>
            <a:ext cx="74628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7" name="Text 39"/>
          <p:cNvSpPr/>
          <p:nvPr/>
        </p:nvSpPr>
        <p:spPr>
          <a:xfrm>
            <a:off x="9820800" y="4818960"/>
            <a:ext cx="7462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Captions</a:t>
            </a:r>
            <a:endParaRPr b="0" lang="en-US" sz="900" spc="-1" strike="noStrike">
              <a:solidFill>
                <a:srgbClr val="000000"/>
              </a:solidFill>
              <a:latin typeface="Arial"/>
            </a:endParaRPr>
          </a:p>
        </p:txBody>
      </p:sp>
      <p:sp>
        <p:nvSpPr>
          <p:cNvPr id="508" name="Shape 40"/>
          <p:cNvSpPr/>
          <p:nvPr/>
        </p:nvSpPr>
        <p:spPr>
          <a:xfrm>
            <a:off x="9820800" y="5221080"/>
            <a:ext cx="930600" cy="310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9" name="Text 41"/>
          <p:cNvSpPr/>
          <p:nvPr/>
        </p:nvSpPr>
        <p:spPr>
          <a:xfrm>
            <a:off x="9820800" y="5221080"/>
            <a:ext cx="930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5b3fd6"/>
                </a:solidFill>
                <a:latin typeface="Calibri"/>
                <a:ea typeface="Calibri"/>
              </a:rPr>
              <a:t>Transcripts</a:t>
            </a:r>
            <a:endParaRPr b="0" lang="en-US" sz="900" spc="-1" strike="noStrike">
              <a:solidFill>
                <a:srgbClr val="000000"/>
              </a:solidFill>
              <a:latin typeface="Arial"/>
            </a:endParaRPr>
          </a:p>
        </p:txBody>
      </p:sp>
      <p:sp>
        <p:nvSpPr>
          <p:cNvPr id="510" name="Shape 42"/>
          <p:cNvSpPr/>
          <p:nvPr/>
        </p:nvSpPr>
        <p:spPr>
          <a:xfrm>
            <a:off x="9729360" y="5614560"/>
            <a:ext cx="1755360" cy="54828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1" name="Text 43"/>
          <p:cNvSpPr/>
          <p:nvPr/>
        </p:nvSpPr>
        <p:spPr>
          <a:xfrm>
            <a:off x="9802440" y="5614560"/>
            <a:ext cx="160884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Alt text, Button</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2"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Verify before you ship</a:t>
            </a:r>
            <a:endParaRPr b="0" lang="en-US" sz="3200" spc="-1" strike="noStrike">
              <a:solidFill>
                <a:srgbClr val="000000"/>
              </a:solidFill>
              <a:latin typeface="Arial"/>
            </a:endParaRPr>
          </a:p>
        </p:txBody>
      </p:sp>
      <p:sp>
        <p:nvSpPr>
          <p:cNvPr id="513" name="Shape 1"/>
          <p:cNvSpPr/>
          <p:nvPr/>
        </p:nvSpPr>
        <p:spPr>
          <a:xfrm>
            <a:off x="548640" y="141732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14" name="Image 0" descr="preencoded.png"/>
          <p:cNvPicPr/>
          <p:nvPr/>
        </p:nvPicPr>
        <p:blipFill>
          <a:blip r:embed="rId1"/>
          <a:stretch/>
        </p:blipFill>
        <p:spPr>
          <a:xfrm>
            <a:off x="699480" y="1568160"/>
            <a:ext cx="383760" cy="383760"/>
          </a:xfrm>
          <a:prstGeom prst="rect">
            <a:avLst/>
          </a:prstGeom>
          <a:ln w="0">
            <a:noFill/>
          </a:ln>
        </p:spPr>
      </p:pic>
      <p:sp>
        <p:nvSpPr>
          <p:cNvPr id="515" name="Text 2"/>
          <p:cNvSpPr/>
          <p:nvPr/>
        </p:nvSpPr>
        <p:spPr>
          <a:xfrm>
            <a:off x="1463040" y="141732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Layout Inspector</a:t>
            </a:r>
            <a:endParaRPr b="0" lang="en-US" sz="1700" spc="-1" strike="noStrike">
              <a:solidFill>
                <a:srgbClr val="000000"/>
              </a:solidFill>
              <a:latin typeface="Arial"/>
            </a:endParaRPr>
          </a:p>
        </p:txBody>
      </p:sp>
      <p:sp>
        <p:nvSpPr>
          <p:cNvPr id="516" name="Text 3"/>
          <p:cNvSpPr/>
          <p:nvPr/>
        </p:nvSpPr>
        <p:spPr>
          <a:xfrm>
            <a:off x="1463040" y="180144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See merged vs declared semantics for any node — is the contentDescription really there?</a:t>
            </a:r>
            <a:endParaRPr b="0" lang="en-US" sz="1350" spc="-1" strike="noStrike">
              <a:solidFill>
                <a:srgbClr val="000000"/>
              </a:solidFill>
              <a:latin typeface="Arial"/>
            </a:endParaRPr>
          </a:p>
        </p:txBody>
      </p:sp>
      <p:sp>
        <p:nvSpPr>
          <p:cNvPr id="517" name="Shape 4"/>
          <p:cNvSpPr/>
          <p:nvPr/>
        </p:nvSpPr>
        <p:spPr>
          <a:xfrm>
            <a:off x="548640" y="292608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18" name="Image 1" descr="preencoded.png"/>
          <p:cNvPicPr/>
          <p:nvPr/>
        </p:nvPicPr>
        <p:blipFill>
          <a:blip r:embed="rId2"/>
          <a:stretch/>
        </p:blipFill>
        <p:spPr>
          <a:xfrm>
            <a:off x="699480" y="3076920"/>
            <a:ext cx="383760" cy="383760"/>
          </a:xfrm>
          <a:prstGeom prst="rect">
            <a:avLst/>
          </a:prstGeom>
          <a:ln w="0">
            <a:noFill/>
          </a:ln>
        </p:spPr>
      </p:pic>
      <p:sp>
        <p:nvSpPr>
          <p:cNvPr id="519" name="Text 5"/>
          <p:cNvSpPr/>
          <p:nvPr/>
        </p:nvSpPr>
        <p:spPr>
          <a:xfrm>
            <a:off x="1463040" y="292608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TalkBack + “Display speech output”</a:t>
            </a:r>
            <a:endParaRPr b="0" lang="en-US" sz="1700" spc="-1" strike="noStrike">
              <a:solidFill>
                <a:srgbClr val="000000"/>
              </a:solidFill>
              <a:latin typeface="Arial"/>
            </a:endParaRPr>
          </a:p>
        </p:txBody>
      </p:sp>
      <p:sp>
        <p:nvSpPr>
          <p:cNvPr id="520" name="Text 6"/>
          <p:cNvSpPr/>
          <p:nvPr/>
        </p:nvSpPr>
        <p:spPr>
          <a:xfrm>
            <a:off x="1463040" y="331020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TalkBack › Advanced › Developer settings. Every announcement appears as a caption — great for demos and screenshots.</a:t>
            </a:r>
            <a:endParaRPr b="0" lang="en-US" sz="1350" spc="-1" strike="noStrike">
              <a:solidFill>
                <a:srgbClr val="000000"/>
              </a:solidFill>
              <a:latin typeface="Arial"/>
            </a:endParaRPr>
          </a:p>
        </p:txBody>
      </p:sp>
      <p:sp>
        <p:nvSpPr>
          <p:cNvPr id="521" name="Shape 7"/>
          <p:cNvSpPr/>
          <p:nvPr/>
        </p:nvSpPr>
        <p:spPr>
          <a:xfrm>
            <a:off x="548640" y="443484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22" name="Image 2" descr="preencoded.png"/>
          <p:cNvPicPr/>
          <p:nvPr/>
        </p:nvPicPr>
        <p:blipFill>
          <a:blip r:embed="rId3"/>
          <a:stretch/>
        </p:blipFill>
        <p:spPr>
          <a:xfrm>
            <a:off x="699480" y="4585680"/>
            <a:ext cx="383760" cy="383760"/>
          </a:xfrm>
          <a:prstGeom prst="rect">
            <a:avLst/>
          </a:prstGeom>
          <a:ln w="0">
            <a:noFill/>
          </a:ln>
        </p:spPr>
      </p:pic>
      <p:sp>
        <p:nvSpPr>
          <p:cNvPr id="523" name="Text 8"/>
          <p:cNvSpPr/>
          <p:nvPr/>
        </p:nvSpPr>
        <p:spPr>
          <a:xfrm>
            <a:off x="1463040" y="443484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Accessibility Scanner</a:t>
            </a:r>
            <a:endParaRPr b="0" lang="en-US" sz="1700" spc="-1" strike="noStrike">
              <a:solidFill>
                <a:srgbClr val="000000"/>
              </a:solidFill>
              <a:latin typeface="Arial"/>
            </a:endParaRPr>
          </a:p>
        </p:txBody>
      </p:sp>
      <p:sp>
        <p:nvSpPr>
          <p:cNvPr id="524" name="Text 9"/>
          <p:cNvSpPr/>
          <p:nvPr/>
        </p:nvSpPr>
        <p:spPr>
          <a:xfrm>
            <a:off x="1463040" y="481896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Google’s free app flags missing labels, small touch targets and low contrast.</a:t>
            </a:r>
            <a:endParaRPr b="0" lang="en-US" sz="1350" spc="-1" strike="noStrike">
              <a:solidFill>
                <a:srgbClr val="000000"/>
              </a:solidFill>
              <a:latin typeface="Arial"/>
            </a:endParaRPr>
          </a:p>
        </p:txBody>
      </p:sp>
      <p:sp>
        <p:nvSpPr>
          <p:cNvPr id="525" name="Text 10"/>
          <p:cNvSpPr/>
          <p:nvPr/>
        </p:nvSpPr>
        <p:spPr>
          <a:xfrm>
            <a:off x="6035040" y="141732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Compose UI tests — semantics ARE the test API</a:t>
            </a:r>
            <a:endParaRPr b="0" lang="en-US" sz="1700" spc="-1" strike="noStrike">
              <a:solidFill>
                <a:srgbClr val="000000"/>
              </a:solidFill>
              <a:latin typeface="Arial"/>
            </a:endParaRPr>
          </a:p>
        </p:txBody>
      </p:sp>
      <p:sp>
        <p:nvSpPr>
          <p:cNvPr id="526" name="Shape 11"/>
          <p:cNvSpPr/>
          <p:nvPr/>
        </p:nvSpPr>
        <p:spPr>
          <a:xfrm>
            <a:off x="6035040" y="1874520"/>
            <a:ext cx="5577480" cy="3520080"/>
          </a:xfrm>
          <a:prstGeom prst="roundRect">
            <a:avLst>
              <a:gd name="adj" fmla="val 311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7" name="Text 12"/>
          <p:cNvSpPr/>
          <p:nvPr/>
        </p:nvSpPr>
        <p:spPr>
          <a:xfrm>
            <a:off x="6263640" y="2075760"/>
            <a:ext cx="5211720" cy="32000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050" spc="-1" strike="noStrike">
                <a:solidFill>
                  <a:srgbClr val="ff8fc7"/>
                </a:solidFill>
                <a:latin typeface="Consolas"/>
                <a:ea typeface="Consolas"/>
              </a:rPr>
              <a:t>val</a:t>
            </a: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hasLabel</a:t>
            </a:r>
            <a:r>
              <a:rPr b="0" lang="en-US" sz="1050" spc="-1" strike="noStrike">
                <a:solidFill>
                  <a:srgbClr val="dce3ec"/>
                </a:solidFill>
                <a:latin typeface="Consolas"/>
                <a:ea typeface="Consolas"/>
              </a:rPr>
              <a:t> = </a:t>
            </a:r>
            <a:r>
              <a:rPr b="0" lang="en-US" sz="1050" spc="-1" strike="noStrike">
                <a:solidFill>
                  <a:srgbClr val="8ab4f8"/>
                </a:solidFill>
                <a:latin typeface="Consolas"/>
                <a:ea typeface="Consolas"/>
              </a:rPr>
              <a:t>SemanticsMatcher</a:t>
            </a:r>
            <a:r>
              <a:rPr b="0" lang="en-US" sz="1050" spc="-1" strike="noStrike">
                <a:solidFill>
                  <a:srgbClr val="dce3ec"/>
                </a:solidFill>
                <a:latin typeface="Consolas"/>
                <a:ea typeface="Consolas"/>
              </a:rPr>
              <a:t>(</a:t>
            </a:r>
            <a:r>
              <a:rPr b="0" lang="en-US" sz="1050" spc="-1" strike="noStrike">
                <a:solidFill>
                  <a:srgbClr val="b5e48c"/>
                </a:solidFill>
                <a:latin typeface="Consolas"/>
                <a:ea typeface="Consolas"/>
              </a:rPr>
              <a:t>"has label"</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ContentDescription</a:t>
            </a:r>
            <a:r>
              <a:rPr b="0" lang="en-US" sz="1050" spc="-1" strike="noStrike">
                <a:solidFill>
                  <a:srgbClr val="dce3ec"/>
                </a:solidFill>
                <a:latin typeface="Consolas"/>
                <a:ea typeface="Consolas"/>
              </a:rPr>
              <a:t> in it.config || </a:t>
            </a:r>
            <a:r>
              <a:rPr b="0" lang="en-US" sz="1050" spc="-1" strike="noStrike">
                <a:solidFill>
                  <a:srgbClr val="8ab4f8"/>
                </a:solidFill>
                <a:latin typeface="Consolas"/>
                <a:ea typeface="Consolas"/>
              </a:rPr>
              <a:t>Text</a:t>
            </a:r>
            <a:r>
              <a:rPr b="0" lang="en-US" sz="1050" spc="-1" strike="noStrike">
                <a:solidFill>
                  <a:srgbClr val="dce3ec"/>
                </a:solidFill>
                <a:latin typeface="Consolas"/>
                <a:ea typeface="Consolas"/>
              </a:rPr>
              <a:t> in it.config</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000000"/>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Test</a:t>
            </a:r>
            <a:r>
              <a:rPr b="0" lang="en-US" sz="1050" spc="-1" strike="noStrike">
                <a:solidFill>
                  <a:srgbClr val="dce3ec"/>
                </a:solidFill>
                <a:latin typeface="Consolas"/>
                <a:ea typeface="Consolas"/>
              </a:rPr>
              <a:t> </a:t>
            </a:r>
            <a:r>
              <a:rPr b="0" lang="en-US" sz="1050" spc="-1" strike="noStrike">
                <a:solidFill>
                  <a:srgbClr val="ff8fc7"/>
                </a:solidFill>
                <a:latin typeface="Consolas"/>
                <a:ea typeface="Consolas"/>
              </a:rPr>
              <a:t>fun</a:t>
            </a:r>
            <a:r>
              <a:rPr b="0" lang="en-US" sz="1050" spc="-1" strike="noStrike">
                <a:solidFill>
                  <a:srgbClr val="dce3ec"/>
                </a:solidFill>
                <a:latin typeface="Consolas"/>
                <a:ea typeface="Consolas"/>
              </a:rPr>
              <a:t> noUnlabeledClickables()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rule.setContent { </a:t>
            </a:r>
            <a:r>
              <a:rPr b="0" lang="en-US" sz="1050" spc="-1" strike="noStrike">
                <a:solidFill>
                  <a:srgbClr val="8ab4f8"/>
                </a:solidFill>
                <a:latin typeface="Consolas"/>
                <a:ea typeface="Consolas"/>
              </a:rPr>
              <a:t>InboxScreen</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rule.onAllNodes(</a:t>
            </a:r>
            <a:r>
              <a:rPr b="1" lang="en-US" sz="1050" spc="-1" strike="noStrike">
                <a:solidFill>
                  <a:srgbClr val="3ddc84"/>
                </a:solidFill>
                <a:latin typeface="Consolas"/>
                <a:ea typeface="Consolas"/>
              </a:rPr>
              <a:t>hasClickAction</a:t>
            </a:r>
            <a:r>
              <a:rPr b="0" lang="en-US" sz="1050" spc="-1" strike="noStrike">
                <a:solidFill>
                  <a:srgbClr val="dce3ec"/>
                </a:solidFill>
                <a:latin typeface="Consolas"/>
                <a:ea typeface="Consolas"/>
              </a:rPr>
              <a:t>() and !</a:t>
            </a:r>
            <a:r>
              <a:rPr b="1" lang="en-US" sz="1050" spc="-1" strike="noStrike">
                <a:solidFill>
                  <a:srgbClr val="3ddc84"/>
                </a:solidFill>
                <a:latin typeface="Consolas"/>
                <a:ea typeface="Consolas"/>
              </a:rPr>
              <a:t>hasLabel</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.assertCountEquals(</a:t>
            </a:r>
            <a:r>
              <a:rPr b="0" lang="en-US" sz="1050" spc="-1" strike="noStrike">
                <a:solidFill>
                  <a:srgbClr val="f6c177"/>
                </a:solidFill>
                <a:latin typeface="Consolas"/>
                <a:ea typeface="Consolas"/>
              </a:rPr>
              <a:t>0</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000000"/>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Test</a:t>
            </a:r>
            <a:r>
              <a:rPr b="0" lang="en-US" sz="1050" spc="-1" strike="noStrike">
                <a:solidFill>
                  <a:srgbClr val="dce3ec"/>
                </a:solidFill>
                <a:latin typeface="Consolas"/>
                <a:ea typeface="Consolas"/>
              </a:rPr>
              <a:t> </a:t>
            </a:r>
            <a:r>
              <a:rPr b="0" lang="en-US" sz="1050" spc="-1" strike="noStrike">
                <a:solidFill>
                  <a:srgbClr val="ff8fc7"/>
                </a:solidFill>
                <a:latin typeface="Consolas"/>
                <a:ea typeface="Consolas"/>
              </a:rPr>
              <a:t>fun</a:t>
            </a:r>
            <a:r>
              <a:rPr b="0" lang="en-US" sz="1050" spc="-1" strike="noStrike">
                <a:solidFill>
                  <a:srgbClr val="dce3ec"/>
                </a:solidFill>
                <a:latin typeface="Consolas"/>
                <a:ea typeface="Consolas"/>
              </a:rPr>
              <a:t> rowExposesStateAndActions()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rule.setContent { </a:t>
            </a:r>
            <a:r>
              <a:rPr b="0" lang="en-US" sz="1050" spc="-1" strike="noStrike">
                <a:solidFill>
                  <a:srgbClr val="8ab4f8"/>
                </a:solidFill>
                <a:latin typeface="Consolas"/>
                <a:ea typeface="Consolas"/>
              </a:rPr>
              <a:t>InboxScreen</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rule.onNodeWithContentDescription(</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b5e48c"/>
                </a:solidFill>
                <a:latin typeface="Consolas"/>
                <a:ea typeface="Consolas"/>
              </a:rPr>
              <a:t>"Avery"</a:t>
            </a:r>
            <a:r>
              <a:rPr b="0" lang="en-US" sz="1050" spc="-1" strike="noStrike">
                <a:solidFill>
                  <a:srgbClr val="dce3ec"/>
                </a:solidFill>
                <a:latin typeface="Consolas"/>
                <a:ea typeface="Consolas"/>
              </a:rPr>
              <a:t>, substring = </a:t>
            </a:r>
            <a:r>
              <a:rPr b="0" lang="en-US" sz="1050" spc="-1" strike="noStrike">
                <a:solidFill>
                  <a:srgbClr val="ff8fc7"/>
                </a:solidFill>
                <a:latin typeface="Consolas"/>
                <a:ea typeface="Consolas"/>
              </a:rPr>
              <a:t>true</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.assert(expectValue(</a:t>
            </a:r>
            <a:r>
              <a:rPr b="0" lang="en-US" sz="1050" spc="-1" strike="noStrike">
                <a:solidFill>
                  <a:srgbClr val="8ab4f8"/>
                </a:solidFill>
                <a:latin typeface="Consolas"/>
                <a:ea typeface="Consolas"/>
              </a:rPr>
              <a:t>StateDescription</a:t>
            </a:r>
            <a:r>
              <a:rPr b="0" lang="en-US" sz="1050" spc="-1" strike="noStrike">
                <a:solidFill>
                  <a:srgbClr val="dce3ec"/>
                </a:solidFill>
                <a:latin typeface="Consolas"/>
                <a:ea typeface="Consolas"/>
              </a:rPr>
              <a:t>, </a:t>
            </a:r>
            <a:r>
              <a:rPr b="0" lang="en-US" sz="1050" spc="-1" strike="noStrike">
                <a:solidFill>
                  <a:srgbClr val="b5e48c"/>
                </a:solidFill>
                <a:latin typeface="Consolas"/>
                <a:ea typeface="Consolas"/>
              </a:rPr>
              <a:t>"Not starred"</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.assert(keyIsDefined(</a:t>
            </a:r>
            <a:r>
              <a:rPr b="0" lang="en-US" sz="1050" spc="-1" strike="noStrike">
                <a:solidFill>
                  <a:srgbClr val="8ab4f8"/>
                </a:solidFill>
                <a:latin typeface="Consolas"/>
                <a:ea typeface="Consolas"/>
              </a:rPr>
              <a:t>CustomActions</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p:txBody>
      </p:sp>
      <p:sp>
        <p:nvSpPr>
          <p:cNvPr id="528" name="Text 13"/>
          <p:cNvSpPr/>
          <p:nvPr/>
        </p:nvSpPr>
        <p:spPr>
          <a:xfrm>
            <a:off x="10607040" y="194760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9"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Cheat sheet:</a:t>
            </a:r>
            <a:endParaRPr b="0" lang="en-US" sz="3200" spc="-1" strike="noStrike">
              <a:solidFill>
                <a:srgbClr val="000000"/>
              </a:solidFill>
              <a:latin typeface="Arial"/>
            </a:endParaRPr>
          </a:p>
        </p:txBody>
      </p:sp>
      <p:sp>
        <p:nvSpPr>
          <p:cNvPr id="530" name="Shape 1"/>
          <p:cNvSpPr/>
          <p:nvPr/>
        </p:nvSpPr>
        <p:spPr>
          <a:xfrm>
            <a:off x="54864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1" name="Text 2"/>
          <p:cNvSpPr/>
          <p:nvPr/>
        </p:nvSpPr>
        <p:spPr>
          <a:xfrm>
            <a:off x="77724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01</a:t>
            </a:r>
            <a:endParaRPr b="0" lang="en-US" sz="1400" spc="-1" strike="noStrike">
              <a:solidFill>
                <a:srgbClr val="000000"/>
              </a:solidFill>
              <a:latin typeface="Arial"/>
            </a:endParaRPr>
          </a:p>
        </p:txBody>
      </p:sp>
      <p:sp>
        <p:nvSpPr>
          <p:cNvPr id="532" name="Text 3"/>
          <p:cNvSpPr/>
          <p:nvPr/>
        </p:nvSpPr>
        <p:spPr>
          <a:xfrm>
            <a:off x="77724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An icon or image with no text</a:t>
            </a:r>
            <a:endParaRPr b="0" lang="en-US" sz="1600" spc="-1" strike="noStrike">
              <a:solidFill>
                <a:srgbClr val="000000"/>
              </a:solidFill>
              <a:latin typeface="Arial"/>
            </a:endParaRPr>
          </a:p>
        </p:txBody>
      </p:sp>
      <p:sp>
        <p:nvSpPr>
          <p:cNvPr id="533" name="Text 4"/>
          <p:cNvSpPr/>
          <p:nvPr/>
        </p:nvSpPr>
        <p:spPr>
          <a:xfrm>
            <a:off x="77724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contentDescription</a:t>
            </a:r>
            <a:endParaRPr b="0" lang="en-US" sz="1300" spc="-1" strike="noStrike">
              <a:solidFill>
                <a:srgbClr val="000000"/>
              </a:solidFill>
              <a:latin typeface="Arial"/>
            </a:endParaRPr>
          </a:p>
        </p:txBody>
      </p:sp>
      <p:sp>
        <p:nvSpPr>
          <p:cNvPr id="534" name="Shape 5"/>
          <p:cNvSpPr/>
          <p:nvPr/>
        </p:nvSpPr>
        <p:spPr>
          <a:xfrm>
            <a:off x="429768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5" name="Text 6"/>
          <p:cNvSpPr/>
          <p:nvPr/>
        </p:nvSpPr>
        <p:spPr>
          <a:xfrm>
            <a:off x="452628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02</a:t>
            </a:r>
            <a:endParaRPr b="0" lang="en-US" sz="1400" spc="-1" strike="noStrike">
              <a:solidFill>
                <a:srgbClr val="000000"/>
              </a:solidFill>
              <a:latin typeface="Arial"/>
            </a:endParaRPr>
          </a:p>
        </p:txBody>
      </p:sp>
      <p:sp>
        <p:nvSpPr>
          <p:cNvPr id="536" name="Text 7"/>
          <p:cNvSpPr/>
          <p:nvPr/>
        </p:nvSpPr>
        <p:spPr>
          <a:xfrm>
            <a:off x="452628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A custom clickable</a:t>
            </a:r>
            <a:endParaRPr b="0" lang="en-US" sz="1600" spc="-1" strike="noStrike">
              <a:solidFill>
                <a:srgbClr val="000000"/>
              </a:solidFill>
              <a:latin typeface="Arial"/>
            </a:endParaRPr>
          </a:p>
        </p:txBody>
      </p:sp>
      <p:sp>
        <p:nvSpPr>
          <p:cNvPr id="537" name="Text 8"/>
          <p:cNvSpPr/>
          <p:nvPr/>
        </p:nvSpPr>
        <p:spPr>
          <a:xfrm>
            <a:off x="452628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role + onClickLabel</a:t>
            </a:r>
            <a:endParaRPr b="0" lang="en-US" sz="1300" spc="-1" strike="noStrike">
              <a:solidFill>
                <a:srgbClr val="000000"/>
              </a:solidFill>
              <a:latin typeface="Arial"/>
            </a:endParaRPr>
          </a:p>
        </p:txBody>
      </p:sp>
      <p:sp>
        <p:nvSpPr>
          <p:cNvPr id="538" name="Shape 9"/>
          <p:cNvSpPr/>
          <p:nvPr/>
        </p:nvSpPr>
        <p:spPr>
          <a:xfrm>
            <a:off x="804672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9" name="Text 10"/>
          <p:cNvSpPr/>
          <p:nvPr/>
        </p:nvSpPr>
        <p:spPr>
          <a:xfrm>
            <a:off x="827532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03</a:t>
            </a:r>
            <a:endParaRPr b="0" lang="en-US" sz="1400" spc="-1" strike="noStrike">
              <a:solidFill>
                <a:srgbClr val="000000"/>
              </a:solidFill>
              <a:latin typeface="Arial"/>
            </a:endParaRPr>
          </a:p>
        </p:txBody>
      </p:sp>
      <p:sp>
        <p:nvSpPr>
          <p:cNvPr id="540" name="Text 11"/>
          <p:cNvSpPr/>
          <p:nvPr/>
        </p:nvSpPr>
        <p:spPr>
          <a:xfrm>
            <a:off x="827532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UI that changes state</a:t>
            </a:r>
            <a:endParaRPr b="0" lang="en-US" sz="1600" spc="-1" strike="noStrike">
              <a:solidFill>
                <a:srgbClr val="000000"/>
              </a:solidFill>
              <a:latin typeface="Arial"/>
            </a:endParaRPr>
          </a:p>
        </p:txBody>
      </p:sp>
      <p:sp>
        <p:nvSpPr>
          <p:cNvPr id="541" name="Text 12"/>
          <p:cNvSpPr/>
          <p:nvPr/>
        </p:nvSpPr>
        <p:spPr>
          <a:xfrm>
            <a:off x="827532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stateDescription + liveRegion</a:t>
            </a:r>
            <a:endParaRPr b="0" lang="en-US" sz="1300" spc="-1" strike="noStrike">
              <a:solidFill>
                <a:srgbClr val="000000"/>
              </a:solidFill>
              <a:latin typeface="Arial"/>
            </a:endParaRPr>
          </a:p>
        </p:txBody>
      </p:sp>
      <p:sp>
        <p:nvSpPr>
          <p:cNvPr id="542" name="Shape 13"/>
          <p:cNvSpPr/>
          <p:nvPr/>
        </p:nvSpPr>
        <p:spPr>
          <a:xfrm>
            <a:off x="54864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3" name="Text 14"/>
          <p:cNvSpPr/>
          <p:nvPr/>
        </p:nvSpPr>
        <p:spPr>
          <a:xfrm>
            <a:off x="77724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04</a:t>
            </a:r>
            <a:endParaRPr b="0" lang="en-US" sz="1400" spc="-1" strike="noStrike">
              <a:solidFill>
                <a:srgbClr val="000000"/>
              </a:solidFill>
              <a:latin typeface="Arial"/>
            </a:endParaRPr>
          </a:p>
        </p:txBody>
      </p:sp>
      <p:sp>
        <p:nvSpPr>
          <p:cNvPr id="544" name="Text 15"/>
          <p:cNvSpPr/>
          <p:nvPr/>
        </p:nvSpPr>
        <p:spPr>
          <a:xfrm>
            <a:off x="77724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Simple grouped text</a:t>
            </a:r>
            <a:endParaRPr b="0" lang="en-US" sz="1600" spc="-1" strike="noStrike">
              <a:solidFill>
                <a:srgbClr val="000000"/>
              </a:solidFill>
              <a:latin typeface="Arial"/>
            </a:endParaRPr>
          </a:p>
        </p:txBody>
      </p:sp>
      <p:sp>
        <p:nvSpPr>
          <p:cNvPr id="545" name="Text 16"/>
          <p:cNvSpPr/>
          <p:nvPr/>
        </p:nvSpPr>
        <p:spPr>
          <a:xfrm>
            <a:off x="77724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semantics(mergeDescendants = true)</a:t>
            </a:r>
            <a:endParaRPr b="0" lang="en-US" sz="1300" spc="-1" strike="noStrike">
              <a:solidFill>
                <a:srgbClr val="000000"/>
              </a:solidFill>
              <a:latin typeface="Arial"/>
            </a:endParaRPr>
          </a:p>
        </p:txBody>
      </p:sp>
      <p:sp>
        <p:nvSpPr>
          <p:cNvPr id="546" name="Shape 17"/>
          <p:cNvSpPr/>
          <p:nvPr/>
        </p:nvSpPr>
        <p:spPr>
          <a:xfrm>
            <a:off x="429768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7" name="Text 18"/>
          <p:cNvSpPr/>
          <p:nvPr/>
        </p:nvSpPr>
        <p:spPr>
          <a:xfrm>
            <a:off x="452628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05</a:t>
            </a:r>
            <a:endParaRPr b="0" lang="en-US" sz="1400" spc="-1" strike="noStrike">
              <a:solidFill>
                <a:srgbClr val="000000"/>
              </a:solidFill>
              <a:latin typeface="Arial"/>
            </a:endParaRPr>
          </a:p>
        </p:txBody>
      </p:sp>
      <p:sp>
        <p:nvSpPr>
          <p:cNvPr id="548" name="Text 19"/>
          <p:cNvSpPr/>
          <p:nvPr/>
        </p:nvSpPr>
        <p:spPr>
          <a:xfrm>
            <a:off x="452628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Complex rows &amp; feed cards</a:t>
            </a:r>
            <a:endParaRPr b="0" lang="en-US" sz="1600" spc="-1" strike="noStrike">
              <a:solidFill>
                <a:srgbClr val="000000"/>
              </a:solidFill>
              <a:latin typeface="Arial"/>
            </a:endParaRPr>
          </a:p>
        </p:txBody>
      </p:sp>
      <p:sp>
        <p:nvSpPr>
          <p:cNvPr id="549" name="Text 20"/>
          <p:cNvSpPr/>
          <p:nvPr/>
        </p:nvSpPr>
        <p:spPr>
          <a:xfrm>
            <a:off x="452628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clearAndSetSemantics + customActions</a:t>
            </a:r>
            <a:endParaRPr b="0" lang="en-US" sz="1300" spc="-1" strike="noStrike">
              <a:solidFill>
                <a:srgbClr val="000000"/>
              </a:solidFill>
              <a:latin typeface="Arial"/>
            </a:endParaRPr>
          </a:p>
        </p:txBody>
      </p:sp>
      <p:sp>
        <p:nvSpPr>
          <p:cNvPr id="550" name="Shape 21"/>
          <p:cNvSpPr/>
          <p:nvPr/>
        </p:nvSpPr>
        <p:spPr>
          <a:xfrm>
            <a:off x="804672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1" name="Text 22"/>
          <p:cNvSpPr/>
          <p:nvPr/>
        </p:nvSpPr>
        <p:spPr>
          <a:xfrm>
            <a:off x="827532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06</a:t>
            </a:r>
            <a:endParaRPr b="0" lang="en-US" sz="1400" spc="-1" strike="noStrike">
              <a:solidFill>
                <a:srgbClr val="000000"/>
              </a:solidFill>
              <a:latin typeface="Arial"/>
            </a:endParaRPr>
          </a:p>
        </p:txBody>
      </p:sp>
      <p:sp>
        <p:nvSpPr>
          <p:cNvPr id="552" name="Text 23"/>
          <p:cNvSpPr/>
          <p:nvPr/>
        </p:nvSpPr>
        <p:spPr>
          <a:xfrm>
            <a:off x="827532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Streaming or replaced content</a:t>
            </a:r>
            <a:endParaRPr b="0" lang="en-US" sz="1600" spc="-1" strike="noStrike">
              <a:solidFill>
                <a:srgbClr val="000000"/>
              </a:solidFill>
              <a:latin typeface="Arial"/>
            </a:endParaRPr>
          </a:p>
        </p:txBody>
      </p:sp>
      <p:sp>
        <p:nvSpPr>
          <p:cNvPr id="553" name="Text 24"/>
          <p:cNvSpPr/>
          <p:nvPr/>
        </p:nvSpPr>
        <p:spPr>
          <a:xfrm>
            <a:off x="827532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a:t>
            </a:r>
            <a:r>
              <a:rPr b="1" lang="en-US" sz="1300" spc="-1" strike="noStrike">
                <a:solidFill>
                  <a:srgbClr val="5b3fd6"/>
                </a:solidFill>
                <a:latin typeface="Consolas"/>
                <a:ea typeface="Consolas"/>
              </a:rPr>
              <a:t>Loading” state + restore focus</a:t>
            </a:r>
            <a:endParaRPr b="0" lang="en-US" sz="1300" spc="-1" strike="noStrike">
              <a:solidFill>
                <a:srgbClr val="000000"/>
              </a:solidFill>
              <a:latin typeface="Arial"/>
            </a:endParaRPr>
          </a:p>
        </p:txBody>
      </p:sp>
      <p:sp>
        <p:nvSpPr>
          <p:cNvPr id="554" name="Shape 25"/>
          <p:cNvSpPr/>
          <p:nvPr/>
        </p:nvSpPr>
        <p:spPr>
          <a:xfrm>
            <a:off x="548640" y="5623560"/>
            <a:ext cx="11063880" cy="776880"/>
          </a:xfrm>
          <a:prstGeom prst="roundRect">
            <a:avLst>
              <a:gd name="adj" fmla="val 14118"/>
            </a:avLst>
          </a:prstGeom>
          <a:solidFill>
            <a:srgbClr val="0e1a2b"/>
          </a:solidFill>
          <a:ln w="12700">
            <a:solidFill>
              <a:srgbClr val="0e1a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5" name="Text 26"/>
          <p:cNvSpPr/>
          <p:nvPr/>
        </p:nvSpPr>
        <p:spPr>
          <a:xfrm>
            <a:off x="822960" y="5623560"/>
            <a:ext cx="106066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3ddc84"/>
                </a:solidFill>
                <a:latin typeface="Calibri"/>
                <a:ea typeface="Calibri"/>
              </a:rPr>
              <a:t>And recognise when UI can’t be fixed with semantics.  </a:t>
            </a:r>
            <a:r>
              <a:rPr b="0" lang="en-US" sz="1350" spc="-1" strike="noStrike">
                <a:solidFill>
                  <a:srgbClr val="ffffff"/>
                </a:solidFill>
                <a:latin typeface="Calibri"/>
                <a:ea typeface="Calibri"/>
              </a:rPr>
              <a:t>An infinite, auto-scrolling carousel ticks endlessly in TalkBack, is a moving tap target and ignores reduced motion — redesign it.</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556" name="Shape 0"/>
          <p:cNvSpPr/>
          <p:nvPr/>
        </p:nvSpPr>
        <p:spPr>
          <a:xfrm>
            <a:off x="548640" y="384120"/>
            <a:ext cx="1064880" cy="328680"/>
          </a:xfrm>
          <a:prstGeom prst="roundRect">
            <a:avLst>
              <a:gd name="adj" fmla="val 50000"/>
            </a:avLst>
          </a:prstGeom>
          <a:solidFill>
            <a:srgbClr val="1a2a42"/>
          </a:solidFill>
          <a:ln w="12700">
            <a:solidFill>
              <a:srgbClr val="1a2a4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7" name="Text 1"/>
          <p:cNvSpPr/>
          <p:nvPr/>
        </p:nvSpPr>
        <p:spPr>
          <a:xfrm>
            <a:off x="548640" y="384120"/>
            <a:ext cx="10648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3ddc84"/>
                </a:solidFill>
                <a:latin typeface="Calibri"/>
                <a:ea typeface="Calibri"/>
              </a:rPr>
              <a:t>LIVE DEMO</a:t>
            </a:r>
            <a:endParaRPr b="0" lang="en-US" sz="1100" spc="-1" strike="noStrike">
              <a:solidFill>
                <a:srgbClr val="ffffff"/>
              </a:solidFill>
              <a:latin typeface="Arial"/>
            </a:endParaRPr>
          </a:p>
        </p:txBody>
      </p:sp>
      <p:sp>
        <p:nvSpPr>
          <p:cNvPr id="558" name="Text 2"/>
          <p:cNvSpPr/>
          <p:nvPr/>
        </p:nvSpPr>
        <p:spPr>
          <a:xfrm>
            <a:off x="548640" y="868680"/>
            <a:ext cx="640044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600" spc="-1" strike="noStrike">
                <a:solidFill>
                  <a:srgbClr val="ffffff"/>
                </a:solidFill>
                <a:latin typeface="Arial"/>
                <a:ea typeface="Arial"/>
              </a:rPr>
              <a:t>Let’s hear it</a:t>
            </a:r>
            <a:endParaRPr b="0" lang="en-US" sz="3600" spc="-1" strike="noStrike">
              <a:solidFill>
                <a:srgbClr val="ffffff"/>
              </a:solidFill>
              <a:latin typeface="Arial"/>
            </a:endParaRPr>
          </a:p>
        </p:txBody>
      </p:sp>
      <p:sp>
        <p:nvSpPr>
          <p:cNvPr id="559" name="Text 3"/>
          <p:cNvSpPr/>
          <p:nvPr/>
        </p:nvSpPr>
        <p:spPr>
          <a:xfrm>
            <a:off x="548640" y="1645920"/>
            <a:ext cx="100580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c9d3e3"/>
                </a:solidFill>
                <a:latin typeface="Calibri"/>
                <a:ea typeface="Calibri"/>
              </a:rPr>
              <a:t>Each screen has a broken ↔ fixed switch. TalkBack captions are on.</a:t>
            </a:r>
            <a:endParaRPr b="0" lang="en-US" sz="1600" spc="-1" strike="noStrike">
              <a:solidFill>
                <a:srgbClr val="ffffff"/>
              </a:solidFill>
              <a:latin typeface="Arial"/>
            </a:endParaRPr>
          </a:p>
        </p:txBody>
      </p:sp>
      <p:sp>
        <p:nvSpPr>
          <p:cNvPr id="560" name="Shape 4"/>
          <p:cNvSpPr/>
          <p:nvPr/>
        </p:nvSpPr>
        <p:spPr>
          <a:xfrm>
            <a:off x="548640" y="23317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1" name="Text 5"/>
          <p:cNvSpPr/>
          <p:nvPr/>
        </p:nvSpPr>
        <p:spPr>
          <a:xfrm>
            <a:off x="548640" y="23317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1</a:t>
            </a:r>
            <a:endParaRPr b="0" lang="en-US" sz="1800" spc="-1" strike="noStrike">
              <a:solidFill>
                <a:srgbClr val="ffffff"/>
              </a:solidFill>
              <a:latin typeface="Arial"/>
            </a:endParaRPr>
          </a:p>
        </p:txBody>
      </p:sp>
      <p:sp>
        <p:nvSpPr>
          <p:cNvPr id="562" name="Text 6"/>
          <p:cNvSpPr/>
          <p:nvPr/>
        </p:nvSpPr>
        <p:spPr>
          <a:xfrm>
            <a:off x="1325880" y="23317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Labels</a:t>
            </a:r>
            <a:endParaRPr b="0" lang="en-US" sz="1900" spc="-1" strike="noStrike">
              <a:solidFill>
                <a:srgbClr val="ffffff"/>
              </a:solidFill>
              <a:latin typeface="Arial"/>
            </a:endParaRPr>
          </a:p>
        </p:txBody>
      </p:sp>
      <p:sp>
        <p:nvSpPr>
          <p:cNvPr id="563" name="Text 7"/>
          <p:cNvSpPr/>
          <p:nvPr/>
        </p:nvSpPr>
        <p:spPr>
          <a:xfrm>
            <a:off x="3154680" y="23317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Heart icon: “Button…” → “Like, Button…”</a:t>
            </a:r>
            <a:endParaRPr b="0" lang="en-US" sz="1500" spc="-1" strike="noStrike">
              <a:solidFill>
                <a:srgbClr val="ffffff"/>
              </a:solidFill>
              <a:latin typeface="Arial"/>
            </a:endParaRPr>
          </a:p>
        </p:txBody>
      </p:sp>
      <p:sp>
        <p:nvSpPr>
          <p:cNvPr id="564" name="Shape 8"/>
          <p:cNvSpPr/>
          <p:nvPr/>
        </p:nvSpPr>
        <p:spPr>
          <a:xfrm>
            <a:off x="548640" y="31363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5" name="Text 9"/>
          <p:cNvSpPr/>
          <p:nvPr/>
        </p:nvSpPr>
        <p:spPr>
          <a:xfrm>
            <a:off x="548640" y="31363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2</a:t>
            </a:r>
            <a:endParaRPr b="0" lang="en-US" sz="1800" spc="-1" strike="noStrike">
              <a:solidFill>
                <a:srgbClr val="ffffff"/>
              </a:solidFill>
              <a:latin typeface="Arial"/>
            </a:endParaRPr>
          </a:p>
        </p:txBody>
      </p:sp>
      <p:sp>
        <p:nvSpPr>
          <p:cNvPr id="566" name="Text 10"/>
          <p:cNvSpPr/>
          <p:nvPr/>
        </p:nvSpPr>
        <p:spPr>
          <a:xfrm>
            <a:off x="1325880" y="31363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State</a:t>
            </a:r>
            <a:endParaRPr b="0" lang="en-US" sz="1900" spc="-1" strike="noStrike">
              <a:solidFill>
                <a:srgbClr val="ffffff"/>
              </a:solidFill>
              <a:latin typeface="Arial"/>
            </a:endParaRPr>
          </a:p>
        </p:txBody>
      </p:sp>
      <p:sp>
        <p:nvSpPr>
          <p:cNvPr id="567" name="Text 11"/>
          <p:cNvSpPr/>
          <p:nvPr/>
        </p:nvSpPr>
        <p:spPr>
          <a:xfrm>
            <a:off x="3154680" y="31363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Download, swipe away → polite “Downloaded”</a:t>
            </a:r>
            <a:endParaRPr b="0" lang="en-US" sz="1500" spc="-1" strike="noStrike">
              <a:solidFill>
                <a:srgbClr val="ffffff"/>
              </a:solidFill>
              <a:latin typeface="Arial"/>
            </a:endParaRPr>
          </a:p>
        </p:txBody>
      </p:sp>
      <p:sp>
        <p:nvSpPr>
          <p:cNvPr id="568" name="Shape 12"/>
          <p:cNvSpPr/>
          <p:nvPr/>
        </p:nvSpPr>
        <p:spPr>
          <a:xfrm>
            <a:off x="548640" y="39409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9" name="Text 13"/>
          <p:cNvSpPr/>
          <p:nvPr/>
        </p:nvSpPr>
        <p:spPr>
          <a:xfrm>
            <a:off x="548640" y="3940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3</a:t>
            </a:r>
            <a:endParaRPr b="0" lang="en-US" sz="1800" spc="-1" strike="noStrike">
              <a:solidFill>
                <a:srgbClr val="ffffff"/>
              </a:solidFill>
              <a:latin typeface="Arial"/>
            </a:endParaRPr>
          </a:p>
        </p:txBody>
      </p:sp>
      <p:sp>
        <p:nvSpPr>
          <p:cNvPr id="570" name="Text 14"/>
          <p:cNvSpPr/>
          <p:nvPr/>
        </p:nvSpPr>
        <p:spPr>
          <a:xfrm>
            <a:off x="1325880" y="39409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Grouping</a:t>
            </a:r>
            <a:endParaRPr b="0" lang="en-US" sz="1900" spc="-1" strike="noStrike">
              <a:solidFill>
                <a:srgbClr val="ffffff"/>
              </a:solidFill>
              <a:latin typeface="Arial"/>
            </a:endParaRPr>
          </a:p>
        </p:txBody>
      </p:sp>
      <p:sp>
        <p:nvSpPr>
          <p:cNvPr id="571" name="Text 15"/>
          <p:cNvSpPr/>
          <p:nvPr/>
        </p:nvSpPr>
        <p:spPr>
          <a:xfrm>
            <a:off x="3154680" y="39409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5 stops → 3 → 1 + Actions menu</a:t>
            </a:r>
            <a:endParaRPr b="0" lang="en-US" sz="1500" spc="-1" strike="noStrike">
              <a:solidFill>
                <a:srgbClr val="ffffff"/>
              </a:solidFill>
              <a:latin typeface="Arial"/>
            </a:endParaRPr>
          </a:p>
        </p:txBody>
      </p:sp>
      <p:sp>
        <p:nvSpPr>
          <p:cNvPr id="572" name="Shape 16"/>
          <p:cNvSpPr/>
          <p:nvPr/>
        </p:nvSpPr>
        <p:spPr>
          <a:xfrm>
            <a:off x="548640" y="474588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3" name="Text 17"/>
          <p:cNvSpPr/>
          <p:nvPr/>
        </p:nvSpPr>
        <p:spPr>
          <a:xfrm>
            <a:off x="548640" y="4745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4</a:t>
            </a:r>
            <a:endParaRPr b="0" lang="en-US" sz="1800" spc="-1" strike="noStrike">
              <a:solidFill>
                <a:srgbClr val="ffffff"/>
              </a:solidFill>
              <a:latin typeface="Arial"/>
            </a:endParaRPr>
          </a:p>
        </p:txBody>
      </p:sp>
      <p:sp>
        <p:nvSpPr>
          <p:cNvPr id="574" name="Text 18"/>
          <p:cNvSpPr/>
          <p:nvPr/>
        </p:nvSpPr>
        <p:spPr>
          <a:xfrm>
            <a:off x="1325880" y="474588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Streaming</a:t>
            </a:r>
            <a:endParaRPr b="0" lang="en-US" sz="1900" spc="-1" strike="noStrike">
              <a:solidFill>
                <a:srgbClr val="ffffff"/>
              </a:solidFill>
              <a:latin typeface="Arial"/>
            </a:endParaRPr>
          </a:p>
        </p:txBody>
      </p:sp>
      <p:sp>
        <p:nvSpPr>
          <p:cNvPr id="575" name="Text 19"/>
          <p:cNvSpPr/>
          <p:nvPr/>
        </p:nvSpPr>
        <p:spPr>
          <a:xfrm>
            <a:off x="3154680" y="474588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Mode 1 → 3 (painful) → 5 (“Loading”, then paragraph)</a:t>
            </a:r>
            <a:endParaRPr b="0" lang="en-US" sz="1500" spc="-1" strike="noStrike">
              <a:solidFill>
                <a:srgbClr val="ffffff"/>
              </a:solidFill>
              <a:latin typeface="Arial"/>
            </a:endParaRPr>
          </a:p>
        </p:txBody>
      </p:sp>
      <p:sp>
        <p:nvSpPr>
          <p:cNvPr id="576" name="Shape 20"/>
          <p:cNvSpPr/>
          <p:nvPr/>
        </p:nvSpPr>
        <p:spPr>
          <a:xfrm>
            <a:off x="548640" y="555048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7" name="Text 21"/>
          <p:cNvSpPr/>
          <p:nvPr/>
        </p:nvSpPr>
        <p:spPr>
          <a:xfrm>
            <a:off x="548640" y="55504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5</a:t>
            </a:r>
            <a:endParaRPr b="0" lang="en-US" sz="1800" spc="-1" strike="noStrike">
              <a:solidFill>
                <a:srgbClr val="ffffff"/>
              </a:solidFill>
              <a:latin typeface="Arial"/>
            </a:endParaRPr>
          </a:p>
        </p:txBody>
      </p:sp>
      <p:sp>
        <p:nvSpPr>
          <p:cNvPr id="578" name="Text 22"/>
          <p:cNvSpPr/>
          <p:nvPr/>
        </p:nvSpPr>
        <p:spPr>
          <a:xfrm>
            <a:off x="1325880" y="555048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Focus</a:t>
            </a:r>
            <a:endParaRPr b="0" lang="en-US" sz="1900" spc="-1" strike="noStrike">
              <a:solidFill>
                <a:srgbClr val="ffffff"/>
              </a:solidFill>
              <a:latin typeface="Arial"/>
            </a:endParaRPr>
          </a:p>
        </p:txBody>
      </p:sp>
      <p:sp>
        <p:nvSpPr>
          <p:cNvPr id="579" name="Text 23"/>
          <p:cNvSpPr/>
          <p:nvPr/>
        </p:nvSpPr>
        <p:spPr>
          <a:xfrm>
            <a:off x="3154680" y="555048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See more: focus lost → lands on the first new pill</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580" name="Text 0"/>
          <p:cNvSpPr/>
          <p:nvPr/>
        </p:nvSpPr>
        <p:spPr>
          <a:xfrm>
            <a:off x="731520" y="1828800"/>
            <a:ext cx="73148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ffffff"/>
                </a:solidFill>
                <a:latin typeface="Arial"/>
                <a:ea typeface="Arial"/>
              </a:rPr>
              <a:t>Thank you</a:t>
            </a:r>
            <a:endParaRPr b="0" lang="en-US" sz="5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LibreOffice/24.2.3.2$Windows_X86_64 LibreOffice_project/433d9c2ded56988e8a90e6b2e771ee4e6a5ab2ba</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2026-10-01T12:13:01Z</dcterms:created>
  <dc:creator>Ram</dc:creator>
  <dc:description/>
  <dc:language>en-US</dc:language>
  <cp:lastModifiedBy/>
  <dcterms:modified xsi:type="dcterms:W3CDTF">2026-10-01T07:23:12Z</dcterms:modified>
  <cp:revision>4</cp:revision>
  <dc:subject>PptxGenJS Presentation</dc:subject>
  <dc:title>Make Compose UI Speak</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